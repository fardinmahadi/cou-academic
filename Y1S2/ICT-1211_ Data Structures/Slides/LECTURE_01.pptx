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20"/>
  </p:notesMasterIdLst>
  <p:sldIdLst>
    <p:sldId id="345" r:id="rId4"/>
    <p:sldId id="346" r:id="rId5"/>
    <p:sldId id="347" r:id="rId6"/>
    <p:sldId id="329" r:id="rId7"/>
    <p:sldId id="307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7" r:id="rId17"/>
    <p:sldId id="316" r:id="rId18"/>
    <p:sldId id="348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39" autoAdjust="0"/>
    <p:restoredTop sz="84824" autoAdjust="0"/>
  </p:normalViewPr>
  <p:slideViewPr>
    <p:cSldViewPr snapToGrid="0">
      <p:cViewPr varScale="1">
        <p:scale>
          <a:sx n="62" d="100"/>
          <a:sy n="62" d="100"/>
        </p:scale>
        <p:origin x="-1362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Logical data structures</a:t>
            </a:r>
            <a:r>
              <a:rPr lang="en-US" dirty="0"/>
              <a:t> are </a:t>
            </a:r>
            <a:r>
              <a:rPr lang="en-US" b="1" dirty="0"/>
              <a:t>data</a:t>
            </a:r>
            <a:r>
              <a:rPr lang="en-US" dirty="0"/>
              <a:t> models, and are sometimes called entity-relationship (ER) models or even entity-attribute-relationship models. Databases mirror aspects of the real world. ... </a:t>
            </a:r>
            <a:r>
              <a:rPr lang="en-US" b="1" dirty="0"/>
              <a:t>Logical data structures</a:t>
            </a:r>
            <a:r>
              <a:rPr lang="en-US" dirty="0"/>
              <a:t> are models which look both ways - at the real world and at the database world.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94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93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605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368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179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43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689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664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42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29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107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48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22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79076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922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707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65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7" y="731567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03143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2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5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755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013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9876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07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475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098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43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04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2848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02/07/2025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796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4506A-C82C-4DAB-83B5-98C6F188D831}" type="datetimeFigureOut">
              <a:rPr lang="en-US" smtClean="0"/>
              <a:t>7/2/2025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99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86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48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48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48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770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02/07/2025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45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jpeg"/><Relationship Id="rId7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Lecture-01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146331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D62340-A1EA-4CE0-A397-B868A3BF73D1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1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85800" y="2286000"/>
            <a:ext cx="7467600" cy="2514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60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774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34"/>
          <a:stretch/>
        </p:blipFill>
        <p:spPr>
          <a:xfrm>
            <a:off x="587022" y="56443"/>
            <a:ext cx="7970715" cy="2508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9" y="2549953"/>
            <a:ext cx="3071337" cy="4247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2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381339" y="46239"/>
            <a:ext cx="479367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94" y="2327911"/>
            <a:ext cx="871037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ü"/>
            </a:pPr>
            <a:r>
              <a:rPr lang="en-US" sz="2800" dirty="0">
                <a:solidFill>
                  <a:srgbClr val="0000CC"/>
                </a:solidFill>
              </a:rPr>
              <a:t>Data are simple values or set of values.</a:t>
            </a:r>
          </a:p>
          <a:p>
            <a:pPr marL="457200" indent="-457200">
              <a:buFont typeface="Wingdings" charset="2"/>
              <a:buChar char="ü"/>
            </a:pPr>
            <a:r>
              <a:rPr lang="en-US" sz="2800" dirty="0">
                <a:solidFill>
                  <a:srgbClr val="0000CC"/>
                </a:solidFill>
              </a:rPr>
              <a:t> </a:t>
            </a:r>
            <a:r>
              <a:rPr lang="en-US" sz="2800" b="1" dirty="0">
                <a:solidFill>
                  <a:srgbClr val="FF0000"/>
                </a:solidFill>
              </a:rPr>
              <a:t>Data item </a:t>
            </a:r>
            <a:r>
              <a:rPr lang="en-US" sz="2800" dirty="0">
                <a:solidFill>
                  <a:srgbClr val="0000CC"/>
                </a:solidFill>
              </a:rPr>
              <a:t>refers to a single unit of values.</a:t>
            </a:r>
          </a:p>
          <a:p>
            <a:pPr marL="457200" indent="-457200">
              <a:buFont typeface="Wingdings" charset="2"/>
              <a:buChar char="ü"/>
            </a:pPr>
            <a:r>
              <a:rPr lang="en-US" sz="2800" dirty="0">
                <a:solidFill>
                  <a:srgbClr val="0000CC"/>
                </a:solidFill>
              </a:rPr>
              <a:t>Data items that are divided into sub-items are called group items.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689" y="220785"/>
            <a:ext cx="3797300" cy="213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9381" y="4143793"/>
            <a:ext cx="86507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example: </a:t>
            </a:r>
          </a:p>
          <a:p>
            <a:r>
              <a:rPr lang="en-US" sz="2400" dirty="0"/>
              <a:t>      An employee’s name may be divided into three sub item</a:t>
            </a:r>
            <a:r>
              <a:rPr lang="is-IS" sz="2400" dirty="0"/>
              <a:t>…..</a:t>
            </a:r>
          </a:p>
          <a:p>
            <a:pPr marL="457200" indent="66675">
              <a:buFont typeface="Wingdings" charset="2"/>
              <a:buChar char="v"/>
            </a:pPr>
            <a:r>
              <a:rPr lang="is-IS" sz="2400" dirty="0"/>
              <a:t> First name</a:t>
            </a:r>
          </a:p>
          <a:p>
            <a:pPr marL="457200" indent="66675">
              <a:buFont typeface="Wingdings" charset="2"/>
              <a:buChar char="v"/>
            </a:pPr>
            <a:r>
              <a:rPr lang="is-IS" sz="2400" dirty="0"/>
              <a:t>Middle name</a:t>
            </a:r>
          </a:p>
          <a:p>
            <a:pPr marL="457200" indent="66675">
              <a:buFont typeface="Wingdings" charset="2"/>
              <a:buChar char="v"/>
            </a:pPr>
            <a:r>
              <a:rPr lang="is-IS" sz="2400" dirty="0"/>
              <a:t>Last Name.</a:t>
            </a:r>
          </a:p>
          <a:p>
            <a:pPr marL="68263"/>
            <a:r>
              <a:rPr lang="en-US" sz="2400" b="1" dirty="0">
                <a:solidFill>
                  <a:srgbClr val="FF0000"/>
                </a:solidFill>
              </a:rPr>
              <a:t>But, NID number would be normally be treated as a single item</a:t>
            </a:r>
            <a:endParaRPr lang="is-I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130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836" y="660621"/>
            <a:ext cx="813241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v"/>
            </a:pPr>
            <a:r>
              <a:rPr lang="en-US" sz="2800" dirty="0"/>
              <a:t>Collection of data are frequently organized into a</a:t>
            </a:r>
          </a:p>
          <a:p>
            <a:pPr marL="1371600" lvl="2" indent="-457200">
              <a:buFont typeface="Wingdings" charset="2"/>
              <a:buChar char="Ø"/>
            </a:pPr>
            <a:r>
              <a:rPr lang="en-US" sz="2800" dirty="0">
                <a:solidFill>
                  <a:srgbClr val="0000CC"/>
                </a:solidFill>
              </a:rPr>
              <a:t>Hierarchy of fields</a:t>
            </a:r>
          </a:p>
          <a:p>
            <a:pPr marL="1371600" lvl="2" indent="-457200">
              <a:buFont typeface="Wingdings" charset="2"/>
              <a:buChar char="Ø"/>
            </a:pPr>
            <a:r>
              <a:rPr lang="en-US" sz="2800" dirty="0">
                <a:solidFill>
                  <a:srgbClr val="0000CC"/>
                </a:solidFill>
              </a:rPr>
              <a:t>Records</a:t>
            </a:r>
          </a:p>
          <a:p>
            <a:pPr marL="1371600" lvl="2" indent="-457200">
              <a:buFont typeface="Wingdings" charset="2"/>
              <a:buChar char="Ø"/>
            </a:pPr>
            <a:r>
              <a:rPr lang="en-US" sz="2800" dirty="0">
                <a:solidFill>
                  <a:srgbClr val="0000CC"/>
                </a:solidFill>
              </a:rPr>
              <a:t>Files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04655" y="2433010"/>
            <a:ext cx="3422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Entity?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36" y="3366655"/>
            <a:ext cx="88966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00CC"/>
                </a:solidFill>
              </a:rPr>
              <a:t>An entity is something that has certain </a:t>
            </a:r>
            <a:r>
              <a:rPr lang="en-US" sz="2400" dirty="0">
                <a:solidFill>
                  <a:srgbClr val="FF0000"/>
                </a:solidFill>
              </a:rPr>
              <a:t>ATTRIBUTE</a:t>
            </a:r>
            <a:r>
              <a:rPr lang="en-US" sz="2400" dirty="0">
                <a:solidFill>
                  <a:srgbClr val="0000CC"/>
                </a:solidFill>
              </a:rPr>
              <a:t> or </a:t>
            </a:r>
            <a:r>
              <a:rPr lang="en-US" sz="2400" dirty="0">
                <a:solidFill>
                  <a:srgbClr val="FF0000"/>
                </a:solidFill>
              </a:rPr>
              <a:t>PROPERTIES</a:t>
            </a:r>
            <a:r>
              <a:rPr lang="en-US" sz="2400" dirty="0">
                <a:solidFill>
                  <a:srgbClr val="0000CC"/>
                </a:solidFill>
              </a:rPr>
              <a:t> which may be assigned </a:t>
            </a:r>
            <a:r>
              <a:rPr lang="en-US" sz="2400" b="1" dirty="0">
                <a:solidFill>
                  <a:srgbClr val="FF0000"/>
                </a:solidFill>
              </a:rPr>
              <a:t>VALUES</a:t>
            </a:r>
            <a:r>
              <a:rPr lang="en-US" sz="2400" b="1" dirty="0">
                <a:solidFill>
                  <a:srgbClr val="0000CC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5199" y="4487526"/>
            <a:ext cx="50430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may be numeric or non-numeric</a:t>
            </a:r>
          </a:p>
        </p:txBody>
      </p:sp>
      <p:sp>
        <p:nvSpPr>
          <p:cNvPr id="9" name="Bent-Up Arrow 8"/>
          <p:cNvSpPr/>
          <p:nvPr/>
        </p:nvSpPr>
        <p:spPr>
          <a:xfrm rot="5400000">
            <a:off x="2715491" y="4197652"/>
            <a:ext cx="817418" cy="762275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42128"/>
              </p:ext>
            </p:extLst>
          </p:nvPr>
        </p:nvGraphicFramePr>
        <p:xfrm>
          <a:off x="1053150" y="5167745"/>
          <a:ext cx="7495104" cy="807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541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4082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491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4918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4918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4918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44165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ATTRIBUTE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15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Jhon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 cm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27642847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8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9855" y="52625"/>
            <a:ext cx="3422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>
                <a:solidFill>
                  <a:srgbClr val="FF0000"/>
                </a:solidFill>
              </a:rPr>
              <a:t>Entity Set?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" y="983673"/>
            <a:ext cx="8855124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Entities with similar ATTRIBUTES form entity set.</a:t>
            </a:r>
          </a:p>
          <a:p>
            <a:endParaRPr lang="en-US" sz="2800" dirty="0">
              <a:solidFill>
                <a:srgbClr val="0000CC"/>
              </a:solidFill>
            </a:endParaRPr>
          </a:p>
          <a:p>
            <a:r>
              <a:rPr lang="en-US" sz="3200" dirty="0">
                <a:solidFill>
                  <a:srgbClr val="00B050"/>
                </a:solidFill>
              </a:rPr>
              <a:t>	</a:t>
            </a:r>
            <a:r>
              <a:rPr lang="en-US" sz="3200" dirty="0">
                <a:solidFill>
                  <a:srgbClr val="0070C0"/>
                </a:solidFill>
              </a:rPr>
              <a:t>Example:</a:t>
            </a:r>
          </a:p>
          <a:p>
            <a:pPr marL="971550" lvl="1" indent="-514350">
              <a:buFont typeface="Arial" charset="0"/>
              <a:buChar char="•"/>
            </a:pPr>
            <a:r>
              <a:rPr lang="en-US" sz="3200" dirty="0">
                <a:solidFill>
                  <a:srgbClr val="0070C0"/>
                </a:solidFill>
              </a:rPr>
              <a:t>All the employee in an organization</a:t>
            </a:r>
          </a:p>
          <a:p>
            <a:pPr marL="971550" lvl="1" indent="-514350">
              <a:buFont typeface="Arial" charset="0"/>
              <a:buChar char="•"/>
            </a:pPr>
            <a:r>
              <a:rPr lang="en-US" sz="3200" dirty="0">
                <a:solidFill>
                  <a:srgbClr val="0070C0"/>
                </a:solidFill>
              </a:rPr>
              <a:t>All the students of any department.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4059382"/>
            <a:ext cx="8991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charset="2"/>
              <a:buChar char="ü"/>
            </a:pPr>
            <a:r>
              <a:rPr lang="en-US" sz="3600" b="1" dirty="0">
                <a:solidFill>
                  <a:srgbClr val="FF0000"/>
                </a:solidFill>
              </a:rPr>
              <a:t>Each attribute of an entity set has a range of values</a:t>
            </a:r>
          </a:p>
        </p:txBody>
      </p:sp>
    </p:spTree>
    <p:extLst>
      <p:ext uri="{BB962C8B-B14F-4D97-AF65-F5344CB8AC3E}">
        <p14:creationId xmlns:p14="http://schemas.microsoft.com/office/powerpoint/2010/main" val="192137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130" y="1022121"/>
            <a:ext cx="5529857" cy="36798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1616" y="130855"/>
            <a:ext cx="39995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0000"/>
                </a:solidFill>
              </a:rPr>
              <a:t>Information?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618" y="5144525"/>
            <a:ext cx="928255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b="1"/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99509" y="4869060"/>
            <a:ext cx="1787237" cy="10806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/>
              <a:t>Processor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454728" y="5207683"/>
            <a:ext cx="1524000" cy="4034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387350" y="5193828"/>
            <a:ext cx="2006025" cy="52322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800" b="1"/>
              <a:t>Information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21382" y="5204431"/>
            <a:ext cx="1524000" cy="4034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40875" y="6116286"/>
            <a:ext cx="8367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Processed dare are usually called information.</a:t>
            </a:r>
          </a:p>
        </p:txBody>
      </p:sp>
    </p:spTree>
    <p:extLst>
      <p:ext uri="{BB962C8B-B14F-4D97-AF65-F5344CB8AC3E}">
        <p14:creationId xmlns:p14="http://schemas.microsoft.com/office/powerpoint/2010/main" val="85353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4" grpId="0" animBg="1"/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6717" y="29910"/>
            <a:ext cx="43656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Structure?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1014"/>
            <a:ext cx="88946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may be organized in many different ways.</a:t>
            </a:r>
          </a:p>
          <a:p>
            <a:endParaRPr lang="en-US" sz="1100" dirty="0"/>
          </a:p>
          <a:p>
            <a:pPr algn="just"/>
            <a:r>
              <a:rPr lang="en-US" sz="3200" dirty="0">
                <a:solidFill>
                  <a:srgbClr val="0000CC"/>
                </a:solidFill>
              </a:rPr>
              <a:t>The logical or mathematical model of a particular organization of data is called a </a:t>
            </a:r>
            <a:r>
              <a:rPr lang="en-US" sz="3200" dirty="0">
                <a:solidFill>
                  <a:srgbClr val="FF0000"/>
                </a:solidFill>
              </a:rPr>
              <a:t>data structure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824249"/>
            <a:ext cx="9144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800" b="1" dirty="0"/>
              <a:t>Particular data model depends on TWO consideration</a:t>
            </a:r>
            <a:r>
              <a:rPr lang="en-US" sz="2400" dirty="0"/>
              <a:t>: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It must be rich enough in structure to mirror the actual relationships of the data in real world.</a:t>
            </a:r>
          </a:p>
          <a:p>
            <a:pPr marL="91440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800" dirty="0"/>
              <a:t>The structure should be simple enough that can be efficiently process the data when necessary.</a:t>
            </a:r>
            <a:endParaRPr lang="en-US" sz="2400" dirty="0"/>
          </a:p>
          <a:p>
            <a:pPr marL="285750" indent="-285750">
              <a:buFont typeface="Wingdings" charset="2"/>
              <a:buChar char="ü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1093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6239"/>
            <a:ext cx="42949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Some </a:t>
            </a:r>
            <a:r>
              <a:rPr lang="en-US" sz="3200"/>
              <a:t>Data Structure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64975"/>
            <a:ext cx="1413164" cy="21532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800565" y="520021"/>
            <a:ext cx="1502347" cy="24799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55776" y="693477"/>
            <a:ext cx="1919376" cy="2062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327967" y="597132"/>
            <a:ext cx="1437898" cy="1917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07735" y="2813678"/>
            <a:ext cx="1601256" cy="207818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31708" y="2504698"/>
            <a:ext cx="1862282" cy="26961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596070" y="2445201"/>
            <a:ext cx="2274067" cy="302029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93545" y="4303604"/>
            <a:ext cx="1607270" cy="32558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7453" y="2622388"/>
            <a:ext cx="129901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/>
              <a:t>One D </a:t>
            </a:r>
            <a:r>
              <a:rPr lang="en-US" dirty="0"/>
              <a:t>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11954" y="2467933"/>
            <a:ext cx="129901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Two D array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9209" y="2408640"/>
            <a:ext cx="129901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/>
              <a:t>Linked List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039209" y="5092380"/>
            <a:ext cx="1299019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/>
              <a:t>Hierarchical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7453" y="4722124"/>
            <a:ext cx="1874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(2x+y)(a-7b)</a:t>
            </a:r>
            <a:r>
              <a:rPr lang="en-US" sz="2400" baseline="30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3165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444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Data Structure: Array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77" y="1328559"/>
            <a:ext cx="1801091" cy="2744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1607128" y="631014"/>
            <a:ext cx="54171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CC"/>
                </a:solidFill>
              </a:rPr>
              <a:t>Simplest types of </a:t>
            </a:r>
            <a:r>
              <a:rPr lang="en-US" sz="2800">
                <a:solidFill>
                  <a:srgbClr val="0000CC"/>
                </a:solidFill>
              </a:rPr>
              <a:t>data </a:t>
            </a:r>
            <a:r>
              <a:rPr lang="en-US" sz="3200">
                <a:solidFill>
                  <a:srgbClr val="0000CC"/>
                </a:solidFill>
              </a:rPr>
              <a:t>structure</a:t>
            </a:r>
            <a:endParaRPr lang="en-US" sz="2800">
              <a:solidFill>
                <a:srgbClr val="0000CC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74072" y="1585121"/>
            <a:ext cx="5915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v"/>
            </a:pPr>
            <a:r>
              <a:rPr lang="en-US" sz="3200" dirty="0"/>
              <a:t>One dimensional array /Linear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630796" y="3363155"/>
            <a:ext cx="2381278" cy="39308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124691" y="5328571"/>
            <a:ext cx="5070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v"/>
            </a:pPr>
            <a:r>
              <a:rPr lang="en-US" sz="3200" dirty="0"/>
              <a:t>Two dimensional Array</a:t>
            </a:r>
          </a:p>
        </p:txBody>
      </p:sp>
    </p:spTree>
    <p:extLst>
      <p:ext uri="{BB962C8B-B14F-4D97-AF65-F5344CB8AC3E}">
        <p14:creationId xmlns:p14="http://schemas.microsoft.com/office/powerpoint/2010/main" val="907250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44473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Data Structure: Link List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73014" y="423787"/>
            <a:ext cx="2824544" cy="30349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420636" y="84508"/>
            <a:ext cx="2802035" cy="37360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000722" y="3000733"/>
            <a:ext cx="2369127" cy="30747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766567" y="3079875"/>
            <a:ext cx="2412892" cy="349329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0" y="6076084"/>
            <a:ext cx="90075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Advantages: An integer used as a pointer requires less space  than a name. Hence this representation saves spaces, if there are hundreds of customers for each salesman</a:t>
            </a:r>
          </a:p>
        </p:txBody>
      </p:sp>
    </p:spTree>
    <p:extLst>
      <p:ext uri="{BB962C8B-B14F-4D97-AF65-F5344CB8AC3E}">
        <p14:creationId xmlns:p14="http://schemas.microsoft.com/office/powerpoint/2010/main" val="1020621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4447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</a:rPr>
              <a:t>Data Structure: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4691" y="631014"/>
            <a:ext cx="87422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Data frequently contain a hierarchical relationship between various elements. The data structure reflects this relationship is called a rooted tree graph or simply a tree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2921" y="1073113"/>
            <a:ext cx="4621309" cy="61377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 flipV="1">
            <a:off x="5628311" y="2562055"/>
            <a:ext cx="2192783" cy="456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0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57535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Structure: Stack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08" y="998377"/>
            <a:ext cx="5072520" cy="48644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6128" y="2475014"/>
            <a:ext cx="21172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LIFO</a:t>
            </a:r>
          </a:p>
        </p:txBody>
      </p:sp>
    </p:spTree>
    <p:extLst>
      <p:ext uri="{BB962C8B-B14F-4D97-AF65-F5344CB8AC3E}">
        <p14:creationId xmlns:p14="http://schemas.microsoft.com/office/powerpoint/2010/main" val="175457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563929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Data Structure: Queue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707409" y="-665018"/>
            <a:ext cx="3151115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10145" y="4710545"/>
            <a:ext cx="56110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rgbClr val="00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FIFO</a:t>
            </a:r>
          </a:p>
        </p:txBody>
      </p:sp>
    </p:spTree>
    <p:extLst>
      <p:ext uri="{BB962C8B-B14F-4D97-AF65-F5344CB8AC3E}">
        <p14:creationId xmlns:p14="http://schemas.microsoft.com/office/powerpoint/2010/main" val="1035198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24691" y="46239"/>
            <a:ext cx="51820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Data Structure: Graph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985654" y="-429491"/>
            <a:ext cx="22770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06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76A4EC-AF9B-434C-9DCD-E03A03940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74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1040</TotalTime>
  <Words>398</Words>
  <Application>Microsoft Office PowerPoint</Application>
  <PresentationFormat>On-screen Show (4:3)</PresentationFormat>
  <Paragraphs>78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Office Theme</vt:lpstr>
      <vt:lpstr>1_Slipstream</vt:lpstr>
      <vt:lpstr>3_Office Theme</vt:lpstr>
      <vt:lpstr>Data Structures  ICT-1211  Information and Communication Technology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132</cp:revision>
  <dcterms:created xsi:type="dcterms:W3CDTF">2016-12-28T08:52:04Z</dcterms:created>
  <dcterms:modified xsi:type="dcterms:W3CDTF">2025-07-02T09:24:48Z</dcterms:modified>
</cp:coreProperties>
</file>