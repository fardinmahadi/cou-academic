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16"/>
  </p:notesMasterIdLst>
  <p:sldIdLst>
    <p:sldId id="345" r:id="rId4"/>
    <p:sldId id="493" r:id="rId5"/>
    <p:sldId id="425" r:id="rId6"/>
    <p:sldId id="426" r:id="rId7"/>
    <p:sldId id="427" r:id="rId8"/>
    <p:sldId id="408" r:id="rId9"/>
    <p:sldId id="490" r:id="rId10"/>
    <p:sldId id="409" r:id="rId11"/>
    <p:sldId id="494" r:id="rId12"/>
    <p:sldId id="418" r:id="rId13"/>
    <p:sldId id="437" r:id="rId14"/>
    <p:sldId id="49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46" autoAdjust="0"/>
    <p:restoredTop sz="91615" autoAdjust="0"/>
  </p:normalViewPr>
  <p:slideViewPr>
    <p:cSldViewPr snapToGrid="0">
      <p:cViewPr varScale="1">
        <p:scale>
          <a:sx n="67" d="100"/>
          <a:sy n="67" d="100"/>
        </p:scale>
        <p:origin x="-124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8D40F-337E-475A-B8D0-2FD58C6D0387}" type="datetimeFigureOut">
              <a:rPr lang="en-US" smtClean="0"/>
              <a:t>8/18/2025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9FA0E-C547-4E4D-80AD-FEB8A6571D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78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0268-8CD4-504F-ABA5-1C9CCA49C623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661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1D01-1B9F-7C40-813B-513D0EDB4DAD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69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0D1A-2EA3-3343-AAB9-1846DE5CAD5F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4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41DD-39D0-5B4D-9046-B63EFFC5972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62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697D-3C77-404E-BF10-67BDD1040D4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0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69DE7-D140-8942-81CE-278DE9DEC074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29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C0E96-8730-7547-8D85-86E2E04695A6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2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C598-C370-B048-9E1F-CBD36421979E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40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6CB3-5715-E34A-A7C1-F5A05382CE93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4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2211-647A-3D45-8976-B84E1F718B7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52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64B15-D269-024B-997D-E9A8A37476E1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543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581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450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115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752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376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857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6324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222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3155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6084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6919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6E7098-1D9E-4297-8B06-8858A6CB2C48}" type="datetime1">
              <a:rPr lang="fr-FR"/>
              <a:pPr/>
              <a:t>18/08/2025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31CAB-83F9-4A4F-970C-5EAB1D42FF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3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D57E40-D648-455A-9437-30FA8FE56DD6}" type="datetime1">
              <a:rPr lang="fr-FR"/>
              <a:pPr/>
              <a:t>18/08/2025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0763-8C84-4A0C-BF22-E8FBB0D343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818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DE751E-08CA-4D99-89B2-9FC9DE2F4625}" type="datetime1">
              <a:rPr lang="fr-FR"/>
              <a:pPr/>
              <a:t>18/08/2025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BDE4F-8BEA-439D-BA05-0EFEBB61C6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84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D697BC-62C7-4F99-8C37-A408B62C8993}" type="datetime1">
              <a:rPr lang="fr-FR"/>
              <a:pPr/>
              <a:t>18/08/2025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E7523-BF8E-4897-AD6D-B3C234AD94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988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466664-56B2-422F-8B50-F59FA16202E4}" type="datetime1">
              <a:rPr lang="fr-FR"/>
              <a:pPr/>
              <a:t>18/08/2025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E09A0-16D6-4176-A8F9-C1456DE503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328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2F925-DC51-4DF6-9C0D-52D121C83119}" type="datetime1">
              <a:rPr lang="fr-FR"/>
              <a:pPr/>
              <a:t>18/08/2025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AD07-74B5-414C-BC00-90E42DED0B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749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ED0F17-9F3A-43C4-AA85-AB4E0FAD16D9}" type="datetime1">
              <a:rPr lang="fr-FR"/>
              <a:pPr/>
              <a:t>18/08/2025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9DFBF-5E1F-4EB9-93B7-3749EA0181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517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051F7-5A91-48AF-A3CB-CB3AECA38DB8}" type="datetime1">
              <a:rPr lang="fr-FR"/>
              <a:pPr/>
              <a:t>18/08/2025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85E2C-7CA7-4F52-B75F-FBB43463FA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65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E41F2-B5DD-4979-B2E9-DDEB29191F2A}" type="datetime1">
              <a:rPr lang="fr-FR"/>
              <a:pPr/>
              <a:t>18/08/2025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865FE-0C86-4A78-AF62-9D91622BC5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943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7D9A12-E6C0-4876-802E-698B1CA58FA9}" type="datetime1">
              <a:rPr lang="fr-FR"/>
              <a:pPr/>
              <a:t>18/08/2025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1BB3D-D5F5-4526-9991-8EC9121349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7905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F34D8D-EE93-4818-9FCB-0C3F0226D4F2}" type="datetime1">
              <a:rPr lang="fr-FR"/>
              <a:pPr/>
              <a:t>18/08/2025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6242A-2212-4C71-B4FB-3287FD4958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81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B11AC-AE98-49D4-983B-A8FD90AEBC06}" type="datetime1">
              <a:rPr lang="fr-FR"/>
              <a:pPr/>
              <a:t>18/08/2025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endParaRPr lang="vi-V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255E9-86BB-409F-B032-A00BE8952A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52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4F56B-6E71-E14F-82F4-B249D7839BE9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40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61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A24BF4C-9CA2-423E-B4F6-7F55918723CE}" type="datetime1">
              <a:rPr lang="fr-FR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18/08/2025</a:t>
            </a:fld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E2053D5-6219-41C3-8D16-FE99C84E3D09}" type="slidenum">
              <a:rPr lang="en-US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ea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149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871544"/>
            <a:ext cx="6400800" cy="152925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Lecture-17</a:t>
            </a: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Date: //2024</a:t>
            </a:r>
          </a:p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43202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Data Structures</a:t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ICT-1211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62340-A1EA-4CE0-A397-B868A3BF73D1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Arial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1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57275" y="2072235"/>
            <a:ext cx="7500938" cy="17282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sz="4000" dirty="0">
                <a:solidFill>
                  <a:srgbClr val="FF0000"/>
                </a:solidFill>
              </a:rPr>
              <a:t>Stacks, Queues, Recursion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196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b="1" dirty="0">
                <a:solidFill>
                  <a:srgbClr val="00B050"/>
                </a:solidFill>
              </a:rPr>
              <a:t>Arithmetic Expressions;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13447" y="436859"/>
            <a:ext cx="9117106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Let Q be an arithmetic expression involving constants and operation.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     </a:t>
            </a:r>
            <a:r>
              <a:rPr lang="en-US" sz="3200" dirty="0"/>
              <a:t> Q: 2 ↑3+5*2 ↑2-12/6, </a:t>
            </a:r>
            <a:r>
              <a:rPr lang="en-US" sz="2800" dirty="0">
                <a:solidFill>
                  <a:srgbClr val="FF0000"/>
                </a:solidFill>
              </a:rPr>
              <a:t>we have to find the value of Q</a:t>
            </a:r>
            <a:endParaRPr lang="en-US" sz="3200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Q may have different levels of precedence in its binary operations.</a:t>
            </a:r>
          </a:p>
          <a:p>
            <a:pPr marL="285750" indent="-285750" algn="just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We assume the following three levels of precedence for the usual </a:t>
            </a:r>
            <a:r>
              <a:rPr lang="en-US" sz="2400" b="1" dirty="0"/>
              <a:t>FIVE</a:t>
            </a:r>
            <a:r>
              <a:rPr lang="en-US" sz="2400" dirty="0"/>
              <a:t> binary operations.</a:t>
            </a:r>
          </a:p>
          <a:p>
            <a:pPr marL="800100" lvl="1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Highest: Exponential (↑)</a:t>
            </a:r>
          </a:p>
          <a:p>
            <a:pPr marL="800100" lvl="1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Next Highest: Multiplication (*) and division(/)</a:t>
            </a:r>
          </a:p>
          <a:p>
            <a:pPr marL="800100" lvl="1" indent="-342900">
              <a:buFont typeface="Wingdings" charset="2"/>
              <a:buChar char="Ø"/>
            </a:pPr>
            <a:r>
              <a:rPr lang="en-US" sz="2400" dirty="0"/>
              <a:t>Lowest: Addition (+) and Subtraction(-) </a:t>
            </a:r>
          </a:p>
          <a:p>
            <a:pPr marL="342900" indent="-342900">
              <a:buFont typeface="Wingdings" charset="2"/>
              <a:buChar char="ü"/>
            </a:pPr>
            <a:r>
              <a:rPr lang="en-US" sz="2400" dirty="0"/>
              <a:t>Thus, we obtain after exponentiations (</a:t>
            </a:r>
            <a:r>
              <a:rPr lang="en-US" sz="3200" dirty="0"/>
              <a:t>8+5*4-12/6</a:t>
            </a:r>
            <a:r>
              <a:rPr lang="en-US" sz="2400" dirty="0"/>
              <a:t>)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After, multiplication and division </a:t>
            </a:r>
            <a:r>
              <a:rPr lang="en-US" sz="3200" dirty="0"/>
              <a:t>(8+20-2)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After. Addition and subtraction , </a:t>
            </a:r>
            <a:r>
              <a:rPr lang="en-US" sz="3200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90638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55794" y="16510"/>
            <a:ext cx="8299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b="1" dirty="0">
                <a:solidFill>
                  <a:srgbClr val="00B050"/>
                </a:solidFill>
              </a:rPr>
              <a:t>Polish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94" y="682892"/>
            <a:ext cx="900752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For most common arithmetic operations: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</a:t>
            </a:r>
            <a:r>
              <a:rPr lang="en-US" sz="2800" dirty="0"/>
              <a:t>A+B,     C-D,      E*F,       G/H    (</a:t>
            </a:r>
            <a:r>
              <a:rPr lang="en-US" sz="2800" i="1" dirty="0">
                <a:solidFill>
                  <a:srgbClr val="FF0000"/>
                </a:solidFill>
              </a:rPr>
              <a:t>infix notation</a:t>
            </a:r>
            <a:r>
              <a:rPr lang="en-US" sz="2800" i="1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94" y="2151529"/>
            <a:ext cx="898063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i="1" dirty="0">
                <a:solidFill>
                  <a:srgbClr val="0000CC"/>
                </a:solidFill>
              </a:rPr>
              <a:t>Polish notation</a:t>
            </a:r>
            <a:r>
              <a:rPr lang="en-US" sz="2400" b="1" dirty="0">
                <a:solidFill>
                  <a:srgbClr val="0000CC"/>
                </a:solidFill>
              </a:rPr>
              <a:t> </a:t>
            </a:r>
            <a:r>
              <a:rPr lang="en-US" sz="2400" dirty="0"/>
              <a:t>refers to the notation in which the operator symbol is placed before its two operands. </a:t>
            </a:r>
          </a:p>
          <a:p>
            <a:pPr algn="just"/>
            <a:endParaRPr lang="en-US" sz="1050" dirty="0"/>
          </a:p>
          <a:p>
            <a:pPr algn="just"/>
            <a:r>
              <a:rPr lang="en-US" sz="2400" dirty="0"/>
              <a:t>For example:               </a:t>
            </a:r>
            <a:r>
              <a:rPr lang="en-US" sz="3200" dirty="0"/>
              <a:t>+AB,     -CD,     *EF,     /GH</a:t>
            </a:r>
            <a:endParaRPr lang="en-US" sz="32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80682" y="4814044"/>
            <a:ext cx="2568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(A+B)*C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3985" y="5353629"/>
            <a:ext cx="2810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= [+AB]*C=?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3985" y="6005942"/>
            <a:ext cx="2366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=  *+ABC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94" y="4163436"/>
            <a:ext cx="9007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Instant Exercise: (</a:t>
            </a:r>
            <a:r>
              <a:rPr lang="en-US" sz="3200" b="1" i="1" dirty="0">
                <a:solidFill>
                  <a:srgbClr val="00B0F0"/>
                </a:solidFill>
              </a:rPr>
              <a:t>Infix expression </a:t>
            </a:r>
            <a:r>
              <a:rPr lang="en-US" sz="3200" dirty="0"/>
              <a:t>to </a:t>
            </a:r>
            <a:r>
              <a:rPr lang="en-US" sz="3200" b="1" i="1" dirty="0">
                <a:solidFill>
                  <a:srgbClr val="0000CC"/>
                </a:solidFill>
              </a:rPr>
              <a:t>polish notation</a:t>
            </a:r>
            <a:r>
              <a:rPr lang="en-US" sz="3200"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6177" y="4818527"/>
            <a:ext cx="2568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B050"/>
                </a:solidFill>
              </a:rPr>
              <a:t>A+(B*C) </a:t>
            </a:r>
            <a:r>
              <a:rPr lang="en-US" sz="3600" dirty="0">
                <a:solidFill>
                  <a:srgbClr val="00B050"/>
                </a:solidFill>
              </a:rPr>
              <a:t>=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9480" y="5358112"/>
            <a:ext cx="2810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= A+[*BC]=?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9480" y="6010425"/>
            <a:ext cx="2366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=  +A*BC</a:t>
            </a:r>
          </a:p>
        </p:txBody>
      </p:sp>
    </p:spTree>
    <p:extLst>
      <p:ext uri="{BB962C8B-B14F-4D97-AF65-F5344CB8AC3E}">
        <p14:creationId xmlns:p14="http://schemas.microsoft.com/office/powerpoint/2010/main" val="22397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55794" y="16510"/>
            <a:ext cx="8299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b="1" dirty="0">
                <a:solidFill>
                  <a:srgbClr val="00B050"/>
                </a:solidFill>
              </a:rPr>
              <a:t>Polish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753" y="721474"/>
            <a:ext cx="3035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7030A0"/>
                </a:solidFill>
              </a:rPr>
              <a:t>(A+B)/(C-D) </a:t>
            </a:r>
            <a:r>
              <a:rPr lang="en-US" sz="3600" b="1" dirty="0">
                <a:solidFill>
                  <a:srgbClr val="7030A0"/>
                </a:solidFill>
              </a:rPr>
              <a:t>=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8196" y="1317423"/>
            <a:ext cx="3564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7030A0"/>
                </a:solidFill>
              </a:rPr>
              <a:t>= [+AB]/[-</a:t>
            </a:r>
            <a:r>
              <a:rPr lang="en-US" sz="3600" b="1" dirty="0">
                <a:solidFill>
                  <a:srgbClr val="7030A0"/>
                </a:solidFill>
              </a:rPr>
              <a:t>CD] =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8196" y="1913372"/>
            <a:ext cx="2366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7030A0"/>
                </a:solidFill>
              </a:rPr>
              <a:t>=  /+AB-CD</a:t>
            </a: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2998694"/>
            <a:ext cx="900752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charset="2"/>
              <a:buChar char="ü"/>
            </a:pPr>
            <a:r>
              <a:rPr lang="en-US" sz="2800" dirty="0"/>
              <a:t>The fundamental property of polish notation is that the order in which the operations are to be performed is completely determined by</a:t>
            </a:r>
          </a:p>
          <a:p>
            <a:pPr marL="1371600" lvl="2" indent="-457200" algn="just">
              <a:buFont typeface="Wingdings" charset="2"/>
              <a:buChar char="ü"/>
            </a:pPr>
            <a:r>
              <a:rPr lang="en-US" sz="2800" dirty="0"/>
              <a:t> The positions of the operators, and </a:t>
            </a:r>
          </a:p>
          <a:p>
            <a:pPr marL="1371600" lvl="2" indent="-457200" algn="just">
              <a:buFont typeface="Wingdings" charset="2"/>
              <a:buChar char="ü"/>
            </a:pPr>
            <a:r>
              <a:rPr lang="en-US" sz="2800" dirty="0"/>
              <a:t>Operands in the expression. </a:t>
            </a:r>
          </a:p>
          <a:p>
            <a:pPr marL="457200" indent="-457200" algn="just">
              <a:buFont typeface="Wingdings" charset="2"/>
              <a:buChar char="ü"/>
            </a:pPr>
            <a:r>
              <a:rPr lang="en-US" sz="2800" b="1" dirty="0">
                <a:solidFill>
                  <a:srgbClr val="7030A0"/>
                </a:solidFill>
              </a:rPr>
              <a:t>One never needs parentheses when writing expressions in polish notation.</a:t>
            </a:r>
          </a:p>
        </p:txBody>
      </p:sp>
    </p:spTree>
    <p:extLst>
      <p:ext uri="{BB962C8B-B14F-4D97-AF65-F5344CB8AC3E}">
        <p14:creationId xmlns:p14="http://schemas.microsoft.com/office/powerpoint/2010/main" val="115496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55794" y="16510"/>
            <a:ext cx="8099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b="1" dirty="0">
                <a:solidFill>
                  <a:srgbClr val="00B050"/>
                </a:solidFill>
              </a:rPr>
              <a:t>Reverse Polish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01285"/>
            <a:ext cx="900752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i="1" dirty="0">
                <a:solidFill>
                  <a:srgbClr val="7030A0"/>
                </a:solidFill>
              </a:rPr>
              <a:t>Reverse Polish Notation </a:t>
            </a:r>
            <a:r>
              <a:rPr lang="en-US" sz="2400" dirty="0"/>
              <a:t>refers to the analogous notation in which the operator symbol is placed after its two operands:</a:t>
            </a:r>
          </a:p>
          <a:p>
            <a:pPr algn="just"/>
            <a:endParaRPr lang="en-US" sz="2400" dirty="0"/>
          </a:p>
          <a:p>
            <a:pPr algn="ctr"/>
            <a:r>
              <a:rPr lang="en-US" sz="3600" b="1" dirty="0"/>
              <a:t>AB+,     CD-,    EF*,       GH/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624864"/>
            <a:ext cx="900752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This notation is frequently called </a:t>
            </a:r>
            <a:r>
              <a:rPr lang="en-US" sz="2800" b="1" i="1" dirty="0">
                <a:solidFill>
                  <a:srgbClr val="7030A0"/>
                </a:solidFill>
              </a:rPr>
              <a:t>postfix notation</a:t>
            </a:r>
          </a:p>
          <a:p>
            <a:pPr marL="285750" indent="-285750" algn="just">
              <a:lnSpc>
                <a:spcPct val="150000"/>
              </a:lnSpc>
              <a:buFont typeface="Wingdings" charset="2"/>
              <a:buChar char="ü"/>
            </a:pPr>
            <a:r>
              <a:rPr lang="en-US" sz="2800" dirty="0"/>
              <a:t>One never needs parentheses to determine the order of the operations in any arithmetic expression in </a:t>
            </a:r>
            <a:r>
              <a:rPr lang="en-US" sz="2800" b="1" i="1" dirty="0">
                <a:solidFill>
                  <a:srgbClr val="7030A0"/>
                </a:solidFill>
              </a:rPr>
              <a:t>postfix notation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1191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55794" y="16510"/>
            <a:ext cx="8299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1315818"/>
            <a:ext cx="900752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Add a right parenthesis “)” at the end of P.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Scan P from left to right and repeat Steps 3 and 4 for each of P until the “)” is encountered.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     If an operand is encountered, put it on STACK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     If an operator </a:t>
            </a:r>
            <a:r>
              <a:rPr lang="en-US" sz="2800" b="1" dirty="0">
                <a:solidFill>
                  <a:srgbClr val="FF0000"/>
                </a:solidFill>
              </a:rPr>
              <a:t>Ꚛ</a:t>
            </a:r>
            <a:r>
              <a:rPr lang="en-US" sz="2800" b="1" dirty="0"/>
              <a:t> is encountered, then: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2800" b="1" dirty="0"/>
              <a:t>Remove the two top elements of the STACK, where A is the top element and B is the next-to-top element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2800" b="1" dirty="0"/>
              <a:t>Evaluate B </a:t>
            </a:r>
            <a:r>
              <a:rPr lang="en-US" sz="2800" b="1" dirty="0">
                <a:solidFill>
                  <a:srgbClr val="FF0000"/>
                </a:solidFill>
              </a:rPr>
              <a:t>Ꚛ</a:t>
            </a:r>
            <a:r>
              <a:rPr lang="en-US" sz="2800" b="1" dirty="0"/>
              <a:t> A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2800" b="1" dirty="0"/>
              <a:t>Place the result of (b) back on STACK.</a:t>
            </a:r>
          </a:p>
          <a:p>
            <a:pPr lvl="1"/>
            <a:r>
              <a:rPr lang="en-US" sz="2800" b="1" dirty="0"/>
              <a:t>[End of If structure]</a:t>
            </a:r>
          </a:p>
          <a:p>
            <a:pPr lvl="1"/>
            <a:r>
              <a:rPr lang="en-US" sz="2800" b="1" dirty="0"/>
              <a:t>[End of Step 2 loop]</a:t>
            </a:r>
          </a:p>
          <a:p>
            <a:pPr marL="22225" lvl="1"/>
            <a:r>
              <a:rPr lang="en-US" sz="2800" b="1" dirty="0"/>
              <a:t>5. Set VALUE equal to the TOP element on STACK.</a:t>
            </a:r>
          </a:p>
          <a:p>
            <a:pPr marL="22225" lvl="1"/>
            <a:r>
              <a:rPr lang="en-US" sz="2800" b="1" dirty="0"/>
              <a:t>Exit.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98226"/>
            <a:ext cx="90075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CC"/>
                </a:solidFill>
              </a:rPr>
              <a:t>Algorithm to find the VALUE of an arithmetic expression P written in postfix notation.</a:t>
            </a:r>
          </a:p>
        </p:txBody>
      </p:sp>
    </p:spTree>
    <p:extLst>
      <p:ext uri="{BB962C8B-B14F-4D97-AF65-F5344CB8AC3E}">
        <p14:creationId xmlns:p14="http://schemas.microsoft.com/office/powerpoint/2010/main" val="108692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55794" y="16510"/>
            <a:ext cx="8449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b="1" dirty="0">
                <a:solidFill>
                  <a:srgbClr val="00B050"/>
                </a:solidFill>
              </a:rPr>
              <a:t>Evaluation of Postfix Expression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217" y="601285"/>
            <a:ext cx="779929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P:   5,   6,    2,   +,   *,   12,   4,   /,   -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672008"/>
              </p:ext>
            </p:extLst>
          </p:nvPr>
        </p:nvGraphicFramePr>
        <p:xfrm>
          <a:off x="2443864" y="1326516"/>
          <a:ext cx="4064000" cy="539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Symbol Scanned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926486" y="2114781"/>
            <a:ext cx="8499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/>
              <a:t>(1) 5</a:t>
            </a:r>
            <a:endParaRPr lang="en-US" sz="2800" dirty="0"/>
          </a:p>
        </p:txBody>
      </p:sp>
      <p:sp>
        <p:nvSpPr>
          <p:cNvPr id="11" name="Rectangle 10"/>
          <p:cNvSpPr/>
          <p:nvPr/>
        </p:nvSpPr>
        <p:spPr>
          <a:xfrm>
            <a:off x="5310302" y="2114781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77209" y="3027743"/>
            <a:ext cx="8499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(3)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3839" y="6138884"/>
            <a:ext cx="9589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(10</a:t>
            </a:r>
            <a:r>
              <a:rPr lang="en-US" sz="2800"/>
              <a:t>) )</a:t>
            </a:r>
            <a:endParaRPr lang="en-US" sz="2800" dirty="0"/>
          </a:p>
        </p:txBody>
      </p:sp>
      <p:sp>
        <p:nvSpPr>
          <p:cNvPr id="14" name="Rectangle 13"/>
          <p:cNvSpPr/>
          <p:nvPr/>
        </p:nvSpPr>
        <p:spPr>
          <a:xfrm>
            <a:off x="2890622" y="5731535"/>
            <a:ext cx="7777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(9) 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54554" y="5319853"/>
            <a:ext cx="8066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(8) 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2914" y="4796633"/>
            <a:ext cx="8499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(7)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01064" y="2601104"/>
            <a:ext cx="8499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(2)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1101" y="2522674"/>
            <a:ext cx="7216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5, 6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1559" y="2997802"/>
            <a:ext cx="10759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5, 6, 2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61533" y="3460080"/>
            <a:ext cx="8499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(4) 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8930" y="3442891"/>
            <a:ext cx="7216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5, 8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90030" y="3903831"/>
            <a:ext cx="846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(5) 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42279" y="3904572"/>
            <a:ext cx="5501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2914" y="4369994"/>
            <a:ext cx="10326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(6) 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22362" y="4341997"/>
            <a:ext cx="10871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40, 12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81573" y="4832701"/>
            <a:ext cx="14414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40, 12, 4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13732" y="5290895"/>
            <a:ext cx="9044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40, 3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3650" y="5726885"/>
            <a:ext cx="5501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58144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55794" y="16510"/>
            <a:ext cx="8299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Algorithm: POLISH (Q,P)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1315818"/>
            <a:ext cx="9144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Push “(“ on to STACK, and add “)” to the end of Q.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Scan Q from left to right and repeat Steps 3 to 6 for each element of Q until the STACK is empty: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     If an operand is encountered, add it to P.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     If a left parenthesis is encountered, push it onto STACK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     If an operator </a:t>
            </a:r>
            <a:r>
              <a:rPr lang="en-US" b="1" dirty="0">
                <a:solidFill>
                  <a:srgbClr val="FF0000"/>
                </a:solidFill>
              </a:rPr>
              <a:t>Ꚛ</a:t>
            </a:r>
            <a:r>
              <a:rPr lang="en-US" b="1" dirty="0"/>
              <a:t> is encountered, then:</a:t>
            </a:r>
          </a:p>
          <a:p>
            <a:pPr marL="1428750" lvl="2" indent="-514350">
              <a:buFont typeface="+mj-lt"/>
              <a:buAutoNum type="alphaLcParenR"/>
            </a:pPr>
            <a:r>
              <a:rPr lang="en-US" b="1" dirty="0"/>
              <a:t>Repeatedly pop from STACK and add  to P each operator (on the top of STACK) which has the same precedence as or higher precedence than </a:t>
            </a:r>
            <a:r>
              <a:rPr lang="en-US" b="1" dirty="0">
                <a:solidFill>
                  <a:srgbClr val="FF0000"/>
                </a:solidFill>
              </a:rPr>
              <a:t>Ꚛ</a:t>
            </a:r>
            <a:r>
              <a:rPr lang="en-US" b="1" dirty="0"/>
              <a:t>. </a:t>
            </a:r>
          </a:p>
          <a:p>
            <a:pPr marL="1428750" lvl="2" indent="-514350">
              <a:buFont typeface="+mj-lt"/>
              <a:buAutoNum type="alphaLcParenR"/>
            </a:pPr>
            <a:r>
              <a:rPr lang="en-US" b="1" dirty="0"/>
              <a:t>Add </a:t>
            </a:r>
            <a:r>
              <a:rPr lang="en-US" b="1" dirty="0">
                <a:solidFill>
                  <a:srgbClr val="FF0000"/>
                </a:solidFill>
              </a:rPr>
              <a:t>Ꚛ</a:t>
            </a:r>
            <a:r>
              <a:rPr lang="en-US" b="1" dirty="0"/>
              <a:t> to STACK.</a:t>
            </a:r>
          </a:p>
          <a:p>
            <a:pPr lvl="2"/>
            <a:r>
              <a:rPr lang="en-US" b="1" dirty="0"/>
              <a:t>[End of If structure.]</a:t>
            </a:r>
          </a:p>
          <a:p>
            <a:pPr marL="22225" lvl="1"/>
            <a:r>
              <a:rPr lang="en-US" b="1" dirty="0"/>
              <a:t>6. 	If a right parenthesis is encountered, then:</a:t>
            </a:r>
          </a:p>
          <a:p>
            <a:pPr marL="22225" lvl="1"/>
            <a:r>
              <a:rPr lang="en-US" b="1" dirty="0"/>
              <a:t>	    a) Repeatedly pop from STACK and add to P each operator (on the top of STACK) 	        until a left parenthesis is encountered. </a:t>
            </a:r>
          </a:p>
          <a:p>
            <a:pPr marL="22225" lvl="1"/>
            <a:r>
              <a:rPr lang="en-US" b="1" dirty="0"/>
              <a:t>	     b) Remove the left parenthesis. [Do not add the left parenthesis to P.]</a:t>
            </a:r>
          </a:p>
          <a:p>
            <a:pPr marL="22225" lvl="1"/>
            <a:r>
              <a:rPr lang="en-US" b="1" dirty="0"/>
              <a:t>                 [End of If structure.]</a:t>
            </a:r>
          </a:p>
          <a:p>
            <a:pPr marL="22225" lvl="1"/>
            <a:r>
              <a:rPr lang="en-US" b="1" dirty="0"/>
              <a:t>       [End of Step 2 loop.]</a:t>
            </a:r>
          </a:p>
          <a:p>
            <a:pPr marL="22225" lvl="1"/>
            <a:r>
              <a:rPr lang="en-US" b="1" dirty="0"/>
              <a:t>7. Exit.</a:t>
            </a:r>
          </a:p>
          <a:p>
            <a:pPr marL="22225" lvl="1"/>
            <a:endParaRPr lang="en-US" b="1" dirty="0"/>
          </a:p>
          <a:p>
            <a:pPr marL="22225" lvl="1"/>
            <a:endParaRPr lang="en-US" b="1" dirty="0"/>
          </a:p>
          <a:p>
            <a:pPr marL="22225" lvl="1"/>
            <a:r>
              <a:rPr lang="en-US" b="1" dirty="0"/>
              <a:t>	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98226"/>
            <a:ext cx="90075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</a:rPr>
              <a:t>Suppose Q is an arithmetic expression written in infix notation. This algorithm finds the equivalent postfix expression P.</a:t>
            </a:r>
          </a:p>
        </p:txBody>
      </p:sp>
    </p:spTree>
    <p:extLst>
      <p:ext uri="{BB962C8B-B14F-4D97-AF65-F5344CB8AC3E}">
        <p14:creationId xmlns:p14="http://schemas.microsoft.com/office/powerpoint/2010/main" val="338206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b="1" dirty="0">
                <a:solidFill>
                  <a:srgbClr val="00B050"/>
                </a:solidFill>
              </a:rPr>
              <a:t>Transforming</a:t>
            </a:r>
            <a:r>
              <a:rPr lang="en-US" sz="3200" b="1" dirty="0">
                <a:solidFill>
                  <a:srgbClr val="7030A0"/>
                </a:solidFill>
              </a:rPr>
              <a:t> Q </a:t>
            </a:r>
            <a:r>
              <a:rPr lang="en-US" sz="3200" b="1" dirty="0">
                <a:solidFill>
                  <a:srgbClr val="00B050"/>
                </a:solidFill>
              </a:rPr>
              <a:t>into </a:t>
            </a:r>
            <a:r>
              <a:rPr lang="en-US" sz="3200" b="1" dirty="0">
                <a:solidFill>
                  <a:srgbClr val="00B0F0"/>
                </a:solidFill>
              </a:rPr>
              <a:t>P</a:t>
            </a:r>
            <a:r>
              <a:rPr lang="en-US" sz="3200" b="1" dirty="0">
                <a:solidFill>
                  <a:srgbClr val="00B050"/>
                </a:solidFill>
              </a:rPr>
              <a:t> expression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0682" y="423412"/>
            <a:ext cx="906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Q: A + (B * C- ( D / E ↑ F ) * G ) * H =  ( ? ) </a:t>
            </a:r>
            <a:r>
              <a:rPr lang="en-US" sz="2800" b="1" dirty="0">
                <a:solidFill>
                  <a:srgbClr val="00B0F0"/>
                </a:solidFill>
              </a:rPr>
              <a:t>P</a:t>
            </a:r>
            <a:r>
              <a:rPr lang="en-US" sz="2800" b="1" dirty="0">
                <a:solidFill>
                  <a:srgbClr val="00B050"/>
                </a:solidFill>
              </a:rPr>
              <a:t> expression</a:t>
            </a:r>
            <a:r>
              <a:rPr lang="en-US" sz="2800" b="1" dirty="0"/>
              <a:t>  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939441"/>
              </p:ext>
            </p:extLst>
          </p:nvPr>
        </p:nvGraphicFramePr>
        <p:xfrm>
          <a:off x="201705" y="939801"/>
          <a:ext cx="8805819" cy="5928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464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23056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6285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Symbol Scanned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Expression 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9248" y="131781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(1) 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3952" y="1277472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(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1893" y="1317813"/>
            <a:ext cx="443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837" y="1618130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(2)  +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43952" y="1678786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 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59823" y="1658471"/>
            <a:ext cx="443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767" y="201257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(3)  (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1882" y="207323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 +   (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7753" y="2052917"/>
            <a:ext cx="443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3" y="2420469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(4)  B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2918" y="2481125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 +   (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8789" y="2460810"/>
            <a:ext cx="793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839" y="2774574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(5)  *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43954" y="2794889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 +   (   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59825" y="2814915"/>
            <a:ext cx="69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875" y="3155573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(6)  C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34990" y="3216229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 +   (   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50861" y="3195914"/>
            <a:ext cx="70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 B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358" y="3523125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(7)  -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39473" y="3543440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 +   (   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55344" y="3563466"/>
            <a:ext cx="1008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 B C 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394" y="3890677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(8)  (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30509" y="3910992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 +   (  -    (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46380" y="3931018"/>
            <a:ext cx="1232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 B C 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771" y="4258229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(9)  D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48439" y="4265097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+   (    -   (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77757" y="4298570"/>
            <a:ext cx="130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* 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7" y="4612334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(10)  /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39475" y="4619202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+   (    -   (  /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8793" y="4652675"/>
            <a:ext cx="130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* 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737" y="503367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(11)  E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5" y="5040542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+   (    -   (  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86723" y="5074015"/>
            <a:ext cx="1420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</a:t>
            </a:r>
            <a:r>
              <a:rPr lang="en-US" b="1"/>
              <a:t>* D  E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708220" y="53608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(12) ↑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61888" y="5367753"/>
            <a:ext cx="1741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+   (    -   (  /  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91206" y="5401226"/>
            <a:ext cx="1416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</a:t>
            </a:r>
            <a:r>
              <a:rPr lang="en-US" b="1"/>
              <a:t>* D  E</a:t>
            </a:r>
            <a:endParaRPr lang="en-US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739597" y="5782225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(13)  F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93265" y="5789093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+   (    -   (  / 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95689" y="5755331"/>
            <a:ext cx="1761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</a:t>
            </a:r>
            <a:r>
              <a:rPr lang="en-US" b="1"/>
              <a:t>* D  E  F</a:t>
            </a:r>
            <a:endParaRPr lang="en-US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717186" y="6095989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(14)  )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70854" y="6102857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+   (    -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73277" y="6095989"/>
            <a:ext cx="2620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* D  E  F ↑  /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8222" y="6436647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(15)  *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61890" y="6443515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+   (    -   *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64313" y="6463541"/>
            <a:ext cx="2620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* D  E  F ↑  /</a:t>
            </a:r>
          </a:p>
        </p:txBody>
      </p:sp>
    </p:spTree>
    <p:extLst>
      <p:ext uri="{BB962C8B-B14F-4D97-AF65-F5344CB8AC3E}">
        <p14:creationId xmlns:p14="http://schemas.microsoft.com/office/powerpoint/2010/main" val="153523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b="1" dirty="0">
                <a:solidFill>
                  <a:srgbClr val="00B050"/>
                </a:solidFill>
              </a:rPr>
              <a:t>Transforming</a:t>
            </a:r>
            <a:r>
              <a:rPr lang="en-US" sz="3200" b="1" dirty="0">
                <a:solidFill>
                  <a:srgbClr val="7030A0"/>
                </a:solidFill>
              </a:rPr>
              <a:t> Q </a:t>
            </a:r>
            <a:r>
              <a:rPr lang="en-US" sz="3200" b="1" dirty="0">
                <a:solidFill>
                  <a:srgbClr val="00B050"/>
                </a:solidFill>
              </a:rPr>
              <a:t>into </a:t>
            </a:r>
            <a:r>
              <a:rPr lang="en-US" sz="3200" b="1" dirty="0">
                <a:solidFill>
                  <a:srgbClr val="00B0F0"/>
                </a:solidFill>
              </a:rPr>
              <a:t>P</a:t>
            </a:r>
            <a:r>
              <a:rPr lang="en-US" sz="3200" b="1" dirty="0">
                <a:solidFill>
                  <a:srgbClr val="00B050"/>
                </a:solidFill>
              </a:rPr>
              <a:t> expression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82" y="423412"/>
            <a:ext cx="906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Q: A + (B * C- ( D / E ↑ F ) * G ) * H =  ( ? ) </a:t>
            </a:r>
            <a:r>
              <a:rPr lang="en-US" sz="2800" b="1" dirty="0">
                <a:solidFill>
                  <a:srgbClr val="00B0F0"/>
                </a:solidFill>
              </a:rPr>
              <a:t>P</a:t>
            </a:r>
            <a:r>
              <a:rPr lang="en-US" sz="2800" b="1" dirty="0">
                <a:solidFill>
                  <a:srgbClr val="00B050"/>
                </a:solidFill>
              </a:rPr>
              <a:t> expression</a:t>
            </a:r>
            <a:r>
              <a:rPr lang="en-US" sz="2800" b="1" dirty="0"/>
              <a:t>  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172777"/>
              </p:ext>
            </p:extLst>
          </p:nvPr>
        </p:nvGraphicFramePr>
        <p:xfrm>
          <a:off x="215993" y="975040"/>
          <a:ext cx="8527958" cy="555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3562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0635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6285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Symbol Scanned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Expression 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85807" y="1371605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(7)  -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39473" y="1270897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 +   (   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7501" y="1371605"/>
            <a:ext cx="1008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 B C 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394" y="169881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(8)  (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30509" y="1719131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 +   (  -    (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8537" y="1739157"/>
            <a:ext cx="1232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 B C 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771" y="2066368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(9)  D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48439" y="2073236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+   (    -   (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9914" y="2106709"/>
            <a:ext cx="130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* 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7" y="2420473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(10)  /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39475" y="2427341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+   (    -   (  /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0950" y="2460814"/>
            <a:ext cx="130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* 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737" y="2841813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(11)  E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5" y="2848681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+   (    -   (  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58880" y="2882154"/>
            <a:ext cx="1420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</a:t>
            </a:r>
            <a:r>
              <a:rPr lang="en-US" b="1"/>
              <a:t>* D  E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708220" y="316902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(12) ↑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61888" y="3175892"/>
            <a:ext cx="1741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+   (    -   (  /  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63363" y="3209365"/>
            <a:ext cx="1416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</a:t>
            </a:r>
            <a:r>
              <a:rPr lang="en-US" b="1"/>
              <a:t>* D  E</a:t>
            </a:r>
            <a:endParaRPr lang="en-US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2093265" y="3543444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+   (    -   (  / 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67846" y="3509682"/>
            <a:ext cx="1761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</a:t>
            </a:r>
            <a:r>
              <a:rPr lang="en-US" b="1"/>
              <a:t>* D  E  F</a:t>
            </a:r>
            <a:endParaRPr lang="en-US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717186" y="3904128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(14)  )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70854" y="3910996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+   (    -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5434" y="3904128"/>
            <a:ext cx="2620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* D  E  F ↑  /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8222" y="4244786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(15)  *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61890" y="4251654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+   (    -   *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9395" y="3509682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(13)  F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3046" y="4625785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(16)  G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06714" y="4632653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+   (    -   *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1294" y="4652679"/>
            <a:ext cx="2620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* D  E  F ↑  /  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4423" y="5020231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(17)  )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8091" y="502709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+ 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12671" y="5047125"/>
            <a:ext cx="3330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* D  E  F ↑  /  G  *  -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9247" y="5387783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(18)  *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82915" y="5394651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+   *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57495" y="5414677"/>
            <a:ext cx="3541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* D  E  F ↑  /  G *  -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3730" y="5768782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(19)  H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87398" y="5775650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+    *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61978" y="5795677"/>
            <a:ext cx="3639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* D  E  F ↑  /   G *  -  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8213" y="6136334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(20)  )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66461" y="6163228"/>
            <a:ext cx="353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* D  E  F ↑  / G *  -  H  *  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81293" y="4293110"/>
            <a:ext cx="2620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 B  C  * D  E  F ↑  /</a:t>
            </a:r>
          </a:p>
        </p:txBody>
      </p:sp>
    </p:spTree>
    <p:extLst>
      <p:ext uri="{BB962C8B-B14F-4D97-AF65-F5344CB8AC3E}">
        <p14:creationId xmlns:p14="http://schemas.microsoft.com/office/powerpoint/2010/main" val="9734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40966" y="2774224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you……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0763-8C84-4A0C-BF22-E8FBB0D3435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801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7840</TotalTime>
  <Words>1212</Words>
  <Application>Microsoft Office PowerPoint</Application>
  <PresentationFormat>On-screen Show (4:3)</PresentationFormat>
  <Paragraphs>207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Office Theme</vt:lpstr>
      <vt:lpstr>Slipstream</vt:lpstr>
      <vt:lpstr>3_Office Theme</vt:lpstr>
      <vt:lpstr>Data Structures  ICT-1211  Information and Communication Technology</vt:lpstr>
      <vt:lpstr> Stacks, Queues, Recursion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you……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Dulal Sir</cp:lastModifiedBy>
  <cp:revision>476</cp:revision>
  <dcterms:created xsi:type="dcterms:W3CDTF">2016-12-28T08:52:04Z</dcterms:created>
  <dcterms:modified xsi:type="dcterms:W3CDTF">2025-08-18T07:46:49Z</dcterms:modified>
</cp:coreProperties>
</file>