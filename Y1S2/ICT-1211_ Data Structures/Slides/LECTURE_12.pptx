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15"/>
  </p:notesMasterIdLst>
  <p:sldIdLst>
    <p:sldId id="345" r:id="rId4"/>
    <p:sldId id="416" r:id="rId5"/>
    <p:sldId id="378" r:id="rId6"/>
    <p:sldId id="379" r:id="rId7"/>
    <p:sldId id="380" r:id="rId8"/>
    <p:sldId id="381" r:id="rId9"/>
    <p:sldId id="382" r:id="rId10"/>
    <p:sldId id="383" r:id="rId11"/>
    <p:sldId id="384" r:id="rId12"/>
    <p:sldId id="385" r:id="rId13"/>
    <p:sldId id="41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29" autoAdjust="0"/>
    <p:restoredTop sz="92153" autoAdjust="0"/>
  </p:normalViewPr>
  <p:slideViewPr>
    <p:cSldViewPr snapToGrid="0">
      <p:cViewPr varScale="1">
        <p:scale>
          <a:sx n="68" d="100"/>
          <a:sy n="68" d="100"/>
        </p:scale>
        <p:origin x="-122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8D40F-337E-475A-B8D0-2FD58C6D038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9FA0E-C547-4E4D-80AD-FEB8A6571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85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0268-8CD4-504F-ABA5-1C9CCA49C623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61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C1D01-1B9F-7C40-813B-513D0EDB4DAD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692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B0D1A-2EA3-3343-AAB9-1846DE5CAD5F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24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741DD-39D0-5B4D-9046-B63EFFC59727}" type="datetime1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27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1697D-3C77-404E-BF10-67BDD1040D45}" type="datetime1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08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69DE7-D140-8942-81CE-278DE9DEC074}" type="datetime1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29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C0E96-8730-7547-8D85-86E2E04695A6}" type="datetime1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28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EC598-C370-B048-9E1F-CBD36421979E}" type="datetime1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40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76CB3-5715-E34A-A7C1-F5A05382CE93}" type="datetime1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4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B2211-647A-3D45-8976-B84E1F718B75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2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64B15-D269-024B-997D-E9A8A37476E1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43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6896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499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6461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4955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2312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410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3879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3943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464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0544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3364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A6E7098-1D9E-4297-8B06-8858A6CB2C48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C31CAB-83F9-4A4F-970C-5EAB1D42FFB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749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D57E40-D648-455A-9437-30FA8FE56DD6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E0763-8C84-4A0C-BF22-E8FBB0D343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1501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DE751E-08CA-4D99-89B2-9FC9DE2F4625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BDE4F-8BEA-439D-BA05-0EFEBB61C6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927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D697BC-62C7-4F99-8C37-A408B62C8993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E7523-BF8E-4897-AD6D-B3C234AD94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0511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3466664-56B2-422F-8B50-F59FA16202E4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0E09A0-16D6-4176-A8F9-C1456DE503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4108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C2F925-DC51-4DF6-9C0D-52D121C83119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8AD07-74B5-414C-BC00-90E42DED0B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0624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ED0F17-9F3A-43C4-AA85-AB4E0FAD16D9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B9DFBF-5E1F-4EB9-93B7-3749EA01810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022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0051F7-5A91-48AF-A3CB-CB3AECA38DB8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685E2C-7CA7-4F52-B75F-FBB43463FA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1588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9E41F2-B5DD-4979-B2E9-DDEB29191F2A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3865FE-0C86-4A78-AF62-9D91622BC57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888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7D9A12-E6C0-4876-802E-698B1CA58FA9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E1BB3D-D5F5-4526-9991-8EC9121349E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11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F34D8D-EE93-4818-9FCB-0C3F0226D4F2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A6242A-2212-4C71-B4FB-3287FD4958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3466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B11AC-AE98-49D4-983B-A8FD90AEBC06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endParaRPr lang="vi-V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6255E9-86BB-409F-B032-A00BE8952A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371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4F56B-6E71-E14F-82F4-B249D7839BE9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0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694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8A24BF4C-9CA2-423E-B4F6-7F55918723CE}" type="datetime1">
              <a:rPr lang="fr-FR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30/07/2025</a:t>
            </a:fld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AE2053D5-6219-41C3-8D16-FE99C84E3D09}" type="slidenum">
              <a:rPr lang="en-US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ea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680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871544"/>
            <a:ext cx="6400800" cy="1529256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Lecture-12</a:t>
            </a: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</a:t>
            </a: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43202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Data Structures</a:t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ICT-1211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D62340-A1EA-4CE0-A397-B868A3BF73D1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rebuchet MS"/>
                <a:ea typeface="+mn-ea"/>
                <a:cs typeface="Arial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Trebuchet MS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418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403560" y="1700760"/>
            <a:ext cx="6511925" cy="172824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Linked Lists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2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617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Insertion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780936"/>
            <a:ext cx="91440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800" b="1" dirty="0">
                <a:solidFill>
                  <a:srgbClr val="00B050"/>
                </a:solidFill>
              </a:rPr>
              <a:t>Insertion Algorithms in Linked List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800" b="1" dirty="0">
                <a:solidFill>
                  <a:srgbClr val="00B050"/>
                </a:solidFill>
              </a:rPr>
              <a:t>Inserting element at the Beginning of a Linked List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800" b="1" dirty="0">
                <a:solidFill>
                  <a:srgbClr val="00B050"/>
                </a:solidFill>
              </a:rPr>
              <a:t>Inserting element after a Given node of a Linked List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800" b="1" dirty="0">
                <a:solidFill>
                  <a:srgbClr val="00B050"/>
                </a:solidFill>
              </a:rPr>
              <a:t>Inserting element into a sorted Linked List.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Ø"/>
            </a:pP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40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Insertion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682" y="557882"/>
            <a:ext cx="89268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charset="2"/>
              <a:buChar char="ü"/>
            </a:pPr>
            <a:r>
              <a:rPr lang="en-US" sz="2400" dirty="0"/>
              <a:t>Algorithms which inserts nodes into linked lists come up in various situations :</a:t>
            </a:r>
          </a:p>
          <a:p>
            <a:pPr marL="800100" lvl="1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Inserts a node at the beginning of the list,</a:t>
            </a:r>
          </a:p>
          <a:p>
            <a:pPr marL="800100" lvl="1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Inserts a node after the node with a given location, and</a:t>
            </a:r>
          </a:p>
          <a:p>
            <a:pPr marL="800100" lvl="1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Inserts a node into a sorted list.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ü"/>
            </a:pPr>
            <a:r>
              <a:rPr lang="en-US" sz="2400" dirty="0"/>
              <a:t> All the algorithms:</a:t>
            </a:r>
          </a:p>
          <a:p>
            <a:pPr marL="800100" lvl="1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 assume that linked list is in memory in the form</a:t>
            </a:r>
          </a:p>
          <a:p>
            <a:pPr lvl="1" algn="ctr">
              <a:lnSpc>
                <a:spcPct val="150000"/>
              </a:lnSpc>
            </a:pPr>
            <a:r>
              <a:rPr lang="en-US" sz="2400" b="1" dirty="0">
                <a:solidFill>
                  <a:srgbClr val="0000CC"/>
                </a:solidFill>
              </a:rPr>
              <a:t>LIST(INFO, LINK, START, AVAIL) </a:t>
            </a:r>
          </a:p>
          <a:p>
            <a:pPr marL="800100" lvl="1" indent="-342900" algn="just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Have a variable </a:t>
            </a:r>
            <a:r>
              <a:rPr lang="en-US" sz="2400" b="1" dirty="0">
                <a:solidFill>
                  <a:srgbClr val="0000CC"/>
                </a:solidFill>
              </a:rPr>
              <a:t>ITEM</a:t>
            </a:r>
            <a:r>
              <a:rPr lang="en-US" sz="2400" dirty="0"/>
              <a:t> which contains the new information to be added to the list.</a:t>
            </a:r>
          </a:p>
          <a:p>
            <a:pPr marL="800100" lvl="1" indent="-342900">
              <a:buFont typeface="Wingdings" charset="2"/>
              <a:buChar char="Ø"/>
            </a:pPr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78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Insertion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744156"/>
            <a:ext cx="91440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Since all the insertion algorithm will use a node in the AVAIL list, all of the algorithm will include the following steps:</a:t>
            </a:r>
          </a:p>
          <a:p>
            <a:pPr marL="800100" lvl="1" indent="-342900" algn="just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Checking to see if space is available in the AVAIL list. If not, that is, </a:t>
            </a:r>
          </a:p>
          <a:p>
            <a:pPr marL="800100" lvl="1" indent="-342900" algn="just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If </a:t>
            </a:r>
            <a:r>
              <a:rPr lang="en-US" sz="2400" b="1" dirty="0">
                <a:solidFill>
                  <a:srgbClr val="FF0000"/>
                </a:solidFill>
              </a:rPr>
              <a:t>AVAIL=NULL</a:t>
            </a:r>
            <a:r>
              <a:rPr lang="en-US" sz="2400" dirty="0"/>
              <a:t>, then the algorithm will print the message </a:t>
            </a:r>
          </a:p>
          <a:p>
            <a:pPr lvl="1" algn="ctr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OVERFLOW</a:t>
            </a:r>
            <a:r>
              <a:rPr lang="en-US" sz="2400" dirty="0"/>
              <a:t>.</a:t>
            </a:r>
          </a:p>
          <a:p>
            <a:pPr marL="800100" lvl="1" indent="-342900" algn="just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Removing the first node from the AVAIL list. Using the variable NEW to keep track of the location of the new node.</a:t>
            </a:r>
          </a:p>
          <a:p>
            <a:pPr lvl="1" algn="ctr">
              <a:lnSpc>
                <a:spcPct val="150000"/>
              </a:lnSpc>
            </a:pPr>
            <a:r>
              <a:rPr lang="en-US" sz="2400" b="1" dirty="0">
                <a:solidFill>
                  <a:srgbClr val="0000CC"/>
                </a:solidFill>
              </a:rPr>
              <a:t>NEW:=AVAIL, </a:t>
            </a:r>
          </a:p>
          <a:p>
            <a:pPr lvl="1" algn="ctr">
              <a:lnSpc>
                <a:spcPct val="150000"/>
              </a:lnSpc>
            </a:pPr>
            <a:r>
              <a:rPr lang="en-US" sz="2400" b="1" dirty="0">
                <a:solidFill>
                  <a:srgbClr val="0000CC"/>
                </a:solidFill>
              </a:rPr>
              <a:t>AVAIL:=LINK[AVAIL]</a:t>
            </a:r>
          </a:p>
          <a:p>
            <a:pPr marL="800100" lvl="1" indent="-342900" algn="just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Copying new information into the new node. i.e., </a:t>
            </a:r>
          </a:p>
          <a:p>
            <a:pPr lvl="1" algn="ctr">
              <a:lnSpc>
                <a:spcPct val="150000"/>
              </a:lnSpc>
            </a:pPr>
            <a:r>
              <a:rPr lang="en-US" sz="2400" b="1" dirty="0">
                <a:solidFill>
                  <a:srgbClr val="0000CC"/>
                </a:solidFill>
              </a:rPr>
              <a:t>INFO[NEW]=ITEM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242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Insertion Algorithms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647"/>
            <a:ext cx="9144000" cy="237008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252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9063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Inserting at the Beginning of a list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16" y="889932"/>
            <a:ext cx="8861850" cy="229695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1452282" y="3890682"/>
            <a:ext cx="62932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[Remove first node from AVAIL list.]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Set NEW:=AVAIL and AVAIL:=LINK[AVAIL]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002975" y="1033133"/>
            <a:ext cx="2766640" cy="747627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69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9063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Inserting at the Beginning </a:t>
            </a:r>
            <a:r>
              <a:rPr lang="is-IS" sz="3200" b="1" dirty="0">
                <a:solidFill>
                  <a:srgbClr val="00B050"/>
                </a:solidFill>
              </a:rPr>
              <a:t>….</a:t>
            </a:r>
            <a:r>
              <a:rPr lang="en-US" sz="3200" b="1" dirty="0">
                <a:solidFill>
                  <a:srgbClr val="00B050"/>
                </a:solidFill>
              </a:rPr>
              <a:t>ALG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739588"/>
            <a:ext cx="914400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INSFIRST (INFO, LINK, START, AVAIL,ITEM)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[OVERFLOW?] If AVAIL=NULL, then Write: OVERFLOW, and Exit.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[Remove first node from AVAIL list.]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   Set NEW:=AVAIL and AVAIL:=LINK[AVAIL]</a:t>
            </a:r>
          </a:p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en-US" sz="2400" dirty="0"/>
              <a:t>Set INFO[NEW]:=ITEM.[Copies new data into new node.]</a:t>
            </a:r>
          </a:p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en-US" sz="2400" dirty="0"/>
              <a:t>Set LINK[NEW]:=START.[New Node now points to original first node.]</a:t>
            </a:r>
          </a:p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en-US" sz="2400" dirty="0"/>
              <a:t>Set START:=NEW. [Change START so it points to the new node.]</a:t>
            </a:r>
          </a:p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en-US" sz="2400" dirty="0"/>
              <a:t>Exit.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49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E3237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E3237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DD05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DD05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DD05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DD05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2F43E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2F43E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EE9E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EE9E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9063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Inserting at the Beginning </a:t>
            </a:r>
            <a:r>
              <a:rPr lang="is-IS" sz="3200" b="1" dirty="0">
                <a:solidFill>
                  <a:srgbClr val="00B050"/>
                </a:solidFill>
              </a:rPr>
              <a:t>….</a:t>
            </a:r>
            <a:r>
              <a:rPr lang="en-US" sz="3200" b="1" dirty="0" err="1">
                <a:solidFill>
                  <a:srgbClr val="00B050"/>
                </a:solidFill>
              </a:rPr>
              <a:t>Exmp</a:t>
            </a:r>
            <a:endParaRPr lang="en-US" sz="3200" b="1" dirty="0">
              <a:solidFill>
                <a:srgbClr val="00B05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9" y="682892"/>
            <a:ext cx="4260712" cy="595855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781" y="642514"/>
            <a:ext cx="4629743" cy="6039308"/>
          </a:xfrm>
          <a:prstGeom prst="rect">
            <a:avLst/>
          </a:prstGeom>
          <a:ln>
            <a:solidFill>
              <a:srgbClr val="0000CC"/>
            </a:solidFill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024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7895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Inserting after a given node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739588"/>
            <a:ext cx="914400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INSLOC (INFO, LINK, START, AVAIL, LOC, ITEM)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[OVERFLOW?] If AVAIL=NULL, then Write: OVERFLOW, and Exit.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[Remove first node from AVAIL list.]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   Set NEW:=AVAIL and AVAIL:=LINK[AVAIL]</a:t>
            </a:r>
          </a:p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en-US" sz="2400" dirty="0"/>
              <a:t>Set INFO[NEW]:=ITEM.[Copies new data into new node.]</a:t>
            </a:r>
          </a:p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en-US" sz="2400" dirty="0"/>
              <a:t>If LOC=NULL, then [Insert as first node.]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       </a:t>
            </a:r>
            <a:r>
              <a:rPr lang="en-US" sz="2400" dirty="0">
                <a:solidFill>
                  <a:srgbClr val="0000CC"/>
                </a:solidFill>
              </a:rPr>
              <a:t>Set LINK[NEW]:=START and START:=NEW.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Else: [Insert after node with location LOC.]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       </a:t>
            </a:r>
            <a:r>
              <a:rPr lang="en-US" sz="2400" dirty="0">
                <a:solidFill>
                  <a:srgbClr val="0000CC"/>
                </a:solidFill>
              </a:rPr>
              <a:t>Set LINK[NEW]:=LINK[LOC] and LINK[LOC]:=NEW.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[END if If structure.]</a:t>
            </a:r>
          </a:p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en-US" sz="2400" dirty="0"/>
              <a:t>Exit.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4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E3237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E3237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DD05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DD05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DD05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DD05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FA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4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4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432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8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9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40966" y="2774224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you……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E0763-8C84-4A0C-BF22-E8FBB0D3435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902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2744</TotalTime>
  <Words>500</Words>
  <Application>Microsoft Office PowerPoint</Application>
  <PresentationFormat>On-screen Show (4:3)</PresentationFormat>
  <Paragraphs>67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Office Theme</vt:lpstr>
      <vt:lpstr>Slipstream</vt:lpstr>
      <vt:lpstr>3_Office Theme</vt:lpstr>
      <vt:lpstr>Data Structures  ICT-1211  Information and Communication Technology</vt:lpstr>
      <vt:lpstr> Linked Lists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you……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Dulal Sir</cp:lastModifiedBy>
  <cp:revision>326</cp:revision>
  <dcterms:created xsi:type="dcterms:W3CDTF">2016-12-28T08:52:04Z</dcterms:created>
  <dcterms:modified xsi:type="dcterms:W3CDTF">2025-07-30T08:26:33Z</dcterms:modified>
</cp:coreProperties>
</file>