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22"/>
  </p:notesMasterIdLst>
  <p:sldIdLst>
    <p:sldId id="345" r:id="rId5"/>
    <p:sldId id="493" r:id="rId6"/>
    <p:sldId id="458" r:id="rId7"/>
    <p:sldId id="461" r:id="rId8"/>
    <p:sldId id="462" r:id="rId9"/>
    <p:sldId id="463" r:id="rId10"/>
    <p:sldId id="464" r:id="rId11"/>
    <p:sldId id="465" r:id="rId12"/>
    <p:sldId id="467" r:id="rId13"/>
    <p:sldId id="466" r:id="rId14"/>
    <p:sldId id="468" r:id="rId15"/>
    <p:sldId id="469" r:id="rId16"/>
    <p:sldId id="470" r:id="rId17"/>
    <p:sldId id="494" r:id="rId18"/>
    <p:sldId id="472" r:id="rId19"/>
    <p:sldId id="473" r:id="rId20"/>
    <p:sldId id="49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6" autoAdjust="0"/>
    <p:restoredTop sz="91615" autoAdjust="0"/>
  </p:normalViewPr>
  <p:slideViewPr>
    <p:cSldViewPr snapToGrid="0">
      <p:cViewPr varScale="1">
        <p:scale>
          <a:sx n="67" d="100"/>
          <a:sy n="67" d="100"/>
        </p:scale>
        <p:origin x="-12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10/24/2024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Hanoi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38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5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4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70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to denote a procedure which moves the top n disk from the initial peg</a:t>
            </a:r>
            <a:r>
              <a:rPr lang="en-US" baseline="0" dirty="0"/>
              <a:t> BEG to the final peg END using the peg AUX as an auxiliary. When n=1, we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4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5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preceding section gave examples of some recursive definition and procedures.</a:t>
            </a:r>
            <a:r>
              <a:rPr lang="en-US" baseline="0" dirty="0"/>
              <a:t>  Recursion may be used as a tool in developing an algorithm to solve a particular problem. The problem we pick is known as Tower of </a:t>
            </a:r>
            <a:r>
              <a:rPr lang="en-US" baseline="0"/>
              <a:t>Hanoi problem.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32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0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94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0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98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3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16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8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5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57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3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8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91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068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62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265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0723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0460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545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7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3102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07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2909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800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070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400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733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614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80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8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84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653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77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584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235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24/10/2024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00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24/10/2024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24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Lecture-21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7275" y="2072235"/>
            <a:ext cx="7500938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Stacks, Queues,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799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TOWER of HANOI Problem 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929648"/>
              </p:ext>
            </p:extLst>
          </p:nvPr>
        </p:nvGraphicFramePr>
        <p:xfrm>
          <a:off x="1139553" y="682892"/>
          <a:ext cx="6945575" cy="3170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CorelPhotoPaint.Image.9" r:id="rId4" imgW="7301587" imgH="3669841" progId="CorelPhotoPaint.Image.9">
                  <p:embed/>
                </p:oleObj>
              </mc:Choice>
              <mc:Fallback>
                <p:oleObj name="CorelPhotoPaint.Image.9" r:id="rId4" imgW="7301587" imgH="3669841" progId="CorelPhotoPaint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553" y="682892"/>
                        <a:ext cx="6945575" cy="3170651"/>
                      </a:xfrm>
                      <a:prstGeom prst="rect">
                        <a:avLst/>
                      </a:prstGeom>
                      <a:noFill/>
                      <a:ln w="76200" cmpd="tri">
                        <a:solidFill>
                          <a:srgbClr val="FFCC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51305" y="1855423"/>
            <a:ext cx="2522069" cy="72100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7599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7963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TOWER of HANOI Problem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95309" y="-1786102"/>
            <a:ext cx="2522069" cy="72100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 8"/>
          <p:cNvSpPr txBox="1">
            <a:spLocks noChangeArrowheads="1"/>
          </p:cNvSpPr>
          <p:nvPr/>
        </p:nvSpPr>
        <p:spPr>
          <a:xfrm>
            <a:off x="195197" y="3391988"/>
            <a:ext cx="7848600" cy="226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lvl="1" indent="-401638" algn="just">
              <a:buFont typeface="Wingdings" charset="2"/>
              <a:buChar char="ü"/>
              <a:defRPr/>
            </a:pPr>
            <a:r>
              <a:rPr lang="en-US" altLang="en-US" sz="2800" dirty="0"/>
              <a:t>Only one disc could be moved at a time</a:t>
            </a:r>
          </a:p>
          <a:p>
            <a:pPr marL="401638" lvl="1" indent="-401638" algn="just">
              <a:buFont typeface="Wingdings" charset="2"/>
              <a:buChar char="ü"/>
              <a:defRPr/>
            </a:pPr>
            <a:r>
              <a:rPr lang="en-US" altLang="en-US" sz="2800" dirty="0"/>
              <a:t>A larger disc must never be stacked above a smaller one</a:t>
            </a:r>
          </a:p>
          <a:p>
            <a:pPr marL="401638" lvl="1" indent="-401638" algn="just">
              <a:buFont typeface="Wingdings" charset="2"/>
              <a:buChar char="ü"/>
              <a:defRPr/>
            </a:pPr>
            <a:r>
              <a:rPr lang="en-US" altLang="en-US" sz="2800" dirty="0"/>
              <a:t>One and only one extra needle could be used for intermediate storage of discs</a:t>
            </a:r>
          </a:p>
        </p:txBody>
      </p:sp>
    </p:spTree>
    <p:extLst>
      <p:ext uri="{BB962C8B-B14F-4D97-AF65-F5344CB8AC3E}">
        <p14:creationId xmlns:p14="http://schemas.microsoft.com/office/powerpoint/2010/main" val="21284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820773"/>
            <a:ext cx="2057400" cy="365125"/>
          </a:xfrm>
        </p:spPr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7706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TOWER of HANOI Problem Solution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9004"/>
            <a:ext cx="900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solution to the Tower of Hanoi problem for </a:t>
            </a:r>
            <a:r>
              <a:rPr lang="en-US" sz="3600" dirty="0">
                <a:solidFill>
                  <a:srgbClr val="FF0000"/>
                </a:solidFill>
              </a:rPr>
              <a:t>n=3</a:t>
            </a:r>
            <a:r>
              <a:rPr lang="en-US" sz="2400" dirty="0"/>
              <a:t> appears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8" t="27014" b="48605"/>
          <a:stretch/>
        </p:blipFill>
        <p:spPr>
          <a:xfrm rot="16200000">
            <a:off x="2550069" y="1113881"/>
            <a:ext cx="1755648" cy="21455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45" t="51649" r="3639" b="23589"/>
          <a:stretch/>
        </p:blipFill>
        <p:spPr>
          <a:xfrm rot="16200000">
            <a:off x="4871211" y="982986"/>
            <a:ext cx="1755648" cy="24024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9" t="77427"/>
          <a:stretch/>
        </p:blipFill>
        <p:spPr>
          <a:xfrm rot="16200000">
            <a:off x="7190802" y="1148122"/>
            <a:ext cx="1755648" cy="20984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0" r="45232" b="73938"/>
          <a:stretch/>
        </p:blipFill>
        <p:spPr>
          <a:xfrm rot="16200000">
            <a:off x="218698" y="3233335"/>
            <a:ext cx="1767106" cy="20431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t="26506" r="44965" b="49303"/>
          <a:stretch/>
        </p:blipFill>
        <p:spPr>
          <a:xfrm rot="16200000">
            <a:off x="2524191" y="3129782"/>
            <a:ext cx="1753552" cy="22495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3" t="52284" r="45098" b="23335"/>
          <a:stretch/>
        </p:blipFill>
        <p:spPr>
          <a:xfrm rot="16200000">
            <a:off x="4872260" y="3109356"/>
            <a:ext cx="1753550" cy="22903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4" t="77682" r="46435" b="223"/>
          <a:stretch/>
        </p:blipFill>
        <p:spPr>
          <a:xfrm rot="16200000">
            <a:off x="7081698" y="3212106"/>
            <a:ext cx="1767452" cy="20709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4" t="157" r="1204" b="74129"/>
          <a:stretch/>
        </p:blipFill>
        <p:spPr>
          <a:xfrm rot="16200000">
            <a:off x="253640" y="1052756"/>
            <a:ext cx="1755648" cy="22629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0" y="5359108"/>
            <a:ext cx="9117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N=3:     A→C,    A→B,      C→B,      A→C,      B→A,         B→C,         A→C, </a:t>
            </a:r>
          </a:p>
        </p:txBody>
      </p:sp>
    </p:spTree>
    <p:extLst>
      <p:ext uri="{BB962C8B-B14F-4D97-AF65-F5344CB8AC3E}">
        <p14:creationId xmlns:p14="http://schemas.microsoft.com/office/powerpoint/2010/main" val="46195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8020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TOWER of HANOI Problem Solution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82" y="557882"/>
            <a:ext cx="89268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7030A0"/>
                </a:solidFill>
              </a:rPr>
              <a:t>SEPARATE SOLUTION </a:t>
            </a:r>
            <a:r>
              <a:rPr lang="en-US" sz="2400" dirty="0"/>
              <a:t>to the Tower of Hanoi problem </a:t>
            </a:r>
          </a:p>
          <a:p>
            <a:endParaRPr lang="en-US" sz="2400" dirty="0"/>
          </a:p>
          <a:p>
            <a:r>
              <a:rPr lang="en-US" sz="2400" dirty="0"/>
              <a:t>for  </a:t>
            </a:r>
            <a:r>
              <a:rPr lang="en-US" sz="3200" b="1" dirty="0">
                <a:solidFill>
                  <a:srgbClr val="0000CC"/>
                </a:solidFill>
              </a:rPr>
              <a:t>n=1</a:t>
            </a:r>
          </a:p>
          <a:p>
            <a:r>
              <a:rPr lang="en-US" sz="3200" b="1" dirty="0">
                <a:solidFill>
                  <a:srgbClr val="0000CC"/>
                </a:solidFill>
              </a:rPr>
              <a:t>     </a:t>
            </a:r>
            <a:r>
              <a:rPr lang="en-US" sz="2400" b="1" dirty="0">
                <a:solidFill>
                  <a:srgbClr val="FF0000"/>
                </a:solidFill>
              </a:rPr>
              <a:t>Solution: </a:t>
            </a:r>
            <a:r>
              <a:rPr lang="en-US" sz="3200" b="1" dirty="0">
                <a:solidFill>
                  <a:srgbClr val="FF0000"/>
                </a:solidFill>
              </a:rPr>
              <a:t>A→C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CC"/>
                </a:solidFill>
              </a:rPr>
              <a:t>      n=2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       Solution: </a:t>
            </a:r>
            <a:r>
              <a:rPr lang="en-US" sz="3200" b="1" dirty="0">
                <a:solidFill>
                  <a:srgbClr val="FF0000"/>
                </a:solidFill>
              </a:rPr>
              <a:t>A→B, A→C, B→C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CC"/>
                </a:solidFill>
              </a:rPr>
              <a:t>      n=3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        Solution: </a:t>
            </a:r>
            <a:r>
              <a:rPr lang="en-US" sz="3200" b="1" dirty="0">
                <a:solidFill>
                  <a:srgbClr val="FF0000"/>
                </a:solidFill>
              </a:rPr>
              <a:t>A→C, A→B, C→B, A→C, B→A, B→C, A→C</a:t>
            </a:r>
            <a:endParaRPr lang="en-US" sz="32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endParaRPr lang="en-US" sz="3200" b="1" dirty="0">
              <a:solidFill>
                <a:srgbClr val="0000C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82" y="5603974"/>
            <a:ext cx="8926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General Solution to the Tower of Hanoi for any # of Disk is </a:t>
            </a:r>
            <a:r>
              <a:rPr lang="en-US" sz="2400" b="1" dirty="0">
                <a:solidFill>
                  <a:srgbClr val="7030A0"/>
                </a:solidFill>
              </a:rPr>
              <a:t>PREFERRED</a:t>
            </a:r>
            <a:r>
              <a:rPr lang="en-US" sz="2400" b="1" dirty="0">
                <a:solidFill>
                  <a:srgbClr val="00B050"/>
                </a:solidFill>
              </a:rPr>
              <a:t>.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Which can be done in </a:t>
            </a:r>
            <a:r>
              <a:rPr lang="en-US" sz="2400" b="1" dirty="0">
                <a:solidFill>
                  <a:srgbClr val="00B0F0"/>
                </a:solidFill>
              </a:rPr>
              <a:t>RECURSIVE</a:t>
            </a:r>
            <a:r>
              <a:rPr lang="en-US" sz="2400" b="1" dirty="0">
                <a:solidFill>
                  <a:srgbClr val="00B050"/>
                </a:solidFill>
              </a:rPr>
              <a:t> way.</a:t>
            </a:r>
          </a:p>
        </p:txBody>
      </p:sp>
    </p:spTree>
    <p:extLst>
      <p:ext uri="{BB962C8B-B14F-4D97-AF65-F5344CB8AC3E}">
        <p14:creationId xmlns:p14="http://schemas.microsoft.com/office/powerpoint/2010/main" val="18200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8806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Solution of TOWER of HANOI in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RECURSIVE WAY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82" y="444134"/>
            <a:ext cx="906331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ü"/>
            </a:pPr>
            <a:r>
              <a:rPr lang="en-US" sz="2400" dirty="0"/>
              <a:t>The solution to the Tower of Hanoi problem for n&gt;1 disks may be reduced to the following sub-problems: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Move the top n-1 disks from peg A to peg B.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Move the top disk from A to peg C: </a:t>
            </a:r>
            <a:r>
              <a:rPr lang="en-US" sz="2400" b="1" dirty="0">
                <a:solidFill>
                  <a:srgbClr val="FF0000"/>
                </a:solidFill>
              </a:rPr>
              <a:t>A→C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Move the top n-1 disks from peg B to peg 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49961" y="1588749"/>
            <a:ext cx="3843648" cy="64868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0112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8802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Solution of TOWER of HANOI in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RECURSIVE WAY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143"/>
            <a:ext cx="88827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general notation of the solution  for any # of disk: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TOWER(N, BEG, AUX, END)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When </a:t>
            </a:r>
            <a:r>
              <a:rPr lang="en-US" sz="2400" b="1" dirty="0">
                <a:solidFill>
                  <a:srgbClr val="0000CC"/>
                </a:solidFill>
              </a:rPr>
              <a:t>n=1  </a:t>
            </a:r>
            <a:r>
              <a:rPr lang="en-US" sz="2400" dirty="0"/>
              <a:t>then </a:t>
            </a:r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TOWER(1, BEG, AUX, END)</a:t>
            </a:r>
          </a:p>
          <a:p>
            <a:pPr algn="ctr"/>
            <a:r>
              <a:rPr lang="en-US" sz="2400" dirty="0"/>
              <a:t>BEG → END, But</a:t>
            </a:r>
          </a:p>
          <a:p>
            <a:pPr algn="ctr"/>
            <a:endParaRPr lang="en-US" sz="2400" dirty="0"/>
          </a:p>
          <a:p>
            <a:pPr algn="just"/>
            <a:r>
              <a:rPr lang="en-US" sz="2400" dirty="0"/>
              <a:t>When </a:t>
            </a:r>
            <a:r>
              <a:rPr lang="en-US" sz="2400" b="1" dirty="0">
                <a:solidFill>
                  <a:srgbClr val="0000CC"/>
                </a:solidFill>
              </a:rPr>
              <a:t>n&gt; 1 </a:t>
            </a:r>
            <a:r>
              <a:rPr lang="en-US" sz="2400" dirty="0"/>
              <a:t>then then solution may be reduced to the solution of the following three sub-problem:</a:t>
            </a:r>
          </a:p>
          <a:p>
            <a:pPr algn="just"/>
            <a:endParaRPr lang="en-US" sz="2400" dirty="0"/>
          </a:p>
          <a:p>
            <a:pPr marL="2743200" lvl="5" indent="-457200">
              <a:buAutoNum type="arabicParenBoth"/>
            </a:pPr>
            <a:r>
              <a:rPr lang="en-US" sz="2400" b="1" dirty="0">
                <a:solidFill>
                  <a:srgbClr val="7030A0"/>
                </a:solidFill>
              </a:rPr>
              <a:t>TOWER (N-1, BEG, END, AUX)</a:t>
            </a:r>
          </a:p>
          <a:p>
            <a:pPr marL="2743200" lvl="5" indent="-457200">
              <a:buFontTx/>
              <a:buAutoNum type="arabicParenBoth"/>
            </a:pPr>
            <a:r>
              <a:rPr lang="en-US" sz="2400" b="1" dirty="0">
                <a:solidFill>
                  <a:srgbClr val="7030A0"/>
                </a:solidFill>
              </a:rPr>
              <a:t>TOWER (1, BEG, AUX, END)</a:t>
            </a:r>
          </a:p>
          <a:p>
            <a:pPr marL="2743200" lvl="5" indent="-457200">
              <a:buFontTx/>
              <a:buAutoNum type="arabicParenBoth"/>
            </a:pPr>
            <a:r>
              <a:rPr lang="en-US" sz="2400" b="1" dirty="0">
                <a:solidFill>
                  <a:srgbClr val="7030A0"/>
                </a:solidFill>
              </a:rPr>
              <a:t>TOWER (N-1, AUX, BEG, END)</a:t>
            </a:r>
          </a:p>
        </p:txBody>
      </p:sp>
    </p:spTree>
    <p:extLst>
      <p:ext uri="{BB962C8B-B14F-4D97-AF65-F5344CB8AC3E}">
        <p14:creationId xmlns:p14="http://schemas.microsoft.com/office/powerpoint/2010/main" val="112045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Formal </a:t>
            </a:r>
            <a:r>
              <a:rPr lang="en-US" sz="2400" dirty="0">
                <a:solidFill>
                  <a:srgbClr val="FF0000"/>
                </a:solidFill>
              </a:rPr>
              <a:t>TOWER of HANOI </a:t>
            </a:r>
            <a:r>
              <a:rPr lang="en-US" sz="3200" dirty="0">
                <a:solidFill>
                  <a:srgbClr val="FF0000"/>
                </a:solidFill>
              </a:rPr>
              <a:t>Problem Solving Procedure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82" y="557882"/>
            <a:ext cx="892684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TOWER (N, BEG, AUX, END)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Step1. If N=1, then: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(a) Write: BEG→END.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  (b) Return.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           [End of If Structure]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Step2. [</a:t>
            </a:r>
            <a:r>
              <a:rPr lang="en-US" sz="2400" dirty="0">
                <a:solidFill>
                  <a:srgbClr val="7030A0"/>
                </a:solidFill>
              </a:rPr>
              <a:t>Move N-1 disks from peg BEG to peg AUX.</a:t>
            </a:r>
            <a:r>
              <a:rPr lang="en-US" sz="2400" dirty="0"/>
              <a:t>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  Call TOWER (N-1, BEG, END, AUX).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Step3. Write: BEG → END.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Step4. [</a:t>
            </a:r>
            <a:r>
              <a:rPr lang="en-US" sz="2400" dirty="0">
                <a:solidFill>
                  <a:srgbClr val="7030A0"/>
                </a:solidFill>
              </a:rPr>
              <a:t>Move N-1 disks from peg AUX to peg END.</a:t>
            </a:r>
            <a:r>
              <a:rPr lang="en-US" sz="2400" dirty="0"/>
              <a:t>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 Call TOWER (N-1), AUX, BEG, END).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Step5. Return</a:t>
            </a:r>
          </a:p>
        </p:txBody>
      </p:sp>
    </p:spTree>
    <p:extLst>
      <p:ext uri="{BB962C8B-B14F-4D97-AF65-F5344CB8AC3E}">
        <p14:creationId xmlns:p14="http://schemas.microsoft.com/office/powerpoint/2010/main" val="124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79346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Recursive Solution to TOWER of HANOI Problem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13463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T(4,A,B,C)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172" y="4619902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T(3,B,A,C)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627" y="1637204"/>
            <a:ext cx="1419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T(3,A,C,B)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3809" y="3240372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A→C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37063" y="3200291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T(1,A,B,C)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351098" y="3444295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7" idx="1"/>
          </p:cNvCxnSpPr>
          <p:nvPr/>
        </p:nvCxnSpPr>
        <p:spPr>
          <a:xfrm flipV="1">
            <a:off x="3084107" y="3425038"/>
            <a:ext cx="1239702" cy="2796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0"/>
          </p:cNvCxnSpPr>
          <p:nvPr/>
        </p:nvCxnSpPr>
        <p:spPr>
          <a:xfrm flipV="1">
            <a:off x="708207" y="2251594"/>
            <a:ext cx="354103" cy="96186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2"/>
          </p:cNvCxnSpPr>
          <p:nvPr/>
        </p:nvCxnSpPr>
        <p:spPr>
          <a:xfrm>
            <a:off x="708207" y="3675128"/>
            <a:ext cx="177051" cy="10167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14954" y="1720721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A→B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8105" y="1628388"/>
            <a:ext cx="1419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T(1,A,C,B)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2052140" y="1872392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22" idx="1"/>
          </p:cNvCxnSpPr>
          <p:nvPr/>
        </p:nvCxnSpPr>
        <p:spPr>
          <a:xfrm flipV="1">
            <a:off x="3576141" y="1905387"/>
            <a:ext cx="638813" cy="184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4851" y="796829"/>
            <a:ext cx="1419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T(2,A,B,C)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1435376" y="1232364"/>
            <a:ext cx="328110" cy="48757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0604" y="5460172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T(2,A,B,C</a:t>
            </a:r>
            <a:r>
              <a:rPr lang="en-US" sz="2400" dirty="0"/>
              <a:t>)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174117" y="5081566"/>
            <a:ext cx="266990" cy="4309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74262" y="2451350"/>
            <a:ext cx="1419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T(2,C,A,B)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587775" y="2072744"/>
            <a:ext cx="266990" cy="4309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12281" y="296085"/>
            <a:ext cx="1419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T(1,A,C,B)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2097226" y="557882"/>
            <a:ext cx="419229" cy="24330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33407" y="910825"/>
            <a:ext cx="384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1428" y="818492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T(1,A,B,C)</a:t>
            </a:r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2535463" y="1062496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059464" y="1097329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537009" y="1219085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T(1,B,A,C)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2184316" y="1258493"/>
            <a:ext cx="407754" cy="14135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51618" y="2016029"/>
            <a:ext cx="1419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T(1,C,B,A)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236563" y="2277826"/>
            <a:ext cx="419229" cy="24330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10893" y="2556750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C→B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0618" y="2464417"/>
            <a:ext cx="1492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T(1,C,A,B,)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2574653" y="2708421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163969" y="2717128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715535" y="2873716"/>
            <a:ext cx="1419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T(1,A,C,B)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2362842" y="2913124"/>
            <a:ext cx="407754" cy="14135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541423" y="4036419"/>
            <a:ext cx="1419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T(2,B,C,A)</a:t>
            </a:r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1213305" y="4308944"/>
            <a:ext cx="433243" cy="32401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06115" y="4820577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B→C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89463" y="4658978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T(1,B,A,C)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1503498" y="4902982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56" idx="1"/>
          </p:cNvCxnSpPr>
          <p:nvPr/>
        </p:nvCxnSpPr>
        <p:spPr>
          <a:xfrm>
            <a:off x="3027499" y="4937817"/>
            <a:ext cx="1278616" cy="6742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685213" y="416348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B→A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34938" y="4071149"/>
            <a:ext cx="1413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T(1,B,C,A)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2848973" y="4315153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372974" y="4349986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017519" y="3622654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T(1,B,A,C)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V="1">
            <a:off x="2388193" y="3866659"/>
            <a:ext cx="712057" cy="24379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867935" y="4463032"/>
            <a:ext cx="1413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T(1,C,B,A)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2515242" y="4502440"/>
            <a:ext cx="407754" cy="14135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040775" y="5596044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A→C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390500" y="5503711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T(1,A,B,C)</a:t>
            </a:r>
          </a:p>
        </p:txBody>
      </p:sp>
      <p:cxnSp>
        <p:nvCxnSpPr>
          <p:cNvPr id="72" name="Straight Connector 71"/>
          <p:cNvCxnSpPr/>
          <p:nvPr/>
        </p:nvCxnSpPr>
        <p:spPr>
          <a:xfrm flipV="1">
            <a:off x="2204535" y="5747715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3728536" y="5782548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358481" y="5063924"/>
            <a:ext cx="1419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T(1,A,C,B)</a:t>
            </a: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1854765" y="5244687"/>
            <a:ext cx="558777" cy="32890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360020" y="5930429"/>
            <a:ext cx="141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T(1,B,A,C)</a:t>
            </a:r>
          </a:p>
        </p:txBody>
      </p:sp>
      <p:cxnSp>
        <p:nvCxnSpPr>
          <p:cNvPr id="78" name="Straight Connector 77"/>
          <p:cNvCxnSpPr/>
          <p:nvPr/>
        </p:nvCxnSpPr>
        <p:spPr>
          <a:xfrm>
            <a:off x="1854765" y="5913123"/>
            <a:ext cx="587986" cy="26131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929055" y="619088"/>
            <a:ext cx="388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A→B</a:t>
            </a:r>
          </a:p>
        </p:txBody>
      </p:sp>
      <p:cxnSp>
        <p:nvCxnSpPr>
          <p:cNvPr id="81" name="Straight Connector 80"/>
          <p:cNvCxnSpPr/>
          <p:nvPr/>
        </p:nvCxnSpPr>
        <p:spPr>
          <a:xfrm>
            <a:off x="3706770" y="557882"/>
            <a:ext cx="712828" cy="16749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942114" y="1272233"/>
            <a:ext cx="3849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B→C</a:t>
            </a:r>
          </a:p>
        </p:txBody>
      </p:sp>
      <p:cxnSp>
        <p:nvCxnSpPr>
          <p:cNvPr id="86" name="Straight Connector 85"/>
          <p:cNvCxnSpPr>
            <a:stCxn id="43" idx="3"/>
          </p:cNvCxnSpPr>
          <p:nvPr/>
        </p:nvCxnSpPr>
        <p:spPr>
          <a:xfrm flipV="1">
            <a:off x="3953422" y="1432611"/>
            <a:ext cx="409571" cy="1730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937763" y="1698956"/>
            <a:ext cx="3892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33405" y="2099553"/>
            <a:ext cx="385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C→A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29051" y="2578525"/>
            <a:ext cx="3992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C→B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24693" y="2874618"/>
            <a:ext cx="38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3401" y="3196837"/>
            <a:ext cx="389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59677" y="3649686"/>
            <a:ext cx="3843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B→C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64328" y="4193975"/>
            <a:ext cx="360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B→A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07278" y="4542320"/>
            <a:ext cx="385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C→A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29050" y="4825350"/>
            <a:ext cx="394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B→C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11630" y="5082254"/>
            <a:ext cx="3853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46466" y="5574290"/>
            <a:ext cx="386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 dirty="0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A→C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42110" y="6027138"/>
            <a:ext cx="392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b="1">
                <a:solidFill>
                  <a:srgbClr val="FF0000"/>
                </a:solidFill>
              </a:rPr>
              <a:t>---------------------------------------------</a:t>
            </a:r>
            <a:r>
              <a:rPr lang="en-US" b="1" dirty="0">
                <a:solidFill>
                  <a:srgbClr val="FF0000"/>
                </a:solidFill>
              </a:rPr>
              <a:t> B→C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28160" y="1246503"/>
            <a:ext cx="644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B→C</a:t>
            </a:r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306115" y="893162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A→C</a:t>
            </a:r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192569" y="2107869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C→A</a:t>
            </a:r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258491" y="289995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A→B</a:t>
            </a:r>
            <a:endParaRPr lang="en-US" dirty="0"/>
          </a:p>
        </p:txBody>
      </p:sp>
      <p:cxnSp>
        <p:nvCxnSpPr>
          <p:cNvPr id="105" name="Straight Connector 104"/>
          <p:cNvCxnSpPr/>
          <p:nvPr/>
        </p:nvCxnSpPr>
        <p:spPr>
          <a:xfrm flipV="1">
            <a:off x="4033340" y="3082888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4420607" y="3661317"/>
            <a:ext cx="644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B→C</a:t>
            </a:r>
            <a:endParaRPr lang="en-US" dirty="0"/>
          </a:p>
        </p:txBody>
      </p:sp>
      <p:cxnSp>
        <p:nvCxnSpPr>
          <p:cNvPr id="108" name="Straight Connector 107"/>
          <p:cNvCxnSpPr/>
          <p:nvPr/>
        </p:nvCxnSpPr>
        <p:spPr>
          <a:xfrm>
            <a:off x="4355559" y="3836182"/>
            <a:ext cx="117562" cy="1730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367348" y="456407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C→A</a:t>
            </a:r>
          </a:p>
        </p:txBody>
      </p:sp>
      <p:cxnSp>
        <p:nvCxnSpPr>
          <p:cNvPr id="112" name="Straight Connector 111"/>
          <p:cNvCxnSpPr/>
          <p:nvPr/>
        </p:nvCxnSpPr>
        <p:spPr>
          <a:xfrm flipV="1">
            <a:off x="4172676" y="4737515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249507" y="5116670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A→B</a:t>
            </a:r>
          </a:p>
        </p:txBody>
      </p:sp>
      <p:cxnSp>
        <p:nvCxnSpPr>
          <p:cNvPr id="115" name="Straight Connector 114"/>
          <p:cNvCxnSpPr/>
          <p:nvPr/>
        </p:nvCxnSpPr>
        <p:spPr>
          <a:xfrm flipV="1">
            <a:off x="3972377" y="5307927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023356" y="598357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B→C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45258" y="540710"/>
            <a:ext cx="662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A→B</a:t>
            </a:r>
            <a:endParaRPr lang="en-US"/>
          </a:p>
        </p:txBody>
      </p:sp>
      <p:cxnSp>
        <p:nvCxnSpPr>
          <p:cNvPr id="118" name="Straight Connector 117"/>
          <p:cNvCxnSpPr/>
          <p:nvPr/>
        </p:nvCxnSpPr>
        <p:spPr>
          <a:xfrm flipV="1">
            <a:off x="3911417" y="2268635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V="1">
            <a:off x="3776432" y="6170082"/>
            <a:ext cx="26869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Down Arrow 119"/>
          <p:cNvSpPr/>
          <p:nvPr/>
        </p:nvSpPr>
        <p:spPr>
          <a:xfrm>
            <a:off x="6060312" y="1314994"/>
            <a:ext cx="1019759" cy="3587988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/>
              <a:t>Moving Sequences</a:t>
            </a:r>
          </a:p>
        </p:txBody>
      </p:sp>
    </p:spTree>
    <p:extLst>
      <p:ext uri="{BB962C8B-B14F-4D97-AF65-F5344CB8AC3E}">
        <p14:creationId xmlns:p14="http://schemas.microsoft.com/office/powerpoint/2010/main" val="99079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7" grpId="0"/>
      <p:bldP spid="11" grpId="0"/>
      <p:bldP spid="22" grpId="0"/>
      <p:bldP spid="23" grpId="0"/>
      <p:bldP spid="26" grpId="0"/>
      <p:bldP spid="29" grpId="0"/>
      <p:bldP spid="32" grpId="0"/>
      <p:bldP spid="36" grpId="0"/>
      <p:bldP spid="39" grpId="0"/>
      <p:bldP spid="40" grpId="0"/>
      <p:bldP spid="43" grpId="0"/>
      <p:bldP spid="46" grpId="0"/>
      <p:bldP spid="48" grpId="0"/>
      <p:bldP spid="49" grpId="0"/>
      <p:bldP spid="52" grpId="0"/>
      <p:bldP spid="54" grpId="0"/>
      <p:bldP spid="56" grpId="0"/>
      <p:bldP spid="57" grpId="0"/>
      <p:bldP spid="61" grpId="0"/>
      <p:bldP spid="62" grpId="0"/>
      <p:bldP spid="65" grpId="0"/>
      <p:bldP spid="68" grpId="0"/>
      <p:bldP spid="70" grpId="0"/>
      <p:bldP spid="71" grpId="0"/>
      <p:bldP spid="74" grpId="0"/>
      <p:bldP spid="77" grpId="0"/>
      <p:bldP spid="80" grpId="0"/>
      <p:bldP spid="85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3" grpId="0"/>
      <p:bldP spid="104" grpId="0"/>
      <p:bldP spid="107" grpId="0"/>
      <p:bldP spid="111" grpId="0"/>
      <p:bldP spid="114" grpId="0"/>
      <p:bldP spid="116" grpId="0"/>
      <p:bldP spid="117" grpId="0"/>
      <p:bldP spid="1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7663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Implementation of Recursive Pro. By STACKS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788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Before implementing Recursive procedures</a:t>
            </a:r>
            <a:r>
              <a:rPr lang="is-IS" sz="3200" dirty="0">
                <a:solidFill>
                  <a:srgbClr val="7030A0"/>
                </a:solidFill>
              </a:rPr>
              <a:t>…..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82" y="1166191"/>
            <a:ext cx="892684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Imagine a SUBPROGRAM</a:t>
            </a:r>
            <a:r>
              <a:rPr lang="is-IS" sz="2800" b="1" dirty="0">
                <a:solidFill>
                  <a:srgbClr val="00B050"/>
                </a:solidFill>
              </a:rPr>
              <a:t>…</a:t>
            </a:r>
          </a:p>
          <a:p>
            <a:pPr marL="800100" lvl="1" indent="-342900">
              <a:buFont typeface="Wingdings" charset="2"/>
              <a:buChar char="ü"/>
            </a:pPr>
            <a:r>
              <a:rPr lang="is-IS" sz="2400" dirty="0"/>
              <a:t>It may contain both parameters, and local variables.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The parameters are the variables which receive values from objects in the </a:t>
            </a:r>
            <a:r>
              <a:rPr lang="is-IS" sz="2400" b="1" dirty="0">
                <a:solidFill>
                  <a:srgbClr val="00B0F0"/>
                </a:solidFill>
              </a:rPr>
              <a:t>CALLING PROGRAM</a:t>
            </a:r>
            <a:r>
              <a:rPr lang="is-IS" sz="2400" dirty="0"/>
              <a:t>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It transmit values back to the </a:t>
            </a:r>
            <a:r>
              <a:rPr lang="is-IS" sz="2400" b="1" dirty="0">
                <a:solidFill>
                  <a:srgbClr val="00B0F0"/>
                </a:solidFill>
              </a:rPr>
              <a:t>CALLING PROGRAM</a:t>
            </a:r>
            <a:r>
              <a:rPr lang="is-IS" sz="2400" dirty="0"/>
              <a:t>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It must also keep track of the return address in the </a:t>
            </a:r>
            <a:r>
              <a:rPr lang="is-IS" sz="2400" b="1" dirty="0">
                <a:solidFill>
                  <a:srgbClr val="00B0F0"/>
                </a:solidFill>
              </a:rPr>
              <a:t>CALLING PROGRAM</a:t>
            </a:r>
            <a:r>
              <a:rPr lang="is-IS" sz="2400" dirty="0"/>
              <a:t>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The return address is essential, since control must be transferred back to its proper place in the </a:t>
            </a:r>
            <a:r>
              <a:rPr lang="is-IS" sz="2400" b="1" dirty="0">
                <a:solidFill>
                  <a:srgbClr val="00B0F0"/>
                </a:solidFill>
              </a:rPr>
              <a:t>CALLING PROGRAM.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Once the subprogram finished executing and control is transferred back to the </a:t>
            </a:r>
            <a:r>
              <a:rPr lang="is-IS" sz="2400" b="1" dirty="0">
                <a:solidFill>
                  <a:srgbClr val="00B0F0"/>
                </a:solidFill>
              </a:rPr>
              <a:t>CALLING PROGRAM.</a:t>
            </a:r>
          </a:p>
          <a:p>
            <a:pPr marL="800100" lvl="1" indent="-342900" algn="just">
              <a:buFont typeface="Wingdings" charset="2"/>
              <a:buChar char="ü"/>
            </a:pPr>
            <a:r>
              <a:rPr lang="is-IS" sz="2400" dirty="0"/>
              <a:t>The values of the local variables and the return address are </a:t>
            </a:r>
            <a:r>
              <a:rPr lang="is-IS" sz="2400" dirty="0">
                <a:solidFill>
                  <a:srgbClr val="FF0000"/>
                </a:solidFill>
              </a:rPr>
              <a:t>no longer needed.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32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8006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Implementation of Recursive Pro. By STACKS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82" y="529004"/>
            <a:ext cx="89268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Suppose  SUBPROGRAM is a recursive program</a:t>
            </a:r>
            <a:r>
              <a:rPr lang="is-IS" sz="2800" b="1" dirty="0">
                <a:solidFill>
                  <a:srgbClr val="00B050"/>
                </a:solidFill>
              </a:rPr>
              <a:t>…then</a:t>
            </a:r>
          </a:p>
          <a:p>
            <a:pPr marL="457200" indent="-457200" algn="just">
              <a:buFont typeface="Wingdings" charset="2"/>
              <a:buChar char="ü"/>
            </a:pPr>
            <a:r>
              <a:rPr lang="is-IS" sz="2800" dirty="0"/>
              <a:t>Each level of execution of the subprogram may contain different values for the parameters and local variables, and for the return address.</a:t>
            </a:r>
          </a:p>
          <a:p>
            <a:pPr marL="457200" indent="-457200" algn="just">
              <a:buFont typeface="Wingdings" charset="2"/>
              <a:buChar char="ü"/>
            </a:pPr>
            <a:r>
              <a:rPr lang="is-IS" sz="2800" dirty="0"/>
              <a:t>Furthermore, </a:t>
            </a:r>
            <a:r>
              <a:rPr lang="is-IS" sz="2800" u="sng" dirty="0">
                <a:solidFill>
                  <a:srgbClr val="7030A0"/>
                </a:solidFill>
              </a:rPr>
              <a:t>if the recursive program does call itself, then these current values must be saved</a:t>
            </a:r>
            <a:r>
              <a:rPr lang="is-IS" sz="2800" dirty="0"/>
              <a:t>, </a:t>
            </a:r>
            <a:r>
              <a:rPr lang="en-US" sz="2800" dirty="0"/>
              <a:t>s</a:t>
            </a:r>
            <a:r>
              <a:rPr lang="is-IS" sz="2800" dirty="0"/>
              <a:t>ince they will be used again when the program is reactivated.</a:t>
            </a:r>
            <a:endParaRPr lang="is-IS" sz="2400" dirty="0"/>
          </a:p>
        </p:txBody>
      </p:sp>
    </p:spTree>
    <p:extLst>
      <p:ext uri="{BB962C8B-B14F-4D97-AF65-F5344CB8AC3E}">
        <p14:creationId xmlns:p14="http://schemas.microsoft.com/office/powerpoint/2010/main" val="169946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16333" y="1489095"/>
            <a:ext cx="2392016" cy="5801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82" y="529004"/>
            <a:ext cx="892684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 queue is a linear list of elements in which</a:t>
            </a:r>
            <a:r>
              <a:rPr lang="is-IS" sz="2400" dirty="0"/>
              <a:t>…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 deletions can take place only at one end, called the </a:t>
            </a:r>
            <a:r>
              <a:rPr lang="en-US" sz="2400" i="1" dirty="0">
                <a:solidFill>
                  <a:srgbClr val="7030A0"/>
                </a:solidFill>
              </a:rPr>
              <a:t>front</a:t>
            </a:r>
            <a:r>
              <a:rPr lang="en-US" sz="2400" dirty="0"/>
              <a:t>, and 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insertions can take place only at the other end, called the </a:t>
            </a:r>
            <a:r>
              <a:rPr lang="en-US" sz="2400" i="1" dirty="0">
                <a:solidFill>
                  <a:srgbClr val="7030A0"/>
                </a:solidFill>
              </a:rPr>
              <a:t>rear.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Queues are also called first-in first-out (FIFO) list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This contrasts with stacks, which are LIFO 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An important example of a queue in computer science occurs in a timesharing system in which programs with the same priority form a queue while waiting to be executed.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Queues</a:t>
            </a:r>
          </a:p>
        </p:txBody>
      </p:sp>
    </p:spTree>
    <p:extLst>
      <p:ext uri="{BB962C8B-B14F-4D97-AF65-F5344CB8AC3E}">
        <p14:creationId xmlns:p14="http://schemas.microsoft.com/office/powerpoint/2010/main" val="88934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7491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Queues: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82" y="529004"/>
            <a:ext cx="4782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Consider a Queue with </a:t>
            </a:r>
            <a:r>
              <a:rPr lang="en-US" sz="2400" b="1">
                <a:solidFill>
                  <a:srgbClr val="7030A0"/>
                </a:solidFill>
              </a:rPr>
              <a:t>4 elements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868853"/>
              </p:ext>
            </p:extLst>
          </p:nvPr>
        </p:nvGraphicFramePr>
        <p:xfrm>
          <a:off x="856523" y="1175726"/>
          <a:ext cx="610187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53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612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931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1117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7105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BBBB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DDDD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ight Arrow 11"/>
          <p:cNvSpPr/>
          <p:nvPr/>
        </p:nvSpPr>
        <p:spPr>
          <a:xfrm rot="16200000">
            <a:off x="4830446" y="1697827"/>
            <a:ext cx="833826" cy="555897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7030A0"/>
                </a:solidFill>
              </a:rPr>
              <a:t>rear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478156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800" b="1" dirty="0">
                <a:solidFill>
                  <a:srgbClr val="7030A0"/>
                </a:solidFill>
              </a:rPr>
              <a:t>Suppose an element is deleted from the 4 element queue.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770" y="2941983"/>
            <a:ext cx="86992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Which is we can delete??</a:t>
            </a:r>
          </a:p>
          <a:p>
            <a:pPr algn="ctr"/>
            <a:r>
              <a:rPr lang="en-US" sz="2800" b="1" dirty="0">
                <a:solidFill>
                  <a:prstClr val="black"/>
                </a:solidFill>
              </a:rPr>
              <a:t>AAAA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Then which one is considered to be the front element?</a:t>
            </a:r>
          </a:p>
          <a:p>
            <a:pPr algn="ctr"/>
            <a:r>
              <a:rPr lang="en-US" sz="2800" b="1" dirty="0">
                <a:solidFill>
                  <a:prstClr val="black"/>
                </a:solidFill>
              </a:rPr>
              <a:t>BBBB</a:t>
            </a:r>
          </a:p>
          <a:p>
            <a:pPr algn="ctr"/>
            <a:r>
              <a:rPr lang="en-US" sz="2800" b="1" dirty="0">
                <a:solidFill>
                  <a:prstClr val="black"/>
                </a:solidFill>
              </a:rPr>
              <a:t>Suppose EEEE is added to the queue</a:t>
            </a:r>
          </a:p>
          <a:p>
            <a:pPr algn="ctr"/>
            <a:endParaRPr lang="en-US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Then which one is considered to be the rear element?</a:t>
            </a:r>
          </a:p>
          <a:p>
            <a:pPr algn="ctr"/>
            <a:r>
              <a:rPr lang="en-US" sz="2800" b="1" dirty="0">
                <a:solidFill>
                  <a:prstClr val="black"/>
                </a:solidFill>
              </a:rPr>
              <a:t>EEEE</a:t>
            </a:r>
          </a:p>
          <a:p>
            <a:pPr algn="ctr"/>
            <a:endParaRPr lang="en-US" sz="2800" b="1" dirty="0">
              <a:solidFill>
                <a:prstClr val="black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3931" y="1159176"/>
            <a:ext cx="840086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 rot="16200000">
            <a:off x="804979" y="1697828"/>
            <a:ext cx="833826" cy="555897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7030A0"/>
                </a:solidFill>
              </a:rPr>
              <a:t>front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98917" y="1146541"/>
            <a:ext cx="1159479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17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0.12743 0.01019 " pathEditMode="fixed" rAng="0" ptsTypes="AA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72" y="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96296E-6 L 0.11233 -0.0027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3" grpId="0" animBg="1"/>
      <p:bldP spid="11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7720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Queues: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57882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Queues may be represented in the computer in various ways.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Usually by means of</a:t>
            </a:r>
          </a:p>
          <a:p>
            <a:pPr marL="2628900" lvl="5" indent="-342900">
              <a:buFont typeface="Wingdings" panose="05000000000000000000" pitchFamily="2" charset="2"/>
              <a:buChar char="Ø"/>
            </a:pPr>
            <a:r>
              <a:rPr lang="en-US" sz="2400" dirty="0"/>
              <a:t>One-way list</a:t>
            </a:r>
          </a:p>
          <a:p>
            <a:pPr marL="2628900" lvl="5" indent="-342900">
              <a:buFont typeface="Wingdings" panose="05000000000000000000" pitchFamily="2" charset="2"/>
              <a:buChar char="Ø"/>
            </a:pPr>
            <a:r>
              <a:rPr lang="en-US" sz="2400" dirty="0"/>
              <a:t>Linear arrays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Each of the queues will be maintained by …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sz="2400" dirty="0"/>
              <a:t>A Linear Array </a:t>
            </a:r>
            <a:r>
              <a:rPr lang="en-US" sz="2400" b="1" dirty="0"/>
              <a:t>QUEUE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sz="2400" dirty="0"/>
              <a:t>Two pointer variables: 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FRONT</a:t>
            </a:r>
            <a:r>
              <a:rPr lang="en-US" sz="2400" dirty="0"/>
              <a:t> (containing the location of the front element of the Queue)</a:t>
            </a:r>
          </a:p>
          <a:p>
            <a:pPr marL="2171700" lvl="4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REAR </a:t>
            </a:r>
            <a:r>
              <a:rPr lang="en-US" sz="2400" dirty="0"/>
              <a:t>(containing the location of the rear element of the Queue)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The condition </a:t>
            </a:r>
            <a:r>
              <a:rPr lang="en-US" sz="2400" b="1" dirty="0"/>
              <a:t>FRONT= NULL </a:t>
            </a:r>
            <a:r>
              <a:rPr lang="en-US" sz="2400" dirty="0"/>
              <a:t>will indicate that the Queue is……</a:t>
            </a:r>
          </a:p>
          <a:p>
            <a:pPr lvl="8"/>
            <a:r>
              <a:rPr lang="en-US" sz="2400" b="1" dirty="0"/>
              <a:t> EMPTY</a:t>
            </a:r>
            <a:r>
              <a:rPr lang="en-US" sz="2400" dirty="0"/>
              <a:t>.</a:t>
            </a:r>
            <a:endParaRPr lang="en-US" sz="2400" b="1" dirty="0"/>
          </a:p>
          <a:p>
            <a:pPr marL="1714500" lvl="3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628900" lvl="5" indent="-3429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956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7677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Queues: Representation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88112" y="123522"/>
            <a:ext cx="5431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9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7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7752</TotalTime>
  <Words>1290</Words>
  <Application>Microsoft Office PowerPoint</Application>
  <PresentationFormat>On-screen Show (4:3)</PresentationFormat>
  <Paragraphs>193</Paragraphs>
  <Slides>17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Office Theme</vt:lpstr>
      <vt:lpstr>Slipstream</vt:lpstr>
      <vt:lpstr>1_Office Theme</vt:lpstr>
      <vt:lpstr>3_Office Theme</vt:lpstr>
      <vt:lpstr>CorelPhotoPaint.Image.9</vt:lpstr>
      <vt:lpstr>Data Structures  ICT-1211  Information and Communication Technology</vt:lpstr>
      <vt:lpstr> Stacks, Queues, 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467</cp:revision>
  <dcterms:created xsi:type="dcterms:W3CDTF">2016-12-28T08:52:04Z</dcterms:created>
  <dcterms:modified xsi:type="dcterms:W3CDTF">2024-10-24T05:58:57Z</dcterms:modified>
</cp:coreProperties>
</file>