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696" r:id="rId4"/>
  </p:sldMasterIdLst>
  <p:notesMasterIdLst>
    <p:notesMasterId r:id="rId26"/>
  </p:notesMasterIdLst>
  <p:sldIdLst>
    <p:sldId id="345" r:id="rId5"/>
    <p:sldId id="389" r:id="rId6"/>
    <p:sldId id="325" r:id="rId7"/>
    <p:sldId id="326" r:id="rId8"/>
    <p:sldId id="327" r:id="rId9"/>
    <p:sldId id="374" r:id="rId10"/>
    <p:sldId id="328" r:id="rId11"/>
    <p:sldId id="329" r:id="rId12"/>
    <p:sldId id="330" r:id="rId13"/>
    <p:sldId id="375" r:id="rId14"/>
    <p:sldId id="376" r:id="rId15"/>
    <p:sldId id="377" r:id="rId16"/>
    <p:sldId id="331" r:id="rId17"/>
    <p:sldId id="332" r:id="rId18"/>
    <p:sldId id="333" r:id="rId19"/>
    <p:sldId id="334" r:id="rId20"/>
    <p:sldId id="378" r:id="rId21"/>
    <p:sldId id="379" r:id="rId22"/>
    <p:sldId id="335" r:id="rId23"/>
    <p:sldId id="336" r:id="rId24"/>
    <p:sldId id="390"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15" autoAdjust="0"/>
    <p:restoredTop sz="82384" autoAdjust="0"/>
  </p:normalViewPr>
  <p:slideViewPr>
    <p:cSldViewPr snapToGrid="0">
      <p:cViewPr varScale="1">
        <p:scale>
          <a:sx n="60" d="100"/>
          <a:sy n="60" d="100"/>
        </p:scale>
        <p:origin x="-1452"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C8D40F-337E-475A-B8D0-2FD58C6D0387}" type="datetimeFigureOut">
              <a:rPr lang="en-US" smtClean="0"/>
              <a:t>7/8/2025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09FA0E-C547-4E4D-80AD-FEB8A6571DF3}" type="slidenum">
              <a:rPr lang="en-US" smtClean="0"/>
              <a:t>‹#›</a:t>
            </a:fld>
            <a:endParaRPr lang="en-US"/>
          </a:p>
        </p:txBody>
      </p:sp>
    </p:spTree>
    <p:extLst>
      <p:ext uri="{BB962C8B-B14F-4D97-AF65-F5344CB8AC3E}">
        <p14:creationId xmlns:p14="http://schemas.microsoft.com/office/powerpoint/2010/main" val="1305785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A be a</a:t>
            </a:r>
            <a:r>
              <a:rPr lang="en-US" baseline="0" dirty="0"/>
              <a:t> collection of data elements stored in the memory of the computer. Suppose we want to print the contents of each element of A or suppose we want to count the number of elements of A with a given properties. This can be accomplished by traversing A, by accessing and processing each element of A exactly once.</a:t>
            </a:r>
            <a:endParaRPr lang="en-US" dirty="0"/>
          </a:p>
        </p:txBody>
      </p:sp>
      <p:sp>
        <p:nvSpPr>
          <p:cNvPr id="4" name="Slide Number Placeholder 3"/>
          <p:cNvSpPr>
            <a:spLocks noGrp="1"/>
          </p:cNvSpPr>
          <p:nvPr>
            <p:ph type="sldNum" sz="quarter" idx="10"/>
          </p:nvPr>
        </p:nvSpPr>
        <p:spPr/>
        <p:txBody>
          <a:bodyPr/>
          <a:lstStyle/>
          <a:p>
            <a:fld id="{7009FA0E-C547-4E4D-80AD-FEB8A6571DF3}" type="slidenum">
              <a:rPr lang="en-US" smtClean="0"/>
              <a:t>13</a:t>
            </a:fld>
            <a:endParaRPr lang="en-US"/>
          </a:p>
        </p:txBody>
      </p:sp>
    </p:spTree>
    <p:extLst>
      <p:ext uri="{BB962C8B-B14F-4D97-AF65-F5344CB8AC3E}">
        <p14:creationId xmlns:p14="http://schemas.microsoft.com/office/powerpoint/2010/main" val="2110037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09FA0E-C547-4E4D-80AD-FEB8A6571DF3}" type="slidenum">
              <a:rPr lang="en-US" smtClean="0"/>
              <a:t>15</a:t>
            </a:fld>
            <a:endParaRPr lang="en-US"/>
          </a:p>
        </p:txBody>
      </p:sp>
    </p:spTree>
    <p:extLst>
      <p:ext uri="{BB962C8B-B14F-4D97-AF65-F5344CB8AC3E}">
        <p14:creationId xmlns:p14="http://schemas.microsoft.com/office/powerpoint/2010/main" val="468923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LA is a linear array with N elements</a:t>
            </a:r>
            <a:r>
              <a:rPr lang="en-US" baseline="0" dirty="0"/>
              <a:t> and K is a positive integer such that K&lt;=N. The first 4 steps create space in LA by moving downward one location each element from the </a:t>
            </a:r>
            <a:r>
              <a:rPr lang="en-US" baseline="0" dirty="0" err="1"/>
              <a:t>Kth</a:t>
            </a:r>
            <a:r>
              <a:rPr lang="en-US" baseline="0" dirty="0"/>
              <a:t> position on. The elements are moved in reverse order . First LA[N], then LA[N-1],</a:t>
            </a:r>
            <a:r>
              <a:rPr lang="is-IS" baseline="0" dirty="0"/>
              <a:t>…...and last LA[K]; otherwise data might be erased.</a:t>
            </a:r>
            <a:endParaRPr lang="en-US" dirty="0"/>
          </a:p>
        </p:txBody>
      </p:sp>
      <p:sp>
        <p:nvSpPr>
          <p:cNvPr id="4" name="Slide Number Placeholder 3"/>
          <p:cNvSpPr>
            <a:spLocks noGrp="1"/>
          </p:cNvSpPr>
          <p:nvPr>
            <p:ph type="sldNum" sz="quarter" idx="10"/>
          </p:nvPr>
        </p:nvSpPr>
        <p:spPr/>
        <p:txBody>
          <a:bodyPr/>
          <a:lstStyle/>
          <a:p>
            <a:fld id="{7009FA0E-C547-4E4D-80AD-FEB8A6571DF3}" type="slidenum">
              <a:rPr lang="en-US" smtClean="0"/>
              <a:t>16</a:t>
            </a:fld>
            <a:endParaRPr lang="en-US"/>
          </a:p>
        </p:txBody>
      </p:sp>
    </p:spTree>
    <p:extLst>
      <p:ext uri="{BB962C8B-B14F-4D97-AF65-F5344CB8AC3E}">
        <p14:creationId xmlns:p14="http://schemas.microsoft.com/office/powerpoint/2010/main" val="883323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09FA0E-C547-4E4D-80AD-FEB8A6571DF3}" type="slidenum">
              <a:rPr lang="en-US" smtClean="0"/>
              <a:t>17</a:t>
            </a:fld>
            <a:endParaRPr lang="en-US"/>
          </a:p>
        </p:txBody>
      </p:sp>
    </p:spTree>
    <p:extLst>
      <p:ext uri="{BB962C8B-B14F-4D97-AF65-F5344CB8AC3E}">
        <p14:creationId xmlns:p14="http://schemas.microsoft.com/office/powerpoint/2010/main" val="1061099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09FA0E-C547-4E4D-80AD-FEB8A6571DF3}" type="slidenum">
              <a:rPr lang="en-US" smtClean="0"/>
              <a:t>18</a:t>
            </a:fld>
            <a:endParaRPr lang="en-US"/>
          </a:p>
        </p:txBody>
      </p:sp>
    </p:spTree>
    <p:extLst>
      <p:ext uri="{BB962C8B-B14F-4D97-AF65-F5344CB8AC3E}">
        <p14:creationId xmlns:p14="http://schemas.microsoft.com/office/powerpoint/2010/main" val="1021260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AF9AB17-464E-4A64-BBF0-94479CF10AD3}" type="datetime1">
              <a:rPr lang="en-US" smtClean="0"/>
              <a:t>7/8/2025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C1585-C671-4F90-AA0D-FD45AA239D02}" type="slidenum">
              <a:rPr lang="en-US" smtClean="0"/>
              <a:t>‹#›</a:t>
            </a:fld>
            <a:endParaRPr lang="en-US"/>
          </a:p>
        </p:txBody>
      </p:sp>
    </p:spTree>
    <p:extLst>
      <p:ext uri="{BB962C8B-B14F-4D97-AF65-F5344CB8AC3E}">
        <p14:creationId xmlns:p14="http://schemas.microsoft.com/office/powerpoint/2010/main" val="899661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3EB9D9-AF34-4A8A-96E5-6C5B3A8A0F8A}" type="datetime1">
              <a:rPr lang="en-US" smtClean="0"/>
              <a:t>7/8/2025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C1585-C671-4F90-AA0D-FD45AA239D02}" type="slidenum">
              <a:rPr lang="en-US" smtClean="0"/>
              <a:t>‹#›</a:t>
            </a:fld>
            <a:endParaRPr lang="en-US"/>
          </a:p>
        </p:txBody>
      </p:sp>
    </p:spTree>
    <p:extLst>
      <p:ext uri="{BB962C8B-B14F-4D97-AF65-F5344CB8AC3E}">
        <p14:creationId xmlns:p14="http://schemas.microsoft.com/office/powerpoint/2010/main" val="2306692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9E6D60F-ECAB-40B8-A7B8-A4DD5AA679E0}" type="datetime1">
              <a:rPr lang="en-US" smtClean="0"/>
              <a:t>7/8/2025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C1585-C671-4F90-AA0D-FD45AA239D02}" type="slidenum">
              <a:rPr lang="en-US" smtClean="0"/>
              <a:t>‹#›</a:t>
            </a:fld>
            <a:endParaRPr lang="en-US"/>
          </a:p>
        </p:txBody>
      </p:sp>
    </p:spTree>
    <p:extLst>
      <p:ext uri="{BB962C8B-B14F-4D97-AF65-F5344CB8AC3E}">
        <p14:creationId xmlns:p14="http://schemas.microsoft.com/office/powerpoint/2010/main" val="1880247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02D34F-F919-4792-8DC2-A733C32C9999}" type="datetime1">
              <a:rPr lang="en-US" smtClean="0"/>
              <a:t>7/8/2025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BC1585-C671-4F90-AA0D-FD45AA239D02}" type="slidenum">
              <a:rPr lang="en-US" smtClean="0"/>
              <a:t>‹#›</a:t>
            </a:fld>
            <a:endParaRPr lang="en-US"/>
          </a:p>
        </p:txBody>
      </p:sp>
    </p:spTree>
    <p:extLst>
      <p:ext uri="{BB962C8B-B14F-4D97-AF65-F5344CB8AC3E}">
        <p14:creationId xmlns:p14="http://schemas.microsoft.com/office/powerpoint/2010/main" val="3722627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560FA5-600B-421B-9E5E-22FCFEC76525}" type="datetime1">
              <a:rPr lang="en-US" smtClean="0"/>
              <a:t>7/8/2025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BC1585-C671-4F90-AA0D-FD45AA239D02}" type="slidenum">
              <a:rPr lang="en-US" smtClean="0"/>
              <a:t>‹#›</a:t>
            </a:fld>
            <a:endParaRPr lang="en-US"/>
          </a:p>
        </p:txBody>
      </p:sp>
    </p:spTree>
    <p:extLst>
      <p:ext uri="{BB962C8B-B14F-4D97-AF65-F5344CB8AC3E}">
        <p14:creationId xmlns:p14="http://schemas.microsoft.com/office/powerpoint/2010/main" val="263808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589D8D-5A22-4450-ABA3-DC6DA3D313DF}" type="datetime1">
              <a:rPr lang="en-US" smtClean="0"/>
              <a:t>7/8/2025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BC1585-C671-4F90-AA0D-FD45AA239D02}" type="slidenum">
              <a:rPr lang="en-US" smtClean="0"/>
              <a:t>‹#›</a:t>
            </a:fld>
            <a:endParaRPr lang="en-US"/>
          </a:p>
        </p:txBody>
      </p:sp>
    </p:spTree>
    <p:extLst>
      <p:ext uri="{BB962C8B-B14F-4D97-AF65-F5344CB8AC3E}">
        <p14:creationId xmlns:p14="http://schemas.microsoft.com/office/powerpoint/2010/main" val="3747293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E02FD1-EFE0-4F2C-A74B-CDFA719EC8BC}" type="datetime1">
              <a:rPr lang="en-US" smtClean="0"/>
              <a:t>7/8/2025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BC1585-C671-4F90-AA0D-FD45AA239D02}" type="slidenum">
              <a:rPr lang="en-US" smtClean="0"/>
              <a:t>‹#›</a:t>
            </a:fld>
            <a:endParaRPr lang="en-US"/>
          </a:p>
        </p:txBody>
      </p:sp>
    </p:spTree>
    <p:extLst>
      <p:ext uri="{BB962C8B-B14F-4D97-AF65-F5344CB8AC3E}">
        <p14:creationId xmlns:p14="http://schemas.microsoft.com/office/powerpoint/2010/main" val="3559528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60375D8-1F9C-4813-BC76-D92E2035D1E4}" type="datetime1">
              <a:rPr lang="en-US" smtClean="0"/>
              <a:t>7/8/2025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BC1585-C671-4F90-AA0D-FD45AA239D02}" type="slidenum">
              <a:rPr lang="en-US" smtClean="0"/>
              <a:t>‹#›</a:t>
            </a:fld>
            <a:endParaRPr lang="en-US"/>
          </a:p>
        </p:txBody>
      </p:sp>
    </p:spTree>
    <p:extLst>
      <p:ext uri="{BB962C8B-B14F-4D97-AF65-F5344CB8AC3E}">
        <p14:creationId xmlns:p14="http://schemas.microsoft.com/office/powerpoint/2010/main" val="2701404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095489D-D363-4404-B658-8D8E9A55384D}" type="datetime1">
              <a:rPr lang="en-US" smtClean="0"/>
              <a:t>7/8/2025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BC1585-C671-4F90-AA0D-FD45AA239D02}" type="slidenum">
              <a:rPr lang="en-US" smtClean="0"/>
              <a:t>‹#›</a:t>
            </a:fld>
            <a:endParaRPr lang="en-US"/>
          </a:p>
        </p:txBody>
      </p:sp>
    </p:spTree>
    <p:extLst>
      <p:ext uri="{BB962C8B-B14F-4D97-AF65-F5344CB8AC3E}">
        <p14:creationId xmlns:p14="http://schemas.microsoft.com/office/powerpoint/2010/main" val="2910947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648943-8537-474C-9DCF-1039A5FACE47}" type="datetime1">
              <a:rPr lang="en-US" smtClean="0"/>
              <a:t>7/8/2025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C1585-C671-4F90-AA0D-FD45AA239D02}" type="slidenum">
              <a:rPr lang="en-US" smtClean="0"/>
              <a:t>‹#›</a:t>
            </a:fld>
            <a:endParaRPr lang="en-US"/>
          </a:p>
        </p:txBody>
      </p:sp>
    </p:spTree>
    <p:extLst>
      <p:ext uri="{BB962C8B-B14F-4D97-AF65-F5344CB8AC3E}">
        <p14:creationId xmlns:p14="http://schemas.microsoft.com/office/powerpoint/2010/main" val="2628523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54A269-B3BB-4B06-9280-79B80C43ACB3}" type="datetime1">
              <a:rPr lang="en-US" smtClean="0"/>
              <a:t>7/8/2025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C1585-C671-4F90-AA0D-FD45AA239D02}" type="slidenum">
              <a:rPr lang="en-US" smtClean="0"/>
              <a:t>‹#›</a:t>
            </a:fld>
            <a:endParaRPr lang="en-US"/>
          </a:p>
        </p:txBody>
      </p:sp>
    </p:spTree>
    <p:extLst>
      <p:ext uri="{BB962C8B-B14F-4D97-AF65-F5344CB8AC3E}">
        <p14:creationId xmlns:p14="http://schemas.microsoft.com/office/powerpoint/2010/main" val="2165543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5" name="Rectangle 4"/>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6" name="Rectangle 5"/>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7" name="Oval 6"/>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817581" y="3132290"/>
            <a:ext cx="7175351" cy="1793167"/>
          </a:xfrm>
          <a:effectLst/>
        </p:spPr>
        <p:txBody>
          <a:bodyPr/>
          <a:lstStyle>
            <a:lvl1pPr marL="640080" indent="-457200" algn="l">
              <a:defRPr sz="5400"/>
            </a:lvl1pPr>
          </a:lstStyle>
          <a:p>
            <a:r>
              <a:rPr lang="en-US"/>
              <a:t>Click to edit Master title style</a:t>
            </a:r>
            <a:endParaRPr lang="en-US" dirty="0"/>
          </a:p>
        </p:txBody>
      </p:sp>
      <p:sp>
        <p:nvSpPr>
          <p:cNvPr id="8" name="Date Placeholder 3"/>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9"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0" name="Slide Number Placeholder 5"/>
          <p:cNvSpPr>
            <a:spLocks noGrp="1"/>
          </p:cNvSpPr>
          <p:nvPr>
            <p:ph type="sldNum" sz="quarter" idx="12"/>
          </p:nvPr>
        </p:nvSpPr>
        <p:spPr/>
        <p:txBody>
          <a:bodyPr/>
          <a:lstStyle>
            <a:lvl1pPr>
              <a:defRPr/>
            </a:lvl1pPr>
          </a:lstStyle>
          <a:p>
            <a:pPr>
              <a:defRPr/>
            </a:pPr>
            <a:fld id="{B1D62340-A1EA-4CE0-A397-B868A3BF73D1}"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4067290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143000" y="731520"/>
            <a:ext cx="64008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4"/>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5"/>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6"/>
          </p:nvPr>
        </p:nvSpPr>
        <p:spPr/>
        <p:txBody>
          <a:bodyPr/>
          <a:lstStyle>
            <a:lvl1pPr>
              <a:defRPr/>
            </a:lvl1pPr>
          </a:lstStyle>
          <a:p>
            <a:pPr>
              <a:defRPr/>
            </a:pPr>
            <a:fld id="{4315956A-8026-4861-99E0-6ECDFB0AE94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071618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5" name="Rectangle 4"/>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6" name="Rectangle 5"/>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7" name="Oval 6"/>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Date Placeholder 3"/>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9"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0" name="Slide Number Placeholder 5"/>
          <p:cNvSpPr>
            <a:spLocks noGrp="1"/>
          </p:cNvSpPr>
          <p:nvPr>
            <p:ph type="sldNum" sz="quarter" idx="12"/>
          </p:nvPr>
        </p:nvSpPr>
        <p:spPr/>
        <p:txBody>
          <a:bodyPr/>
          <a:lstStyle>
            <a:lvl1pPr>
              <a:defRPr/>
            </a:lvl1pPr>
          </a:lstStyle>
          <a:p>
            <a:pPr>
              <a:defRPr/>
            </a:pPr>
            <a:fld id="{E1615CA4-E6C8-4CEA-B956-D910F5B7540A}"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40402688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142999" y="731519"/>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731520"/>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5"/>
          </p:nvPr>
        </p:nvSpPr>
        <p:spPr/>
        <p:txBody>
          <a:bodyPr/>
          <a:lstStyle>
            <a:lvl1pPr>
              <a:defRPr/>
            </a:lvl1pPr>
          </a:lstStyle>
          <a:p>
            <a:pPr>
              <a:defRPr/>
            </a:pPr>
            <a:endParaRPr lang="en-US" dirty="0">
              <a:solidFill>
                <a:prstClr val="black">
                  <a:lumMod val="50000"/>
                  <a:lumOff val="50000"/>
                </a:prstClr>
              </a:solidFill>
            </a:endParaRPr>
          </a:p>
        </p:txBody>
      </p:sp>
      <p:sp>
        <p:nvSpPr>
          <p:cNvPr id="6" name="Footer Placeholder 4"/>
          <p:cNvSpPr>
            <a:spLocks noGrp="1"/>
          </p:cNvSpPr>
          <p:nvPr>
            <p:ph type="ftr" sz="quarter" idx="16"/>
          </p:nvPr>
        </p:nvSpPr>
        <p:spPr/>
        <p:txBody>
          <a:bodyPr/>
          <a:lstStyle>
            <a:lvl1pPr>
              <a:defRPr/>
            </a:lvl1pPr>
          </a:lstStyle>
          <a:p>
            <a:pPr>
              <a:defRPr/>
            </a:pPr>
            <a:endParaRPr lang="en-US">
              <a:solidFill>
                <a:prstClr val="black">
                  <a:lumMod val="50000"/>
                  <a:lumOff val="50000"/>
                </a:prstClr>
              </a:solidFill>
            </a:endParaRPr>
          </a:p>
        </p:txBody>
      </p:sp>
      <p:sp>
        <p:nvSpPr>
          <p:cNvPr id="7" name="Slide Number Placeholder 5"/>
          <p:cNvSpPr>
            <a:spLocks noGrp="1"/>
          </p:cNvSpPr>
          <p:nvPr>
            <p:ph type="sldNum" sz="quarter" idx="17"/>
          </p:nvPr>
        </p:nvSpPr>
        <p:spPr/>
        <p:txBody>
          <a:bodyPr/>
          <a:lstStyle>
            <a:lvl1pPr>
              <a:defRPr/>
            </a:lvl1pPr>
          </a:lstStyle>
          <a:p>
            <a:pPr>
              <a:defRPr/>
            </a:pPr>
            <a:fld id="{16D07151-5D65-4A99-9B3C-1AD90A0CDB34}"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539754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20ABB722-728E-4B59-9298-3538DCF90145}"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735239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E36ED25E-DD21-4264-AC1E-16FAB2C1A6BB}"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42268892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D2BD25C1-455A-42F6-A97C-28ADF134F6B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0232266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83FE1C5-B386-4F39-9C53-595BBFCF3FBA}"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8341065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6" name="Rectangle 5"/>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7" name="Rectangle 6"/>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8" name="Oval 7"/>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rtlCol="0">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727268" y="4464421"/>
            <a:ext cx="6383538" cy="1143000"/>
          </a:xfrm>
        </p:spPr>
        <p:txBody>
          <a:bodyPr anchor="b"/>
          <a:lstStyle>
            <a:lvl1pPr algn="l">
              <a:defRPr sz="4600" b="1"/>
            </a:lvl1pPr>
          </a:lstStyle>
          <a:p>
            <a:r>
              <a:rPr lang="en-US"/>
              <a:t>Click to edit Master title style</a:t>
            </a:r>
            <a:endParaRPr lang="en-US" dirty="0"/>
          </a:p>
        </p:txBody>
      </p:sp>
      <p:sp>
        <p:nvSpPr>
          <p:cNvPr id="9" name="Date Placeholder 4"/>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10" name="Footer Placeholder 5"/>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1" name="Slide Number Placeholder 6"/>
          <p:cNvSpPr>
            <a:spLocks noGrp="1"/>
          </p:cNvSpPr>
          <p:nvPr>
            <p:ph type="sldNum" sz="quarter" idx="12"/>
          </p:nvPr>
        </p:nvSpPr>
        <p:spPr/>
        <p:txBody>
          <a:bodyPr/>
          <a:lstStyle>
            <a:lvl1pPr>
              <a:defRPr/>
            </a:lvl1pPr>
          </a:lstStyle>
          <a:p>
            <a:pPr>
              <a:defRPr/>
            </a:pPr>
            <a:fld id="{BA20DAF8-F313-4B38-ABA6-B71EF7A65CC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3560437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012591F-5004-4509-B8D1-F884A2A6FD92}"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5945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C5DE804-5CAD-47EC-9448-455B6DA2E950}"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2636341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5" name="Rectangle 4"/>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6" name="Rectangle 5"/>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7" name="Oval 6"/>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817581" y="3132290"/>
            <a:ext cx="7175351" cy="1793167"/>
          </a:xfrm>
          <a:effectLst/>
        </p:spPr>
        <p:txBody>
          <a:bodyPr/>
          <a:lstStyle>
            <a:lvl1pPr marL="640080" indent="-457200" algn="l">
              <a:defRPr sz="5400"/>
            </a:lvl1pPr>
          </a:lstStyle>
          <a:p>
            <a:r>
              <a:rPr lang="en-US"/>
              <a:t>Click to edit Master title style</a:t>
            </a:r>
            <a:endParaRPr lang="en-US" dirty="0"/>
          </a:p>
        </p:txBody>
      </p:sp>
      <p:sp>
        <p:nvSpPr>
          <p:cNvPr id="8" name="Date Placeholder 3"/>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9"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0" name="Slide Number Placeholder 5"/>
          <p:cNvSpPr>
            <a:spLocks noGrp="1"/>
          </p:cNvSpPr>
          <p:nvPr>
            <p:ph type="sldNum" sz="quarter" idx="12"/>
          </p:nvPr>
        </p:nvSpPr>
        <p:spPr/>
        <p:txBody>
          <a:bodyPr/>
          <a:lstStyle>
            <a:lvl1pPr>
              <a:defRPr/>
            </a:lvl1pPr>
          </a:lstStyle>
          <a:p>
            <a:pPr>
              <a:defRPr/>
            </a:pPr>
            <a:fld id="{B1D62340-A1EA-4CE0-A397-B868A3BF73D1}"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3798655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143000" y="731520"/>
            <a:ext cx="64008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4"/>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5"/>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6"/>
          </p:nvPr>
        </p:nvSpPr>
        <p:spPr/>
        <p:txBody>
          <a:bodyPr/>
          <a:lstStyle>
            <a:lvl1pPr>
              <a:defRPr/>
            </a:lvl1pPr>
          </a:lstStyle>
          <a:p>
            <a:pPr>
              <a:defRPr/>
            </a:pPr>
            <a:fld id="{4315956A-8026-4861-99E0-6ECDFB0AE94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9813560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5" name="Rectangle 4"/>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6" name="Rectangle 5"/>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7" name="Oval 6"/>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Date Placeholder 3"/>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9"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0" name="Slide Number Placeholder 5"/>
          <p:cNvSpPr>
            <a:spLocks noGrp="1"/>
          </p:cNvSpPr>
          <p:nvPr>
            <p:ph type="sldNum" sz="quarter" idx="12"/>
          </p:nvPr>
        </p:nvSpPr>
        <p:spPr/>
        <p:txBody>
          <a:bodyPr/>
          <a:lstStyle>
            <a:lvl1pPr>
              <a:defRPr/>
            </a:lvl1pPr>
          </a:lstStyle>
          <a:p>
            <a:pPr>
              <a:defRPr/>
            </a:pPr>
            <a:fld id="{E1615CA4-E6C8-4CEA-B956-D910F5B7540A}"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9699445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142999" y="731519"/>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731520"/>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5"/>
          </p:nvPr>
        </p:nvSpPr>
        <p:spPr/>
        <p:txBody>
          <a:bodyPr/>
          <a:lstStyle>
            <a:lvl1pPr>
              <a:defRPr/>
            </a:lvl1pPr>
          </a:lstStyle>
          <a:p>
            <a:pPr>
              <a:defRPr/>
            </a:pPr>
            <a:endParaRPr lang="en-US" dirty="0">
              <a:solidFill>
                <a:prstClr val="black">
                  <a:lumMod val="50000"/>
                  <a:lumOff val="50000"/>
                </a:prstClr>
              </a:solidFill>
            </a:endParaRPr>
          </a:p>
        </p:txBody>
      </p:sp>
      <p:sp>
        <p:nvSpPr>
          <p:cNvPr id="6" name="Footer Placeholder 4"/>
          <p:cNvSpPr>
            <a:spLocks noGrp="1"/>
          </p:cNvSpPr>
          <p:nvPr>
            <p:ph type="ftr" sz="quarter" idx="16"/>
          </p:nvPr>
        </p:nvSpPr>
        <p:spPr/>
        <p:txBody>
          <a:bodyPr/>
          <a:lstStyle>
            <a:lvl1pPr>
              <a:defRPr/>
            </a:lvl1pPr>
          </a:lstStyle>
          <a:p>
            <a:pPr>
              <a:defRPr/>
            </a:pPr>
            <a:endParaRPr lang="en-US">
              <a:solidFill>
                <a:prstClr val="black">
                  <a:lumMod val="50000"/>
                  <a:lumOff val="50000"/>
                </a:prstClr>
              </a:solidFill>
            </a:endParaRPr>
          </a:p>
        </p:txBody>
      </p:sp>
      <p:sp>
        <p:nvSpPr>
          <p:cNvPr id="7" name="Slide Number Placeholder 5"/>
          <p:cNvSpPr>
            <a:spLocks noGrp="1"/>
          </p:cNvSpPr>
          <p:nvPr>
            <p:ph type="sldNum" sz="quarter" idx="17"/>
          </p:nvPr>
        </p:nvSpPr>
        <p:spPr/>
        <p:txBody>
          <a:bodyPr/>
          <a:lstStyle>
            <a:lvl1pPr>
              <a:defRPr/>
            </a:lvl1pPr>
          </a:lstStyle>
          <a:p>
            <a:pPr>
              <a:defRPr/>
            </a:pPr>
            <a:fld id="{16D07151-5D65-4A99-9B3C-1AD90A0CDB34}"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0380893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20ABB722-728E-4B59-9298-3538DCF90145}"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0781971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E36ED25E-DD21-4264-AC1E-16FAB2C1A6BB}"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2443586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D2BD25C1-455A-42F6-A97C-28ADF134F6B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0932436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83FE1C5-B386-4F39-9C53-595BBFCF3FBA}"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464266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6" name="Rectangle 5"/>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7" name="Rectangle 6"/>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8" name="Oval 7"/>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rtlCol="0">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727268" y="4464421"/>
            <a:ext cx="6383538" cy="1143000"/>
          </a:xfrm>
        </p:spPr>
        <p:txBody>
          <a:bodyPr anchor="b"/>
          <a:lstStyle>
            <a:lvl1pPr algn="l">
              <a:defRPr sz="4600" b="1"/>
            </a:lvl1pPr>
          </a:lstStyle>
          <a:p>
            <a:r>
              <a:rPr lang="en-US"/>
              <a:t>Click to edit Master title style</a:t>
            </a:r>
            <a:endParaRPr lang="en-US" dirty="0"/>
          </a:p>
        </p:txBody>
      </p:sp>
      <p:sp>
        <p:nvSpPr>
          <p:cNvPr id="9" name="Date Placeholder 4"/>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10" name="Footer Placeholder 5"/>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1" name="Slide Number Placeholder 6"/>
          <p:cNvSpPr>
            <a:spLocks noGrp="1"/>
          </p:cNvSpPr>
          <p:nvPr>
            <p:ph type="sldNum" sz="quarter" idx="12"/>
          </p:nvPr>
        </p:nvSpPr>
        <p:spPr/>
        <p:txBody>
          <a:bodyPr/>
          <a:lstStyle>
            <a:lvl1pPr>
              <a:defRPr/>
            </a:lvl1pPr>
          </a:lstStyle>
          <a:p>
            <a:pPr>
              <a:defRPr/>
            </a:pPr>
            <a:fld id="{BA20DAF8-F313-4B38-ABA6-B71EF7A65CC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4288141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012591F-5004-4509-B8D1-F884A2A6FD92}"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6352001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C5DE804-5CAD-47EC-9448-455B6DA2E950}"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2388617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fr-FR"/>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6A6E7098-1D9E-4297-8B06-8858A6CB2C48}" type="datetime1">
              <a:rPr lang="fr-FR"/>
              <a:pPr/>
              <a:t>08/07/2025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8C31CAB-83F9-4A4F-970C-5EAB1D42FFBC}" type="slidenum">
              <a:rPr lang="en-US"/>
              <a:pPr/>
              <a:t>‹#›</a:t>
            </a:fld>
            <a:endParaRPr lang="en-US"/>
          </a:p>
        </p:txBody>
      </p:sp>
    </p:spTree>
    <p:extLst>
      <p:ext uri="{BB962C8B-B14F-4D97-AF65-F5344CB8AC3E}">
        <p14:creationId xmlns:p14="http://schemas.microsoft.com/office/powerpoint/2010/main" val="9420661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Content Placeholder 2"/>
          <p:cNvSpPr>
            <a:spLocks noGrp="1"/>
          </p:cNvSpPr>
          <p:nvPr>
            <p:ph idx="1"/>
          </p:nvPr>
        </p:nvSpPr>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lvl1pPr>
              <a:defRPr/>
            </a:lvl1pPr>
          </a:lstStyle>
          <a:p>
            <a:fld id="{39D57E40-D648-455A-9437-30FA8FE56DD6}" type="datetime1">
              <a:rPr lang="fr-FR"/>
              <a:pPr/>
              <a:t>08/07/2025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E7E0763-8C84-4A0C-BF22-E8FBB0D34350}" type="slidenum">
              <a:rPr lang="en-US"/>
              <a:pPr/>
              <a:t>‹#›</a:t>
            </a:fld>
            <a:endParaRPr lang="en-US"/>
          </a:p>
        </p:txBody>
      </p:sp>
    </p:spTree>
    <p:extLst>
      <p:ext uri="{BB962C8B-B14F-4D97-AF65-F5344CB8AC3E}">
        <p14:creationId xmlns:p14="http://schemas.microsoft.com/office/powerpoint/2010/main" val="20124809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fr-FR"/>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Click to edit Master text styles</a:t>
            </a:r>
          </a:p>
        </p:txBody>
      </p:sp>
      <p:sp>
        <p:nvSpPr>
          <p:cNvPr id="4" name="Date Placeholder 3"/>
          <p:cNvSpPr>
            <a:spLocks noGrp="1"/>
          </p:cNvSpPr>
          <p:nvPr>
            <p:ph type="dt" sz="half" idx="10"/>
          </p:nvPr>
        </p:nvSpPr>
        <p:spPr/>
        <p:txBody>
          <a:bodyPr/>
          <a:lstStyle>
            <a:lvl1pPr>
              <a:defRPr/>
            </a:lvl1pPr>
          </a:lstStyle>
          <a:p>
            <a:fld id="{E3DE751E-08CA-4D99-89B2-9FC9DE2F4625}" type="datetime1">
              <a:rPr lang="fr-FR"/>
              <a:pPr/>
              <a:t>08/07/2025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E3BDE4F-8BEA-439D-BA05-0EFEBB61C6C9}" type="slidenum">
              <a:rPr lang="en-US"/>
              <a:pPr/>
              <a:t>‹#›</a:t>
            </a:fld>
            <a:endParaRPr lang="en-US"/>
          </a:p>
        </p:txBody>
      </p:sp>
    </p:spTree>
    <p:extLst>
      <p:ext uri="{BB962C8B-B14F-4D97-AF65-F5344CB8AC3E}">
        <p14:creationId xmlns:p14="http://schemas.microsoft.com/office/powerpoint/2010/main" val="19649863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5" name="Date Placeholder 3"/>
          <p:cNvSpPr>
            <a:spLocks noGrp="1"/>
          </p:cNvSpPr>
          <p:nvPr>
            <p:ph type="dt" sz="half" idx="10"/>
          </p:nvPr>
        </p:nvSpPr>
        <p:spPr/>
        <p:txBody>
          <a:bodyPr/>
          <a:lstStyle>
            <a:lvl1pPr>
              <a:defRPr/>
            </a:lvl1pPr>
          </a:lstStyle>
          <a:p>
            <a:fld id="{32D697BC-62C7-4F99-8C37-A408B62C8993}" type="datetime1">
              <a:rPr lang="fr-FR"/>
              <a:pPr/>
              <a:t>08/07/2025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842E7523-BF8E-4897-AD6D-B3C234AD941F}" type="slidenum">
              <a:rPr lang="en-US"/>
              <a:pPr/>
              <a:t>‹#›</a:t>
            </a:fld>
            <a:endParaRPr lang="en-US"/>
          </a:p>
        </p:txBody>
      </p:sp>
    </p:spTree>
    <p:extLst>
      <p:ext uri="{BB962C8B-B14F-4D97-AF65-F5344CB8AC3E}">
        <p14:creationId xmlns:p14="http://schemas.microsoft.com/office/powerpoint/2010/main" val="7143150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7" name="Date Placeholder 3"/>
          <p:cNvSpPr>
            <a:spLocks noGrp="1"/>
          </p:cNvSpPr>
          <p:nvPr>
            <p:ph type="dt" sz="half" idx="10"/>
          </p:nvPr>
        </p:nvSpPr>
        <p:spPr/>
        <p:txBody>
          <a:bodyPr/>
          <a:lstStyle>
            <a:lvl1pPr>
              <a:defRPr/>
            </a:lvl1pPr>
          </a:lstStyle>
          <a:p>
            <a:fld id="{13466664-56B2-422F-8B50-F59FA16202E4}" type="datetime1">
              <a:rPr lang="fr-FR"/>
              <a:pPr/>
              <a:t>08/07/2025</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370E09A0-16D6-4176-A8F9-C1456DE50391}" type="slidenum">
              <a:rPr lang="en-US"/>
              <a:pPr/>
              <a:t>‹#›</a:t>
            </a:fld>
            <a:endParaRPr lang="en-US"/>
          </a:p>
        </p:txBody>
      </p:sp>
    </p:spTree>
    <p:extLst>
      <p:ext uri="{BB962C8B-B14F-4D97-AF65-F5344CB8AC3E}">
        <p14:creationId xmlns:p14="http://schemas.microsoft.com/office/powerpoint/2010/main" val="5687371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Date Placeholder 3"/>
          <p:cNvSpPr>
            <a:spLocks noGrp="1"/>
          </p:cNvSpPr>
          <p:nvPr>
            <p:ph type="dt" sz="half" idx="10"/>
          </p:nvPr>
        </p:nvSpPr>
        <p:spPr/>
        <p:txBody>
          <a:bodyPr/>
          <a:lstStyle>
            <a:lvl1pPr>
              <a:defRPr/>
            </a:lvl1pPr>
          </a:lstStyle>
          <a:p>
            <a:fld id="{DEC2F925-DC51-4DF6-9C0D-52D121C83119}" type="datetime1">
              <a:rPr lang="fr-FR"/>
              <a:pPr/>
              <a:t>08/07/2025</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32E8AD07-74B5-414C-BC00-90E42DED0B50}" type="slidenum">
              <a:rPr lang="en-US"/>
              <a:pPr/>
              <a:t>‹#›</a:t>
            </a:fld>
            <a:endParaRPr lang="en-US"/>
          </a:p>
        </p:txBody>
      </p:sp>
    </p:spTree>
    <p:extLst>
      <p:ext uri="{BB962C8B-B14F-4D97-AF65-F5344CB8AC3E}">
        <p14:creationId xmlns:p14="http://schemas.microsoft.com/office/powerpoint/2010/main" val="231796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6DED0F17-9F3A-43C4-AA85-AB4E0FAD16D9}" type="datetime1">
              <a:rPr lang="fr-FR"/>
              <a:pPr/>
              <a:t>08/07/2025</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00B9DFBF-5E1F-4EB9-93B7-3749EA01810A}" type="slidenum">
              <a:rPr lang="en-US"/>
              <a:pPr/>
              <a:t>‹#›</a:t>
            </a:fld>
            <a:endParaRPr lang="en-US"/>
          </a:p>
        </p:txBody>
      </p:sp>
    </p:spTree>
    <p:extLst>
      <p:ext uri="{BB962C8B-B14F-4D97-AF65-F5344CB8AC3E}">
        <p14:creationId xmlns:p14="http://schemas.microsoft.com/office/powerpoint/2010/main" val="783891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fr-FR"/>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sp>
        <p:nvSpPr>
          <p:cNvPr id="5" name="Date Placeholder 3"/>
          <p:cNvSpPr>
            <a:spLocks noGrp="1"/>
          </p:cNvSpPr>
          <p:nvPr>
            <p:ph type="dt" sz="half" idx="10"/>
          </p:nvPr>
        </p:nvSpPr>
        <p:spPr/>
        <p:txBody>
          <a:bodyPr/>
          <a:lstStyle>
            <a:lvl1pPr>
              <a:defRPr/>
            </a:lvl1pPr>
          </a:lstStyle>
          <a:p>
            <a:fld id="{800051F7-5A91-48AF-A3CB-CB3AECA38DB8}" type="datetime1">
              <a:rPr lang="fr-FR"/>
              <a:pPr/>
              <a:t>08/07/2025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8D685E2C-7CA7-4F52-B75F-FBB43463FAA6}" type="slidenum">
              <a:rPr lang="en-US"/>
              <a:pPr/>
              <a:t>‹#›</a:t>
            </a:fld>
            <a:endParaRPr lang="en-US"/>
          </a:p>
        </p:txBody>
      </p:sp>
    </p:spTree>
    <p:extLst>
      <p:ext uri="{BB962C8B-B14F-4D97-AF65-F5344CB8AC3E}">
        <p14:creationId xmlns:p14="http://schemas.microsoft.com/office/powerpoint/2010/main" val="26832341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fr-FR"/>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sp>
        <p:nvSpPr>
          <p:cNvPr id="5" name="Date Placeholder 3"/>
          <p:cNvSpPr>
            <a:spLocks noGrp="1"/>
          </p:cNvSpPr>
          <p:nvPr>
            <p:ph type="dt" sz="half" idx="10"/>
          </p:nvPr>
        </p:nvSpPr>
        <p:spPr/>
        <p:txBody>
          <a:bodyPr/>
          <a:lstStyle>
            <a:lvl1pPr>
              <a:defRPr/>
            </a:lvl1pPr>
          </a:lstStyle>
          <a:p>
            <a:fld id="{179E41F2-B5DD-4979-B2E9-DDEB29191F2A}" type="datetime1">
              <a:rPr lang="fr-FR"/>
              <a:pPr/>
              <a:t>08/07/2025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FD3865FE-0C86-4A78-AF62-9D91622BC572}" type="slidenum">
              <a:rPr lang="en-US"/>
              <a:pPr/>
              <a:t>‹#›</a:t>
            </a:fld>
            <a:endParaRPr lang="en-US"/>
          </a:p>
        </p:txBody>
      </p:sp>
    </p:spTree>
    <p:extLst>
      <p:ext uri="{BB962C8B-B14F-4D97-AF65-F5344CB8AC3E}">
        <p14:creationId xmlns:p14="http://schemas.microsoft.com/office/powerpoint/2010/main" val="20521091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lvl1pPr>
              <a:defRPr/>
            </a:lvl1pPr>
          </a:lstStyle>
          <a:p>
            <a:fld id="{FD7D9A12-E6C0-4876-802E-698B1CA58FA9}" type="datetime1">
              <a:rPr lang="fr-FR"/>
              <a:pPr/>
              <a:t>08/07/2025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0E1BB3D-D5F5-4526-9991-8EC9121349E6}" type="slidenum">
              <a:rPr lang="en-US"/>
              <a:pPr/>
              <a:t>‹#›</a:t>
            </a:fld>
            <a:endParaRPr lang="en-US"/>
          </a:p>
        </p:txBody>
      </p:sp>
    </p:spTree>
    <p:extLst>
      <p:ext uri="{BB962C8B-B14F-4D97-AF65-F5344CB8AC3E}">
        <p14:creationId xmlns:p14="http://schemas.microsoft.com/office/powerpoint/2010/main" val="36403363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fr-FR"/>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lvl1pPr>
              <a:defRPr/>
            </a:lvl1pPr>
          </a:lstStyle>
          <a:p>
            <a:fld id="{3FF34D8D-EE93-4818-9FCB-0C3F0226D4F2}" type="datetime1">
              <a:rPr lang="fr-FR"/>
              <a:pPr/>
              <a:t>08/07/2025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4A6242A-2212-4C71-B4FB-3287FD49589C}" type="slidenum">
              <a:rPr lang="en-US"/>
              <a:pPr/>
              <a:t>‹#›</a:t>
            </a:fld>
            <a:endParaRPr lang="en-US"/>
          </a:p>
        </p:txBody>
      </p:sp>
    </p:spTree>
    <p:extLst>
      <p:ext uri="{BB962C8B-B14F-4D97-AF65-F5344CB8AC3E}">
        <p14:creationId xmlns:p14="http://schemas.microsoft.com/office/powerpoint/2010/main" val="14667793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371600"/>
          </a:xfrm>
        </p:spPr>
        <p:txBody>
          <a:bodyPr/>
          <a:lstStyle/>
          <a:p>
            <a:r>
              <a:rPr lang="fr-FR"/>
              <a:t>Click to edit Master title style</a:t>
            </a:r>
            <a:endParaRPr lang="en-US"/>
          </a:p>
        </p:txBody>
      </p:sp>
      <p:sp>
        <p:nvSpPr>
          <p:cNvPr id="3" name="Table Placeholder 2"/>
          <p:cNvSpPr>
            <a:spLocks noGrp="1"/>
          </p:cNvSpPr>
          <p:nvPr>
            <p:ph type="tbl" idx="1"/>
          </p:nvPr>
        </p:nvSpPr>
        <p:spPr>
          <a:xfrm>
            <a:off x="457200" y="1981200"/>
            <a:ext cx="8229600" cy="4114800"/>
          </a:xfrm>
        </p:spPr>
        <p:txBody>
          <a:bodyPr/>
          <a:lstStyle/>
          <a:p>
            <a:pPr lvl="0"/>
            <a:endParaRPr lang="en-US" noProof="0"/>
          </a:p>
        </p:txBody>
      </p:sp>
      <p:sp>
        <p:nvSpPr>
          <p:cNvPr id="4" name="Rectangle 4"/>
          <p:cNvSpPr>
            <a:spLocks noGrp="1" noChangeArrowheads="1"/>
          </p:cNvSpPr>
          <p:nvPr>
            <p:ph type="dt" sz="half" idx="10"/>
          </p:nvPr>
        </p:nvSpPr>
        <p:spPr/>
        <p:txBody>
          <a:bodyPr/>
          <a:lstStyle>
            <a:lvl1pPr>
              <a:defRPr/>
            </a:lvl1pPr>
          </a:lstStyle>
          <a:p>
            <a:fld id="{EA9B11AC-AE98-49D4-983B-A8FD90AEBC06}" type="datetime1">
              <a:rPr lang="fr-FR"/>
              <a:pPr/>
              <a:t>08/07/2025</a:t>
            </a:fld>
            <a:endParaRPr lang="en-US"/>
          </a:p>
        </p:txBody>
      </p:sp>
      <p:sp>
        <p:nvSpPr>
          <p:cNvPr id="5" name="Rectangle 5"/>
          <p:cNvSpPr>
            <a:spLocks noGrp="1" noChangeArrowheads="1"/>
          </p:cNvSpPr>
          <p:nvPr>
            <p:ph type="ftr" sz="quarter" idx="11"/>
          </p:nvPr>
        </p:nvSpPr>
        <p:spPr/>
        <p:txBody>
          <a:bodyPr/>
          <a:lstStyle>
            <a:lvl1pPr>
              <a:defRPr>
                <a:latin typeface="Arial" charset="0"/>
              </a:defRPr>
            </a:lvl1pPr>
          </a:lstStyle>
          <a:p>
            <a:endParaRPr lang="vi-VN"/>
          </a:p>
        </p:txBody>
      </p:sp>
      <p:sp>
        <p:nvSpPr>
          <p:cNvPr id="6" name="Rectangle 6"/>
          <p:cNvSpPr>
            <a:spLocks noGrp="1" noChangeArrowheads="1"/>
          </p:cNvSpPr>
          <p:nvPr>
            <p:ph type="sldNum" sz="quarter" idx="12"/>
          </p:nvPr>
        </p:nvSpPr>
        <p:spPr/>
        <p:txBody>
          <a:bodyPr/>
          <a:lstStyle>
            <a:lvl1pPr>
              <a:defRPr/>
            </a:lvl1pPr>
          </a:lstStyle>
          <a:p>
            <a:fld id="{F06255E9-86BB-409F-B032-A00BE8952A80}" type="slidenum">
              <a:rPr lang="en-US"/>
              <a:pPr/>
              <a:t>‹#›</a:t>
            </a:fld>
            <a:endParaRPr lang="en-US"/>
          </a:p>
        </p:txBody>
      </p:sp>
    </p:spTree>
    <p:extLst>
      <p:ext uri="{BB962C8B-B14F-4D97-AF65-F5344CB8AC3E}">
        <p14:creationId xmlns:p14="http://schemas.microsoft.com/office/powerpoint/2010/main" val="1518101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90BE8F-DC54-4C54-BB77-B83C6D7ABD43}" type="datetime1">
              <a:rPr lang="en-US" smtClean="0"/>
              <a:t>7/8/2025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BC1585-C671-4F90-AA0D-FD45AA239D02}" type="slidenum">
              <a:rPr lang="en-US" smtClean="0"/>
              <a:t>‹#›</a:t>
            </a:fld>
            <a:endParaRPr lang="en-US"/>
          </a:p>
        </p:txBody>
      </p:sp>
    </p:spTree>
    <p:extLst>
      <p:ext uri="{BB962C8B-B14F-4D97-AF65-F5344CB8AC3E}">
        <p14:creationId xmlns:p14="http://schemas.microsoft.com/office/powerpoint/2010/main" val="1995406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9" name="Rectangle 8"/>
          <p:cNvSpPr/>
          <p:nvPr/>
        </p:nvSpPr>
        <p:spPr>
          <a:xfrm>
            <a:off x="0" y="3768725"/>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2" name="Title Placeholder 1"/>
          <p:cNvSpPr>
            <a:spLocks noGrp="1"/>
          </p:cNvSpPr>
          <p:nvPr>
            <p:ph type="title"/>
          </p:nvPr>
        </p:nvSpPr>
        <p:spPr>
          <a:xfrm>
            <a:off x="1793875" y="4371975"/>
            <a:ext cx="6511925"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2061" name="Text Placeholder 2"/>
          <p:cNvSpPr>
            <a:spLocks noGrp="1"/>
          </p:cNvSpPr>
          <p:nvPr>
            <p:ph type="body" idx="1"/>
          </p:nvPr>
        </p:nvSpPr>
        <p:spPr bwMode="auto">
          <a:xfrm>
            <a:off x="1143000" y="731838"/>
            <a:ext cx="6400800" cy="347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black">
                  <a:lumMod val="50000"/>
                  <a:lumOff val="50000"/>
                </a:prstClr>
              </a:solidFill>
              <a:latin typeface="Arial" charset="0"/>
              <a:cs typeface="Arial" charset="0"/>
            </a:endParaRPr>
          </a:p>
        </p:txBody>
      </p:sp>
      <p:sp>
        <p:nvSpPr>
          <p:cNvPr id="5" name="Footer Placeholder 4"/>
          <p:cNvSpPr>
            <a:spLocks noGrp="1"/>
          </p:cNvSpPr>
          <p:nvPr>
            <p:ph type="ftr" sz="quarter" idx="3"/>
          </p:nvPr>
        </p:nvSpPr>
        <p:spPr>
          <a:xfrm>
            <a:off x="457200" y="6172200"/>
            <a:ext cx="3352800"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black">
                  <a:lumMod val="50000"/>
                  <a:lumOff val="50000"/>
                </a:prstClr>
              </a:solidFill>
              <a:latin typeface="Arial" charset="0"/>
              <a:cs typeface="Arial" charset="0"/>
            </a:endParaRPr>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fld id="{7F751AA3-EE16-4A02-8022-3142FE923698}" type="slidenum">
              <a:rPr lang="en-US">
                <a:solidFill>
                  <a:prstClr val="black">
                    <a:lumMod val="50000"/>
                    <a:lumOff val="50000"/>
                  </a:prstClr>
                </a:solidFill>
                <a:latin typeface="Arial" charset="0"/>
                <a:cs typeface="Arial" charset="0"/>
              </a:rPr>
              <a:pPr defTabSz="449263" eaLnBrk="0" fontAlgn="base" hangingPunct="0">
                <a:spcBef>
                  <a:spcPct val="0"/>
                </a:spcBef>
                <a:spcAft>
                  <a:spcPct val="0"/>
                </a:spcAft>
                <a:buClr>
                  <a:srgbClr val="000000"/>
                </a:buClr>
                <a:buSzPct val="100000"/>
                <a:buFont typeface="Times New Roman" pitchFamily="18" charset="0"/>
                <a:buNone/>
                <a:defRPr/>
              </a:pPr>
              <a:t>‹#›</a:t>
            </a:fld>
            <a:endParaRPr lang="en-US">
              <a:solidFill>
                <a:prstClr val="black">
                  <a:lumMod val="50000"/>
                  <a:lumOff val="50000"/>
                </a:prstClr>
              </a:solidFill>
              <a:latin typeface="Arial" charset="0"/>
              <a:cs typeface="Arial" charset="0"/>
            </a:endParaRPr>
          </a:p>
        </p:txBody>
      </p:sp>
    </p:spTree>
    <p:extLst>
      <p:ext uri="{BB962C8B-B14F-4D97-AF65-F5344CB8AC3E}">
        <p14:creationId xmlns:p14="http://schemas.microsoft.com/office/powerpoint/2010/main" val="20815487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marL="319088" indent="-319088" algn="r" rtl="0" eaLnBrk="0" fontAlgn="base" hangingPunct="0">
        <a:spcBef>
          <a:spcPct val="0"/>
        </a:spcBef>
        <a:spcAft>
          <a:spcPct val="0"/>
        </a:spcAft>
        <a:buClr>
          <a:srgbClr val="C3260C"/>
        </a:buClr>
        <a:buSzPct val="128000"/>
        <a:buFont typeface="Georgia" pitchFamily="18" charset="0"/>
        <a:buChar char="*"/>
        <a:defRPr sz="4600" b="1"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2pPr>
      <a:lvl3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3pPr>
      <a:lvl4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4pPr>
      <a:lvl5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563" algn="l" rtl="0" eaLnBrk="0" fontAlgn="base" hangingPunct="0">
        <a:spcBef>
          <a:spcPct val="20000"/>
        </a:spcBef>
        <a:spcAft>
          <a:spcPts val="300"/>
        </a:spcAft>
        <a:buClr>
          <a:srgbClr val="C3260C"/>
        </a:buClr>
        <a:buSzPct val="130000"/>
        <a:buFont typeface="Georgia" pitchFamily="18" charset="0"/>
        <a:buChar char="*"/>
        <a:defRPr sz="2200" kern="1200">
          <a:solidFill>
            <a:srgbClr val="404040"/>
          </a:solidFill>
          <a:latin typeface="+mn-lt"/>
          <a:ea typeface="+mn-ea"/>
          <a:cs typeface="+mn-cs"/>
        </a:defRPr>
      </a:lvl1pPr>
      <a:lvl2pPr marL="547688" indent="-182563" algn="l" rtl="0" eaLnBrk="0" fontAlgn="base" hangingPunct="0">
        <a:spcBef>
          <a:spcPct val="20000"/>
        </a:spcBef>
        <a:spcAft>
          <a:spcPts val="300"/>
        </a:spcAft>
        <a:buClr>
          <a:srgbClr val="C3260C"/>
        </a:buClr>
        <a:buSzPct val="130000"/>
        <a:buFont typeface="Georgia" pitchFamily="18" charset="0"/>
        <a:buChar char="*"/>
        <a:defRPr sz="2000" kern="1200">
          <a:solidFill>
            <a:srgbClr val="404040"/>
          </a:solidFill>
          <a:latin typeface="+mn-lt"/>
          <a:ea typeface="+mn-ea"/>
          <a:cs typeface="+mn-cs"/>
        </a:defRPr>
      </a:lvl2pPr>
      <a:lvl3pPr marL="822325" indent="-182563" algn="l" rtl="0" eaLnBrk="0" fontAlgn="base" hangingPunct="0">
        <a:spcBef>
          <a:spcPct val="20000"/>
        </a:spcBef>
        <a:spcAft>
          <a:spcPts val="300"/>
        </a:spcAft>
        <a:buClr>
          <a:srgbClr val="C3260C"/>
        </a:buClr>
        <a:buSzPct val="130000"/>
        <a:buFont typeface="Georgia" pitchFamily="18" charset="0"/>
        <a:buChar char="*"/>
        <a:defRPr kern="1200">
          <a:solidFill>
            <a:srgbClr val="404040"/>
          </a:solidFill>
          <a:latin typeface="+mn-lt"/>
          <a:ea typeface="+mn-ea"/>
          <a:cs typeface="+mn-cs"/>
        </a:defRPr>
      </a:lvl3pPr>
      <a:lvl4pPr marL="1096963" indent="-182563" algn="l" rtl="0" eaLnBrk="0" fontAlgn="base" hangingPunct="0">
        <a:spcBef>
          <a:spcPct val="20000"/>
        </a:spcBef>
        <a:spcAft>
          <a:spcPts val="300"/>
        </a:spcAft>
        <a:buClr>
          <a:srgbClr val="C3260C"/>
        </a:buClr>
        <a:buSzPct val="130000"/>
        <a:buFont typeface="Georgia" pitchFamily="18" charset="0"/>
        <a:buChar char="*"/>
        <a:defRPr sz="1600" kern="1200">
          <a:solidFill>
            <a:srgbClr val="404040"/>
          </a:solidFill>
          <a:latin typeface="+mn-lt"/>
          <a:ea typeface="+mn-ea"/>
          <a:cs typeface="+mn-cs"/>
        </a:defRPr>
      </a:lvl4pPr>
      <a:lvl5pPr marL="1389063" indent="-182563" algn="l" rtl="0" eaLnBrk="0" fontAlgn="base" hangingPunct="0">
        <a:spcBef>
          <a:spcPct val="20000"/>
        </a:spcBef>
        <a:spcAft>
          <a:spcPts val="300"/>
        </a:spcAft>
        <a:buClr>
          <a:srgbClr val="C3260C"/>
        </a:buClr>
        <a:buSzPct val="130000"/>
        <a:buFont typeface="Georgia" pitchFamily="18" charset="0"/>
        <a:buChar char="*"/>
        <a:defRPr sz="1400" kern="1200">
          <a:solidFill>
            <a:srgbClr val="404040"/>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9" name="Rectangle 8"/>
          <p:cNvSpPr/>
          <p:nvPr/>
        </p:nvSpPr>
        <p:spPr>
          <a:xfrm>
            <a:off x="0" y="3768725"/>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2" name="Title Placeholder 1"/>
          <p:cNvSpPr>
            <a:spLocks noGrp="1"/>
          </p:cNvSpPr>
          <p:nvPr>
            <p:ph type="title"/>
          </p:nvPr>
        </p:nvSpPr>
        <p:spPr>
          <a:xfrm>
            <a:off x="1793875" y="4371975"/>
            <a:ext cx="6511925"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2061" name="Text Placeholder 2"/>
          <p:cNvSpPr>
            <a:spLocks noGrp="1"/>
          </p:cNvSpPr>
          <p:nvPr>
            <p:ph type="body" idx="1"/>
          </p:nvPr>
        </p:nvSpPr>
        <p:spPr bwMode="auto">
          <a:xfrm>
            <a:off x="1143000" y="731838"/>
            <a:ext cx="6400800" cy="347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black">
                  <a:lumMod val="50000"/>
                  <a:lumOff val="50000"/>
                </a:prstClr>
              </a:solidFill>
              <a:latin typeface="Arial" charset="0"/>
              <a:cs typeface="Arial" charset="0"/>
            </a:endParaRPr>
          </a:p>
        </p:txBody>
      </p:sp>
      <p:sp>
        <p:nvSpPr>
          <p:cNvPr id="5" name="Footer Placeholder 4"/>
          <p:cNvSpPr>
            <a:spLocks noGrp="1"/>
          </p:cNvSpPr>
          <p:nvPr>
            <p:ph type="ftr" sz="quarter" idx="3"/>
          </p:nvPr>
        </p:nvSpPr>
        <p:spPr>
          <a:xfrm>
            <a:off x="457200" y="6172200"/>
            <a:ext cx="3352800"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black">
                  <a:lumMod val="50000"/>
                  <a:lumOff val="50000"/>
                </a:prstClr>
              </a:solidFill>
              <a:latin typeface="Arial" charset="0"/>
              <a:cs typeface="Arial" charset="0"/>
            </a:endParaRPr>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fld id="{7F751AA3-EE16-4A02-8022-3142FE923698}" type="slidenum">
              <a:rPr lang="en-US">
                <a:solidFill>
                  <a:prstClr val="black">
                    <a:lumMod val="50000"/>
                    <a:lumOff val="50000"/>
                  </a:prstClr>
                </a:solidFill>
                <a:latin typeface="Arial" charset="0"/>
                <a:cs typeface="Arial" charset="0"/>
              </a:rPr>
              <a:pPr defTabSz="449263" eaLnBrk="0" fontAlgn="base" hangingPunct="0">
                <a:spcBef>
                  <a:spcPct val="0"/>
                </a:spcBef>
                <a:spcAft>
                  <a:spcPct val="0"/>
                </a:spcAft>
                <a:buClr>
                  <a:srgbClr val="000000"/>
                </a:buClr>
                <a:buSzPct val="100000"/>
                <a:buFont typeface="Times New Roman" pitchFamily="18" charset="0"/>
                <a:buNone/>
                <a:defRPr/>
              </a:pPr>
              <a:t>‹#›</a:t>
            </a:fld>
            <a:endParaRPr lang="en-US">
              <a:solidFill>
                <a:prstClr val="black">
                  <a:lumMod val="50000"/>
                  <a:lumOff val="50000"/>
                </a:prstClr>
              </a:solidFill>
              <a:latin typeface="Arial" charset="0"/>
              <a:cs typeface="Arial" charset="0"/>
            </a:endParaRPr>
          </a:p>
        </p:txBody>
      </p:sp>
    </p:spTree>
    <p:extLst>
      <p:ext uri="{BB962C8B-B14F-4D97-AF65-F5344CB8AC3E}">
        <p14:creationId xmlns:p14="http://schemas.microsoft.com/office/powerpoint/2010/main" val="374916411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marL="319088" indent="-319088" algn="r" rtl="0" eaLnBrk="0" fontAlgn="base" hangingPunct="0">
        <a:spcBef>
          <a:spcPct val="0"/>
        </a:spcBef>
        <a:spcAft>
          <a:spcPct val="0"/>
        </a:spcAft>
        <a:buClr>
          <a:srgbClr val="C3260C"/>
        </a:buClr>
        <a:buSzPct val="128000"/>
        <a:buFont typeface="Georgia" pitchFamily="18" charset="0"/>
        <a:buChar char="*"/>
        <a:defRPr sz="4600" b="1"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2pPr>
      <a:lvl3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3pPr>
      <a:lvl4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4pPr>
      <a:lvl5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563" algn="l" rtl="0" eaLnBrk="0" fontAlgn="base" hangingPunct="0">
        <a:spcBef>
          <a:spcPct val="20000"/>
        </a:spcBef>
        <a:spcAft>
          <a:spcPts val="300"/>
        </a:spcAft>
        <a:buClr>
          <a:srgbClr val="C3260C"/>
        </a:buClr>
        <a:buSzPct val="130000"/>
        <a:buFont typeface="Georgia" pitchFamily="18" charset="0"/>
        <a:buChar char="*"/>
        <a:defRPr sz="2200" kern="1200">
          <a:solidFill>
            <a:srgbClr val="404040"/>
          </a:solidFill>
          <a:latin typeface="+mn-lt"/>
          <a:ea typeface="+mn-ea"/>
          <a:cs typeface="+mn-cs"/>
        </a:defRPr>
      </a:lvl1pPr>
      <a:lvl2pPr marL="547688" indent="-182563" algn="l" rtl="0" eaLnBrk="0" fontAlgn="base" hangingPunct="0">
        <a:spcBef>
          <a:spcPct val="20000"/>
        </a:spcBef>
        <a:spcAft>
          <a:spcPts val="300"/>
        </a:spcAft>
        <a:buClr>
          <a:srgbClr val="C3260C"/>
        </a:buClr>
        <a:buSzPct val="130000"/>
        <a:buFont typeface="Georgia" pitchFamily="18" charset="0"/>
        <a:buChar char="*"/>
        <a:defRPr sz="2000" kern="1200">
          <a:solidFill>
            <a:srgbClr val="404040"/>
          </a:solidFill>
          <a:latin typeface="+mn-lt"/>
          <a:ea typeface="+mn-ea"/>
          <a:cs typeface="+mn-cs"/>
        </a:defRPr>
      </a:lvl2pPr>
      <a:lvl3pPr marL="822325" indent="-182563" algn="l" rtl="0" eaLnBrk="0" fontAlgn="base" hangingPunct="0">
        <a:spcBef>
          <a:spcPct val="20000"/>
        </a:spcBef>
        <a:spcAft>
          <a:spcPts val="300"/>
        </a:spcAft>
        <a:buClr>
          <a:srgbClr val="C3260C"/>
        </a:buClr>
        <a:buSzPct val="130000"/>
        <a:buFont typeface="Georgia" pitchFamily="18" charset="0"/>
        <a:buChar char="*"/>
        <a:defRPr kern="1200">
          <a:solidFill>
            <a:srgbClr val="404040"/>
          </a:solidFill>
          <a:latin typeface="+mn-lt"/>
          <a:ea typeface="+mn-ea"/>
          <a:cs typeface="+mn-cs"/>
        </a:defRPr>
      </a:lvl3pPr>
      <a:lvl4pPr marL="1096963" indent="-182563" algn="l" rtl="0" eaLnBrk="0" fontAlgn="base" hangingPunct="0">
        <a:spcBef>
          <a:spcPct val="20000"/>
        </a:spcBef>
        <a:spcAft>
          <a:spcPts val="300"/>
        </a:spcAft>
        <a:buClr>
          <a:srgbClr val="C3260C"/>
        </a:buClr>
        <a:buSzPct val="130000"/>
        <a:buFont typeface="Georgia" pitchFamily="18" charset="0"/>
        <a:buChar char="*"/>
        <a:defRPr sz="1600" kern="1200">
          <a:solidFill>
            <a:srgbClr val="404040"/>
          </a:solidFill>
          <a:latin typeface="+mn-lt"/>
          <a:ea typeface="+mn-ea"/>
          <a:cs typeface="+mn-cs"/>
        </a:defRPr>
      </a:lvl4pPr>
      <a:lvl5pPr marL="1389063" indent="-182563" algn="l" rtl="0" eaLnBrk="0" fontAlgn="base" hangingPunct="0">
        <a:spcBef>
          <a:spcPct val="20000"/>
        </a:spcBef>
        <a:spcAft>
          <a:spcPts val="300"/>
        </a:spcAft>
        <a:buClr>
          <a:srgbClr val="C3260C"/>
        </a:buClr>
        <a:buSzPct val="130000"/>
        <a:buFont typeface="Georgia" pitchFamily="18" charset="0"/>
        <a:buChar char="*"/>
        <a:defRPr sz="1400" kern="1200">
          <a:solidFill>
            <a:srgbClr val="404040"/>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t>Click to edit Master title style</a:t>
            </a:r>
            <a:endParaRPr 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charset="0"/>
              </a:defRPr>
            </a:lvl1pPr>
          </a:lstStyle>
          <a:p>
            <a:pPr defTabSz="457200" fontAlgn="base">
              <a:spcBef>
                <a:spcPct val="0"/>
              </a:spcBef>
              <a:spcAft>
                <a:spcPct val="0"/>
              </a:spcAft>
            </a:pPr>
            <a:fld id="{8A24BF4C-9CA2-423E-B4F6-7F55918723CE}" type="datetime1">
              <a:rPr lang="fr-FR" smtClean="0">
                <a:ea typeface="ＭＳ Ｐゴシック" charset="-128"/>
                <a:cs typeface="Arial" charset="0"/>
              </a:rPr>
              <a:pPr defTabSz="457200" fontAlgn="base">
                <a:spcBef>
                  <a:spcPct val="0"/>
                </a:spcBef>
                <a:spcAft>
                  <a:spcPct val="0"/>
                </a:spcAft>
              </a:pPr>
              <a:t>08/07/2025</a:t>
            </a:fld>
            <a:endParaRPr lang="en-US">
              <a:ea typeface="ＭＳ Ｐゴシック" charset="-128"/>
              <a:cs typeface="Arial"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defRPr>
            </a:lvl1pPr>
          </a:lstStyle>
          <a:p>
            <a:pPr defTabSz="457200" fontAlgn="base">
              <a:spcBef>
                <a:spcPct val="0"/>
              </a:spcBef>
              <a:spcAft>
                <a:spcPct val="0"/>
              </a:spcAft>
            </a:pPr>
            <a:endParaRPr lang="en-US">
              <a:ea typeface="ＭＳ Ｐゴシック" charset="-128"/>
              <a:cs typeface="Arial"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defRPr>
            </a:lvl1pPr>
          </a:lstStyle>
          <a:p>
            <a:pPr defTabSz="457200" fontAlgn="base">
              <a:spcBef>
                <a:spcPct val="0"/>
              </a:spcBef>
              <a:spcAft>
                <a:spcPct val="0"/>
              </a:spcAft>
            </a:pPr>
            <a:fld id="{AE2053D5-6219-41C3-8D16-FE99C84E3D09}" type="slidenum">
              <a:rPr lang="en-US" smtClean="0">
                <a:ea typeface="ＭＳ Ｐゴシック" charset="-128"/>
                <a:cs typeface="Arial" charset="0"/>
              </a:rPr>
              <a:pPr defTabSz="457200" fontAlgn="base">
                <a:spcBef>
                  <a:spcPct val="0"/>
                </a:spcBef>
                <a:spcAft>
                  <a:spcPct val="0"/>
                </a:spcAft>
              </a:pPr>
              <a:t>‹#›</a:t>
            </a:fld>
            <a:endParaRPr lang="en-US">
              <a:ea typeface="ＭＳ Ｐゴシック" charset="-128"/>
              <a:cs typeface="Arial" charset="0"/>
            </a:endParaRPr>
          </a:p>
        </p:txBody>
      </p:sp>
    </p:spTree>
    <p:extLst>
      <p:ext uri="{BB962C8B-B14F-4D97-AF65-F5344CB8AC3E}">
        <p14:creationId xmlns:p14="http://schemas.microsoft.com/office/powerpoint/2010/main" val="152489852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hdr="0" ft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ubtitle 3"/>
          <p:cNvSpPr>
            <a:spLocks noGrp="1"/>
          </p:cNvSpPr>
          <p:nvPr>
            <p:ph type="subTitle" idx="1"/>
          </p:nvPr>
        </p:nvSpPr>
        <p:spPr>
          <a:xfrm>
            <a:off x="1600200" y="4871544"/>
            <a:ext cx="6400800" cy="1529256"/>
          </a:xfrm>
        </p:spPr>
        <p:txBody>
          <a:bodyPr rtlCol="0">
            <a:normAutofit fontScale="92500" lnSpcReduction="10000"/>
          </a:bodyPr>
          <a:lstStyle/>
          <a:p>
            <a:pPr eaLnBrk="1" fontAlgn="auto" hangingPunct="1">
              <a:buClr>
                <a:schemeClr val="accent6">
                  <a:lumMod val="75000"/>
                </a:schemeClr>
              </a:buClr>
              <a:defRPr/>
            </a:pPr>
            <a:endParaRPr lang="en-US" b="1" dirty="0">
              <a:solidFill>
                <a:schemeClr val="tx1"/>
              </a:solidFill>
            </a:endParaRPr>
          </a:p>
          <a:p>
            <a:pPr algn="ctr" eaLnBrk="1" fontAlgn="auto" hangingPunct="1">
              <a:buClr>
                <a:schemeClr val="accent6">
                  <a:lumMod val="75000"/>
                </a:schemeClr>
              </a:buClr>
              <a:defRPr/>
            </a:pPr>
            <a:r>
              <a:rPr lang="en-US" sz="3200" b="1" dirty="0">
                <a:solidFill>
                  <a:srgbClr val="002060"/>
                </a:solidFill>
                <a:effectLst>
                  <a:outerShdw blurRad="38100" dist="38100" dir="2700000" algn="tl">
                    <a:srgbClr val="000000">
                      <a:alpha val="43137"/>
                    </a:srgbClr>
                  </a:outerShdw>
                </a:effectLst>
              </a:rPr>
              <a:t>Lecture-07</a:t>
            </a:r>
          </a:p>
          <a:p>
            <a:pPr algn="ctr" eaLnBrk="1" fontAlgn="auto" hangingPunct="1">
              <a:buClr>
                <a:schemeClr val="accent6">
                  <a:lumMod val="75000"/>
                </a:schemeClr>
              </a:buClr>
              <a:defRPr/>
            </a:pPr>
            <a:r>
              <a:rPr lang="en-US" sz="3200" b="1" dirty="0">
                <a:solidFill>
                  <a:srgbClr val="002060"/>
                </a:solidFill>
                <a:effectLst>
                  <a:outerShdw blurRad="38100" dist="38100" dir="2700000" algn="tl">
                    <a:srgbClr val="000000">
                      <a:alpha val="43137"/>
                    </a:srgbClr>
                  </a:outerShdw>
                </a:effectLst>
              </a:rPr>
              <a:t>Date</a:t>
            </a:r>
            <a:r>
              <a:rPr lang="en-US" sz="3200" b="1" dirty="0" smtClean="0">
                <a:solidFill>
                  <a:srgbClr val="002060"/>
                </a:solidFill>
                <a:effectLst>
                  <a:outerShdw blurRad="38100" dist="38100" dir="2700000" algn="tl">
                    <a:srgbClr val="000000">
                      <a:alpha val="43137"/>
                    </a:srgbClr>
                  </a:outerShdw>
                </a:effectLst>
              </a:rPr>
              <a:t>:</a:t>
            </a:r>
            <a:endParaRPr lang="en-US" dirty="0">
              <a:solidFill>
                <a:schemeClr val="tx1"/>
              </a:solidFill>
            </a:endParaRPr>
          </a:p>
        </p:txBody>
      </p:sp>
      <p:sp>
        <p:nvSpPr>
          <p:cNvPr id="3074" name="Title 2"/>
          <p:cNvSpPr>
            <a:spLocks noGrp="1"/>
          </p:cNvSpPr>
          <p:nvPr>
            <p:ph type="ctrTitle"/>
          </p:nvPr>
        </p:nvSpPr>
        <p:spPr>
          <a:xfrm>
            <a:off x="533400" y="725213"/>
            <a:ext cx="8077200" cy="4432027"/>
          </a:xfrm>
        </p:spPr>
        <p:txBody>
          <a:bodyPr/>
          <a:lstStyle/>
          <a:p>
            <a:pPr marL="182880" indent="0" algn="ctr" eaLnBrk="1" fontAlgn="auto" hangingPunct="1">
              <a:spcAft>
                <a:spcPts val="0"/>
              </a:spcAft>
              <a:buClr>
                <a:schemeClr val="accent6">
                  <a:lumMod val="75000"/>
                </a:schemeClr>
              </a:buClr>
              <a:buFont typeface="Georgia" pitchFamily="18" charset="0"/>
              <a:buNone/>
              <a:defRPr/>
            </a:pPr>
            <a: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t>Data Structures</a:t>
            </a:r>
            <a:b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t/>
            </a:r>
            <a:b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sz="4400" dirty="0" smtClean="0">
                <a:solidFill>
                  <a:srgbClr val="FF0000"/>
                </a:solidFill>
                <a:effectLst>
                  <a:outerShdw blurRad="38100" dist="38100" dir="2700000" algn="tl">
                    <a:srgbClr val="000000">
                      <a:alpha val="43137"/>
                    </a:srgbClr>
                  </a:outerShdw>
                  <a:reflection blurRad="6350" stA="55000" endA="300" endPos="45500" dir="5400000" sy="-100000" algn="bl" rotWithShape="0"/>
                </a:effectLst>
              </a:rPr>
              <a:t>ICT-1211</a:t>
            </a:r>
            <a: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t/>
            </a:r>
            <a:b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t/>
            </a:r>
            <a:b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t>Information and Communication Technology</a:t>
            </a:r>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1D62340-A1EA-4CE0-A397-B868A3BF73D1}" type="slidenum">
              <a:rPr kumimoji="0" lang="en-US" sz="1200" b="1" i="0" u="none" strike="noStrike" kern="1200" cap="none" spc="0" normalizeH="0" baseline="0" noProof="0" smtClean="0">
                <a:ln>
                  <a:noFill/>
                </a:ln>
                <a:solidFill>
                  <a:prstClr val="black">
                    <a:lumMod val="50000"/>
                    <a:lumOff val="50000"/>
                  </a:prstClr>
                </a:solidFill>
                <a:effectLst/>
                <a:uLnTx/>
                <a:uFillTx/>
                <a:latin typeface="Trebuchet MS"/>
                <a:ea typeface="+mn-ea"/>
                <a:cs typeface="Arial" charset="0"/>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1200" b="1" i="0" u="none" strike="noStrike" kern="1200" cap="none" spc="0" normalizeH="0" baseline="0" noProof="0">
              <a:ln>
                <a:noFill/>
              </a:ln>
              <a:solidFill>
                <a:prstClr val="black">
                  <a:lumMod val="50000"/>
                  <a:lumOff val="50000"/>
                </a:prstClr>
              </a:solidFill>
              <a:effectLst/>
              <a:uLnTx/>
              <a:uFillTx/>
              <a:latin typeface="Trebuchet MS"/>
              <a:ea typeface="+mn-ea"/>
              <a:cs typeface="Arial" charset="0"/>
            </a:endParaRPr>
          </a:p>
        </p:txBody>
      </p:sp>
    </p:spTree>
    <p:extLst>
      <p:ext uri="{BB962C8B-B14F-4D97-AF65-F5344CB8AC3E}">
        <p14:creationId xmlns:p14="http://schemas.microsoft.com/office/powerpoint/2010/main" val="3297418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03560" y="1700760"/>
            <a:ext cx="6511925" cy="1728240"/>
          </a:xfrm>
        </p:spPr>
        <p:txBody>
          <a:bodyPr/>
          <a:lstStyle/>
          <a:p>
            <a:pPr marL="0" indent="0" algn="ctr">
              <a:buNone/>
            </a:pPr>
            <a:r>
              <a:rPr lang="en-US" dirty="0">
                <a:solidFill>
                  <a:srgbClr val="FF0000"/>
                </a:solidFill>
              </a:rPr>
              <a:t/>
            </a:r>
            <a:br>
              <a:rPr lang="en-US" dirty="0">
                <a:solidFill>
                  <a:srgbClr val="FF0000"/>
                </a:solidFill>
              </a:rPr>
            </a:br>
            <a:r>
              <a:rPr lang="en-US" dirty="0">
                <a:solidFill>
                  <a:srgbClr val="FF0000"/>
                </a:solidFill>
              </a:rPr>
              <a:t>Arrays, Records and Pointers</a:t>
            </a:r>
          </a:p>
        </p:txBody>
      </p:sp>
      <p:sp>
        <p:nvSpPr>
          <p:cNvPr id="4" name="Slide Number Placeholder 3"/>
          <p:cNvSpPr>
            <a:spLocks noGrp="1"/>
          </p:cNvSpPr>
          <p:nvPr>
            <p:ph type="sldNum" sz="quarter" idx="12"/>
          </p:nvPr>
        </p:nvSpPr>
        <p:spPr/>
        <p:txBody>
          <a:bodyPr/>
          <a:lstStyle/>
          <a:p>
            <a:pPr>
              <a:defRPr/>
            </a:pPr>
            <a:fld id="{4315956A-8026-4861-99E0-6ECDFB0AE949}" type="slidenum">
              <a:rPr lang="en-US" smtClean="0">
                <a:solidFill>
                  <a:prstClr val="black">
                    <a:lumMod val="50000"/>
                    <a:lumOff val="50000"/>
                  </a:prstClr>
                </a:solidFill>
              </a:rPr>
              <a:pPr>
                <a:defRPr/>
              </a:pPr>
              <a:t>2</a:t>
            </a:fld>
            <a:endParaRPr lang="en-US">
              <a:solidFill>
                <a:prstClr val="black">
                  <a:lumMod val="50000"/>
                  <a:lumOff val="50000"/>
                </a:prstClr>
              </a:solidFill>
            </a:endParaRPr>
          </a:p>
        </p:txBody>
      </p:sp>
    </p:spTree>
    <p:extLst>
      <p:ext uri="{BB962C8B-B14F-4D97-AF65-F5344CB8AC3E}">
        <p14:creationId xmlns:p14="http://schemas.microsoft.com/office/powerpoint/2010/main" val="1047759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5726" y="717455"/>
            <a:ext cx="8921798" cy="5539978"/>
          </a:xfrm>
          <a:prstGeom prst="rect">
            <a:avLst/>
          </a:prstGeom>
          <a:noFill/>
        </p:spPr>
        <p:txBody>
          <a:bodyPr wrap="square" rtlCol="0">
            <a:spAutoFit/>
          </a:bodyPr>
          <a:lstStyle/>
          <a:p>
            <a:pPr algn="just"/>
            <a:r>
              <a:rPr lang="en-US" sz="2800" b="1" dirty="0"/>
              <a:t>Data structures are classified as either  </a:t>
            </a:r>
            <a:r>
              <a:rPr lang="en-US" sz="2800" b="1" i="1" dirty="0">
                <a:solidFill>
                  <a:srgbClr val="0000CC"/>
                </a:solidFill>
              </a:rPr>
              <a:t>Linear</a:t>
            </a:r>
            <a:r>
              <a:rPr lang="en-US" sz="2800" b="1" dirty="0"/>
              <a:t> or </a:t>
            </a:r>
            <a:r>
              <a:rPr lang="en-US" sz="2800" b="1" i="1" dirty="0">
                <a:solidFill>
                  <a:srgbClr val="0000CC"/>
                </a:solidFill>
              </a:rPr>
              <a:t>Nonlinear</a:t>
            </a:r>
            <a:r>
              <a:rPr lang="en-US" sz="2800" b="1" dirty="0"/>
              <a:t>.</a:t>
            </a:r>
          </a:p>
          <a:p>
            <a:pPr algn="just"/>
            <a:endParaRPr lang="en-US" sz="2800" dirty="0"/>
          </a:p>
          <a:p>
            <a:pPr marL="457200" indent="-457200" algn="just">
              <a:buFont typeface="Arial" charset="0"/>
              <a:buChar char="•"/>
            </a:pPr>
            <a:r>
              <a:rPr lang="en-US" sz="2200" dirty="0"/>
              <a:t>A data structure is said to be </a:t>
            </a:r>
            <a:r>
              <a:rPr lang="en-US" sz="2200" i="1" dirty="0">
                <a:solidFill>
                  <a:srgbClr val="0000CC"/>
                </a:solidFill>
              </a:rPr>
              <a:t>Linear </a:t>
            </a:r>
            <a:r>
              <a:rPr lang="en-US" sz="2200" dirty="0"/>
              <a:t>if its elements forms a sequence, or a linear list.</a:t>
            </a:r>
          </a:p>
          <a:p>
            <a:pPr marL="457200" indent="-457200" algn="just">
              <a:buFont typeface="Arial" charset="0"/>
              <a:buChar char="•"/>
            </a:pPr>
            <a:r>
              <a:rPr lang="en-US" sz="2200" dirty="0"/>
              <a:t>There are </a:t>
            </a:r>
            <a:r>
              <a:rPr lang="en-US" sz="2200" b="1" dirty="0">
                <a:solidFill>
                  <a:srgbClr val="FF0000"/>
                </a:solidFill>
              </a:rPr>
              <a:t>TWO</a:t>
            </a:r>
            <a:r>
              <a:rPr lang="en-US" sz="2200" dirty="0"/>
              <a:t> basic ways of representing such </a:t>
            </a:r>
            <a:r>
              <a:rPr lang="en-US" sz="2200" i="1" dirty="0">
                <a:solidFill>
                  <a:srgbClr val="0000CC"/>
                </a:solidFill>
              </a:rPr>
              <a:t>linear structures</a:t>
            </a:r>
            <a:r>
              <a:rPr lang="en-US" sz="2200" dirty="0"/>
              <a:t> in memory.</a:t>
            </a:r>
          </a:p>
          <a:p>
            <a:pPr marL="1371600" lvl="2" indent="-457200" algn="just">
              <a:buFont typeface="Arial" charset="0"/>
              <a:buChar char="•"/>
            </a:pPr>
            <a:r>
              <a:rPr lang="en-US" sz="2200" dirty="0"/>
              <a:t>One ways is to have the linear relationship between the elements represented by means of sequential memory locations. (For example, </a:t>
            </a:r>
            <a:r>
              <a:rPr lang="en-US" sz="2200" dirty="0">
                <a:solidFill>
                  <a:srgbClr val="0000CC"/>
                </a:solidFill>
              </a:rPr>
              <a:t>ARRAYS</a:t>
            </a:r>
            <a:r>
              <a:rPr lang="en-US" sz="2200" dirty="0"/>
              <a:t>).</a:t>
            </a:r>
          </a:p>
          <a:p>
            <a:pPr marL="1371600" lvl="2" indent="-457200" algn="just">
              <a:buFont typeface="Arial" charset="0"/>
              <a:buChar char="•"/>
            </a:pPr>
            <a:r>
              <a:rPr lang="en-US" sz="2200" dirty="0"/>
              <a:t>The other ways is to have the linear relationship between the elements represented by mean of pointers or links. (For example, linked lists)</a:t>
            </a:r>
          </a:p>
          <a:p>
            <a:pPr marL="1371600" lvl="2" indent="-457200" algn="just">
              <a:buFont typeface="Arial" charset="0"/>
              <a:buChar char="•"/>
            </a:pPr>
            <a:endParaRPr lang="en-US" sz="2200" dirty="0"/>
          </a:p>
          <a:p>
            <a:pPr marL="457200" indent="-457200" algn="just">
              <a:buFont typeface="Arial" charset="0"/>
              <a:buChar char="•"/>
            </a:pPr>
            <a:r>
              <a:rPr lang="en-US" sz="2800" i="1" dirty="0">
                <a:solidFill>
                  <a:srgbClr val="0000CC"/>
                </a:solidFill>
              </a:rPr>
              <a:t>Nonlinear data structures (For example, tress and graphs) discussed later. </a:t>
            </a:r>
          </a:p>
        </p:txBody>
      </p:sp>
      <p:sp>
        <p:nvSpPr>
          <p:cNvPr id="6" name="Slide Number Placeholder 5"/>
          <p:cNvSpPr>
            <a:spLocks noGrp="1"/>
          </p:cNvSpPr>
          <p:nvPr>
            <p:ph type="sldNum" sz="quarter" idx="12"/>
          </p:nvPr>
        </p:nvSpPr>
        <p:spPr/>
        <p:txBody>
          <a:bodyPr/>
          <a:lstStyle/>
          <a:p>
            <a:fld id="{1FBC1585-C671-4F90-AA0D-FD45AA239D02}" type="slidenum">
              <a:rPr lang="en-US" smtClean="0"/>
              <a:t>3</a:t>
            </a:fld>
            <a:endParaRPr lang="en-US"/>
          </a:p>
        </p:txBody>
      </p:sp>
    </p:spTree>
    <p:extLst>
      <p:ext uri="{BB962C8B-B14F-4D97-AF65-F5344CB8AC3E}">
        <p14:creationId xmlns:p14="http://schemas.microsoft.com/office/powerpoint/2010/main" val="85186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3"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 calcmode="lin" valueType="num">
                                      <p:cBhvr additive="base">
                                        <p:cTn id="25" dur="500" fill="hold"/>
                                        <p:tgtEl>
                                          <p:spTgt spid="5">
                                            <p:txEl>
                                              <p:pRg st="5" end="5"/>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 calcmode="lin" valueType="num">
                                      <p:cBhvr additive="base">
                                        <p:cTn id="3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28663" y="46239"/>
            <a:ext cx="7514586"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Operations on Linear Structure</a:t>
            </a:r>
          </a:p>
        </p:txBody>
      </p:sp>
      <p:sp>
        <p:nvSpPr>
          <p:cNvPr id="7" name="TextBox 6"/>
          <p:cNvSpPr txBox="1"/>
          <p:nvPr/>
        </p:nvSpPr>
        <p:spPr>
          <a:xfrm>
            <a:off x="414338" y="836781"/>
            <a:ext cx="8229600" cy="5478423"/>
          </a:xfrm>
          <a:prstGeom prst="rect">
            <a:avLst/>
          </a:prstGeom>
          <a:noFill/>
        </p:spPr>
        <p:txBody>
          <a:bodyPr wrap="square" rtlCol="0">
            <a:spAutoFit/>
          </a:bodyPr>
          <a:lstStyle/>
          <a:p>
            <a:pPr algn="just"/>
            <a:r>
              <a:rPr lang="en-US" sz="2800" dirty="0"/>
              <a:t>The operations one normally performed on any linear structure include the following: </a:t>
            </a:r>
          </a:p>
          <a:p>
            <a:pPr algn="just"/>
            <a:endParaRPr lang="en-US" sz="2800" dirty="0"/>
          </a:p>
          <a:p>
            <a:pPr marL="342900" indent="-342900" algn="just">
              <a:lnSpc>
                <a:spcPct val="150000"/>
              </a:lnSpc>
              <a:buFont typeface="Arial" charset="0"/>
              <a:buChar char="•"/>
            </a:pPr>
            <a:r>
              <a:rPr lang="en-US" sz="2800" i="1" dirty="0">
                <a:solidFill>
                  <a:srgbClr val="0000CC"/>
                </a:solidFill>
              </a:rPr>
              <a:t>Traversing</a:t>
            </a:r>
            <a:r>
              <a:rPr lang="en-US" sz="2800" dirty="0"/>
              <a:t>-Processing each element in the list</a:t>
            </a:r>
          </a:p>
          <a:p>
            <a:pPr marL="342900" indent="-342900" algn="just">
              <a:buFont typeface="Arial" charset="0"/>
              <a:buChar char="•"/>
            </a:pPr>
            <a:r>
              <a:rPr lang="en-US" sz="2800" i="1" dirty="0">
                <a:solidFill>
                  <a:srgbClr val="0000CC"/>
                </a:solidFill>
              </a:rPr>
              <a:t>Search </a:t>
            </a:r>
            <a:r>
              <a:rPr lang="en-US" sz="2800" dirty="0"/>
              <a:t>– Finding the location of the element with a given value or the record with a given key.</a:t>
            </a:r>
          </a:p>
          <a:p>
            <a:pPr marL="342900" indent="-342900" algn="just">
              <a:lnSpc>
                <a:spcPct val="150000"/>
              </a:lnSpc>
              <a:buFont typeface="Arial" charset="0"/>
              <a:buChar char="•"/>
            </a:pPr>
            <a:r>
              <a:rPr lang="en-US" sz="2800" i="1" dirty="0">
                <a:solidFill>
                  <a:srgbClr val="0000CC"/>
                </a:solidFill>
              </a:rPr>
              <a:t>Insertion-</a:t>
            </a:r>
            <a:r>
              <a:rPr lang="en-US" sz="2800" dirty="0"/>
              <a:t>Adding a new element to the list.</a:t>
            </a:r>
          </a:p>
          <a:p>
            <a:pPr marL="342900" indent="-342900" algn="just">
              <a:lnSpc>
                <a:spcPct val="150000"/>
              </a:lnSpc>
              <a:buFont typeface="Arial" charset="0"/>
              <a:buChar char="•"/>
            </a:pPr>
            <a:r>
              <a:rPr lang="en-US" sz="2800" i="1" dirty="0">
                <a:solidFill>
                  <a:srgbClr val="0000CC"/>
                </a:solidFill>
              </a:rPr>
              <a:t>Deletion-</a:t>
            </a:r>
            <a:r>
              <a:rPr lang="en-US" sz="2800" dirty="0"/>
              <a:t>Removing an element from the list.</a:t>
            </a:r>
          </a:p>
          <a:p>
            <a:pPr marL="342900" indent="-342900" algn="just">
              <a:lnSpc>
                <a:spcPct val="150000"/>
              </a:lnSpc>
              <a:buFont typeface="Arial" charset="0"/>
              <a:buChar char="•"/>
            </a:pPr>
            <a:r>
              <a:rPr lang="en-US" sz="2800" i="1" dirty="0">
                <a:solidFill>
                  <a:srgbClr val="0000CC"/>
                </a:solidFill>
              </a:rPr>
              <a:t>Sorting-</a:t>
            </a:r>
            <a:r>
              <a:rPr lang="en-US" sz="2800" dirty="0"/>
              <a:t>Arranging the element in some type of order.</a:t>
            </a:r>
          </a:p>
          <a:p>
            <a:pPr marL="342900" indent="-342900" algn="just">
              <a:lnSpc>
                <a:spcPct val="150000"/>
              </a:lnSpc>
              <a:buFont typeface="Arial" charset="0"/>
              <a:buChar char="•"/>
            </a:pPr>
            <a:r>
              <a:rPr lang="en-US" sz="2800" i="1" dirty="0">
                <a:solidFill>
                  <a:srgbClr val="0000CC"/>
                </a:solidFill>
              </a:rPr>
              <a:t>Merging-</a:t>
            </a:r>
            <a:r>
              <a:rPr lang="en-US" sz="2800" dirty="0"/>
              <a:t>Combining two list into a single list. </a:t>
            </a:r>
          </a:p>
        </p:txBody>
      </p:sp>
      <p:sp>
        <p:nvSpPr>
          <p:cNvPr id="6" name="Slide Number Placeholder 5"/>
          <p:cNvSpPr>
            <a:spLocks noGrp="1"/>
          </p:cNvSpPr>
          <p:nvPr>
            <p:ph type="sldNum" sz="quarter" idx="12"/>
          </p:nvPr>
        </p:nvSpPr>
        <p:spPr/>
        <p:txBody>
          <a:bodyPr/>
          <a:lstStyle/>
          <a:p>
            <a:fld id="{1FBC1585-C671-4F90-AA0D-FD45AA239D02}" type="slidenum">
              <a:rPr lang="en-US" smtClean="0"/>
              <a:t>4</a:t>
            </a:fld>
            <a:endParaRPr lang="en-US"/>
          </a:p>
        </p:txBody>
      </p:sp>
    </p:spTree>
    <p:extLst>
      <p:ext uri="{BB962C8B-B14F-4D97-AF65-F5344CB8AC3E}">
        <p14:creationId xmlns:p14="http://schemas.microsoft.com/office/powerpoint/2010/main" val="399081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p:cTn id="7" dur="1000" fill="hold"/>
                                        <p:tgtEl>
                                          <p:spTgt spid="7">
                                            <p:txEl>
                                              <p:pRg st="2" end="2"/>
                                            </p:txEl>
                                          </p:spTgt>
                                        </p:tgtEl>
                                        <p:attrNameLst>
                                          <p:attrName>ppt_w</p:attrName>
                                        </p:attrNameLst>
                                      </p:cBhvr>
                                      <p:tavLst>
                                        <p:tav tm="0">
                                          <p:val>
                                            <p:fltVal val="0"/>
                                          </p:val>
                                        </p:tav>
                                        <p:tav tm="100000">
                                          <p:val>
                                            <p:strVal val="#ppt_w"/>
                                          </p:val>
                                        </p:tav>
                                      </p:tavLst>
                                    </p:anim>
                                    <p:anim calcmode="lin" valueType="num">
                                      <p:cBhvr>
                                        <p:cTn id="8" dur="1000" fill="hold"/>
                                        <p:tgtEl>
                                          <p:spTgt spid="7">
                                            <p:txEl>
                                              <p:pRg st="2" end="2"/>
                                            </p:txEl>
                                          </p:spTgt>
                                        </p:tgtEl>
                                        <p:attrNameLst>
                                          <p:attrName>ppt_h</p:attrName>
                                        </p:attrNameLst>
                                      </p:cBhvr>
                                      <p:tavLst>
                                        <p:tav tm="0">
                                          <p:val>
                                            <p:fltVal val="0"/>
                                          </p:val>
                                        </p:tav>
                                        <p:tav tm="100000">
                                          <p:val>
                                            <p:strVal val="#ppt_h"/>
                                          </p:val>
                                        </p:tav>
                                      </p:tavLst>
                                    </p:anim>
                                    <p:anim calcmode="lin" valueType="num">
                                      <p:cBhvr>
                                        <p:cTn id="9" dur="1000" fill="hold"/>
                                        <p:tgtEl>
                                          <p:spTgt spid="7">
                                            <p:txEl>
                                              <p:pRg st="2" end="2"/>
                                            </p:txEl>
                                          </p:spTgt>
                                        </p:tgtEl>
                                        <p:attrNameLst>
                                          <p:attrName>style.rotation</p:attrName>
                                        </p:attrNameLst>
                                      </p:cBhvr>
                                      <p:tavLst>
                                        <p:tav tm="0">
                                          <p:val>
                                            <p:fltVal val="90"/>
                                          </p:val>
                                        </p:tav>
                                        <p:tav tm="100000">
                                          <p:val>
                                            <p:fltVal val="0"/>
                                          </p:val>
                                        </p:tav>
                                      </p:tavLst>
                                    </p:anim>
                                    <p:animEffect transition="in" filter="fade">
                                      <p:cBhvr>
                                        <p:cTn id="10" dur="1000"/>
                                        <p:tgtEl>
                                          <p:spTgt spid="7">
                                            <p:txEl>
                                              <p:pRg st="2" end="2"/>
                                            </p:txEl>
                                          </p:spTgt>
                                        </p:tgtEl>
                                      </p:cBhvr>
                                    </p:animEffect>
                                  </p:childTnLst>
                                </p:cTn>
                              </p:par>
                              <p:par>
                                <p:cTn id="11" presetID="3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 calcmode="lin" valueType="num">
                                      <p:cBhvr>
                                        <p:cTn id="13" dur="1000" fill="hold"/>
                                        <p:tgtEl>
                                          <p:spTgt spid="7">
                                            <p:txEl>
                                              <p:pRg st="3" end="3"/>
                                            </p:txEl>
                                          </p:spTgt>
                                        </p:tgtEl>
                                        <p:attrNameLst>
                                          <p:attrName>ppt_w</p:attrName>
                                        </p:attrNameLst>
                                      </p:cBhvr>
                                      <p:tavLst>
                                        <p:tav tm="0">
                                          <p:val>
                                            <p:fltVal val="0"/>
                                          </p:val>
                                        </p:tav>
                                        <p:tav tm="100000">
                                          <p:val>
                                            <p:strVal val="#ppt_w"/>
                                          </p:val>
                                        </p:tav>
                                      </p:tavLst>
                                    </p:anim>
                                    <p:anim calcmode="lin" valueType="num">
                                      <p:cBhvr>
                                        <p:cTn id="14" dur="1000" fill="hold"/>
                                        <p:tgtEl>
                                          <p:spTgt spid="7">
                                            <p:txEl>
                                              <p:pRg st="3" end="3"/>
                                            </p:txEl>
                                          </p:spTgt>
                                        </p:tgtEl>
                                        <p:attrNameLst>
                                          <p:attrName>ppt_h</p:attrName>
                                        </p:attrNameLst>
                                      </p:cBhvr>
                                      <p:tavLst>
                                        <p:tav tm="0">
                                          <p:val>
                                            <p:fltVal val="0"/>
                                          </p:val>
                                        </p:tav>
                                        <p:tav tm="100000">
                                          <p:val>
                                            <p:strVal val="#ppt_h"/>
                                          </p:val>
                                        </p:tav>
                                      </p:tavLst>
                                    </p:anim>
                                    <p:anim calcmode="lin" valueType="num">
                                      <p:cBhvr>
                                        <p:cTn id="15" dur="1000" fill="hold"/>
                                        <p:tgtEl>
                                          <p:spTgt spid="7">
                                            <p:txEl>
                                              <p:pRg st="3" end="3"/>
                                            </p:txEl>
                                          </p:spTgt>
                                        </p:tgtEl>
                                        <p:attrNameLst>
                                          <p:attrName>style.rotation</p:attrName>
                                        </p:attrNameLst>
                                      </p:cBhvr>
                                      <p:tavLst>
                                        <p:tav tm="0">
                                          <p:val>
                                            <p:fltVal val="90"/>
                                          </p:val>
                                        </p:tav>
                                        <p:tav tm="100000">
                                          <p:val>
                                            <p:fltVal val="0"/>
                                          </p:val>
                                        </p:tav>
                                      </p:tavLst>
                                    </p:anim>
                                    <p:animEffect transition="in" filter="fade">
                                      <p:cBhvr>
                                        <p:cTn id="16" dur="1000"/>
                                        <p:tgtEl>
                                          <p:spTgt spid="7">
                                            <p:txEl>
                                              <p:pRg st="3" end="3"/>
                                            </p:txEl>
                                          </p:spTgt>
                                        </p:tgtEl>
                                      </p:cBhvr>
                                    </p:animEffect>
                                  </p:childTnLst>
                                </p:cTn>
                              </p:par>
                              <p:par>
                                <p:cTn id="17" presetID="31" presetClass="entr" presetSubtype="0"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 calcmode="lin" valueType="num">
                                      <p:cBhvr>
                                        <p:cTn id="19" dur="1000" fill="hold"/>
                                        <p:tgtEl>
                                          <p:spTgt spid="7">
                                            <p:txEl>
                                              <p:pRg st="4" end="4"/>
                                            </p:txEl>
                                          </p:spTgt>
                                        </p:tgtEl>
                                        <p:attrNameLst>
                                          <p:attrName>ppt_w</p:attrName>
                                        </p:attrNameLst>
                                      </p:cBhvr>
                                      <p:tavLst>
                                        <p:tav tm="0">
                                          <p:val>
                                            <p:fltVal val="0"/>
                                          </p:val>
                                        </p:tav>
                                        <p:tav tm="100000">
                                          <p:val>
                                            <p:strVal val="#ppt_w"/>
                                          </p:val>
                                        </p:tav>
                                      </p:tavLst>
                                    </p:anim>
                                    <p:anim calcmode="lin" valueType="num">
                                      <p:cBhvr>
                                        <p:cTn id="20" dur="1000" fill="hold"/>
                                        <p:tgtEl>
                                          <p:spTgt spid="7">
                                            <p:txEl>
                                              <p:pRg st="4" end="4"/>
                                            </p:txEl>
                                          </p:spTgt>
                                        </p:tgtEl>
                                        <p:attrNameLst>
                                          <p:attrName>ppt_h</p:attrName>
                                        </p:attrNameLst>
                                      </p:cBhvr>
                                      <p:tavLst>
                                        <p:tav tm="0">
                                          <p:val>
                                            <p:fltVal val="0"/>
                                          </p:val>
                                        </p:tav>
                                        <p:tav tm="100000">
                                          <p:val>
                                            <p:strVal val="#ppt_h"/>
                                          </p:val>
                                        </p:tav>
                                      </p:tavLst>
                                    </p:anim>
                                    <p:anim calcmode="lin" valueType="num">
                                      <p:cBhvr>
                                        <p:cTn id="21" dur="1000" fill="hold"/>
                                        <p:tgtEl>
                                          <p:spTgt spid="7">
                                            <p:txEl>
                                              <p:pRg st="4" end="4"/>
                                            </p:txEl>
                                          </p:spTgt>
                                        </p:tgtEl>
                                        <p:attrNameLst>
                                          <p:attrName>style.rotation</p:attrName>
                                        </p:attrNameLst>
                                      </p:cBhvr>
                                      <p:tavLst>
                                        <p:tav tm="0">
                                          <p:val>
                                            <p:fltVal val="90"/>
                                          </p:val>
                                        </p:tav>
                                        <p:tav tm="100000">
                                          <p:val>
                                            <p:fltVal val="0"/>
                                          </p:val>
                                        </p:tav>
                                      </p:tavLst>
                                    </p:anim>
                                    <p:animEffect transition="in" filter="fade">
                                      <p:cBhvr>
                                        <p:cTn id="22" dur="1000"/>
                                        <p:tgtEl>
                                          <p:spTgt spid="7">
                                            <p:txEl>
                                              <p:pRg st="4" end="4"/>
                                            </p:txEl>
                                          </p:spTgt>
                                        </p:tgtEl>
                                      </p:cBhvr>
                                    </p:animEffect>
                                  </p:childTnLst>
                                </p:cTn>
                              </p:par>
                              <p:par>
                                <p:cTn id="23" presetID="31" presetClass="entr" presetSubtype="0" fill="hold"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anim calcmode="lin" valueType="num">
                                      <p:cBhvr>
                                        <p:cTn id="25" dur="1000" fill="hold"/>
                                        <p:tgtEl>
                                          <p:spTgt spid="7">
                                            <p:txEl>
                                              <p:pRg st="5" end="5"/>
                                            </p:txEl>
                                          </p:spTgt>
                                        </p:tgtEl>
                                        <p:attrNameLst>
                                          <p:attrName>ppt_w</p:attrName>
                                        </p:attrNameLst>
                                      </p:cBhvr>
                                      <p:tavLst>
                                        <p:tav tm="0">
                                          <p:val>
                                            <p:fltVal val="0"/>
                                          </p:val>
                                        </p:tav>
                                        <p:tav tm="100000">
                                          <p:val>
                                            <p:strVal val="#ppt_w"/>
                                          </p:val>
                                        </p:tav>
                                      </p:tavLst>
                                    </p:anim>
                                    <p:anim calcmode="lin" valueType="num">
                                      <p:cBhvr>
                                        <p:cTn id="26" dur="1000" fill="hold"/>
                                        <p:tgtEl>
                                          <p:spTgt spid="7">
                                            <p:txEl>
                                              <p:pRg st="5" end="5"/>
                                            </p:txEl>
                                          </p:spTgt>
                                        </p:tgtEl>
                                        <p:attrNameLst>
                                          <p:attrName>ppt_h</p:attrName>
                                        </p:attrNameLst>
                                      </p:cBhvr>
                                      <p:tavLst>
                                        <p:tav tm="0">
                                          <p:val>
                                            <p:fltVal val="0"/>
                                          </p:val>
                                        </p:tav>
                                        <p:tav tm="100000">
                                          <p:val>
                                            <p:strVal val="#ppt_h"/>
                                          </p:val>
                                        </p:tav>
                                      </p:tavLst>
                                    </p:anim>
                                    <p:anim calcmode="lin" valueType="num">
                                      <p:cBhvr>
                                        <p:cTn id="27" dur="1000" fill="hold"/>
                                        <p:tgtEl>
                                          <p:spTgt spid="7">
                                            <p:txEl>
                                              <p:pRg st="5" end="5"/>
                                            </p:txEl>
                                          </p:spTgt>
                                        </p:tgtEl>
                                        <p:attrNameLst>
                                          <p:attrName>style.rotation</p:attrName>
                                        </p:attrNameLst>
                                      </p:cBhvr>
                                      <p:tavLst>
                                        <p:tav tm="0">
                                          <p:val>
                                            <p:fltVal val="90"/>
                                          </p:val>
                                        </p:tav>
                                        <p:tav tm="100000">
                                          <p:val>
                                            <p:fltVal val="0"/>
                                          </p:val>
                                        </p:tav>
                                      </p:tavLst>
                                    </p:anim>
                                    <p:animEffect transition="in" filter="fade">
                                      <p:cBhvr>
                                        <p:cTn id="28" dur="1000"/>
                                        <p:tgtEl>
                                          <p:spTgt spid="7">
                                            <p:txEl>
                                              <p:pRg st="5" end="5"/>
                                            </p:txEl>
                                          </p:spTgt>
                                        </p:tgtEl>
                                      </p:cBhvr>
                                    </p:animEffect>
                                  </p:childTnLst>
                                </p:cTn>
                              </p:par>
                              <p:par>
                                <p:cTn id="29" presetID="31" presetClass="entr" presetSubtype="0" fill="hold" nodeType="with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 calcmode="lin" valueType="num">
                                      <p:cBhvr>
                                        <p:cTn id="31" dur="1000" fill="hold"/>
                                        <p:tgtEl>
                                          <p:spTgt spid="7">
                                            <p:txEl>
                                              <p:pRg st="6" end="6"/>
                                            </p:txEl>
                                          </p:spTgt>
                                        </p:tgtEl>
                                        <p:attrNameLst>
                                          <p:attrName>ppt_w</p:attrName>
                                        </p:attrNameLst>
                                      </p:cBhvr>
                                      <p:tavLst>
                                        <p:tav tm="0">
                                          <p:val>
                                            <p:fltVal val="0"/>
                                          </p:val>
                                        </p:tav>
                                        <p:tav tm="100000">
                                          <p:val>
                                            <p:strVal val="#ppt_w"/>
                                          </p:val>
                                        </p:tav>
                                      </p:tavLst>
                                    </p:anim>
                                    <p:anim calcmode="lin" valueType="num">
                                      <p:cBhvr>
                                        <p:cTn id="32" dur="1000" fill="hold"/>
                                        <p:tgtEl>
                                          <p:spTgt spid="7">
                                            <p:txEl>
                                              <p:pRg st="6" end="6"/>
                                            </p:txEl>
                                          </p:spTgt>
                                        </p:tgtEl>
                                        <p:attrNameLst>
                                          <p:attrName>ppt_h</p:attrName>
                                        </p:attrNameLst>
                                      </p:cBhvr>
                                      <p:tavLst>
                                        <p:tav tm="0">
                                          <p:val>
                                            <p:fltVal val="0"/>
                                          </p:val>
                                        </p:tav>
                                        <p:tav tm="100000">
                                          <p:val>
                                            <p:strVal val="#ppt_h"/>
                                          </p:val>
                                        </p:tav>
                                      </p:tavLst>
                                    </p:anim>
                                    <p:anim calcmode="lin" valueType="num">
                                      <p:cBhvr>
                                        <p:cTn id="33" dur="1000" fill="hold"/>
                                        <p:tgtEl>
                                          <p:spTgt spid="7">
                                            <p:txEl>
                                              <p:pRg st="6" end="6"/>
                                            </p:txEl>
                                          </p:spTgt>
                                        </p:tgtEl>
                                        <p:attrNameLst>
                                          <p:attrName>style.rotation</p:attrName>
                                        </p:attrNameLst>
                                      </p:cBhvr>
                                      <p:tavLst>
                                        <p:tav tm="0">
                                          <p:val>
                                            <p:fltVal val="90"/>
                                          </p:val>
                                        </p:tav>
                                        <p:tav tm="100000">
                                          <p:val>
                                            <p:fltVal val="0"/>
                                          </p:val>
                                        </p:tav>
                                      </p:tavLst>
                                    </p:anim>
                                    <p:animEffect transition="in" filter="fade">
                                      <p:cBhvr>
                                        <p:cTn id="34" dur="1000"/>
                                        <p:tgtEl>
                                          <p:spTgt spid="7">
                                            <p:txEl>
                                              <p:pRg st="6" end="6"/>
                                            </p:txEl>
                                          </p:spTgt>
                                        </p:tgtEl>
                                      </p:cBhvr>
                                    </p:animEffect>
                                  </p:childTnLst>
                                </p:cTn>
                              </p:par>
                              <p:par>
                                <p:cTn id="35" presetID="31" presetClass="entr" presetSubtype="0" fill="hold" nodeType="with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 calcmode="lin" valueType="num">
                                      <p:cBhvr>
                                        <p:cTn id="37" dur="1000" fill="hold"/>
                                        <p:tgtEl>
                                          <p:spTgt spid="7">
                                            <p:txEl>
                                              <p:pRg st="7" end="7"/>
                                            </p:txEl>
                                          </p:spTgt>
                                        </p:tgtEl>
                                        <p:attrNameLst>
                                          <p:attrName>ppt_w</p:attrName>
                                        </p:attrNameLst>
                                      </p:cBhvr>
                                      <p:tavLst>
                                        <p:tav tm="0">
                                          <p:val>
                                            <p:fltVal val="0"/>
                                          </p:val>
                                        </p:tav>
                                        <p:tav tm="100000">
                                          <p:val>
                                            <p:strVal val="#ppt_w"/>
                                          </p:val>
                                        </p:tav>
                                      </p:tavLst>
                                    </p:anim>
                                    <p:anim calcmode="lin" valueType="num">
                                      <p:cBhvr>
                                        <p:cTn id="38" dur="1000" fill="hold"/>
                                        <p:tgtEl>
                                          <p:spTgt spid="7">
                                            <p:txEl>
                                              <p:pRg st="7" end="7"/>
                                            </p:txEl>
                                          </p:spTgt>
                                        </p:tgtEl>
                                        <p:attrNameLst>
                                          <p:attrName>ppt_h</p:attrName>
                                        </p:attrNameLst>
                                      </p:cBhvr>
                                      <p:tavLst>
                                        <p:tav tm="0">
                                          <p:val>
                                            <p:fltVal val="0"/>
                                          </p:val>
                                        </p:tav>
                                        <p:tav tm="100000">
                                          <p:val>
                                            <p:strVal val="#ppt_h"/>
                                          </p:val>
                                        </p:tav>
                                      </p:tavLst>
                                    </p:anim>
                                    <p:anim calcmode="lin" valueType="num">
                                      <p:cBhvr>
                                        <p:cTn id="39" dur="1000" fill="hold"/>
                                        <p:tgtEl>
                                          <p:spTgt spid="7">
                                            <p:txEl>
                                              <p:pRg st="7" end="7"/>
                                            </p:txEl>
                                          </p:spTgt>
                                        </p:tgtEl>
                                        <p:attrNameLst>
                                          <p:attrName>style.rotation</p:attrName>
                                        </p:attrNameLst>
                                      </p:cBhvr>
                                      <p:tavLst>
                                        <p:tav tm="0">
                                          <p:val>
                                            <p:fltVal val="90"/>
                                          </p:val>
                                        </p:tav>
                                        <p:tav tm="100000">
                                          <p:val>
                                            <p:fltVal val="0"/>
                                          </p:val>
                                        </p:tav>
                                      </p:tavLst>
                                    </p:anim>
                                    <p:animEffect transition="in" filter="fade">
                                      <p:cBhvr>
                                        <p:cTn id="40" dur="10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linear arra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6483" y="3386138"/>
            <a:ext cx="5555918" cy="33521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443038" y="46239"/>
            <a:ext cx="6800211"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Linear Arrays</a:t>
            </a:r>
          </a:p>
        </p:txBody>
      </p:sp>
      <p:sp>
        <p:nvSpPr>
          <p:cNvPr id="6" name="TextBox 5"/>
          <p:cNvSpPr txBox="1"/>
          <p:nvPr/>
        </p:nvSpPr>
        <p:spPr>
          <a:xfrm>
            <a:off x="528638" y="692570"/>
            <a:ext cx="8215312" cy="3046988"/>
          </a:xfrm>
          <a:prstGeom prst="rect">
            <a:avLst/>
          </a:prstGeom>
          <a:noFill/>
        </p:spPr>
        <p:txBody>
          <a:bodyPr wrap="square" rtlCol="0">
            <a:spAutoFit/>
          </a:bodyPr>
          <a:lstStyle/>
          <a:p>
            <a:pPr algn="just"/>
            <a:r>
              <a:rPr lang="en-US" sz="2400" dirty="0"/>
              <a:t>A linear array is a list of finite number n of </a:t>
            </a:r>
            <a:r>
              <a:rPr lang="en-US" sz="2400" b="1" dirty="0">
                <a:solidFill>
                  <a:srgbClr val="0000CC"/>
                </a:solidFill>
              </a:rPr>
              <a:t>HOMOGENEOUS</a:t>
            </a:r>
            <a:r>
              <a:rPr lang="en-US" sz="2400" dirty="0"/>
              <a:t> data elements (i.e., data elements of the same type) such that:</a:t>
            </a:r>
          </a:p>
          <a:p>
            <a:pPr marL="800100" lvl="1" indent="-342900" algn="just">
              <a:lnSpc>
                <a:spcPct val="150000"/>
              </a:lnSpc>
              <a:buFont typeface="Arial" charset="0"/>
              <a:buChar char="•"/>
            </a:pPr>
            <a:r>
              <a:rPr lang="en-US" sz="2400" dirty="0"/>
              <a:t>The elements of the array are referenced respectively by an index set consisting of </a:t>
            </a:r>
            <a:r>
              <a:rPr lang="en-US" sz="2400" i="1" dirty="0">
                <a:solidFill>
                  <a:srgbClr val="0000CC"/>
                </a:solidFill>
              </a:rPr>
              <a:t>n</a:t>
            </a:r>
            <a:r>
              <a:rPr lang="en-US" sz="2400" dirty="0"/>
              <a:t> consecutive numbers.</a:t>
            </a:r>
          </a:p>
          <a:p>
            <a:pPr marL="800100" lvl="1" indent="-342900" algn="just">
              <a:lnSpc>
                <a:spcPct val="150000"/>
              </a:lnSpc>
              <a:buFont typeface="Arial" charset="0"/>
              <a:buChar char="•"/>
            </a:pPr>
            <a:r>
              <a:rPr lang="en-US" sz="2400" dirty="0"/>
              <a:t>The elements of the array are stored respectively in successive memory locations. </a:t>
            </a:r>
          </a:p>
        </p:txBody>
      </p:sp>
      <p:sp>
        <p:nvSpPr>
          <p:cNvPr id="7" name="Slide Number Placeholder 6"/>
          <p:cNvSpPr>
            <a:spLocks noGrp="1"/>
          </p:cNvSpPr>
          <p:nvPr>
            <p:ph type="sldNum" sz="quarter" idx="12"/>
          </p:nvPr>
        </p:nvSpPr>
        <p:spPr/>
        <p:txBody>
          <a:bodyPr/>
          <a:lstStyle/>
          <a:p>
            <a:fld id="{1FBC1585-C671-4F90-AA0D-FD45AA239D02}" type="slidenum">
              <a:rPr lang="en-US" smtClean="0"/>
              <a:t>5</a:t>
            </a:fld>
            <a:endParaRPr lang="en-US"/>
          </a:p>
        </p:txBody>
      </p:sp>
    </p:spTree>
    <p:extLst>
      <p:ext uri="{BB962C8B-B14F-4D97-AF65-F5344CB8AC3E}">
        <p14:creationId xmlns:p14="http://schemas.microsoft.com/office/powerpoint/2010/main" val="187151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additive="base">
                                        <p:cTn id="11"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fade">
                                      <p:cBhvr>
                                        <p:cTn id="17" dur="1000"/>
                                        <p:tgtEl>
                                          <p:spTgt spid="1026"/>
                                        </p:tgtEl>
                                      </p:cBhvr>
                                    </p:animEffect>
                                    <p:anim calcmode="lin" valueType="num">
                                      <p:cBhvr>
                                        <p:cTn id="18" dur="1000" fill="hold"/>
                                        <p:tgtEl>
                                          <p:spTgt spid="1026"/>
                                        </p:tgtEl>
                                        <p:attrNameLst>
                                          <p:attrName>ppt_x</p:attrName>
                                        </p:attrNameLst>
                                      </p:cBhvr>
                                      <p:tavLst>
                                        <p:tav tm="0">
                                          <p:val>
                                            <p:strVal val="#ppt_x"/>
                                          </p:val>
                                        </p:tav>
                                        <p:tav tm="100000">
                                          <p:val>
                                            <p:strVal val="#ppt_x"/>
                                          </p:val>
                                        </p:tav>
                                      </p:tavLst>
                                    </p:anim>
                                    <p:anim calcmode="lin" valueType="num">
                                      <p:cBhvr>
                                        <p:cTn id="1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57238" y="217689"/>
            <a:ext cx="7486011"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Linear Arrays</a:t>
            </a:r>
          </a:p>
        </p:txBody>
      </p:sp>
      <p:sp>
        <p:nvSpPr>
          <p:cNvPr id="7" name="TextBox 6"/>
          <p:cNvSpPr txBox="1"/>
          <p:nvPr/>
        </p:nvSpPr>
        <p:spPr>
          <a:xfrm>
            <a:off x="214313" y="1011769"/>
            <a:ext cx="8758237" cy="480131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t>The number </a:t>
            </a:r>
            <a:r>
              <a:rPr lang="en-US" sz="2400" b="1" i="1" dirty="0">
                <a:solidFill>
                  <a:srgbClr val="FF0000"/>
                </a:solidFill>
              </a:rPr>
              <a:t>n</a:t>
            </a:r>
            <a:r>
              <a:rPr lang="en-US" sz="2400" i="1" dirty="0">
                <a:solidFill>
                  <a:srgbClr val="0000CC"/>
                </a:solidFill>
              </a:rPr>
              <a:t> </a:t>
            </a:r>
            <a:r>
              <a:rPr lang="en-US" sz="2400" dirty="0"/>
              <a:t>of elements is called </a:t>
            </a:r>
            <a:r>
              <a:rPr lang="en-US" sz="2400" b="1" dirty="0">
                <a:solidFill>
                  <a:srgbClr val="0000CC"/>
                </a:solidFill>
                <a:effectLst>
                  <a:outerShdw blurRad="38100" dist="38100" dir="2700000" algn="tl">
                    <a:srgbClr val="000000">
                      <a:alpha val="43137"/>
                    </a:srgbClr>
                  </a:outerShdw>
                </a:effectLst>
              </a:rPr>
              <a:t>the length or size of the array</a:t>
            </a:r>
            <a:r>
              <a:rPr lang="en-US" sz="2400" dirty="0"/>
              <a:t>.</a:t>
            </a:r>
          </a:p>
          <a:p>
            <a:pPr marL="342900" indent="-342900" algn="just">
              <a:lnSpc>
                <a:spcPct val="150000"/>
              </a:lnSpc>
              <a:buFont typeface="Arial" panose="020B0604020202020204" pitchFamily="34" charset="0"/>
              <a:buChar char="•"/>
            </a:pPr>
            <a:r>
              <a:rPr lang="en-US" sz="2400" dirty="0"/>
              <a:t>In general, the length or the number of data elements of the array can be obtained from the index set by the formula. </a:t>
            </a:r>
          </a:p>
          <a:p>
            <a:pPr algn="just">
              <a:lnSpc>
                <a:spcPct val="150000"/>
              </a:lnSpc>
            </a:pPr>
            <a:endParaRPr lang="en-US" sz="1200" dirty="0"/>
          </a:p>
          <a:p>
            <a:pPr>
              <a:lnSpc>
                <a:spcPct val="150000"/>
              </a:lnSpc>
            </a:pPr>
            <a:r>
              <a:rPr lang="en-US" sz="2400" dirty="0"/>
              <a:t>			</a:t>
            </a:r>
            <a:r>
              <a:rPr lang="en-US" sz="2400" b="1" dirty="0">
                <a:solidFill>
                  <a:srgbClr val="0000CC"/>
                </a:solidFill>
                <a:effectLst>
                  <a:outerShdw blurRad="38100" dist="38100" dir="2700000" algn="tl">
                    <a:srgbClr val="000000">
                      <a:alpha val="43137"/>
                    </a:srgbClr>
                  </a:outerShdw>
                </a:effectLst>
              </a:rPr>
              <a:t>Length = UB -  LB +  1</a:t>
            </a:r>
          </a:p>
          <a:p>
            <a:pPr algn="just">
              <a:lnSpc>
                <a:spcPct val="150000"/>
              </a:lnSpc>
            </a:pPr>
            <a:r>
              <a:rPr lang="en-US" sz="2400" dirty="0"/>
              <a:t>where UB is the largest index, called the upper bound, and LB is the smallest index, called the lower bound of the array.</a:t>
            </a:r>
          </a:p>
          <a:p>
            <a:pPr algn="just">
              <a:lnSpc>
                <a:spcPct val="150000"/>
              </a:lnSpc>
            </a:pPr>
            <a:endParaRPr lang="en-US" sz="2400" dirty="0"/>
          </a:p>
          <a:p>
            <a:pPr algn="ctr">
              <a:lnSpc>
                <a:spcPct val="150000"/>
              </a:lnSpc>
            </a:pPr>
            <a:r>
              <a:rPr lang="en-US" sz="2400" i="1" dirty="0">
                <a:solidFill>
                  <a:srgbClr val="0000CC"/>
                </a:solidFill>
              </a:rPr>
              <a:t>Note that, </a:t>
            </a:r>
            <a:r>
              <a:rPr lang="en-US" sz="2400" dirty="0">
                <a:solidFill>
                  <a:srgbClr val="FF0000"/>
                </a:solidFill>
              </a:rPr>
              <a:t>Length = UB when LB = 1.</a:t>
            </a:r>
          </a:p>
        </p:txBody>
      </p:sp>
      <p:sp>
        <p:nvSpPr>
          <p:cNvPr id="6" name="Slide Number Placeholder 5"/>
          <p:cNvSpPr>
            <a:spLocks noGrp="1"/>
          </p:cNvSpPr>
          <p:nvPr>
            <p:ph type="sldNum" sz="quarter" idx="12"/>
          </p:nvPr>
        </p:nvSpPr>
        <p:spPr/>
        <p:txBody>
          <a:bodyPr/>
          <a:lstStyle/>
          <a:p>
            <a:fld id="{1FBC1585-C671-4F90-AA0D-FD45AA239D02}" type="slidenum">
              <a:rPr lang="en-US" smtClean="0"/>
              <a:t>6</a:t>
            </a:fld>
            <a:endParaRPr lang="en-US"/>
          </a:p>
        </p:txBody>
      </p:sp>
    </p:spTree>
    <p:extLst>
      <p:ext uri="{BB962C8B-B14F-4D97-AF65-F5344CB8AC3E}">
        <p14:creationId xmlns:p14="http://schemas.microsoft.com/office/powerpoint/2010/main" val="1041586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 calcmode="lin" valueType="num">
                                      <p:cBhvr additive="base">
                                        <p:cTn id="17" dur="500" fill="hold"/>
                                        <p:tgtEl>
                                          <p:spTgt spid="7">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 calcmode="lin" valueType="num">
                                      <p:cBhvr additive="base">
                                        <p:cTn id="27" dur="500" fill="hold"/>
                                        <p:tgtEl>
                                          <p:spTgt spid="7">
                                            <p:txEl>
                                              <p:pRg st="6" end="6"/>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680972" y="-526365"/>
            <a:ext cx="5656331" cy="8382623"/>
          </a:xfrm>
          <a:prstGeom prst="rect">
            <a:avLst/>
          </a:prstGeom>
          <a:ln>
            <a:solidFill>
              <a:schemeClr val="accent1"/>
            </a:solidFill>
          </a:ln>
        </p:spPr>
      </p:pic>
      <p:sp>
        <p:nvSpPr>
          <p:cNvPr id="7" name="TextBox 6"/>
          <p:cNvSpPr txBox="1"/>
          <p:nvPr/>
        </p:nvSpPr>
        <p:spPr>
          <a:xfrm>
            <a:off x="1071563" y="46239"/>
            <a:ext cx="7171686"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Linear Arrays: Example</a:t>
            </a:r>
          </a:p>
        </p:txBody>
      </p:sp>
      <p:sp>
        <p:nvSpPr>
          <p:cNvPr id="5" name="Slide Number Placeholder 4"/>
          <p:cNvSpPr>
            <a:spLocks noGrp="1"/>
          </p:cNvSpPr>
          <p:nvPr>
            <p:ph type="sldNum" sz="quarter" idx="12"/>
          </p:nvPr>
        </p:nvSpPr>
        <p:spPr/>
        <p:txBody>
          <a:bodyPr/>
          <a:lstStyle/>
          <a:p>
            <a:fld id="{1FBC1585-C671-4F90-AA0D-FD45AA239D02}" type="slidenum">
              <a:rPr lang="en-US" smtClean="0"/>
              <a:t>7</a:t>
            </a:fld>
            <a:endParaRPr lang="en-US"/>
          </a:p>
        </p:txBody>
      </p:sp>
    </p:spTree>
    <p:extLst>
      <p:ext uri="{BB962C8B-B14F-4D97-AF65-F5344CB8AC3E}">
        <p14:creationId xmlns:p14="http://schemas.microsoft.com/office/powerpoint/2010/main" val="355173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00150" y="46239"/>
            <a:ext cx="7043099"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Linear Arrays: </a:t>
            </a:r>
            <a:r>
              <a:rPr lang="en-US" sz="3600" b="1" dirty="0">
                <a:solidFill>
                  <a:srgbClr val="0000CC"/>
                </a:solidFill>
                <a:effectLst>
                  <a:outerShdw blurRad="38100" dist="38100" dir="2700000" algn="tl">
                    <a:srgbClr val="000000">
                      <a:alpha val="43137"/>
                    </a:srgbClr>
                  </a:outerShdw>
                </a:effectLst>
              </a:rPr>
              <a:t>Indexing</a:t>
            </a:r>
            <a:r>
              <a:rPr lang="en-US" sz="3600" b="1" dirty="0">
                <a:solidFill>
                  <a:srgbClr val="FF0000"/>
                </a:solidFill>
                <a:effectLst>
                  <a:outerShdw blurRad="38100" dist="38100" dir="2700000" algn="tl">
                    <a:srgbClr val="000000">
                      <a:alpha val="43137"/>
                    </a:srgbClr>
                  </a:outerShdw>
                </a:effectLst>
              </a:rPr>
              <a:t> Example</a:t>
            </a:r>
          </a:p>
        </p:txBody>
      </p:sp>
      <p:sp>
        <p:nvSpPr>
          <p:cNvPr id="6" name="TextBox 5"/>
          <p:cNvSpPr txBox="1"/>
          <p:nvPr/>
        </p:nvSpPr>
        <p:spPr>
          <a:xfrm>
            <a:off x="0" y="575340"/>
            <a:ext cx="9007524" cy="6370975"/>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An automobile company uses an array AUTO to record the number of automobiles sold each year from 1930 through 1984. </a:t>
            </a:r>
          </a:p>
          <a:p>
            <a:pPr algn="just"/>
            <a:endParaRPr lang="en-US" sz="2400" dirty="0"/>
          </a:p>
          <a:p>
            <a:pPr marL="342900" indent="-342900" algn="just">
              <a:buFont typeface="Arial" panose="020B0604020202020204" pitchFamily="34" charset="0"/>
              <a:buChar char="•"/>
            </a:pPr>
            <a:r>
              <a:rPr lang="en-US" sz="2400" dirty="0"/>
              <a:t>Rather than beginning the index set with 1, it is more useful to begin the index set with 1930 so that</a:t>
            </a:r>
          </a:p>
          <a:p>
            <a:pPr algn="ctr"/>
            <a:r>
              <a:rPr lang="en-US" sz="2400" dirty="0"/>
              <a:t>AUTO[K]=Number of automobiles sold in the year K,</a:t>
            </a:r>
          </a:p>
          <a:p>
            <a:pPr algn="ctr"/>
            <a:endParaRPr lang="en-US" sz="2400" dirty="0"/>
          </a:p>
          <a:p>
            <a:pPr algn="ctr"/>
            <a:r>
              <a:rPr lang="en-US" sz="2400" dirty="0"/>
              <a:t>Then, LB=1930 and UB=1984 of AUTO</a:t>
            </a:r>
          </a:p>
          <a:p>
            <a:pPr algn="ctr"/>
            <a:endParaRPr lang="en-US" sz="1600" dirty="0"/>
          </a:p>
          <a:p>
            <a:pPr algn="ctr"/>
            <a:r>
              <a:rPr lang="en-US" sz="2400" dirty="0"/>
              <a:t>Length=UB-LB+1</a:t>
            </a:r>
          </a:p>
          <a:p>
            <a:pPr algn="ctr"/>
            <a:r>
              <a:rPr lang="en-US" sz="2400" dirty="0"/>
              <a:t>=1984-1930+1=55</a:t>
            </a:r>
          </a:p>
          <a:p>
            <a:pPr marL="342900" indent="-342900" algn="just">
              <a:buFont typeface="Arial" panose="020B0604020202020204" pitchFamily="34" charset="0"/>
              <a:buChar char="•"/>
            </a:pPr>
            <a:r>
              <a:rPr lang="en-US" sz="2400" dirty="0"/>
              <a:t>On implementation, each programming language has its own rules for declaring arrays. Each such declaration must give, implicitly , THREE items of information,</a:t>
            </a:r>
          </a:p>
          <a:p>
            <a:pPr marL="1714500" lvl="3" indent="-342900" algn="just">
              <a:buFont typeface="Arial" charset="0"/>
              <a:buChar char="•"/>
            </a:pPr>
            <a:r>
              <a:rPr lang="en-US" sz="2400" dirty="0"/>
              <a:t>The </a:t>
            </a:r>
            <a:r>
              <a:rPr lang="en-US" sz="2400" b="1" dirty="0">
                <a:solidFill>
                  <a:srgbClr val="0000CC"/>
                </a:solidFill>
              </a:rPr>
              <a:t>NAME</a:t>
            </a:r>
            <a:r>
              <a:rPr lang="en-US" sz="2400" dirty="0"/>
              <a:t> of the array,</a:t>
            </a:r>
          </a:p>
          <a:p>
            <a:pPr marL="1714500" lvl="3" indent="-342900" algn="just">
              <a:buFont typeface="Arial" charset="0"/>
              <a:buChar char="•"/>
            </a:pPr>
            <a:r>
              <a:rPr lang="en-US" sz="2400" dirty="0"/>
              <a:t>The </a:t>
            </a:r>
            <a:r>
              <a:rPr lang="en-US" sz="2400" b="1" dirty="0">
                <a:solidFill>
                  <a:srgbClr val="00B050"/>
                </a:solidFill>
              </a:rPr>
              <a:t>DATA TYPES</a:t>
            </a:r>
            <a:r>
              <a:rPr lang="en-US" sz="2400" dirty="0"/>
              <a:t> of the array</a:t>
            </a:r>
          </a:p>
          <a:p>
            <a:pPr marL="1714500" lvl="3" indent="-342900" algn="just">
              <a:buFont typeface="Arial" charset="0"/>
              <a:buChar char="•"/>
            </a:pPr>
            <a:r>
              <a:rPr lang="en-US" sz="2400" dirty="0"/>
              <a:t>The </a:t>
            </a:r>
            <a:r>
              <a:rPr lang="en-US" sz="2400" b="1" dirty="0">
                <a:solidFill>
                  <a:srgbClr val="00B0F0"/>
                </a:solidFill>
              </a:rPr>
              <a:t>INDEX SET</a:t>
            </a:r>
            <a:r>
              <a:rPr lang="en-US" sz="2400" dirty="0"/>
              <a:t> of the array</a:t>
            </a:r>
          </a:p>
        </p:txBody>
      </p:sp>
      <p:sp>
        <p:nvSpPr>
          <p:cNvPr id="7" name="Slide Number Placeholder 6"/>
          <p:cNvSpPr>
            <a:spLocks noGrp="1"/>
          </p:cNvSpPr>
          <p:nvPr>
            <p:ph type="sldNum" sz="quarter" idx="12"/>
          </p:nvPr>
        </p:nvSpPr>
        <p:spPr/>
        <p:txBody>
          <a:bodyPr/>
          <a:lstStyle/>
          <a:p>
            <a:fld id="{1FBC1585-C671-4F90-AA0D-FD45AA239D02}" type="slidenum">
              <a:rPr lang="en-US" smtClean="0"/>
              <a:t>8</a:t>
            </a:fld>
            <a:endParaRPr lang="en-US"/>
          </a:p>
        </p:txBody>
      </p:sp>
    </p:spTree>
    <p:extLst>
      <p:ext uri="{BB962C8B-B14F-4D97-AF65-F5344CB8AC3E}">
        <p14:creationId xmlns:p14="http://schemas.microsoft.com/office/powerpoint/2010/main" val="71388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 calcmode="lin" valueType="num">
                                      <p:cBhvr additive="base">
                                        <p:cTn id="17"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anim calcmode="lin" valueType="num">
                                      <p:cBhvr additive="base">
                                        <p:cTn id="23" dur="500" fill="hold"/>
                                        <p:tgtEl>
                                          <p:spTgt spid="6">
                                            <p:txEl>
                                              <p:pRg st="5" end="5"/>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
                                            <p:txEl>
                                              <p:pRg st="5" end="5"/>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 calcmode="lin" valueType="num">
                                      <p:cBhvr additive="base">
                                        <p:cTn id="27" dur="500" fill="hold"/>
                                        <p:tgtEl>
                                          <p:spTgt spid="6">
                                            <p:txEl>
                                              <p:pRg st="7" end="7"/>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
                                            <p:txEl>
                                              <p:pRg st="7" end="7"/>
                                            </p:txEl>
                                          </p:spTgt>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anim calcmode="lin" valueType="num">
                                      <p:cBhvr additive="base">
                                        <p:cTn id="31" dur="500" fill="hold"/>
                                        <p:tgtEl>
                                          <p:spTgt spid="6">
                                            <p:txEl>
                                              <p:pRg st="8" end="8"/>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
                                            <p:txEl>
                                              <p:pRg st="9" end="9"/>
                                            </p:txEl>
                                          </p:spTgt>
                                        </p:tgtEl>
                                        <p:attrNameLst>
                                          <p:attrName>style.visibility</p:attrName>
                                        </p:attrNameLst>
                                      </p:cBhvr>
                                      <p:to>
                                        <p:strVal val="visible"/>
                                      </p:to>
                                    </p:set>
                                    <p:anim calcmode="lin" valueType="num">
                                      <p:cBhvr additive="base">
                                        <p:cTn id="37" dur="500" fill="hold"/>
                                        <p:tgtEl>
                                          <p:spTgt spid="6">
                                            <p:txEl>
                                              <p:pRg st="9" end="9"/>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
                                            <p:txEl>
                                              <p:pRg st="9" end="9"/>
                                            </p:txEl>
                                          </p:spTgt>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6">
                                            <p:txEl>
                                              <p:pRg st="10" end="10"/>
                                            </p:txEl>
                                          </p:spTgt>
                                        </p:tgtEl>
                                        <p:attrNameLst>
                                          <p:attrName>style.visibility</p:attrName>
                                        </p:attrNameLst>
                                      </p:cBhvr>
                                      <p:to>
                                        <p:strVal val="visible"/>
                                      </p:to>
                                    </p:set>
                                    <p:anim calcmode="lin" valueType="num">
                                      <p:cBhvr additive="base">
                                        <p:cTn id="41" dur="500" fill="hold"/>
                                        <p:tgtEl>
                                          <p:spTgt spid="6">
                                            <p:txEl>
                                              <p:pRg st="10" end="10"/>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6">
                                            <p:txEl>
                                              <p:pRg st="10" end="10"/>
                                            </p:txEl>
                                          </p:spTgt>
                                        </p:tgtEl>
                                        <p:attrNameLst>
                                          <p:attrName>ppt_y</p:attrName>
                                        </p:attrNameLst>
                                      </p:cBhvr>
                                      <p:tavLst>
                                        <p:tav tm="0">
                                          <p:val>
                                            <p:strVal val="#ppt_y"/>
                                          </p:val>
                                        </p:tav>
                                        <p:tav tm="100000">
                                          <p:val>
                                            <p:strVal val="#ppt_y"/>
                                          </p:val>
                                        </p:tav>
                                      </p:tavLst>
                                    </p:anim>
                                  </p:childTnLst>
                                </p:cTn>
                              </p:par>
                              <p:par>
                                <p:cTn id="43" presetID="2" presetClass="entr" presetSubtype="8" fill="hold" nodeType="withEffect">
                                  <p:stCondLst>
                                    <p:cond delay="0"/>
                                  </p:stCondLst>
                                  <p:childTnLst>
                                    <p:set>
                                      <p:cBhvr>
                                        <p:cTn id="44" dur="1" fill="hold">
                                          <p:stCondLst>
                                            <p:cond delay="0"/>
                                          </p:stCondLst>
                                        </p:cTn>
                                        <p:tgtEl>
                                          <p:spTgt spid="6">
                                            <p:txEl>
                                              <p:pRg st="11" end="11"/>
                                            </p:txEl>
                                          </p:spTgt>
                                        </p:tgtEl>
                                        <p:attrNameLst>
                                          <p:attrName>style.visibility</p:attrName>
                                        </p:attrNameLst>
                                      </p:cBhvr>
                                      <p:to>
                                        <p:strVal val="visible"/>
                                      </p:to>
                                    </p:set>
                                    <p:anim calcmode="lin" valueType="num">
                                      <p:cBhvr additive="base">
                                        <p:cTn id="45" dur="500" fill="hold"/>
                                        <p:tgtEl>
                                          <p:spTgt spid="6">
                                            <p:txEl>
                                              <p:pRg st="11" end="11"/>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6">
                                            <p:txEl>
                                              <p:pRg st="11" end="11"/>
                                            </p:txEl>
                                          </p:spTgt>
                                        </p:tgtEl>
                                        <p:attrNameLst>
                                          <p:attrName>ppt_y</p:attrName>
                                        </p:attrNameLst>
                                      </p:cBhvr>
                                      <p:tavLst>
                                        <p:tav tm="0">
                                          <p:val>
                                            <p:strVal val="#ppt_y"/>
                                          </p:val>
                                        </p:tav>
                                        <p:tav tm="100000">
                                          <p:val>
                                            <p:strVal val="#ppt_y"/>
                                          </p:val>
                                        </p:tav>
                                      </p:tavLst>
                                    </p:anim>
                                  </p:childTnLst>
                                </p:cTn>
                              </p:par>
                              <p:par>
                                <p:cTn id="47" presetID="2" presetClass="entr" presetSubtype="8" fill="hold" nodeType="withEffect">
                                  <p:stCondLst>
                                    <p:cond delay="0"/>
                                  </p:stCondLst>
                                  <p:childTnLst>
                                    <p:set>
                                      <p:cBhvr>
                                        <p:cTn id="48" dur="1" fill="hold">
                                          <p:stCondLst>
                                            <p:cond delay="0"/>
                                          </p:stCondLst>
                                        </p:cTn>
                                        <p:tgtEl>
                                          <p:spTgt spid="6">
                                            <p:txEl>
                                              <p:pRg st="12" end="12"/>
                                            </p:txEl>
                                          </p:spTgt>
                                        </p:tgtEl>
                                        <p:attrNameLst>
                                          <p:attrName>style.visibility</p:attrName>
                                        </p:attrNameLst>
                                      </p:cBhvr>
                                      <p:to>
                                        <p:strVal val="visible"/>
                                      </p:to>
                                    </p:set>
                                    <p:anim calcmode="lin" valueType="num">
                                      <p:cBhvr additive="base">
                                        <p:cTn id="49" dur="500" fill="hold"/>
                                        <p:tgtEl>
                                          <p:spTgt spid="6">
                                            <p:txEl>
                                              <p:pRg st="12" end="12"/>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6">
                                            <p:txEl>
                                              <p:pRg st="12" end="1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71550" y="46239"/>
            <a:ext cx="7271699"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Representation of LA in Memory</a:t>
            </a:r>
          </a:p>
        </p:txBody>
      </p:sp>
      <p:sp>
        <p:nvSpPr>
          <p:cNvPr id="6" name="TextBox 5"/>
          <p:cNvSpPr txBox="1"/>
          <p:nvPr/>
        </p:nvSpPr>
        <p:spPr>
          <a:xfrm>
            <a:off x="82062" y="692570"/>
            <a:ext cx="8925462" cy="5693866"/>
          </a:xfrm>
          <a:prstGeom prst="rect">
            <a:avLst/>
          </a:prstGeom>
          <a:noFill/>
        </p:spPr>
        <p:txBody>
          <a:bodyPr wrap="square" rtlCol="0">
            <a:spAutoFit/>
          </a:bodyPr>
          <a:lstStyle/>
          <a:p>
            <a:pPr marL="342900" indent="-342900">
              <a:buFont typeface="Wingdings" charset="2"/>
              <a:buChar char="ü"/>
            </a:pPr>
            <a:r>
              <a:rPr lang="en-US" sz="2800" dirty="0"/>
              <a:t>Let LA be a linear array in the memory of the computer.</a:t>
            </a:r>
          </a:p>
          <a:p>
            <a:endParaRPr lang="en-US" sz="2800" dirty="0"/>
          </a:p>
          <a:p>
            <a:r>
              <a:rPr lang="en-US" sz="2800" dirty="0">
                <a:solidFill>
                  <a:srgbClr val="0000CC"/>
                </a:solidFill>
              </a:rPr>
              <a:t>     LOC(LA[K])=address of the element LA[K] of the array LA</a:t>
            </a:r>
          </a:p>
          <a:p>
            <a:endParaRPr lang="en-US" sz="2800" dirty="0">
              <a:solidFill>
                <a:srgbClr val="0000CC"/>
              </a:solidFill>
            </a:endParaRPr>
          </a:p>
          <a:p>
            <a:pPr marL="342900" indent="-342900" algn="just">
              <a:buFont typeface="Wingdings" charset="2"/>
              <a:buChar char="ü"/>
            </a:pPr>
            <a:r>
              <a:rPr lang="en-US" sz="2800" dirty="0"/>
              <a:t>The elements of LA are stored in successive memory cells.</a:t>
            </a:r>
          </a:p>
          <a:p>
            <a:pPr marL="342900" indent="-342900" algn="just">
              <a:buFont typeface="Wingdings" charset="2"/>
              <a:buChar char="ü"/>
            </a:pPr>
            <a:endParaRPr lang="en-US" sz="2800" dirty="0"/>
          </a:p>
          <a:p>
            <a:pPr marL="342900" indent="-342900" algn="just">
              <a:buFont typeface="Wingdings" charset="2"/>
              <a:buChar char="ü"/>
            </a:pPr>
            <a:r>
              <a:rPr lang="en-US" sz="2800" dirty="0"/>
              <a:t>Accordingly, the computer does not need to keep track of the address of every element of LA, But needs to keep track only the address of the first element of LA, denoted by </a:t>
            </a:r>
          </a:p>
          <a:p>
            <a:pPr algn="just"/>
            <a:endParaRPr lang="en-US" sz="2800" dirty="0"/>
          </a:p>
          <a:p>
            <a:pPr algn="ctr"/>
            <a:r>
              <a:rPr lang="en-US" sz="2800" i="1" dirty="0">
                <a:solidFill>
                  <a:srgbClr val="FF0000"/>
                </a:solidFill>
                <a:effectLst>
                  <a:outerShdw blurRad="38100" dist="38100" dir="2700000" algn="tl">
                    <a:srgbClr val="000000">
                      <a:alpha val="43137"/>
                    </a:srgbClr>
                  </a:outerShdw>
                </a:effectLst>
              </a:rPr>
              <a:t>     </a:t>
            </a:r>
            <a:r>
              <a:rPr lang="en-US" sz="2800" b="1" i="1" dirty="0">
                <a:solidFill>
                  <a:srgbClr val="FF0000"/>
                </a:solidFill>
                <a:effectLst>
                  <a:outerShdw blurRad="38100" dist="38100" dir="2700000" algn="tl">
                    <a:srgbClr val="000000">
                      <a:alpha val="43137"/>
                    </a:srgbClr>
                  </a:outerShdw>
                </a:effectLst>
              </a:rPr>
              <a:t>Base(LA)</a:t>
            </a:r>
            <a:r>
              <a:rPr lang="en-US" sz="2800" b="1" i="1" dirty="0">
                <a:effectLst>
                  <a:outerShdw blurRad="38100" dist="38100" dir="2700000" algn="tl">
                    <a:srgbClr val="000000">
                      <a:alpha val="43137"/>
                    </a:srgbClr>
                  </a:outerShdw>
                </a:effectLst>
              </a:rPr>
              <a:t>-</a:t>
            </a:r>
            <a:r>
              <a:rPr lang="en-US" sz="2800" b="1" dirty="0">
                <a:effectLst>
                  <a:outerShdw blurRad="38100" dist="38100" dir="2700000" algn="tl">
                    <a:srgbClr val="000000">
                      <a:alpha val="43137"/>
                    </a:srgbClr>
                  </a:outerShdw>
                </a:effectLst>
              </a:rPr>
              <a:t>called the base address of LA</a:t>
            </a:r>
          </a:p>
          <a:p>
            <a:pPr algn="ctr"/>
            <a:endParaRPr lang="en-US" sz="2800" dirty="0"/>
          </a:p>
        </p:txBody>
      </p:sp>
      <p:sp>
        <p:nvSpPr>
          <p:cNvPr id="7" name="Slide Number Placeholder 6"/>
          <p:cNvSpPr>
            <a:spLocks noGrp="1"/>
          </p:cNvSpPr>
          <p:nvPr>
            <p:ph type="sldNum" sz="quarter" idx="12"/>
          </p:nvPr>
        </p:nvSpPr>
        <p:spPr/>
        <p:txBody>
          <a:bodyPr/>
          <a:lstStyle/>
          <a:p>
            <a:fld id="{1FBC1585-C671-4F90-AA0D-FD45AA239D02}" type="slidenum">
              <a:rPr lang="en-US" smtClean="0"/>
              <a:t>9</a:t>
            </a:fld>
            <a:endParaRPr lang="en-US"/>
          </a:p>
        </p:txBody>
      </p:sp>
    </p:spTree>
    <p:extLst>
      <p:ext uri="{BB962C8B-B14F-4D97-AF65-F5344CB8AC3E}">
        <p14:creationId xmlns:p14="http://schemas.microsoft.com/office/powerpoint/2010/main" val="224260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 calcmode="lin" valueType="num">
                                      <p:cBhvr additive="base">
                                        <p:cTn id="13" dur="500" fill="hold"/>
                                        <p:tgtEl>
                                          <p:spTgt spid="6">
                                            <p:txEl>
                                              <p:pRg st="4" end="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 calcmode="lin" valueType="num">
                                      <p:cBhvr additive="base">
                                        <p:cTn id="19" dur="500" fill="hold"/>
                                        <p:tgtEl>
                                          <p:spTgt spid="6">
                                            <p:txEl>
                                              <p:pRg st="6" end="6"/>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anim calcmode="lin" valueType="num">
                                      <p:cBhvr additive="base">
                                        <p:cTn id="25"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00088" y="46239"/>
            <a:ext cx="7543161"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Representation of LA in Memory</a:t>
            </a:r>
          </a:p>
        </p:txBody>
      </p:sp>
      <p:sp>
        <p:nvSpPr>
          <p:cNvPr id="6" name="TextBox 5"/>
          <p:cNvSpPr txBox="1"/>
          <p:nvPr/>
        </p:nvSpPr>
        <p:spPr>
          <a:xfrm>
            <a:off x="82062" y="692570"/>
            <a:ext cx="8925462" cy="5262979"/>
          </a:xfrm>
          <a:prstGeom prst="rect">
            <a:avLst/>
          </a:prstGeom>
          <a:noFill/>
        </p:spPr>
        <p:txBody>
          <a:bodyPr wrap="square" rtlCol="0">
            <a:spAutoFit/>
          </a:bodyPr>
          <a:lstStyle/>
          <a:p>
            <a:pPr marL="342900" indent="-342900" algn="just">
              <a:buFont typeface="Wingdings" charset="2"/>
              <a:buChar char="ü"/>
            </a:pPr>
            <a:r>
              <a:rPr lang="en-US" sz="2800" dirty="0"/>
              <a:t>Using the base address of LA, the computer calculates the address of any element of LA by the following formula:</a:t>
            </a:r>
          </a:p>
          <a:p>
            <a:pPr algn="ctr"/>
            <a:r>
              <a:rPr lang="en-US" sz="2800" dirty="0"/>
              <a:t>	</a:t>
            </a:r>
          </a:p>
          <a:p>
            <a:pPr algn="ctr"/>
            <a:r>
              <a:rPr lang="en-US" sz="2800" b="1" dirty="0">
                <a:solidFill>
                  <a:srgbClr val="0000CC"/>
                </a:solidFill>
                <a:effectLst>
                  <a:outerShdw blurRad="38100" dist="38100" dir="2700000" algn="tl">
                    <a:srgbClr val="000000">
                      <a:alpha val="43137"/>
                    </a:srgbClr>
                  </a:outerShdw>
                </a:effectLst>
              </a:rPr>
              <a:t>LOC(LA[K])=</a:t>
            </a:r>
            <a:r>
              <a:rPr lang="en-US" sz="2800" b="1" i="1" dirty="0">
                <a:solidFill>
                  <a:srgbClr val="0000CC"/>
                </a:solidFill>
                <a:effectLst>
                  <a:outerShdw blurRad="38100" dist="38100" dir="2700000" algn="tl">
                    <a:srgbClr val="000000">
                      <a:alpha val="43137"/>
                    </a:srgbClr>
                  </a:outerShdw>
                </a:effectLst>
              </a:rPr>
              <a:t>Base</a:t>
            </a:r>
            <a:r>
              <a:rPr lang="en-US" sz="2800" b="1" dirty="0">
                <a:solidFill>
                  <a:srgbClr val="0000CC"/>
                </a:solidFill>
                <a:effectLst>
                  <a:outerShdw blurRad="38100" dist="38100" dir="2700000" algn="tl">
                    <a:srgbClr val="000000">
                      <a:alpha val="43137"/>
                    </a:srgbClr>
                  </a:outerShdw>
                </a:effectLst>
              </a:rPr>
              <a:t>(LA)+w(K-lower bound)</a:t>
            </a:r>
          </a:p>
          <a:p>
            <a:pPr algn="ctr"/>
            <a:endParaRPr lang="en-US" sz="2800" dirty="0">
              <a:solidFill>
                <a:srgbClr val="FF0000"/>
              </a:solidFill>
            </a:endParaRPr>
          </a:p>
          <a:p>
            <a:pPr algn="just"/>
            <a:r>
              <a:rPr lang="en-US" sz="2800" b="1" dirty="0">
                <a:solidFill>
                  <a:srgbClr val="FF0000"/>
                </a:solidFill>
              </a:rPr>
              <a:t>w</a:t>
            </a:r>
            <a:r>
              <a:rPr lang="en-US" sz="2800" dirty="0"/>
              <a:t>-is the number of words per memory cell for the array LA.</a:t>
            </a:r>
          </a:p>
          <a:p>
            <a:pPr marL="457200" indent="-457200" algn="just">
              <a:buFont typeface="Wingdings" panose="05000000000000000000" pitchFamily="2" charset="2"/>
              <a:buChar char="ü"/>
            </a:pPr>
            <a:endParaRPr lang="en-US" sz="2800" dirty="0"/>
          </a:p>
          <a:p>
            <a:pPr marL="457200" indent="-457200" algn="just">
              <a:buFont typeface="Wingdings" panose="05000000000000000000" pitchFamily="2" charset="2"/>
              <a:buChar char="ü"/>
            </a:pPr>
            <a:r>
              <a:rPr lang="en-US" sz="2800" dirty="0"/>
              <a:t>The time to calculate LOC (LA[K]) is essentially the same for any value of K.</a:t>
            </a:r>
          </a:p>
          <a:p>
            <a:pPr marL="457200" indent="-457200" algn="just">
              <a:buFont typeface="Wingdings" panose="05000000000000000000" pitchFamily="2" charset="2"/>
              <a:buChar char="ü"/>
            </a:pPr>
            <a:r>
              <a:rPr lang="en-US" sz="2800" dirty="0"/>
              <a:t>Given any subscript K, one can locate and access the content of LA[K] without scanning any other element of LA.</a:t>
            </a:r>
          </a:p>
        </p:txBody>
      </p:sp>
      <p:sp>
        <p:nvSpPr>
          <p:cNvPr id="7" name="Slide Number Placeholder 6"/>
          <p:cNvSpPr>
            <a:spLocks noGrp="1"/>
          </p:cNvSpPr>
          <p:nvPr>
            <p:ph type="sldNum" sz="quarter" idx="12"/>
          </p:nvPr>
        </p:nvSpPr>
        <p:spPr/>
        <p:txBody>
          <a:bodyPr/>
          <a:lstStyle/>
          <a:p>
            <a:fld id="{1FBC1585-C671-4F90-AA0D-FD45AA239D02}" type="slidenum">
              <a:rPr lang="en-US" smtClean="0"/>
              <a:t>10</a:t>
            </a:fld>
            <a:endParaRPr lang="en-US"/>
          </a:p>
        </p:txBody>
      </p:sp>
    </p:spTree>
    <p:extLst>
      <p:ext uri="{BB962C8B-B14F-4D97-AF65-F5344CB8AC3E}">
        <p14:creationId xmlns:p14="http://schemas.microsoft.com/office/powerpoint/2010/main" val="49814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anim calcmode="lin" valueType="num">
                                      <p:cBhvr additive="base">
                                        <p:cTn id="7" dur="500" fill="hold"/>
                                        <p:tgtEl>
                                          <p:spTgt spid="6">
                                            <p:txEl>
                                              <p:pRg st="6" end="6"/>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anim calcmode="lin" valueType="num">
                                      <p:cBhvr additive="base">
                                        <p:cTn id="13" dur="500" fill="hold"/>
                                        <p:tgtEl>
                                          <p:spTgt spid="6">
                                            <p:txEl>
                                              <p:pRg st="7" end="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2562" y="46239"/>
            <a:ext cx="8721438"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Example: Representation of LA in Memory</a:t>
            </a:r>
          </a:p>
        </p:txBody>
      </p:sp>
      <p:sp>
        <p:nvSpPr>
          <p:cNvPr id="7" name="TextBox 6"/>
          <p:cNvSpPr txBox="1"/>
          <p:nvPr/>
        </p:nvSpPr>
        <p:spPr>
          <a:xfrm>
            <a:off x="0" y="692570"/>
            <a:ext cx="9007524" cy="1384995"/>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Consider the array AUTO which records the number of automobiles sold each year from 1932 through 1984.</a:t>
            </a:r>
          </a:p>
          <a:p>
            <a:pPr marL="457200" indent="-457200" algn="just">
              <a:buFont typeface="Arial" panose="020B0604020202020204" pitchFamily="34" charset="0"/>
              <a:buChar char="•"/>
            </a:pPr>
            <a:r>
              <a:rPr lang="en-US" sz="2800" dirty="0"/>
              <a:t>Suppose AUTO appears in memory as pictured below</a:t>
            </a:r>
          </a:p>
        </p:txBody>
      </p:sp>
      <p:pic>
        <p:nvPicPr>
          <p:cNvPr id="8" name="Picture 7"/>
          <p:cNvPicPr>
            <a:picLocks noChangeAspect="1"/>
          </p:cNvPicPr>
          <p:nvPr/>
        </p:nvPicPr>
        <p:blipFill>
          <a:blip r:embed="rId2"/>
          <a:stretch>
            <a:fillRect/>
          </a:stretch>
        </p:blipFill>
        <p:spPr>
          <a:xfrm>
            <a:off x="212658" y="2077565"/>
            <a:ext cx="2406553" cy="4693862"/>
          </a:xfrm>
          <a:prstGeom prst="rect">
            <a:avLst/>
          </a:prstGeom>
        </p:spPr>
      </p:pic>
      <p:sp>
        <p:nvSpPr>
          <p:cNvPr id="9" name="TextBox 8"/>
          <p:cNvSpPr txBox="1"/>
          <p:nvPr/>
        </p:nvSpPr>
        <p:spPr>
          <a:xfrm>
            <a:off x="2944678" y="2107770"/>
            <a:ext cx="6199322"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Here, Base (AUTO)=200, and </a:t>
            </a:r>
          </a:p>
          <a:p>
            <a:pPr marL="285750" indent="-285750">
              <a:buFont typeface="Arial" panose="020B0604020202020204" pitchFamily="34" charset="0"/>
              <a:buChar char="•"/>
            </a:pPr>
            <a:r>
              <a:rPr lang="en-US" sz="2800" dirty="0"/>
              <a:t>w=4 words per memory cell for AUTO.</a:t>
            </a:r>
          </a:p>
        </p:txBody>
      </p:sp>
      <p:sp>
        <p:nvSpPr>
          <p:cNvPr id="10" name="TextBox 9"/>
          <p:cNvSpPr txBox="1"/>
          <p:nvPr/>
        </p:nvSpPr>
        <p:spPr>
          <a:xfrm>
            <a:off x="2968966" y="3008761"/>
            <a:ext cx="3385337" cy="523220"/>
          </a:xfrm>
          <a:prstGeom prst="rect">
            <a:avLst/>
          </a:prstGeom>
          <a:noFill/>
        </p:spPr>
        <p:txBody>
          <a:bodyPr wrap="square" rtlCol="0">
            <a:spAutoFit/>
          </a:bodyPr>
          <a:lstStyle/>
          <a:p>
            <a:r>
              <a:rPr lang="en-US" sz="2800" dirty="0"/>
              <a:t>LOC (AUTO[1932])= ?</a:t>
            </a:r>
          </a:p>
        </p:txBody>
      </p:sp>
      <p:sp>
        <p:nvSpPr>
          <p:cNvPr id="11" name="Rectangle 10"/>
          <p:cNvSpPr/>
          <p:nvPr/>
        </p:nvSpPr>
        <p:spPr>
          <a:xfrm>
            <a:off x="5785186" y="3008761"/>
            <a:ext cx="732893" cy="523220"/>
          </a:xfrm>
          <a:prstGeom prst="rect">
            <a:avLst/>
          </a:prstGeom>
          <a:solidFill>
            <a:schemeClr val="bg1"/>
          </a:solidFill>
        </p:spPr>
        <p:txBody>
          <a:bodyPr wrap="none">
            <a:spAutoFit/>
          </a:bodyPr>
          <a:lstStyle/>
          <a:p>
            <a:r>
              <a:rPr lang="en-US" sz="2800" dirty="0"/>
              <a:t>200</a:t>
            </a:r>
          </a:p>
        </p:txBody>
      </p:sp>
      <p:sp>
        <p:nvSpPr>
          <p:cNvPr id="12" name="TextBox 11"/>
          <p:cNvSpPr txBox="1"/>
          <p:nvPr/>
        </p:nvSpPr>
        <p:spPr>
          <a:xfrm>
            <a:off x="2981884" y="3641608"/>
            <a:ext cx="3385337" cy="523220"/>
          </a:xfrm>
          <a:prstGeom prst="rect">
            <a:avLst/>
          </a:prstGeom>
          <a:noFill/>
        </p:spPr>
        <p:txBody>
          <a:bodyPr wrap="square" rtlCol="0">
            <a:spAutoFit/>
          </a:bodyPr>
          <a:lstStyle/>
          <a:p>
            <a:r>
              <a:rPr lang="en-US" sz="2800" dirty="0"/>
              <a:t>LOC (AUTO[1933])= ?</a:t>
            </a:r>
          </a:p>
        </p:txBody>
      </p:sp>
      <p:sp>
        <p:nvSpPr>
          <p:cNvPr id="13" name="Rectangle 12"/>
          <p:cNvSpPr/>
          <p:nvPr/>
        </p:nvSpPr>
        <p:spPr>
          <a:xfrm>
            <a:off x="5798104" y="3641608"/>
            <a:ext cx="732893" cy="523220"/>
          </a:xfrm>
          <a:prstGeom prst="rect">
            <a:avLst/>
          </a:prstGeom>
          <a:solidFill>
            <a:schemeClr val="bg1"/>
          </a:solidFill>
        </p:spPr>
        <p:txBody>
          <a:bodyPr wrap="none">
            <a:spAutoFit/>
          </a:bodyPr>
          <a:lstStyle/>
          <a:p>
            <a:r>
              <a:rPr lang="en-US" sz="2800" dirty="0"/>
              <a:t>204</a:t>
            </a:r>
          </a:p>
        </p:txBody>
      </p:sp>
      <p:sp>
        <p:nvSpPr>
          <p:cNvPr id="14" name="TextBox 13"/>
          <p:cNvSpPr txBox="1"/>
          <p:nvPr/>
        </p:nvSpPr>
        <p:spPr>
          <a:xfrm>
            <a:off x="2997382" y="4246046"/>
            <a:ext cx="3385337" cy="523220"/>
          </a:xfrm>
          <a:prstGeom prst="rect">
            <a:avLst/>
          </a:prstGeom>
          <a:noFill/>
        </p:spPr>
        <p:txBody>
          <a:bodyPr wrap="square" rtlCol="0">
            <a:spAutoFit/>
          </a:bodyPr>
          <a:lstStyle/>
          <a:p>
            <a:r>
              <a:rPr lang="en-US" sz="2800" dirty="0"/>
              <a:t>LOC (AUTO[1934])= ?</a:t>
            </a:r>
          </a:p>
        </p:txBody>
      </p:sp>
      <p:sp>
        <p:nvSpPr>
          <p:cNvPr id="15" name="Rectangle 14"/>
          <p:cNvSpPr/>
          <p:nvPr/>
        </p:nvSpPr>
        <p:spPr>
          <a:xfrm>
            <a:off x="5813602" y="4246046"/>
            <a:ext cx="732893" cy="523220"/>
          </a:xfrm>
          <a:prstGeom prst="rect">
            <a:avLst/>
          </a:prstGeom>
          <a:solidFill>
            <a:schemeClr val="bg1"/>
          </a:solidFill>
        </p:spPr>
        <p:txBody>
          <a:bodyPr wrap="none">
            <a:spAutoFit/>
          </a:bodyPr>
          <a:lstStyle/>
          <a:p>
            <a:r>
              <a:rPr lang="en-US" sz="2800" dirty="0"/>
              <a:t>208</a:t>
            </a:r>
          </a:p>
        </p:txBody>
      </p:sp>
      <p:sp>
        <p:nvSpPr>
          <p:cNvPr id="16" name="TextBox 15"/>
          <p:cNvSpPr txBox="1"/>
          <p:nvPr/>
        </p:nvSpPr>
        <p:spPr>
          <a:xfrm>
            <a:off x="2831869" y="4862258"/>
            <a:ext cx="6312131" cy="1569660"/>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Address of the array element for the year K=1965 can be obtained:</a:t>
            </a:r>
          </a:p>
          <a:p>
            <a:pPr algn="just"/>
            <a:r>
              <a:rPr lang="en-US" sz="2400" dirty="0"/>
              <a:t>LOC(AUTO[1965])=</a:t>
            </a:r>
            <a:r>
              <a:rPr lang="en-US" sz="2000" b="1" dirty="0"/>
              <a:t>Base(AUTO)+w(1965-lower bound)</a:t>
            </a:r>
            <a:endParaRPr lang="en-US" sz="2400" b="1" dirty="0"/>
          </a:p>
          <a:p>
            <a:pPr algn="just"/>
            <a:r>
              <a:rPr lang="en-US" sz="2000" dirty="0"/>
              <a:t>		       </a:t>
            </a:r>
            <a:r>
              <a:rPr lang="en-US" sz="2400" dirty="0"/>
              <a:t>= 200+4(1965-1932)=332</a:t>
            </a:r>
          </a:p>
        </p:txBody>
      </p:sp>
      <p:sp>
        <p:nvSpPr>
          <p:cNvPr id="17" name="Rectangle 16"/>
          <p:cNvSpPr/>
          <p:nvPr/>
        </p:nvSpPr>
        <p:spPr>
          <a:xfrm>
            <a:off x="3681495" y="6417100"/>
            <a:ext cx="4012766" cy="369332"/>
          </a:xfrm>
          <a:prstGeom prst="rect">
            <a:avLst/>
          </a:prstGeom>
        </p:spPr>
        <p:txBody>
          <a:bodyPr wrap="none">
            <a:spAutoFit/>
          </a:bodyPr>
          <a:lstStyle/>
          <a:p>
            <a:pPr algn="ctr"/>
            <a:r>
              <a:rPr lang="en-US" b="1" dirty="0">
                <a:solidFill>
                  <a:srgbClr val="FF0000"/>
                </a:solidFill>
              </a:rPr>
              <a:t>LOC(LA[K])=</a:t>
            </a:r>
            <a:r>
              <a:rPr lang="en-US" b="1" i="1" dirty="0">
                <a:solidFill>
                  <a:srgbClr val="FF0000"/>
                </a:solidFill>
              </a:rPr>
              <a:t>Base</a:t>
            </a:r>
            <a:r>
              <a:rPr lang="en-US" b="1" dirty="0">
                <a:solidFill>
                  <a:srgbClr val="FF0000"/>
                </a:solidFill>
              </a:rPr>
              <a:t>(LA)+w(K-lower bound)</a:t>
            </a:r>
          </a:p>
        </p:txBody>
      </p:sp>
      <p:sp>
        <p:nvSpPr>
          <p:cNvPr id="6" name="Slide Number Placeholder 5"/>
          <p:cNvSpPr>
            <a:spLocks noGrp="1"/>
          </p:cNvSpPr>
          <p:nvPr>
            <p:ph type="sldNum" sz="quarter" idx="12"/>
          </p:nvPr>
        </p:nvSpPr>
        <p:spPr/>
        <p:txBody>
          <a:bodyPr/>
          <a:lstStyle/>
          <a:p>
            <a:fld id="{1FBC1585-C671-4F90-AA0D-FD45AA239D02}" type="slidenum">
              <a:rPr lang="en-US" smtClean="0"/>
              <a:t>11</a:t>
            </a:fld>
            <a:endParaRPr lang="en-US"/>
          </a:p>
        </p:txBody>
      </p:sp>
    </p:spTree>
    <p:extLst>
      <p:ext uri="{BB962C8B-B14F-4D97-AF65-F5344CB8AC3E}">
        <p14:creationId xmlns:p14="http://schemas.microsoft.com/office/powerpoint/2010/main" val="42816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3"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1+#ppt_w/2"/>
                                          </p:val>
                                        </p:tav>
                                        <p:tav tm="100000">
                                          <p:val>
                                            <p:strVal val="#ppt_x"/>
                                          </p:val>
                                        </p:tav>
                                      </p:tavLst>
                                    </p:anim>
                                    <p:anim calcmode="lin" valueType="num">
                                      <p:cBhvr additive="base">
                                        <p:cTn id="26"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1+#ppt_w/2"/>
                                          </p:val>
                                        </p:tav>
                                        <p:tav tm="100000">
                                          <p:val>
                                            <p:strVal val="#ppt_x"/>
                                          </p:val>
                                        </p:tav>
                                      </p:tavLst>
                                    </p:anim>
                                    <p:anim calcmode="lin" valueType="num">
                                      <p:cBhvr additive="base">
                                        <p:cTn id="3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1+#ppt_w/2"/>
                                          </p:val>
                                        </p:tav>
                                        <p:tav tm="100000">
                                          <p:val>
                                            <p:strVal val="#ppt_x"/>
                                          </p:val>
                                        </p:tav>
                                      </p:tavLst>
                                    </p:anim>
                                    <p:anim calcmode="lin" valueType="num">
                                      <p:cBhvr additive="base">
                                        <p:cTn id="5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1+#ppt_w/2"/>
                                          </p:val>
                                        </p:tav>
                                        <p:tav tm="100000">
                                          <p:val>
                                            <p:strVal val="#ppt_x"/>
                                          </p:val>
                                        </p:tav>
                                      </p:tavLst>
                                    </p:anim>
                                    <p:anim calcmode="lin" valueType="num">
                                      <p:cBhvr additive="base">
                                        <p:cTn id="6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6">
                                            <p:txEl>
                                              <p:pRg st="0" end="0"/>
                                            </p:txEl>
                                          </p:spTgt>
                                        </p:tgtEl>
                                        <p:attrNameLst>
                                          <p:attrName>style.visibility</p:attrName>
                                        </p:attrNameLst>
                                      </p:cBhvr>
                                      <p:to>
                                        <p:strVal val="visible"/>
                                      </p:to>
                                    </p:set>
                                    <p:anim calcmode="lin" valueType="num">
                                      <p:cBhvr additive="base">
                                        <p:cTn id="6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16">
                                            <p:txEl>
                                              <p:pRg st="1" end="1"/>
                                            </p:txEl>
                                          </p:spTgt>
                                        </p:tgtEl>
                                        <p:attrNameLst>
                                          <p:attrName>style.visibility</p:attrName>
                                        </p:attrNameLst>
                                      </p:cBhvr>
                                      <p:to>
                                        <p:strVal val="visible"/>
                                      </p:to>
                                    </p:set>
                                    <p:animEffect transition="in" filter="fade">
                                      <p:cBhvr>
                                        <p:cTn id="73" dur="1000"/>
                                        <p:tgtEl>
                                          <p:spTgt spid="16">
                                            <p:txEl>
                                              <p:pRg st="1" end="1"/>
                                            </p:txEl>
                                          </p:spTgt>
                                        </p:tgtEl>
                                      </p:cBhvr>
                                    </p:animEffect>
                                    <p:anim calcmode="lin" valueType="num">
                                      <p:cBhvr>
                                        <p:cTn id="74" dur="1000" fill="hold"/>
                                        <p:tgtEl>
                                          <p:spTgt spid="16">
                                            <p:txEl>
                                              <p:pRg st="1" end="1"/>
                                            </p:txEl>
                                          </p:spTgt>
                                        </p:tgtEl>
                                        <p:attrNameLst>
                                          <p:attrName>ppt_x</p:attrName>
                                        </p:attrNameLst>
                                      </p:cBhvr>
                                      <p:tavLst>
                                        <p:tav tm="0">
                                          <p:val>
                                            <p:strVal val="#ppt_x"/>
                                          </p:val>
                                        </p:tav>
                                        <p:tav tm="100000">
                                          <p:val>
                                            <p:strVal val="#ppt_x"/>
                                          </p:val>
                                        </p:tav>
                                      </p:tavLst>
                                    </p:anim>
                                    <p:anim calcmode="lin" valueType="num">
                                      <p:cBhvr>
                                        <p:cTn id="75" dur="1000" fill="hold"/>
                                        <p:tgtEl>
                                          <p:spTgt spid="16">
                                            <p:txEl>
                                              <p:pRg st="1" end="1"/>
                                            </p:txEl>
                                          </p:spTgt>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16">
                                            <p:txEl>
                                              <p:pRg st="2" end="2"/>
                                            </p:txEl>
                                          </p:spTgt>
                                        </p:tgtEl>
                                        <p:attrNameLst>
                                          <p:attrName>style.visibility</p:attrName>
                                        </p:attrNameLst>
                                      </p:cBhvr>
                                      <p:to>
                                        <p:strVal val="visible"/>
                                      </p:to>
                                    </p:set>
                                    <p:animEffect transition="in" filter="fade">
                                      <p:cBhvr>
                                        <p:cTn id="78" dur="1000"/>
                                        <p:tgtEl>
                                          <p:spTgt spid="16">
                                            <p:txEl>
                                              <p:pRg st="2" end="2"/>
                                            </p:txEl>
                                          </p:spTgt>
                                        </p:tgtEl>
                                      </p:cBhvr>
                                    </p:animEffect>
                                    <p:anim calcmode="lin" valueType="num">
                                      <p:cBhvr>
                                        <p:cTn id="79"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80" dur="1000" fill="hold"/>
                                        <p:tgtEl>
                                          <p:spTgt spid="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1000"/>
                                        <p:tgtEl>
                                          <p:spTgt spid="17"/>
                                        </p:tgtEl>
                                      </p:cBhvr>
                                    </p:animEffect>
                                    <p:anim calcmode="lin" valueType="num">
                                      <p:cBhvr>
                                        <p:cTn id="86" dur="1000" fill="hold"/>
                                        <p:tgtEl>
                                          <p:spTgt spid="17"/>
                                        </p:tgtEl>
                                        <p:attrNameLst>
                                          <p:attrName>ppt_x</p:attrName>
                                        </p:attrNameLst>
                                      </p:cBhvr>
                                      <p:tavLst>
                                        <p:tav tm="0">
                                          <p:val>
                                            <p:strVal val="#ppt_x"/>
                                          </p:val>
                                        </p:tav>
                                        <p:tav tm="100000">
                                          <p:val>
                                            <p:strVal val="#ppt_x"/>
                                          </p:val>
                                        </p:tav>
                                      </p:tavLst>
                                    </p:anim>
                                    <p:anim calcmode="lin" valueType="num">
                                      <p:cBhvr>
                                        <p:cTn id="8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p:bldP spid="13" grpId="0" animBg="1"/>
      <p:bldP spid="14" grpId="0"/>
      <p:bldP spid="15" grpId="0" animBg="1"/>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14388" y="46239"/>
            <a:ext cx="7428861"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Can Linear Arrays be indexed?</a:t>
            </a:r>
          </a:p>
        </p:txBody>
      </p:sp>
      <p:sp>
        <p:nvSpPr>
          <p:cNvPr id="6" name="TextBox 5"/>
          <p:cNvSpPr txBox="1"/>
          <p:nvPr/>
        </p:nvSpPr>
        <p:spPr>
          <a:xfrm>
            <a:off x="606899" y="1036806"/>
            <a:ext cx="8051326" cy="3257174"/>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n-US" sz="2800" dirty="0"/>
              <a:t>A collection A of data elements is said to be indexed if any element of A, which we shall call </a:t>
            </a:r>
            <a:r>
              <a:rPr lang="en-US" sz="2800" dirty="0" err="1"/>
              <a:t>A</a:t>
            </a:r>
            <a:r>
              <a:rPr lang="en-US" sz="2800" baseline="-25000" dirty="0" err="1"/>
              <a:t>k</a:t>
            </a:r>
            <a:r>
              <a:rPr lang="en-US" sz="2800" baseline="-25000" dirty="0"/>
              <a:t>  </a:t>
            </a:r>
            <a:r>
              <a:rPr lang="en-US" sz="2800" dirty="0"/>
              <a:t>, can be located and processed in the time that is independent of K.</a:t>
            </a:r>
            <a:endParaRPr lang="en-US" sz="2800" baseline="-25000" dirty="0"/>
          </a:p>
          <a:p>
            <a:pPr marL="457200" indent="-457200" algn="just">
              <a:lnSpc>
                <a:spcPct val="150000"/>
              </a:lnSpc>
              <a:buFont typeface="Arial" panose="020B0604020202020204" pitchFamily="34" charset="0"/>
              <a:buChar char="•"/>
            </a:pPr>
            <a:r>
              <a:rPr lang="en-US" sz="2800" dirty="0"/>
              <a:t>This is very important property of linear arrays</a:t>
            </a:r>
          </a:p>
        </p:txBody>
      </p:sp>
      <p:sp>
        <p:nvSpPr>
          <p:cNvPr id="7" name="Slide Number Placeholder 6"/>
          <p:cNvSpPr>
            <a:spLocks noGrp="1"/>
          </p:cNvSpPr>
          <p:nvPr>
            <p:ph type="sldNum" sz="quarter" idx="12"/>
          </p:nvPr>
        </p:nvSpPr>
        <p:spPr/>
        <p:txBody>
          <a:bodyPr/>
          <a:lstStyle/>
          <a:p>
            <a:fld id="{1FBC1585-C671-4F90-AA0D-FD45AA239D02}" type="slidenum">
              <a:rPr lang="en-US" smtClean="0"/>
              <a:t>12</a:t>
            </a:fld>
            <a:endParaRPr lang="en-US"/>
          </a:p>
        </p:txBody>
      </p:sp>
    </p:spTree>
    <p:extLst>
      <p:ext uri="{BB962C8B-B14F-4D97-AF65-F5344CB8AC3E}">
        <p14:creationId xmlns:p14="http://schemas.microsoft.com/office/powerpoint/2010/main" val="2152354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71525" y="46239"/>
            <a:ext cx="7829549"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Traversing Linear Arrays  A: </a:t>
            </a:r>
            <a:r>
              <a:rPr lang="en-US" sz="3600" b="1" dirty="0">
                <a:solidFill>
                  <a:srgbClr val="0000CC"/>
                </a:solidFill>
                <a:effectLst>
                  <a:outerShdw blurRad="38100" dist="38100" dir="2700000" algn="tl">
                    <a:srgbClr val="000000">
                      <a:alpha val="43137"/>
                    </a:srgbClr>
                  </a:outerShdw>
                </a:effectLst>
              </a:rPr>
              <a:t>Algorithm</a:t>
            </a:r>
          </a:p>
        </p:txBody>
      </p:sp>
      <p:sp>
        <p:nvSpPr>
          <p:cNvPr id="6" name="TextBox 5"/>
          <p:cNvSpPr txBox="1"/>
          <p:nvPr/>
        </p:nvSpPr>
        <p:spPr>
          <a:xfrm>
            <a:off x="51516" y="836781"/>
            <a:ext cx="9007524" cy="3046988"/>
          </a:xfrm>
          <a:prstGeom prst="rect">
            <a:avLst/>
          </a:prstGeom>
          <a:noFill/>
          <a:ln>
            <a:solidFill>
              <a:srgbClr val="00B0F0"/>
            </a:solidFill>
          </a:ln>
        </p:spPr>
        <p:txBody>
          <a:bodyPr wrap="square" rtlCol="0">
            <a:spAutoFit/>
          </a:bodyPr>
          <a:lstStyle/>
          <a:p>
            <a:r>
              <a:rPr lang="en-US" sz="2400" b="1" dirty="0">
                <a:solidFill>
                  <a:srgbClr val="0000CC"/>
                </a:solidFill>
              </a:rPr>
              <a:t>A is a linear array with LB and UB</a:t>
            </a:r>
          </a:p>
          <a:p>
            <a:endParaRPr lang="en-US" sz="2400" dirty="0"/>
          </a:p>
          <a:p>
            <a:r>
              <a:rPr lang="en-US" sz="2400" dirty="0"/>
              <a:t>Step 1. [Initialize counter] Set K:=LB</a:t>
            </a:r>
          </a:p>
          <a:p>
            <a:r>
              <a:rPr lang="en-US" sz="2400" dirty="0"/>
              <a:t>Step 2. Repeat Step 3 and 4 while K&lt;=UB [</a:t>
            </a:r>
            <a:r>
              <a:rPr lang="en-US" sz="2400" dirty="0">
                <a:solidFill>
                  <a:srgbClr val="00B050"/>
                </a:solidFill>
              </a:rPr>
              <a:t>Repeat while loop</a:t>
            </a:r>
            <a:r>
              <a:rPr lang="en-US" sz="2400" dirty="0"/>
              <a:t>]</a:t>
            </a:r>
          </a:p>
          <a:p>
            <a:r>
              <a:rPr lang="en-US" sz="2400" dirty="0"/>
              <a:t>Step 3.		[Visit element] Apply PROCESS to A[K].</a:t>
            </a:r>
          </a:p>
          <a:p>
            <a:r>
              <a:rPr lang="en-US" sz="2400" dirty="0"/>
              <a:t>Step 4. 		[Increase counter] Set K:=K+1.</a:t>
            </a:r>
          </a:p>
          <a:p>
            <a:r>
              <a:rPr lang="en-US" sz="2400" dirty="0"/>
              <a:t>	[End of Step 2 loop.]</a:t>
            </a:r>
          </a:p>
          <a:p>
            <a:r>
              <a:rPr lang="en-US" sz="2400" dirty="0"/>
              <a:t>Step 5. Exit.</a:t>
            </a:r>
          </a:p>
        </p:txBody>
      </p:sp>
      <p:sp>
        <p:nvSpPr>
          <p:cNvPr id="7" name="TextBox 6"/>
          <p:cNvSpPr txBox="1"/>
          <p:nvPr/>
        </p:nvSpPr>
        <p:spPr>
          <a:xfrm>
            <a:off x="75126" y="4273296"/>
            <a:ext cx="9007524" cy="1938992"/>
          </a:xfrm>
          <a:prstGeom prst="rect">
            <a:avLst/>
          </a:prstGeom>
          <a:noFill/>
          <a:ln>
            <a:solidFill>
              <a:srgbClr val="0070C0"/>
            </a:solidFill>
          </a:ln>
        </p:spPr>
        <p:txBody>
          <a:bodyPr wrap="square" rtlCol="0">
            <a:spAutoFit/>
          </a:bodyPr>
          <a:lstStyle/>
          <a:p>
            <a:endParaRPr lang="en-US" sz="2400" dirty="0"/>
          </a:p>
          <a:p>
            <a:r>
              <a:rPr lang="en-US" sz="2400" dirty="0"/>
              <a:t>Step 1. Repeat for K=LB to UB [</a:t>
            </a:r>
            <a:r>
              <a:rPr lang="en-US" sz="2400" dirty="0">
                <a:solidFill>
                  <a:srgbClr val="00B050"/>
                </a:solidFill>
              </a:rPr>
              <a:t>Repeat for loop</a:t>
            </a:r>
            <a:r>
              <a:rPr lang="en-US" sz="2400" dirty="0"/>
              <a:t>]</a:t>
            </a:r>
          </a:p>
          <a:p>
            <a:r>
              <a:rPr lang="en-US" sz="2400" dirty="0"/>
              <a:t>   	[Visit element] Apply PROCESS to A[K].</a:t>
            </a:r>
          </a:p>
          <a:p>
            <a:r>
              <a:rPr lang="en-US" sz="2400" dirty="0"/>
              <a:t>	[End of Step 2 loop.]</a:t>
            </a:r>
          </a:p>
          <a:p>
            <a:r>
              <a:rPr lang="en-US" sz="2400" dirty="0"/>
              <a:t>Step 2. Exit.</a:t>
            </a:r>
          </a:p>
        </p:txBody>
      </p:sp>
      <p:sp>
        <p:nvSpPr>
          <p:cNvPr id="8" name="Slide Number Placeholder 7"/>
          <p:cNvSpPr>
            <a:spLocks noGrp="1"/>
          </p:cNvSpPr>
          <p:nvPr>
            <p:ph type="sldNum" sz="quarter" idx="12"/>
          </p:nvPr>
        </p:nvSpPr>
        <p:spPr/>
        <p:txBody>
          <a:bodyPr/>
          <a:lstStyle/>
          <a:p>
            <a:fld id="{1FBC1585-C671-4F90-AA0D-FD45AA239D02}" type="slidenum">
              <a:rPr lang="en-US" smtClean="0"/>
              <a:t>13</a:t>
            </a:fld>
            <a:endParaRPr lang="en-US"/>
          </a:p>
        </p:txBody>
      </p:sp>
    </p:spTree>
    <p:extLst>
      <p:ext uri="{BB962C8B-B14F-4D97-AF65-F5344CB8AC3E}">
        <p14:creationId xmlns:p14="http://schemas.microsoft.com/office/powerpoint/2010/main" val="305196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85850" y="203402"/>
            <a:ext cx="7329487"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Traversing Linear Arrays: </a:t>
            </a:r>
            <a:r>
              <a:rPr lang="en-US" sz="3600" b="1" dirty="0">
                <a:solidFill>
                  <a:srgbClr val="0000CC"/>
                </a:solidFill>
                <a:effectLst>
                  <a:outerShdw blurRad="38100" dist="38100" dir="2700000" algn="tl">
                    <a:srgbClr val="000000">
                      <a:alpha val="43137"/>
                    </a:srgbClr>
                  </a:outerShdw>
                </a:effectLst>
              </a:rPr>
              <a:t>Example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990632" y="-815297"/>
            <a:ext cx="5054984" cy="9036248"/>
          </a:xfrm>
          <a:prstGeom prst="rect">
            <a:avLst/>
          </a:prstGeom>
        </p:spPr>
      </p:pic>
      <p:sp>
        <p:nvSpPr>
          <p:cNvPr id="7" name="Slide Number Placeholder 6"/>
          <p:cNvSpPr>
            <a:spLocks noGrp="1"/>
          </p:cNvSpPr>
          <p:nvPr>
            <p:ph type="sldNum" sz="quarter" idx="12"/>
          </p:nvPr>
        </p:nvSpPr>
        <p:spPr/>
        <p:txBody>
          <a:bodyPr/>
          <a:lstStyle/>
          <a:p>
            <a:fld id="{1FBC1585-C671-4F90-AA0D-FD45AA239D02}" type="slidenum">
              <a:rPr lang="en-US" smtClean="0"/>
              <a:t>14</a:t>
            </a:fld>
            <a:endParaRPr lang="en-US"/>
          </a:p>
        </p:txBody>
      </p:sp>
    </p:spTree>
    <p:extLst>
      <p:ext uri="{BB962C8B-B14F-4D97-AF65-F5344CB8AC3E}">
        <p14:creationId xmlns:p14="http://schemas.microsoft.com/office/powerpoint/2010/main" val="1238306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42962" y="46239"/>
            <a:ext cx="7729537" cy="646331"/>
          </a:xfrm>
          <a:prstGeom prst="rect">
            <a:avLst/>
          </a:prstGeom>
          <a:noFill/>
        </p:spPr>
        <p:txBody>
          <a:bodyPr wrap="square" rtlCol="0">
            <a:spAutoFit/>
          </a:bodyPr>
          <a:lstStyle/>
          <a:p>
            <a:pPr algn="ctr"/>
            <a:r>
              <a:rPr lang="en-US" sz="3600" b="1" dirty="0">
                <a:solidFill>
                  <a:srgbClr val="FF0000"/>
                </a:solidFill>
              </a:rPr>
              <a:t>Inserting elements in a Linear Arrays:</a:t>
            </a:r>
            <a:endParaRPr lang="en-US" sz="3600" b="1" dirty="0">
              <a:solidFill>
                <a:srgbClr val="0000CC"/>
              </a:solidFill>
            </a:endParaRPr>
          </a:p>
        </p:txBody>
      </p:sp>
      <p:sp>
        <p:nvSpPr>
          <p:cNvPr id="6" name="TextBox 5"/>
          <p:cNvSpPr txBox="1"/>
          <p:nvPr/>
        </p:nvSpPr>
        <p:spPr>
          <a:xfrm>
            <a:off x="103032" y="692570"/>
            <a:ext cx="8847786" cy="4893647"/>
          </a:xfrm>
          <a:prstGeom prst="rect">
            <a:avLst/>
          </a:prstGeom>
          <a:noFill/>
        </p:spPr>
        <p:txBody>
          <a:bodyPr wrap="square" rtlCol="0">
            <a:spAutoFit/>
          </a:bodyPr>
          <a:lstStyle/>
          <a:p>
            <a:pPr marL="285750" indent="-285750">
              <a:buFont typeface="Wingdings" charset="2"/>
              <a:buChar char="ü"/>
            </a:pPr>
            <a:r>
              <a:rPr lang="en-US" sz="2400" dirty="0"/>
              <a:t>Let A be a collection of data elements in the computer memory.</a:t>
            </a:r>
          </a:p>
          <a:p>
            <a:pPr marL="285750" indent="-285750">
              <a:buFont typeface="Wingdings" charset="2"/>
              <a:buChar char="ü"/>
            </a:pPr>
            <a:r>
              <a:rPr lang="en-US" sz="2400" dirty="0"/>
              <a:t>Inserting refer to the operation of </a:t>
            </a:r>
            <a:r>
              <a:rPr lang="en-US" sz="2400" b="1" dirty="0">
                <a:solidFill>
                  <a:srgbClr val="00B050"/>
                </a:solidFill>
              </a:rPr>
              <a:t>ADDING</a:t>
            </a:r>
            <a:r>
              <a:rPr lang="en-US" sz="2400" dirty="0"/>
              <a:t> another element to the collection.</a:t>
            </a:r>
          </a:p>
          <a:p>
            <a:pPr marL="285750" indent="-285750" algn="just">
              <a:buFont typeface="Wingdings" charset="2"/>
              <a:buChar char="ü"/>
            </a:pPr>
            <a:r>
              <a:rPr lang="en-US" sz="2400" dirty="0"/>
              <a:t>Inserting an element at the “end” of the linear array can be </a:t>
            </a:r>
            <a:r>
              <a:rPr lang="en-US" sz="2400" b="1" dirty="0">
                <a:solidFill>
                  <a:srgbClr val="0000CC"/>
                </a:solidFill>
              </a:rPr>
              <a:t>EASILY </a:t>
            </a:r>
            <a:r>
              <a:rPr lang="en-US" sz="2400" dirty="0"/>
              <a:t>done provided the memory space allocating for the array is large enough to accommodate the additional element.</a:t>
            </a:r>
          </a:p>
          <a:p>
            <a:pPr marL="285750" indent="-285750" algn="just">
              <a:buFont typeface="Wingdings" charset="2"/>
              <a:buChar char="ü"/>
            </a:pPr>
            <a:r>
              <a:rPr lang="en-US" sz="2400" dirty="0"/>
              <a:t>Inserting an element in the middle of the array is </a:t>
            </a:r>
            <a:r>
              <a:rPr lang="en-US" sz="2400" b="1" dirty="0">
                <a:solidFill>
                  <a:srgbClr val="FF0000"/>
                </a:solidFill>
              </a:rPr>
              <a:t>RELATIVELY COMPLICATED TASK.</a:t>
            </a:r>
          </a:p>
          <a:p>
            <a:pPr marL="285750" indent="-285750" algn="just">
              <a:buFont typeface="Wingdings" charset="2"/>
              <a:buChar char="ü"/>
            </a:pPr>
            <a:r>
              <a:rPr lang="en-US" sz="2400" dirty="0"/>
              <a:t>On an average, half of the elements must</a:t>
            </a:r>
          </a:p>
          <a:p>
            <a:pPr algn="just"/>
            <a:r>
              <a:rPr lang="en-US" sz="2400" dirty="0"/>
              <a:t>   be moved downward to new locations to </a:t>
            </a:r>
          </a:p>
          <a:p>
            <a:pPr algn="just"/>
            <a:r>
              <a:rPr lang="en-US" sz="2400" dirty="0"/>
              <a:t>   accommodate the elements and keep </a:t>
            </a:r>
          </a:p>
          <a:p>
            <a:pPr algn="just"/>
            <a:r>
              <a:rPr lang="en-US" sz="2400" dirty="0"/>
              <a:t>    the order of the other elements.</a:t>
            </a:r>
          </a:p>
          <a:p>
            <a:pPr marL="285750" indent="-285750" algn="just">
              <a:buFont typeface="Wingdings" charset="2"/>
              <a:buChar char="ü"/>
            </a:pPr>
            <a:endParaRPr lang="en-US" sz="2400" b="1" dirty="0">
              <a:solidFill>
                <a:srgbClr val="FF0000"/>
              </a:solidFill>
            </a:endParaRPr>
          </a:p>
        </p:txBody>
      </p:sp>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b="54184"/>
          <a:stretch/>
        </p:blipFill>
        <p:spPr>
          <a:xfrm rot="16200000">
            <a:off x="5907257" y="3306495"/>
            <a:ext cx="3038220" cy="3048903"/>
          </a:xfrm>
          <a:prstGeom prst="rect">
            <a:avLst/>
          </a:prstGeom>
        </p:spPr>
      </p:pic>
      <p:sp>
        <p:nvSpPr>
          <p:cNvPr id="7" name="Slide Number Placeholder 6"/>
          <p:cNvSpPr>
            <a:spLocks noGrp="1"/>
          </p:cNvSpPr>
          <p:nvPr>
            <p:ph type="sldNum" sz="quarter" idx="12"/>
          </p:nvPr>
        </p:nvSpPr>
        <p:spPr/>
        <p:txBody>
          <a:bodyPr/>
          <a:lstStyle/>
          <a:p>
            <a:fld id="{1FBC1585-C671-4F90-AA0D-FD45AA239D02}" type="slidenum">
              <a:rPr lang="en-US" smtClean="0"/>
              <a:t>15</a:t>
            </a:fld>
            <a:endParaRPr lang="en-US"/>
          </a:p>
        </p:txBody>
      </p:sp>
    </p:spTree>
    <p:extLst>
      <p:ext uri="{BB962C8B-B14F-4D97-AF65-F5344CB8AC3E}">
        <p14:creationId xmlns:p14="http://schemas.microsoft.com/office/powerpoint/2010/main" val="9617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 calcmode="lin" valueType="num">
                                      <p:cBhvr additive="base">
                                        <p:cTn id="3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anim calcmode="lin" valueType="num">
                                      <p:cBhvr additive="base">
                                        <p:cTn id="3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5" end="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anim calcmode="lin" valueType="num">
                                      <p:cBhvr additive="base">
                                        <p:cTn id="4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 calcmode="lin" valueType="num">
                                      <p:cBhvr additive="base">
                                        <p:cTn id="47"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813" y="46239"/>
            <a:ext cx="7457436"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Inserting elements in a LA: Algorithm</a:t>
            </a:r>
            <a:endParaRPr lang="en-US" sz="3600" b="1" dirty="0">
              <a:solidFill>
                <a:srgbClr val="0000CC"/>
              </a:solidFill>
              <a:effectLst>
                <a:outerShdw blurRad="38100" dist="38100" dir="2700000" algn="tl">
                  <a:srgbClr val="000000">
                    <a:alpha val="43137"/>
                  </a:srgbClr>
                </a:outerShdw>
              </a:effectLst>
            </a:endParaRPr>
          </a:p>
        </p:txBody>
      </p:sp>
      <p:sp>
        <p:nvSpPr>
          <p:cNvPr id="6" name="TextBox 5"/>
          <p:cNvSpPr txBox="1"/>
          <p:nvPr/>
        </p:nvSpPr>
        <p:spPr>
          <a:xfrm>
            <a:off x="90152" y="836781"/>
            <a:ext cx="8917372" cy="3970318"/>
          </a:xfrm>
          <a:prstGeom prst="rect">
            <a:avLst/>
          </a:prstGeom>
          <a:noFill/>
        </p:spPr>
        <p:txBody>
          <a:bodyPr wrap="square" rtlCol="0">
            <a:spAutoFit/>
          </a:bodyPr>
          <a:lstStyle/>
          <a:p>
            <a:r>
              <a:rPr lang="en-US" sz="2800" dirty="0"/>
              <a:t>INSERT(LA, N, K, ITEM) [</a:t>
            </a:r>
            <a:r>
              <a:rPr lang="en-US" sz="2000" b="1" dirty="0"/>
              <a:t>inserts an element ITEM into Kth position in LA</a:t>
            </a:r>
            <a:r>
              <a:rPr lang="en-US" sz="2800" dirty="0"/>
              <a:t>]</a:t>
            </a:r>
          </a:p>
          <a:p>
            <a:pPr marL="514350" indent="-514350">
              <a:buFont typeface="+mj-lt"/>
              <a:buAutoNum type="arabicPeriod"/>
            </a:pPr>
            <a:r>
              <a:rPr lang="en-US" sz="2800" dirty="0"/>
              <a:t>[Initialize counter] Set J:=N</a:t>
            </a:r>
          </a:p>
          <a:p>
            <a:pPr marL="514350" indent="-514350">
              <a:buFont typeface="+mj-lt"/>
              <a:buAutoNum type="arabicPeriod"/>
            </a:pPr>
            <a:r>
              <a:rPr lang="en-US" sz="2800" dirty="0"/>
              <a:t>Repeat Step 3 and 4 while J&gt;=K.</a:t>
            </a:r>
          </a:p>
          <a:p>
            <a:pPr marL="514350" indent="-514350">
              <a:buFont typeface="+mj-lt"/>
              <a:buAutoNum type="arabicPeriod"/>
            </a:pPr>
            <a:r>
              <a:rPr lang="en-US" sz="2800" dirty="0"/>
              <a:t>     [Move </a:t>
            </a:r>
            <a:r>
              <a:rPr lang="en-US" sz="2800" dirty="0" err="1"/>
              <a:t>J</a:t>
            </a:r>
            <a:r>
              <a:rPr lang="en-US" sz="2800" baseline="30000" dirty="0" err="1"/>
              <a:t>th</a:t>
            </a:r>
            <a:r>
              <a:rPr lang="en-US" sz="2800" dirty="0"/>
              <a:t> element downward.] Set LA[J+1]:=LA[J]</a:t>
            </a:r>
          </a:p>
          <a:p>
            <a:pPr marL="514350" indent="-514350">
              <a:buFont typeface="+mj-lt"/>
              <a:buAutoNum type="arabicPeriod"/>
            </a:pPr>
            <a:r>
              <a:rPr lang="en-US" sz="2800" dirty="0"/>
              <a:t>     [Decrease counter] Set J:=J-1.</a:t>
            </a:r>
          </a:p>
          <a:p>
            <a:pPr lvl="2"/>
            <a:r>
              <a:rPr lang="en-US" sz="2800" dirty="0"/>
              <a:t>[End of Step 2 loop.]</a:t>
            </a:r>
          </a:p>
          <a:p>
            <a:pPr marL="514350" indent="-514350">
              <a:buFont typeface="+mj-lt"/>
              <a:buAutoNum type="arabicPeriod"/>
            </a:pPr>
            <a:r>
              <a:rPr lang="en-US" sz="2800" dirty="0"/>
              <a:t>[Insert element.] Set LA[K]:=ITEM.</a:t>
            </a:r>
          </a:p>
          <a:p>
            <a:pPr marL="514350" indent="-514350">
              <a:buFont typeface="+mj-lt"/>
              <a:buAutoNum type="arabicPeriod"/>
            </a:pPr>
            <a:r>
              <a:rPr lang="en-US" sz="2800" dirty="0"/>
              <a:t>[Reset N.] Set N:=N+1.</a:t>
            </a:r>
          </a:p>
          <a:p>
            <a:pPr marL="514350" indent="-514350">
              <a:buFont typeface="+mj-lt"/>
              <a:buAutoNum type="arabicPeriod"/>
            </a:pPr>
            <a:r>
              <a:rPr lang="en-US" sz="2800" dirty="0"/>
              <a:t>Exit.</a:t>
            </a:r>
          </a:p>
        </p:txBody>
      </p:sp>
      <p:sp>
        <p:nvSpPr>
          <p:cNvPr id="7" name="Rectangle 6"/>
          <p:cNvSpPr/>
          <p:nvPr/>
        </p:nvSpPr>
        <p:spPr>
          <a:xfrm>
            <a:off x="90152" y="5114876"/>
            <a:ext cx="8917372" cy="1384995"/>
          </a:xfrm>
          <a:prstGeom prst="rect">
            <a:avLst/>
          </a:prstGeom>
        </p:spPr>
        <p:txBody>
          <a:bodyPr wrap="square">
            <a:spAutoFit/>
          </a:bodyPr>
          <a:lstStyle/>
          <a:p>
            <a:pPr marL="342900" indent="-342900" algn="just">
              <a:buFont typeface="Arial" panose="020B0604020202020204" pitchFamily="34" charset="0"/>
              <a:buChar char="•"/>
            </a:pPr>
            <a:r>
              <a:rPr lang="en-US" sz="2800" dirty="0">
                <a:solidFill>
                  <a:srgbClr val="FF0000"/>
                </a:solidFill>
              </a:rPr>
              <a:t>The elements are moved in reverse order . First LA[N], then LA[N-1],</a:t>
            </a:r>
            <a:r>
              <a:rPr lang="is-IS" sz="2800" dirty="0">
                <a:solidFill>
                  <a:srgbClr val="FF0000"/>
                </a:solidFill>
              </a:rPr>
              <a:t>…...and last LA[K]; otherwise data might be erased.</a:t>
            </a:r>
            <a:endParaRPr lang="en-US" sz="2800" dirty="0">
              <a:solidFill>
                <a:srgbClr val="FF0000"/>
              </a:solidFill>
            </a:endParaRPr>
          </a:p>
        </p:txBody>
      </p:sp>
      <p:sp>
        <p:nvSpPr>
          <p:cNvPr id="8" name="Slide Number Placeholder 7"/>
          <p:cNvSpPr>
            <a:spLocks noGrp="1"/>
          </p:cNvSpPr>
          <p:nvPr>
            <p:ph type="sldNum" sz="quarter" idx="12"/>
          </p:nvPr>
        </p:nvSpPr>
        <p:spPr/>
        <p:txBody>
          <a:bodyPr/>
          <a:lstStyle/>
          <a:p>
            <a:fld id="{1FBC1585-C671-4F90-AA0D-FD45AA239D02}" type="slidenum">
              <a:rPr lang="en-US" smtClean="0"/>
              <a:t>16</a:t>
            </a:fld>
            <a:endParaRPr lang="en-US"/>
          </a:p>
        </p:txBody>
      </p:sp>
    </p:spTree>
    <p:extLst>
      <p:ext uri="{BB962C8B-B14F-4D97-AF65-F5344CB8AC3E}">
        <p14:creationId xmlns:p14="http://schemas.microsoft.com/office/powerpoint/2010/main" val="1483185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4155"/>
            <a:ext cx="8243249" cy="707886"/>
          </a:xfrm>
          <a:prstGeom prst="rect">
            <a:avLst/>
          </a:prstGeom>
          <a:noFill/>
        </p:spPr>
        <p:txBody>
          <a:bodyPr wrap="square" rtlCol="0">
            <a:spAutoFit/>
          </a:bodyPr>
          <a:lstStyle/>
          <a:p>
            <a:pPr algn="ctr"/>
            <a:r>
              <a:rPr lang="en-US" sz="4000" b="1" dirty="0">
                <a:solidFill>
                  <a:srgbClr val="FF0000"/>
                </a:solidFill>
                <a:effectLst>
                  <a:outerShdw blurRad="38100" dist="38100" dir="2700000" algn="tl">
                    <a:srgbClr val="000000">
                      <a:alpha val="43137"/>
                    </a:srgbClr>
                  </a:outerShdw>
                </a:effectLst>
              </a:rPr>
              <a:t>Instant Test-1:</a:t>
            </a:r>
            <a:endParaRPr lang="en-US" sz="4000" b="1" dirty="0">
              <a:solidFill>
                <a:srgbClr val="0000CC"/>
              </a:solidFill>
              <a:effectLst>
                <a:outerShdw blurRad="38100" dist="38100" dir="2700000" algn="tl">
                  <a:srgbClr val="000000">
                    <a:alpha val="43137"/>
                  </a:srgbClr>
                </a:outerShdw>
              </a:effectLst>
            </a:endParaRPr>
          </a:p>
        </p:txBody>
      </p:sp>
      <p:sp>
        <p:nvSpPr>
          <p:cNvPr id="8" name="TextBox 7"/>
          <p:cNvSpPr txBox="1"/>
          <p:nvPr/>
        </p:nvSpPr>
        <p:spPr>
          <a:xfrm>
            <a:off x="0" y="937485"/>
            <a:ext cx="9225887" cy="2062103"/>
          </a:xfrm>
          <a:prstGeom prst="rect">
            <a:avLst/>
          </a:prstGeom>
          <a:noFill/>
        </p:spPr>
        <p:txBody>
          <a:bodyPr wrap="square" rtlCol="0">
            <a:spAutoFit/>
          </a:bodyPr>
          <a:lstStyle/>
          <a:p>
            <a:r>
              <a:rPr lang="en-US" sz="3200" dirty="0"/>
              <a:t>Consider the linear arrays:</a:t>
            </a:r>
            <a:endParaRPr lang="en-US" sz="4400" dirty="0"/>
          </a:p>
          <a:p>
            <a:pPr algn="ctr"/>
            <a:r>
              <a:rPr lang="en-US" sz="3200" dirty="0"/>
              <a:t> AAA (10 : 55), </a:t>
            </a:r>
          </a:p>
          <a:p>
            <a:pPr algn="ctr"/>
            <a:r>
              <a:rPr lang="en-US" sz="3200" dirty="0"/>
              <a:t>          BBB (-10 : 15), and</a:t>
            </a:r>
          </a:p>
          <a:p>
            <a:pPr algn="ctr"/>
            <a:r>
              <a:rPr lang="en-US" sz="3200" dirty="0"/>
              <a:t>EEE (25)</a:t>
            </a:r>
          </a:p>
        </p:txBody>
      </p:sp>
      <p:sp>
        <p:nvSpPr>
          <p:cNvPr id="6" name="TextBox 5"/>
          <p:cNvSpPr txBox="1"/>
          <p:nvPr/>
        </p:nvSpPr>
        <p:spPr>
          <a:xfrm>
            <a:off x="0" y="3144253"/>
            <a:ext cx="9144000" cy="584775"/>
          </a:xfrm>
          <a:prstGeom prst="rect">
            <a:avLst/>
          </a:prstGeom>
          <a:noFill/>
        </p:spPr>
        <p:txBody>
          <a:bodyPr wrap="square" rtlCol="0">
            <a:spAutoFit/>
          </a:bodyPr>
          <a:lstStyle/>
          <a:p>
            <a:r>
              <a:rPr lang="en-US" sz="3200" b="1" dirty="0">
                <a:solidFill>
                  <a:srgbClr val="0000CC"/>
                </a:solidFill>
              </a:rPr>
              <a:t>a) Find the number of element in each array. </a:t>
            </a:r>
          </a:p>
        </p:txBody>
      </p:sp>
      <p:sp>
        <p:nvSpPr>
          <p:cNvPr id="7" name="TextBox 6"/>
          <p:cNvSpPr txBox="1"/>
          <p:nvPr/>
        </p:nvSpPr>
        <p:spPr>
          <a:xfrm>
            <a:off x="0" y="3866147"/>
            <a:ext cx="9007524" cy="2246769"/>
          </a:xfrm>
          <a:prstGeom prst="rect">
            <a:avLst/>
          </a:prstGeom>
          <a:noFill/>
        </p:spPr>
        <p:txBody>
          <a:bodyPr wrap="square" rtlCol="0">
            <a:spAutoFit/>
          </a:bodyPr>
          <a:lstStyle/>
          <a:p>
            <a:r>
              <a:rPr lang="en-US" sz="2800" dirty="0"/>
              <a:t>We know		 Length=UB-LB+1</a:t>
            </a:r>
          </a:p>
          <a:p>
            <a:endParaRPr lang="en-US" sz="2800" dirty="0"/>
          </a:p>
          <a:p>
            <a:r>
              <a:rPr lang="en-US" sz="2800" dirty="0"/>
              <a:t>Accordingly, Length (AAA) = 55 - 10 + 1= 46</a:t>
            </a:r>
          </a:p>
          <a:p>
            <a:r>
              <a:rPr lang="en-US" sz="2800" dirty="0"/>
              <a:t>		Length (BBB) = 15-(-10)+1 = 26</a:t>
            </a:r>
          </a:p>
          <a:p>
            <a:r>
              <a:rPr lang="en-US" sz="2800" dirty="0"/>
              <a:t>		Length (EEE) = 25-1+1= 25 </a:t>
            </a:r>
          </a:p>
        </p:txBody>
      </p:sp>
      <p:sp>
        <p:nvSpPr>
          <p:cNvPr id="9" name="Slide Number Placeholder 8"/>
          <p:cNvSpPr>
            <a:spLocks noGrp="1"/>
          </p:cNvSpPr>
          <p:nvPr>
            <p:ph type="sldNum" sz="quarter" idx="12"/>
          </p:nvPr>
        </p:nvSpPr>
        <p:spPr/>
        <p:txBody>
          <a:bodyPr/>
          <a:lstStyle/>
          <a:p>
            <a:fld id="{1FBC1585-C671-4F90-AA0D-FD45AA239D02}" type="slidenum">
              <a:rPr lang="en-US" smtClean="0"/>
              <a:t>17</a:t>
            </a:fld>
            <a:endParaRPr lang="en-US"/>
          </a:p>
        </p:txBody>
      </p:sp>
    </p:spTree>
    <p:extLst>
      <p:ext uri="{BB962C8B-B14F-4D97-AF65-F5344CB8AC3E}">
        <p14:creationId xmlns:p14="http://schemas.microsoft.com/office/powerpoint/2010/main" val="398088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42987" y="-27680"/>
            <a:ext cx="7486649" cy="707886"/>
          </a:xfrm>
          <a:prstGeom prst="rect">
            <a:avLst/>
          </a:prstGeom>
          <a:noFill/>
        </p:spPr>
        <p:txBody>
          <a:bodyPr wrap="square" rtlCol="0">
            <a:spAutoFit/>
          </a:bodyPr>
          <a:lstStyle/>
          <a:p>
            <a:pPr algn="ctr"/>
            <a:r>
              <a:rPr lang="en-US" sz="4000" b="1" dirty="0">
                <a:solidFill>
                  <a:srgbClr val="FF0000"/>
                </a:solidFill>
                <a:effectLst>
                  <a:outerShdw blurRad="38100" dist="38100" dir="2700000" algn="tl">
                    <a:srgbClr val="000000">
                      <a:alpha val="43137"/>
                    </a:srgbClr>
                  </a:outerShdw>
                </a:effectLst>
              </a:rPr>
              <a:t>Instant Test-2:</a:t>
            </a:r>
            <a:endParaRPr lang="en-US" sz="4000" b="1" dirty="0">
              <a:solidFill>
                <a:srgbClr val="0000CC"/>
              </a:solidFill>
              <a:effectLst>
                <a:outerShdw blurRad="38100" dist="38100" dir="2700000" algn="tl">
                  <a:srgbClr val="000000">
                    <a:alpha val="43137"/>
                  </a:srgbClr>
                </a:outerShdw>
              </a:effectLst>
            </a:endParaRPr>
          </a:p>
        </p:txBody>
      </p:sp>
      <p:sp>
        <p:nvSpPr>
          <p:cNvPr id="8" name="TextBox 7"/>
          <p:cNvSpPr txBox="1"/>
          <p:nvPr/>
        </p:nvSpPr>
        <p:spPr>
          <a:xfrm>
            <a:off x="0" y="712897"/>
            <a:ext cx="9225887" cy="2062103"/>
          </a:xfrm>
          <a:prstGeom prst="rect">
            <a:avLst/>
          </a:prstGeom>
          <a:noFill/>
        </p:spPr>
        <p:txBody>
          <a:bodyPr wrap="square" rtlCol="0">
            <a:spAutoFit/>
          </a:bodyPr>
          <a:lstStyle/>
          <a:p>
            <a:r>
              <a:rPr lang="en-US" sz="3200" dirty="0"/>
              <a:t>Consider the linear arrays:</a:t>
            </a:r>
            <a:endParaRPr lang="en-US" sz="4400" dirty="0"/>
          </a:p>
          <a:p>
            <a:pPr algn="ctr"/>
            <a:r>
              <a:rPr lang="en-US" sz="3200" dirty="0"/>
              <a:t> AAA (10 : 65), </a:t>
            </a:r>
          </a:p>
          <a:p>
            <a:pPr algn="ctr"/>
            <a:r>
              <a:rPr lang="en-US" sz="3200" dirty="0"/>
              <a:t>          AAA (-10 : 15), and</a:t>
            </a:r>
          </a:p>
          <a:p>
            <a:pPr algn="ctr"/>
            <a:r>
              <a:rPr lang="en-US" sz="3200" dirty="0"/>
              <a:t>EEE (25)</a:t>
            </a:r>
          </a:p>
        </p:txBody>
      </p:sp>
      <p:sp>
        <p:nvSpPr>
          <p:cNvPr id="6" name="TextBox 5"/>
          <p:cNvSpPr txBox="1"/>
          <p:nvPr/>
        </p:nvSpPr>
        <p:spPr>
          <a:xfrm>
            <a:off x="0" y="2919665"/>
            <a:ext cx="9144000" cy="1754326"/>
          </a:xfrm>
          <a:prstGeom prst="rect">
            <a:avLst/>
          </a:prstGeom>
          <a:noFill/>
        </p:spPr>
        <p:txBody>
          <a:bodyPr wrap="square" rtlCol="0">
            <a:spAutoFit/>
          </a:bodyPr>
          <a:lstStyle/>
          <a:p>
            <a:r>
              <a:rPr lang="en-US" sz="2400" b="1" dirty="0">
                <a:solidFill>
                  <a:srgbClr val="0000CC"/>
                </a:solidFill>
              </a:rPr>
              <a:t>b) Suppose Base (AAA) = 300 and w= 4 words per memory cell for AAA. </a:t>
            </a:r>
          </a:p>
          <a:p>
            <a:pPr marL="342900" indent="-342900">
              <a:buFont typeface="Arial" panose="020B0604020202020204" pitchFamily="34" charset="0"/>
              <a:buChar char="•"/>
            </a:pPr>
            <a:r>
              <a:rPr lang="en-US" sz="2800" b="1" dirty="0">
                <a:solidFill>
                  <a:srgbClr val="0000CC"/>
                </a:solidFill>
              </a:rPr>
              <a:t>Find the address of AAA [15]</a:t>
            </a:r>
          </a:p>
          <a:p>
            <a:r>
              <a:rPr lang="en-US" sz="2800" b="1" dirty="0">
                <a:solidFill>
                  <a:srgbClr val="0000CC"/>
                </a:solidFill>
              </a:rPr>
              <a:t>                                        AAA [35]</a:t>
            </a:r>
          </a:p>
          <a:p>
            <a:r>
              <a:rPr lang="en-US" sz="2800" b="1" dirty="0">
                <a:solidFill>
                  <a:srgbClr val="0000CC"/>
                </a:solidFill>
              </a:rPr>
              <a:t>			     AAA[75]</a:t>
            </a:r>
          </a:p>
        </p:txBody>
      </p:sp>
      <p:sp>
        <p:nvSpPr>
          <p:cNvPr id="9" name="TextBox 8"/>
          <p:cNvSpPr txBox="1"/>
          <p:nvPr/>
        </p:nvSpPr>
        <p:spPr>
          <a:xfrm>
            <a:off x="0" y="4844716"/>
            <a:ext cx="9007524" cy="523220"/>
          </a:xfrm>
          <a:prstGeom prst="rect">
            <a:avLst/>
          </a:prstGeom>
          <a:noFill/>
        </p:spPr>
        <p:txBody>
          <a:bodyPr wrap="square" rtlCol="0">
            <a:spAutoFit/>
          </a:bodyPr>
          <a:lstStyle/>
          <a:p>
            <a:r>
              <a:rPr lang="en-US" sz="2400" dirty="0"/>
              <a:t> We know the formula: </a:t>
            </a:r>
            <a:r>
              <a:rPr lang="en-US" sz="2800" dirty="0">
                <a:solidFill>
                  <a:srgbClr val="FF0000"/>
                </a:solidFill>
              </a:rPr>
              <a:t>LOC (AAA[k])= Base (AAA)+w (k-LB)</a:t>
            </a:r>
          </a:p>
        </p:txBody>
      </p:sp>
      <p:sp>
        <p:nvSpPr>
          <p:cNvPr id="10" name="TextBox 9"/>
          <p:cNvSpPr txBox="1"/>
          <p:nvPr/>
        </p:nvSpPr>
        <p:spPr>
          <a:xfrm>
            <a:off x="0" y="5367936"/>
            <a:ext cx="9144000" cy="1569660"/>
          </a:xfrm>
          <a:prstGeom prst="rect">
            <a:avLst/>
          </a:prstGeom>
          <a:noFill/>
        </p:spPr>
        <p:txBody>
          <a:bodyPr wrap="square" rtlCol="0">
            <a:spAutoFit/>
          </a:bodyPr>
          <a:lstStyle/>
          <a:p>
            <a:r>
              <a:rPr lang="en-US" sz="2400" b="1" dirty="0"/>
              <a:t>Hence, LOC (AAA[15])= 300 + 4 (15-10) = 320</a:t>
            </a:r>
          </a:p>
          <a:p>
            <a:r>
              <a:rPr lang="en-US" sz="2400" b="1" dirty="0"/>
              <a:t>	LOC (AAA [35])= 300 + 4 (35-10)= 400</a:t>
            </a:r>
          </a:p>
          <a:p>
            <a:endParaRPr lang="en-US" sz="2400" b="1" dirty="0"/>
          </a:p>
          <a:p>
            <a:r>
              <a:rPr lang="en-US" sz="2400" b="1" dirty="0"/>
              <a:t>AAA [75] is not an element of AAA, since 75 exceeds UB=65 </a:t>
            </a:r>
          </a:p>
        </p:txBody>
      </p:sp>
      <p:sp>
        <p:nvSpPr>
          <p:cNvPr id="7" name="Slide Number Placeholder 6"/>
          <p:cNvSpPr>
            <a:spLocks noGrp="1"/>
          </p:cNvSpPr>
          <p:nvPr>
            <p:ph type="sldNum" sz="quarter" idx="12"/>
          </p:nvPr>
        </p:nvSpPr>
        <p:spPr/>
        <p:txBody>
          <a:bodyPr/>
          <a:lstStyle/>
          <a:p>
            <a:fld id="{1FBC1585-C671-4F90-AA0D-FD45AA239D02}" type="slidenum">
              <a:rPr lang="en-US" smtClean="0"/>
              <a:t>18</a:t>
            </a:fld>
            <a:endParaRPr lang="en-US"/>
          </a:p>
        </p:txBody>
      </p:sp>
    </p:spTree>
    <p:extLst>
      <p:ext uri="{BB962C8B-B14F-4D97-AF65-F5344CB8AC3E}">
        <p14:creationId xmlns:p14="http://schemas.microsoft.com/office/powerpoint/2010/main" val="3980990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additive="base">
                                        <p:cTn id="11"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
                                            <p:txEl>
                                              <p:pRg st="2" end="2"/>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 calcmode="lin" valueType="num">
                                      <p:cBhvr additive="base">
                                        <p:cTn id="15"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0-#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 calcmode="lin" valueType="num">
                                      <p:cBhvr additive="base">
                                        <p:cTn id="27"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10">
                                            <p:txEl>
                                              <p:pRg st="1" end="1"/>
                                            </p:txEl>
                                          </p:spTgt>
                                        </p:tgtEl>
                                        <p:attrNameLst>
                                          <p:attrName>style.visibility</p:attrName>
                                        </p:attrNameLst>
                                      </p:cBhvr>
                                      <p:to>
                                        <p:strVal val="visible"/>
                                      </p:to>
                                    </p:set>
                                    <p:anim calcmode="lin" valueType="num">
                                      <p:cBhvr additive="base">
                                        <p:cTn id="33" dur="500" fill="hold"/>
                                        <p:tgtEl>
                                          <p:spTgt spid="10">
                                            <p:txEl>
                                              <p:pRg st="1" end="1"/>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10">
                                            <p:txEl>
                                              <p:pRg st="3" end="3"/>
                                            </p:txEl>
                                          </p:spTgt>
                                        </p:tgtEl>
                                        <p:attrNameLst>
                                          <p:attrName>style.visibility</p:attrName>
                                        </p:attrNameLst>
                                      </p:cBhvr>
                                      <p:to>
                                        <p:strVal val="visible"/>
                                      </p:to>
                                    </p:set>
                                    <p:anim calcmode="lin" valueType="num">
                                      <p:cBhvr additive="base">
                                        <p:cTn id="39" dur="500" fill="hold"/>
                                        <p:tgtEl>
                                          <p:spTgt spid="10">
                                            <p:txEl>
                                              <p:pRg st="3" end="3"/>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46239"/>
            <a:ext cx="8701088"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Deleting elements from a Linear Arrays:</a:t>
            </a:r>
            <a:endParaRPr lang="en-US" sz="3600" b="1" dirty="0">
              <a:solidFill>
                <a:srgbClr val="0000CC"/>
              </a:solidFill>
              <a:effectLst>
                <a:outerShdw blurRad="38100" dist="38100" dir="2700000" algn="tl">
                  <a:srgbClr val="000000">
                    <a:alpha val="43137"/>
                  </a:srgbClr>
                </a:outerShdw>
              </a:effectLst>
            </a:endParaRPr>
          </a:p>
        </p:txBody>
      </p:sp>
      <p:sp>
        <p:nvSpPr>
          <p:cNvPr id="6" name="TextBox 5"/>
          <p:cNvSpPr txBox="1"/>
          <p:nvPr/>
        </p:nvSpPr>
        <p:spPr>
          <a:xfrm>
            <a:off x="103031" y="692570"/>
            <a:ext cx="9040969" cy="3046988"/>
          </a:xfrm>
          <a:prstGeom prst="rect">
            <a:avLst/>
          </a:prstGeom>
          <a:noFill/>
        </p:spPr>
        <p:txBody>
          <a:bodyPr wrap="square" rtlCol="0">
            <a:spAutoFit/>
          </a:bodyPr>
          <a:lstStyle/>
          <a:p>
            <a:pPr marL="457200" indent="-457200" algn="just">
              <a:buFont typeface="Wingdings" charset="2"/>
              <a:buChar char="ü"/>
            </a:pPr>
            <a:r>
              <a:rPr lang="en-US" sz="2400" dirty="0"/>
              <a:t>Deleting refers to the operation of removing one of the elements from A.</a:t>
            </a:r>
          </a:p>
          <a:p>
            <a:pPr marL="457200" indent="-457200" algn="just">
              <a:buFont typeface="Wingdings" charset="2"/>
              <a:buChar char="ü"/>
            </a:pPr>
            <a:r>
              <a:rPr lang="en-US" sz="2400" dirty="0"/>
              <a:t>Deleting an element at the “end” of the linear array present no difficulties (</a:t>
            </a:r>
            <a:r>
              <a:rPr lang="en-US" sz="2400" b="1" dirty="0">
                <a:solidFill>
                  <a:srgbClr val="0000CC"/>
                </a:solidFill>
              </a:rPr>
              <a:t>EASILY).</a:t>
            </a:r>
          </a:p>
          <a:p>
            <a:pPr marL="457200" indent="-457200" algn="just">
              <a:buFont typeface="Wingdings" charset="2"/>
              <a:buChar char="ü"/>
            </a:pPr>
            <a:r>
              <a:rPr lang="en-US" sz="2400" dirty="0"/>
              <a:t>But deleting an element somewhere in the middle of the array would require that each of the subsequent element be moved one location upward in order to fill-up the array.</a:t>
            </a:r>
          </a:p>
          <a:p>
            <a:pPr marL="457200" indent="-457200" algn="just">
              <a:buFont typeface="Wingdings" charset="2"/>
              <a:buChar char="ü"/>
            </a:pPr>
            <a:endParaRPr lang="en-US" sz="2400" dirty="0"/>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t="-1229"/>
          <a:stretch/>
        </p:blipFill>
        <p:spPr>
          <a:xfrm rot="16200000">
            <a:off x="2562281" y="1245899"/>
            <a:ext cx="3427026" cy="7598554"/>
          </a:xfrm>
          <a:prstGeom prst="rect">
            <a:avLst/>
          </a:prstGeom>
        </p:spPr>
      </p:pic>
      <p:sp>
        <p:nvSpPr>
          <p:cNvPr id="7" name="Slide Number Placeholder 6"/>
          <p:cNvSpPr>
            <a:spLocks noGrp="1"/>
          </p:cNvSpPr>
          <p:nvPr>
            <p:ph type="sldNum" sz="quarter" idx="12"/>
          </p:nvPr>
        </p:nvSpPr>
        <p:spPr/>
        <p:txBody>
          <a:bodyPr/>
          <a:lstStyle/>
          <a:p>
            <a:fld id="{1FBC1585-C671-4F90-AA0D-FD45AA239D02}" type="slidenum">
              <a:rPr lang="en-US" smtClean="0"/>
              <a:t>19</a:t>
            </a:fld>
            <a:endParaRPr lang="en-US"/>
          </a:p>
        </p:txBody>
      </p:sp>
    </p:spTree>
    <p:extLst>
      <p:ext uri="{BB962C8B-B14F-4D97-AF65-F5344CB8AC3E}">
        <p14:creationId xmlns:p14="http://schemas.microsoft.com/office/powerpoint/2010/main" val="2052478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00050" y="46239"/>
            <a:ext cx="7843199" cy="646331"/>
          </a:xfrm>
          <a:prstGeom prst="rect">
            <a:avLst/>
          </a:prstGeom>
          <a:noFill/>
        </p:spPr>
        <p:txBody>
          <a:bodyPr wrap="square" rtlCol="0">
            <a:spAutoFit/>
          </a:bodyPr>
          <a:lstStyle/>
          <a:p>
            <a:pPr algn="ctr"/>
            <a:r>
              <a:rPr lang="en-US" sz="3600" b="1" dirty="0">
                <a:solidFill>
                  <a:srgbClr val="FF0000"/>
                </a:solidFill>
                <a:effectLst>
                  <a:outerShdw blurRad="38100" dist="38100" dir="2700000" algn="tl">
                    <a:srgbClr val="000000">
                      <a:alpha val="43137"/>
                    </a:srgbClr>
                  </a:outerShdw>
                </a:effectLst>
              </a:rPr>
              <a:t>Deleting elements from a LA: Algorithm</a:t>
            </a:r>
            <a:endParaRPr lang="en-US" sz="3600" b="1" dirty="0">
              <a:solidFill>
                <a:srgbClr val="0000CC"/>
              </a:solidFill>
              <a:effectLst>
                <a:outerShdw blurRad="38100" dist="38100" dir="2700000" algn="tl">
                  <a:srgbClr val="000000">
                    <a:alpha val="43137"/>
                  </a:srgbClr>
                </a:outerShdw>
              </a:effectLst>
            </a:endParaRPr>
          </a:p>
        </p:txBody>
      </p:sp>
      <p:sp>
        <p:nvSpPr>
          <p:cNvPr id="7" name="TextBox 6"/>
          <p:cNvSpPr txBox="1"/>
          <p:nvPr/>
        </p:nvSpPr>
        <p:spPr>
          <a:xfrm>
            <a:off x="90152" y="926934"/>
            <a:ext cx="8917372" cy="3416320"/>
          </a:xfrm>
          <a:prstGeom prst="rect">
            <a:avLst/>
          </a:prstGeom>
          <a:noFill/>
        </p:spPr>
        <p:txBody>
          <a:bodyPr wrap="square" rtlCol="0">
            <a:spAutoFit/>
          </a:bodyPr>
          <a:lstStyle/>
          <a:p>
            <a:r>
              <a:rPr lang="en-US" sz="2800" dirty="0"/>
              <a:t>DELETE(LA, N, K, ITEM)</a:t>
            </a:r>
          </a:p>
          <a:p>
            <a:r>
              <a:rPr lang="en-US" sz="2000" dirty="0"/>
              <a:t>(This algorithm deletes the </a:t>
            </a:r>
            <a:r>
              <a:rPr lang="en-US" sz="2000" dirty="0" err="1"/>
              <a:t>Kth</a:t>
            </a:r>
            <a:r>
              <a:rPr lang="en-US" sz="2000" dirty="0"/>
              <a:t> element from LA)</a:t>
            </a:r>
          </a:p>
          <a:p>
            <a:pPr marL="514350" indent="-514350">
              <a:buFont typeface="+mj-lt"/>
              <a:buAutoNum type="arabicPeriod"/>
            </a:pPr>
            <a:r>
              <a:rPr lang="en-US" sz="2800" dirty="0"/>
              <a:t>Set ITEM:=LA[K]</a:t>
            </a:r>
          </a:p>
          <a:p>
            <a:pPr marL="514350" indent="-514350">
              <a:buFont typeface="+mj-lt"/>
              <a:buAutoNum type="arabicPeriod"/>
            </a:pPr>
            <a:r>
              <a:rPr lang="en-US" sz="2800" dirty="0"/>
              <a:t>Repeat for J=K to N-1:</a:t>
            </a:r>
          </a:p>
          <a:p>
            <a:r>
              <a:rPr lang="en-US" sz="2800" dirty="0"/>
              <a:t>           [Move J+1</a:t>
            </a:r>
            <a:r>
              <a:rPr lang="en-US" sz="2800" baseline="30000" dirty="0"/>
              <a:t>th</a:t>
            </a:r>
            <a:r>
              <a:rPr lang="en-US" sz="2800" dirty="0"/>
              <a:t> element upward.] Set LA[J]:=LA[J+1]</a:t>
            </a:r>
          </a:p>
          <a:p>
            <a:pPr lvl="2"/>
            <a:r>
              <a:rPr lang="en-US" sz="2800" dirty="0"/>
              <a:t>[End of Step 2 loop.]</a:t>
            </a:r>
          </a:p>
          <a:p>
            <a:r>
              <a:rPr lang="en-US" sz="2800" dirty="0"/>
              <a:t>3. [Reset the number N of element in LA] Set N:=N-1.</a:t>
            </a:r>
          </a:p>
          <a:p>
            <a:r>
              <a:rPr lang="en-US" sz="2800" dirty="0"/>
              <a:t>4. Exit.</a:t>
            </a:r>
          </a:p>
        </p:txBody>
      </p:sp>
      <p:sp>
        <p:nvSpPr>
          <p:cNvPr id="6" name="Slide Number Placeholder 5"/>
          <p:cNvSpPr>
            <a:spLocks noGrp="1"/>
          </p:cNvSpPr>
          <p:nvPr>
            <p:ph type="sldNum" sz="quarter" idx="12"/>
          </p:nvPr>
        </p:nvSpPr>
        <p:spPr/>
        <p:txBody>
          <a:bodyPr/>
          <a:lstStyle/>
          <a:p>
            <a:fld id="{1FBC1585-C671-4F90-AA0D-FD45AA239D02}" type="slidenum">
              <a:rPr lang="en-US" smtClean="0"/>
              <a:t>20</a:t>
            </a:fld>
            <a:endParaRPr lang="en-US"/>
          </a:p>
        </p:txBody>
      </p:sp>
    </p:spTree>
    <p:extLst>
      <p:ext uri="{BB962C8B-B14F-4D97-AF65-F5344CB8AC3E}">
        <p14:creationId xmlns:p14="http://schemas.microsoft.com/office/powerpoint/2010/main" val="198724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39440" y="2492870"/>
            <a:ext cx="8229600" cy="1143000"/>
          </a:xfrm>
        </p:spPr>
        <p:txBody>
          <a:bodyPr/>
          <a:lstStyle/>
          <a:p>
            <a:r>
              <a:rPr lang="en-US" b="1" dirty="0">
                <a:effectLst>
                  <a:outerShdw blurRad="38100" dist="38100" dir="2700000" algn="tl">
                    <a:srgbClr val="000000">
                      <a:alpha val="43137"/>
                    </a:srgbClr>
                  </a:outerShdw>
                </a:effectLst>
              </a:rPr>
              <a:t>Thank you……</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2"/>
          </p:nvPr>
        </p:nvSpPr>
        <p:spPr/>
        <p:txBody>
          <a:bodyPr/>
          <a:lstStyle/>
          <a:p>
            <a:fld id="{9E7E0763-8C84-4A0C-BF22-E8FBB0D34350}" type="slidenum">
              <a:rPr lang="en-US" smtClean="0"/>
              <a:pPr/>
              <a:t>21</a:t>
            </a:fld>
            <a:endParaRPr lang="en-US"/>
          </a:p>
        </p:txBody>
      </p:sp>
    </p:spTree>
    <p:extLst>
      <p:ext uri="{BB962C8B-B14F-4D97-AF65-F5344CB8AC3E}">
        <p14:creationId xmlns:p14="http://schemas.microsoft.com/office/powerpoint/2010/main" val="41513196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3.xml><?xml version="1.0" encoding="utf-8"?>
<a:theme xmlns:a="http://schemas.openxmlformats.org/drawingml/2006/main" name="1_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2245</TotalTime>
  <Words>1401</Words>
  <Application>Microsoft Office PowerPoint</Application>
  <PresentationFormat>On-screen Show (4:3)</PresentationFormat>
  <Paragraphs>188</Paragraphs>
  <Slides>21</Slides>
  <Notes>5</Notes>
  <HiddenSlides>0</HiddenSlides>
  <MMClips>0</MMClips>
  <ScaleCrop>false</ScaleCrop>
  <HeadingPairs>
    <vt:vector size="4" baseType="variant">
      <vt:variant>
        <vt:lpstr>Theme</vt:lpstr>
      </vt:variant>
      <vt:variant>
        <vt:i4>4</vt:i4>
      </vt:variant>
      <vt:variant>
        <vt:lpstr>Slide Titles</vt:lpstr>
      </vt:variant>
      <vt:variant>
        <vt:i4>21</vt:i4>
      </vt:variant>
    </vt:vector>
  </HeadingPairs>
  <TitlesOfParts>
    <vt:vector size="25" baseType="lpstr">
      <vt:lpstr>Office Theme</vt:lpstr>
      <vt:lpstr>Slipstream</vt:lpstr>
      <vt:lpstr>1_Slipstream</vt:lpstr>
      <vt:lpstr>3_Office Theme</vt:lpstr>
      <vt:lpstr>Data Structures  ICT-1211  Information and Communication Technology</vt:lpstr>
      <vt:lpstr> Arrays, Records and Pointers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Dulal Sir</cp:lastModifiedBy>
  <cp:revision>291</cp:revision>
  <dcterms:created xsi:type="dcterms:W3CDTF">2016-12-28T08:52:04Z</dcterms:created>
  <dcterms:modified xsi:type="dcterms:W3CDTF">2025-07-08T08:37:20Z</dcterms:modified>
</cp:coreProperties>
</file>