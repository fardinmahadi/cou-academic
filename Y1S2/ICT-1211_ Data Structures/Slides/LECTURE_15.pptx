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4"/>
  </p:notesMasterIdLst>
  <p:sldIdLst>
    <p:sldId id="345" r:id="rId4"/>
    <p:sldId id="416" r:id="rId5"/>
    <p:sldId id="414" r:id="rId6"/>
    <p:sldId id="404" r:id="rId7"/>
    <p:sldId id="405" r:id="rId8"/>
    <p:sldId id="421" r:id="rId9"/>
    <p:sldId id="417" r:id="rId10"/>
    <p:sldId id="418" r:id="rId11"/>
    <p:sldId id="419" r:id="rId12"/>
    <p:sldId id="42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9" autoAdjust="0"/>
    <p:restoredTop sz="92153" autoAdjust="0"/>
  </p:normalViewPr>
  <p:slideViewPr>
    <p:cSldViewPr snapToGrid="0">
      <p:cViewPr varScale="1">
        <p:scale>
          <a:sx n="81" d="100"/>
          <a:sy n="81" d="100"/>
        </p:scale>
        <p:origin x="125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0268-8CD4-504F-ABA5-1C9CCA49C623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1D01-1B9F-7C40-813B-513D0EDB4DAD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0D1A-2EA3-3343-AAB9-1846DE5CAD5F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41DD-39D0-5B4D-9046-B63EFFC59727}" type="datetime1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697D-3C77-404E-BF10-67BDD1040D45}" type="datetime1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9DE7-D140-8942-81CE-278DE9DEC074}" type="datetime1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0E96-8730-7547-8D85-86E2E04695A6}" type="datetime1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C598-C370-B048-9E1F-CBD36421979E}" type="datetime1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6CB3-5715-E34A-A7C1-F5A05382CE93}" type="datetime1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2211-647A-3D45-8976-B84E1F718B75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B15-D269-024B-997D-E9A8A37476E1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689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499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646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495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231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410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387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394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464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054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3364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01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31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365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542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221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15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997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277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82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8447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777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24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4F56B-6E71-E14F-82F4-B249D7839BE9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69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11/08/2025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24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Lecture-15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Date: </a:t>
            </a:r>
            <a:r>
              <a:rPr lang="en-US" sz="3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en-US" sz="32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03560" y="1700760"/>
            <a:ext cx="6511925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Linked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61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7994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TWO other variations of LINKED LIST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0" y="557882"/>
            <a:ext cx="914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/>
              <a:t>A linked list whose last node points back to the first node instead of containing the null pointer, called a </a:t>
            </a:r>
            <a:r>
              <a:rPr lang="en-US" sz="2800" i="1" dirty="0"/>
              <a:t>circular list</a:t>
            </a:r>
            <a:r>
              <a:rPr lang="en-US" sz="2800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/>
              <a:t>A linked list which contain both a special header node at the beginning of the list and a special trailer node at the end of the list.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5" b="13081"/>
          <a:stretch/>
        </p:blipFill>
        <p:spPr>
          <a:xfrm>
            <a:off x="896989" y="3936516"/>
            <a:ext cx="6206455" cy="277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3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42855" y="1156888"/>
            <a:ext cx="2598933" cy="8772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682" y="-26893"/>
            <a:ext cx="7966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TWO-WAY </a:t>
            </a:r>
            <a:r>
              <a:rPr lang="en-US" sz="3200" dirty="0">
                <a:solidFill>
                  <a:srgbClr val="FF0000"/>
                </a:solidFill>
              </a:rPr>
              <a:t>LISTS: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1205" y="527461"/>
            <a:ext cx="90075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A two-way list is a linear collection of data elements, called            nodes, where each node N is divided into three parts: </a:t>
            </a:r>
          </a:p>
          <a:p>
            <a:pPr marL="457200" indent="-457200" algn="just">
              <a:lnSpc>
                <a:spcPct val="150000"/>
              </a:lnSpc>
              <a:buAutoNum type="arabicParenBoth"/>
            </a:pPr>
            <a:r>
              <a:rPr lang="en-US" sz="2400" dirty="0"/>
              <a:t>An information field INFO which contains the data of N</a:t>
            </a:r>
          </a:p>
          <a:p>
            <a:pPr marL="457200" indent="-457200" algn="just">
              <a:lnSpc>
                <a:spcPct val="150000"/>
              </a:lnSpc>
              <a:buAutoNum type="arabicParenBoth"/>
            </a:pPr>
            <a:r>
              <a:rPr lang="en-US" sz="2400" dirty="0"/>
              <a:t>A pointer field FORW which contains the location of the next node in the list</a:t>
            </a:r>
          </a:p>
          <a:p>
            <a:pPr marL="457200" indent="-457200" algn="just">
              <a:lnSpc>
                <a:spcPct val="150000"/>
              </a:lnSpc>
              <a:buAutoNum type="arabicParenBoth"/>
            </a:pPr>
            <a:r>
              <a:rPr lang="en-US" sz="2400" dirty="0"/>
              <a:t>A pointer field BACK which contain the location of the preceding node in the list.</a:t>
            </a:r>
          </a:p>
        </p:txBody>
      </p:sp>
    </p:spTree>
    <p:extLst>
      <p:ext uri="{BB962C8B-B14F-4D97-AF65-F5344CB8AC3E}">
        <p14:creationId xmlns:p14="http://schemas.microsoft.com/office/powerpoint/2010/main" val="197127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050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TWO-WAY LISTS: Operations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285633" y="-1964886"/>
            <a:ext cx="2123548" cy="80919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0682" y="500606"/>
            <a:ext cx="2043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Deleting: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293" y="3104509"/>
            <a:ext cx="2043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Inserting: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4" t="1480" b="4206"/>
          <a:stretch/>
        </p:blipFill>
        <p:spPr>
          <a:xfrm rot="16200000">
            <a:off x="3262642" y="1527215"/>
            <a:ext cx="3200305" cy="72782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108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12775"/>
            <a:ext cx="802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Two way Linked LISTS: Delete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569" y="836781"/>
            <a:ext cx="884075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CC"/>
                </a:solidFill>
              </a:rPr>
              <a:t>FORW [</a:t>
            </a:r>
            <a:r>
              <a:rPr lang="en-US" sz="2400" dirty="0">
                <a:solidFill>
                  <a:srgbClr val="FF0000"/>
                </a:solidFill>
              </a:rPr>
              <a:t>BACK</a:t>
            </a:r>
            <a:r>
              <a:rPr lang="en-US" sz="2400" dirty="0">
                <a:solidFill>
                  <a:srgbClr val="0000CC"/>
                </a:solidFill>
              </a:rPr>
              <a:t>  [LOC] ]  : = FORW [LOC] </a:t>
            </a:r>
            <a:r>
              <a:rPr lang="en-US" sz="2400" dirty="0"/>
              <a:t>and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 BACK </a:t>
            </a:r>
            <a:r>
              <a:rPr lang="en-US" sz="2400" dirty="0">
                <a:solidFill>
                  <a:srgbClr val="0000CC"/>
                </a:solidFill>
              </a:rPr>
              <a:t>[FORW  [LOC] ]  : = </a:t>
            </a:r>
            <a:r>
              <a:rPr lang="en-US" sz="2400" dirty="0">
                <a:solidFill>
                  <a:srgbClr val="FF0000"/>
                </a:solidFill>
              </a:rPr>
              <a:t>BACK </a:t>
            </a:r>
            <a:r>
              <a:rPr lang="en-US" sz="2400" dirty="0">
                <a:solidFill>
                  <a:srgbClr val="0000CC"/>
                </a:solidFill>
              </a:rPr>
              <a:t>[LOC] 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/>
              <a:t>The deleted node N is then returned to the AVAIL list by the following assignment: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0000CC"/>
                </a:solidFill>
              </a:rPr>
              <a:t>FORW [LOC]  : =  AVAIL  </a:t>
            </a:r>
            <a:r>
              <a:rPr lang="en-US" sz="2400" dirty="0"/>
              <a:t>and</a:t>
            </a:r>
            <a:r>
              <a:rPr lang="en-US" sz="2400" dirty="0">
                <a:solidFill>
                  <a:srgbClr val="0000CC"/>
                </a:solidFill>
              </a:rPr>
              <a:t> AVAIL : = LOC</a:t>
            </a:r>
            <a:endParaRPr lang="en-US" sz="24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prstClr val="black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3" y="4696949"/>
            <a:ext cx="7175500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4700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12775"/>
            <a:ext cx="802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Two way Linked LISTS: Delete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569" y="836781"/>
            <a:ext cx="884075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DELTWL (INFO, FORW, BACK, START, AVAIL, LOC) 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(Deletes the node N from List.)</a:t>
            </a:r>
            <a:endParaRPr lang="en-US" sz="28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Step1.   [Delete node]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	Set </a:t>
            </a:r>
            <a:r>
              <a:rPr lang="en-US" sz="2400" dirty="0">
                <a:solidFill>
                  <a:srgbClr val="0000CC"/>
                </a:solidFill>
              </a:rPr>
              <a:t>FORW [BACK  [LOC] ]  : = FORW [LOC] </a:t>
            </a:r>
            <a:r>
              <a:rPr lang="en-US" sz="2400" dirty="0"/>
              <a:t>and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	Set </a:t>
            </a:r>
            <a:r>
              <a:rPr lang="en-US" sz="2400" dirty="0">
                <a:solidFill>
                  <a:srgbClr val="0000CC"/>
                </a:solidFill>
              </a:rPr>
              <a:t>BACK [FORW  [LOC] ]  : = BACK [LOC]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Step2. [Return node to Avail List ]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	Set </a:t>
            </a:r>
            <a:r>
              <a:rPr lang="en-US" sz="2400" dirty="0">
                <a:solidFill>
                  <a:srgbClr val="0000CC"/>
                </a:solidFill>
              </a:rPr>
              <a:t>FORW [LOC]  : =  AVAIL  </a:t>
            </a:r>
            <a:r>
              <a:rPr lang="en-US" sz="2400" dirty="0"/>
              <a:t>and</a:t>
            </a:r>
            <a:r>
              <a:rPr lang="en-US" sz="2400" dirty="0">
                <a:solidFill>
                  <a:srgbClr val="0000CC"/>
                </a:solidFill>
              </a:rPr>
              <a:t> AVAIL : = LOC</a:t>
            </a:r>
            <a:endParaRPr lang="en-US" sz="24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Step3. Exit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9" y="5016335"/>
            <a:ext cx="2043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Deleting: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739" y="4632373"/>
            <a:ext cx="7177975" cy="200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550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12775"/>
            <a:ext cx="802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Two way Linked LISTS: Insert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569" y="836781"/>
            <a:ext cx="88407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NEW : = AVAIL,    AVAIL : = FORW [AVAIL],   INFO [NEW] : = ITEM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Then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CC"/>
                </a:solidFill>
              </a:rPr>
              <a:t>FORW [</a:t>
            </a:r>
            <a:r>
              <a:rPr lang="en-US" sz="2400" b="1" dirty="0">
                <a:solidFill>
                  <a:srgbClr val="FF0000"/>
                </a:solidFill>
              </a:rPr>
              <a:t>LOCA</a:t>
            </a:r>
            <a:r>
              <a:rPr lang="en-US" sz="2400" dirty="0">
                <a:solidFill>
                  <a:srgbClr val="0000CC"/>
                </a:solidFill>
              </a:rPr>
              <a:t>] : = NEW,          FORW [</a:t>
            </a:r>
            <a:r>
              <a:rPr lang="en-US" sz="2400" b="1" dirty="0">
                <a:solidFill>
                  <a:srgbClr val="FF0000"/>
                </a:solidFill>
              </a:rPr>
              <a:t>NEW</a:t>
            </a:r>
            <a:r>
              <a:rPr lang="en-US" sz="2400" dirty="0">
                <a:solidFill>
                  <a:srgbClr val="0000CC"/>
                </a:solidFill>
              </a:rPr>
              <a:t>] : = LOCB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CC"/>
                </a:solidFill>
              </a:rPr>
              <a:t>BACK [</a:t>
            </a:r>
            <a:r>
              <a:rPr lang="en-US" sz="2400" b="1" dirty="0">
                <a:solidFill>
                  <a:srgbClr val="FF0000"/>
                </a:solidFill>
              </a:rPr>
              <a:t>LOCB</a:t>
            </a:r>
            <a:r>
              <a:rPr lang="en-US" sz="2400" dirty="0">
                <a:solidFill>
                  <a:srgbClr val="0000CC"/>
                </a:solidFill>
              </a:rPr>
              <a:t>] : = NEW,            BACK [</a:t>
            </a:r>
            <a:r>
              <a:rPr lang="en-US" sz="2400" b="1" dirty="0">
                <a:solidFill>
                  <a:srgbClr val="FF0000"/>
                </a:solidFill>
              </a:rPr>
              <a:t>NEW</a:t>
            </a:r>
            <a:r>
              <a:rPr lang="en-US" sz="2400" dirty="0">
                <a:solidFill>
                  <a:srgbClr val="0000CC"/>
                </a:solidFill>
              </a:rPr>
              <a:t>] : = LOCA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prstClr val="black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78" y="3373560"/>
            <a:ext cx="7351713" cy="327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9016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12775"/>
            <a:ext cx="802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Two way Linked LISTS: Insert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569" y="836781"/>
            <a:ext cx="884075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INSTWL (INFO, FORW, BACK, START, AVAIL, LOCA, LOCB, ITEM) 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(Insert the node N  to the List.)</a:t>
            </a:r>
            <a:endParaRPr lang="en-US" sz="28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Step1.   [OVERFLOW?]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	   If AVAIL := NULL,   then:    Write: OVERFLOW, and Exit.</a:t>
            </a:r>
            <a:endParaRPr lang="en-US" sz="24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Step2. [</a:t>
            </a:r>
            <a:r>
              <a:rPr lang="en-US" sz="2200" dirty="0">
                <a:solidFill>
                  <a:prstClr val="black"/>
                </a:solidFill>
              </a:rPr>
              <a:t>Remove node from AVAIL list and copy the new data into node</a:t>
            </a:r>
            <a:r>
              <a:rPr lang="en-US" sz="2400" dirty="0">
                <a:solidFill>
                  <a:prstClr val="black"/>
                </a:solidFill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	Set </a:t>
            </a:r>
            <a:r>
              <a:rPr lang="en-US" sz="2400" dirty="0">
                <a:solidFill>
                  <a:srgbClr val="0000CC"/>
                </a:solidFill>
              </a:rPr>
              <a:t>NEW := AVAIL , AVAIL := FORW [AVAIL], INFO [NEW]:= ITEM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Step3. [Insert  node into list.]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	 Set </a:t>
            </a:r>
            <a:r>
              <a:rPr lang="en-US" sz="2400" dirty="0">
                <a:solidFill>
                  <a:srgbClr val="0000CC"/>
                </a:solidFill>
              </a:rPr>
              <a:t>FORW [LOCA ] : = NEW,    FORW [NEW] : = LOCB,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CC"/>
                </a:solidFill>
              </a:rPr>
              <a:t>	        BACK [LOCB] : = NEW,   BACK [NEW] : = LOCA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Step4. Exit</a:t>
            </a:r>
          </a:p>
        </p:txBody>
      </p:sp>
    </p:spTree>
    <p:extLst>
      <p:ext uri="{BB962C8B-B14F-4D97-AF65-F5344CB8AC3E}">
        <p14:creationId xmlns:p14="http://schemas.microsoft.com/office/powerpoint/2010/main" val="352838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0966" y="2774224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7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2954</TotalTime>
  <Words>347</Words>
  <Application>Microsoft Office PowerPoint</Application>
  <PresentationFormat>On-screen Show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ＭＳ Ｐゴシック</vt:lpstr>
      <vt:lpstr>Arial</vt:lpstr>
      <vt:lpstr>Calibri</vt:lpstr>
      <vt:lpstr>Calibri Light</vt:lpstr>
      <vt:lpstr>Georgia</vt:lpstr>
      <vt:lpstr>Times New Roman</vt:lpstr>
      <vt:lpstr>Trebuchet MS</vt:lpstr>
      <vt:lpstr>Office Theme</vt:lpstr>
      <vt:lpstr>Slipstream</vt:lpstr>
      <vt:lpstr>3_Office Theme</vt:lpstr>
      <vt:lpstr>Data Structures  ICT-1211  Information and Communication Technology</vt:lpstr>
      <vt:lpstr> Linked 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ICT CHAIRMAN</cp:lastModifiedBy>
  <cp:revision>334</cp:revision>
  <dcterms:created xsi:type="dcterms:W3CDTF">2016-12-28T08:52:04Z</dcterms:created>
  <dcterms:modified xsi:type="dcterms:W3CDTF">2025-08-11T14:22:41Z</dcterms:modified>
</cp:coreProperties>
</file>