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9" r:id="rId2"/>
    <p:sldMasterId id="2147483673" r:id="rId3"/>
    <p:sldMasterId id="2147483697" r:id="rId4"/>
    <p:sldMasterId id="2147483917" r:id="rId5"/>
    <p:sldMasterId id="2147483930" r:id="rId6"/>
    <p:sldMasterId id="2147483942" r:id="rId7"/>
    <p:sldMasterId id="2147483954" r:id="rId8"/>
  </p:sldMasterIdLst>
  <p:notesMasterIdLst>
    <p:notesMasterId r:id="rId37"/>
  </p:notesMasterIdLst>
  <p:handoutMasterIdLst>
    <p:handoutMasterId r:id="rId38"/>
  </p:handoutMasterIdLst>
  <p:sldIdLst>
    <p:sldId id="345" r:id="rId9"/>
    <p:sldId id="487" r:id="rId10"/>
    <p:sldId id="539" r:id="rId11"/>
    <p:sldId id="540" r:id="rId12"/>
    <p:sldId id="541" r:id="rId13"/>
    <p:sldId id="514" r:id="rId14"/>
    <p:sldId id="517" r:id="rId15"/>
    <p:sldId id="519" r:id="rId16"/>
    <p:sldId id="520" r:id="rId17"/>
    <p:sldId id="521" r:id="rId18"/>
    <p:sldId id="518" r:id="rId19"/>
    <p:sldId id="522" r:id="rId20"/>
    <p:sldId id="524" r:id="rId21"/>
    <p:sldId id="523" r:id="rId22"/>
    <p:sldId id="525" r:id="rId23"/>
    <p:sldId id="526" r:id="rId24"/>
    <p:sldId id="527" r:id="rId25"/>
    <p:sldId id="529" r:id="rId26"/>
    <p:sldId id="530" r:id="rId27"/>
    <p:sldId id="531" r:id="rId28"/>
    <p:sldId id="532" r:id="rId29"/>
    <p:sldId id="533" r:id="rId30"/>
    <p:sldId id="534" r:id="rId31"/>
    <p:sldId id="535" r:id="rId32"/>
    <p:sldId id="536" r:id="rId33"/>
    <p:sldId id="537" r:id="rId34"/>
    <p:sldId id="538" r:id="rId35"/>
    <p:sldId id="435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FA9B9D-EBA2-484A-BEBB-C985D39332FA}">
          <p14:sldIdLst>
            <p14:sldId id="345"/>
            <p14:sldId id="487"/>
            <p14:sldId id="539"/>
            <p14:sldId id="540"/>
            <p14:sldId id="541"/>
            <p14:sldId id="514"/>
            <p14:sldId id="517"/>
            <p14:sldId id="519"/>
            <p14:sldId id="520"/>
            <p14:sldId id="521"/>
            <p14:sldId id="518"/>
            <p14:sldId id="522"/>
            <p14:sldId id="524"/>
            <p14:sldId id="523"/>
            <p14:sldId id="525"/>
            <p14:sldId id="526"/>
            <p14:sldId id="527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435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04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0000"/>
    <a:srgbClr val="CCECFF"/>
    <a:srgbClr val="FFFF66"/>
    <a:srgbClr val="FF5050"/>
    <a:srgbClr val="CCFF33"/>
    <a:srgbClr val="99FF99"/>
    <a:srgbClr val="FF9933"/>
    <a:srgbClr val="E1B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85385" autoAdjust="0"/>
  </p:normalViewPr>
  <p:slideViewPr>
    <p:cSldViewPr>
      <p:cViewPr varScale="1">
        <p:scale>
          <a:sx n="62" d="100"/>
          <a:sy n="62" d="100"/>
        </p:scale>
        <p:origin x="-1362" y="-90"/>
      </p:cViewPr>
      <p:guideLst>
        <p:guide orient="horz" pos="204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5B3E0D0-1152-4589-91DF-203E7BB440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602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2D14C573-AC46-4D06-93FF-47369F34E5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5038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42F94-761A-4B1B-B963-538E812BA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36501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4E988-DFC5-4FEC-8838-7F8B84C210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91731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23C8D-3E3D-4A36-9AAB-59652C03E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69931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238F6-0243-49FF-AE47-783FBF2D5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53112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D4513-2C2A-4633-9A8D-4A862FD60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31205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5A9A8-1A92-4E66-B34C-04E835A7E1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28335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CC087-243C-4087-980E-AAEA0E7BE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36552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06260-6C4C-4786-B72E-7A871EAEE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97348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C295B-B928-42B2-BB40-AB19BC45E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94765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1022C-6757-429C-856D-0F3DE0678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60825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C35CF-FF5D-4C47-BC07-14DE2D709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56478"/>
      </p:ext>
    </p:extLst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F3D0C-A43E-49B8-80CE-2479664D5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5530"/>
      </p:ext>
    </p:extLst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A2202-F55D-421F-B21A-E672BD730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5370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F8116-451F-45F8-98EF-A163DB10B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1675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719C9-BA41-4E7F-8A20-8A838622C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59144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2E43F-022D-4C54-BC37-A0ECB85C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12442"/>
      </p:ext>
    </p:extLst>
  </p:cSld>
  <p:clrMapOvr>
    <a:masterClrMapping/>
  </p:clrMapOvr>
  <p:transition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B95BA-5BBC-4564-9076-5E5080EF3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91365"/>
      </p:ext>
    </p:extLst>
  </p:cSld>
  <p:clrMapOvr>
    <a:masterClrMapping/>
  </p:clrMapOvr>
  <p:transition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FC9B2-29AA-4B94-AB49-6847134DD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66111"/>
      </p:ext>
    </p:extLst>
  </p:cSld>
  <p:clrMapOvr>
    <a:masterClrMapping/>
  </p:clrMapOvr>
  <p:transition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60A7C-5636-4F75-BE19-4C9478B1FD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04199"/>
      </p:ext>
    </p:extLst>
  </p:cSld>
  <p:clrMapOvr>
    <a:masterClrMapping/>
  </p:clrMapOvr>
  <p:transition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16398-3C8C-4FA8-A597-B8FF5A9307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58780"/>
      </p:ext>
    </p:extLst>
  </p:cSld>
  <p:clrMapOvr>
    <a:masterClrMapping/>
  </p:clrMapOvr>
  <p:transition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4C004-F925-4C08-8C63-FCB1669604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63563"/>
      </p:ext>
    </p:extLst>
  </p:cSld>
  <p:clrMapOvr>
    <a:masterClrMapping/>
  </p:clrMapOvr>
  <p:transition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60B2A-46B2-4F00-982E-8B26E61716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89641"/>
      </p:ext>
    </p:extLst>
  </p:cSld>
  <p:clrMapOvr>
    <a:masterClrMapping/>
  </p:clrMapOvr>
  <p:transition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14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010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2564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07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9142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3645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123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15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7113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7783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419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20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4268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5508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28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246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1473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6290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72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8701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2714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076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293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201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210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59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520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00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838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907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715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053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66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09/07/2025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129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119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48952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0999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5420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6548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6368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7183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55055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519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8979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539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55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5178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2876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7189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83541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5534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20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3959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2536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0343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5140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048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4609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53204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91817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8800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7431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6444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7031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40475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89956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83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CD0D545F-5054-415D-A4CB-4ECB580E1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22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086D4231-D39F-433C-9620-0AAE50D9C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pPr defTabSz="449263" eaLnBrk="0" hangingPunct="0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1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61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fld id="{8A24BF4C-9CA2-423E-B4F6-7F55918723CE}" type="datetime1">
              <a:rPr lang="fr-FR" smtClean="0">
                <a:ea typeface="ＭＳ Ｐゴシック" charset="-128"/>
                <a:cs typeface="+mn-cs"/>
              </a:rPr>
              <a:pPr defTabSz="457200"/>
              <a:t>09/07/2025</a:t>
            </a:fld>
            <a:endParaRPr lang="en-US">
              <a:ea typeface="ＭＳ Ｐゴシック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endParaRPr lang="en-US">
              <a:ea typeface="ＭＳ Ｐゴシック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fld id="{AE2053D5-6219-41C3-8D16-FE99C84E3D09}" type="slidenum">
              <a:rPr lang="en-US" smtClean="0">
                <a:ea typeface="ＭＳ Ｐゴシック" charset="-128"/>
                <a:cs typeface="+mn-cs"/>
              </a:rPr>
              <a:pPr defTabSz="457200"/>
              <a:t>‹#›</a:t>
            </a:fld>
            <a:endParaRPr lang="en-US"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18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67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742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977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Lecture-05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146331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234885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String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10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Substring:</a:t>
            </a:r>
          </a:p>
          <a:p>
            <a:pPr marL="0" indent="0" algn="just">
              <a:buNone/>
            </a:pPr>
            <a:r>
              <a:rPr lang="en-US" sz="2800" dirty="0">
                <a:cs typeface="Times New Roman" pitchFamily="18" charset="0"/>
              </a:rPr>
              <a:t>Accessing a substring from a given string requires 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three pieces of information</a:t>
            </a:r>
            <a:r>
              <a:rPr lang="en-US" sz="2800" dirty="0">
                <a:cs typeface="Times New Roman" pitchFamily="18" charset="0"/>
              </a:rPr>
              <a:t>: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cs typeface="Times New Roman" pitchFamily="18" charset="0"/>
              </a:rPr>
              <a:t>The name of the string or the string itself.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cs typeface="Times New Roman" pitchFamily="18" charset="0"/>
              </a:rPr>
              <a:t>The position of the first character of the substring in the given string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cs typeface="Times New Roman" pitchFamily="18" charset="0"/>
              </a:rPr>
              <a:t>The length of the substring of the position of the last character of the substring.</a:t>
            </a:r>
          </a:p>
          <a:p>
            <a:pPr marL="0" indent="0" algn="just">
              <a:buNone/>
            </a:pPr>
            <a:r>
              <a:rPr lang="en-US" sz="2600" dirty="0">
                <a:cs typeface="Times New Roman" pitchFamily="18" charset="0"/>
              </a:rPr>
              <a:t>We call this operation SUBSTRING. Specially we can write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 (string, initial, length)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05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 (string, initial, length)</a:t>
            </a:r>
          </a:p>
          <a:p>
            <a:pPr marL="0" indent="0" algn="ctr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70" y="3025517"/>
            <a:ext cx="8577316" cy="161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026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430" y="0"/>
            <a:ext cx="8229600" cy="6926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680"/>
            <a:ext cx="8229600" cy="52567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90" y="836640"/>
            <a:ext cx="5832810" cy="327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89" y="4141110"/>
            <a:ext cx="5832811" cy="261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927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Indexing: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Indexing, also called </a:t>
            </a:r>
            <a:r>
              <a:rPr lang="en-US" i="1" dirty="0">
                <a:solidFill>
                  <a:srgbClr val="FF0000"/>
                </a:solidFill>
                <a:cs typeface="Times New Roman" pitchFamily="18" charset="0"/>
              </a:rPr>
              <a:t>pattern matching</a:t>
            </a:r>
            <a:r>
              <a:rPr lang="en-US" dirty="0">
                <a:cs typeface="Times New Roman" pitchFamily="18" charset="0"/>
              </a:rPr>
              <a:t>, refers to finding the position where a string pattern P first appears in a given string text T. 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We call this operation INDEX and write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INDEX (text, pattern)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If the pattern P does not appear in the text T, then INDEX is assigned the value 0. The arguments “text” and “pattern” can be either string or string variables.</a:t>
            </a: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025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Indexing:</a:t>
            </a:r>
            <a:endParaRPr lang="en-US" dirty="0"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INDEX (text, pattern)</a:t>
            </a:r>
          </a:p>
          <a:p>
            <a:pPr marL="0" indent="0">
              <a:buNone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0" y="2599940"/>
            <a:ext cx="8929240" cy="2018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596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1960"/>
            <a:ext cx="8229600" cy="48999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50" y="836640"/>
            <a:ext cx="7921100" cy="3128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50" y="3933069"/>
            <a:ext cx="7908900" cy="147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015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1960"/>
            <a:ext cx="8229600" cy="48999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10" y="692620"/>
            <a:ext cx="4104570" cy="596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81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1960"/>
            <a:ext cx="8229600" cy="87669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0" y="1412720"/>
            <a:ext cx="8747553" cy="3024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394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00"/>
                <a:ext cx="8229600" cy="511271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u="sng" dirty="0">
                    <a:solidFill>
                      <a:srgbClr val="0000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itchFamily="18" charset="0"/>
                  </a:rPr>
                  <a:t>Concatenation:</a:t>
                </a:r>
              </a:p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be strings. The string consisting of the characters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is called the 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concatenation</a:t>
                </a:r>
                <a:r>
                  <a:rPr lang="en-US" dirty="0">
                    <a:cs typeface="Times New Roman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dirty="0"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It will be denoted by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00CC"/>
                    </a:solidFill>
                    <a:cs typeface="Times New Roman" pitchFamily="18" charset="0"/>
                  </a:rPr>
                  <a:t> //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00CC"/>
                    </a:solidFill>
                    <a:cs typeface="Times New Roman" pitchFamily="18" charset="0"/>
                  </a:rPr>
                  <a:t>.</a:t>
                </a:r>
                <a:endParaRPr lang="en-US" b="1" i="1" dirty="0"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endParaRPr lang="en-US" dirty="0">
                  <a:solidFill>
                    <a:srgbClr val="0000CC"/>
                  </a:solidFill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00"/>
                <a:ext cx="8229600" cy="5112710"/>
              </a:xfrm>
              <a:blipFill rotWithShape="1">
                <a:blip r:embed="rId3"/>
                <a:stretch>
                  <a:fillRect l="-2000" t="-1669" r="-3037" b="-14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04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Concatenation: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20" y="2276839"/>
            <a:ext cx="8425170" cy="248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7704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420" y="12160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410" y="800708"/>
            <a:ext cx="6912960" cy="594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636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Length: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The number of characters in a string is called its length. We will write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		    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LENGTH(string)</a:t>
            </a: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0" y="3645030"/>
            <a:ext cx="8386395" cy="2448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2852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25720" y="188550"/>
            <a:ext cx="8229600" cy="56200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90" y="908650"/>
            <a:ext cx="6696930" cy="5760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299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The operations usually associated with word processing are the following:</a:t>
            </a:r>
          </a:p>
          <a:p>
            <a:pPr marL="914400" lvl="1" indent="-514350" algn="just">
              <a:buAutoNum type="alphaLcPeriod"/>
            </a:pP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Insertion:</a:t>
            </a:r>
            <a:r>
              <a:rPr lang="en-US" sz="3200" dirty="0">
                <a:cs typeface="Times New Roman" pitchFamily="18" charset="0"/>
              </a:rPr>
              <a:t> Inserting a string in the middle of the text.</a:t>
            </a:r>
          </a:p>
          <a:p>
            <a:pPr marL="914400" lvl="1" indent="-514350" algn="just">
              <a:buAutoNum type="alphaLcPeriod"/>
            </a:pP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Deletion:</a:t>
            </a:r>
            <a:r>
              <a:rPr lang="en-US" sz="3200" dirty="0">
                <a:cs typeface="Times New Roman" pitchFamily="18" charset="0"/>
              </a:rPr>
              <a:t> Deleting a string from the text.</a:t>
            </a:r>
          </a:p>
          <a:p>
            <a:pPr marL="914400" lvl="1" indent="-514350" algn="just">
              <a:buAutoNum type="alphaLcPeriod"/>
            </a:pP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Replacement:</a:t>
            </a:r>
            <a:r>
              <a:rPr lang="en-US" sz="3200" dirty="0">
                <a:cs typeface="Times New Roman" pitchFamily="18" charset="0"/>
              </a:rPr>
              <a:t> Replacing one string in the text by another.</a:t>
            </a:r>
            <a:endParaRPr lang="en-US" sz="3200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310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Insertion:</a:t>
            </a:r>
          </a:p>
          <a:p>
            <a:pPr marL="0" indent="0" algn="just">
              <a:buNone/>
            </a:pPr>
            <a:r>
              <a:rPr lang="en-US" dirty="0"/>
              <a:t>Suppose in a given text T we want to insert a string S so that S begins in position K. We  denote this operation by</a:t>
            </a:r>
          </a:p>
          <a:p>
            <a:pPr marL="0" indent="0" algn="just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00CC"/>
                </a:solidFill>
              </a:rPr>
              <a:t>INSERT(text, position, string)</a:t>
            </a:r>
          </a:p>
          <a:p>
            <a:pPr marL="0" indent="0" algn="just">
              <a:buNone/>
            </a:pPr>
            <a:r>
              <a:rPr lang="en-US" b="1" u="sng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INSERT( ‘</a:t>
            </a:r>
            <a:r>
              <a:rPr lang="en-US" dirty="0">
                <a:solidFill>
                  <a:srgbClr val="0000CC"/>
                </a:solidFill>
              </a:rPr>
              <a:t>ABCDEFG</a:t>
            </a:r>
            <a:r>
              <a:rPr lang="en-US" dirty="0"/>
              <a:t>’, 3, ‘</a:t>
            </a:r>
            <a:r>
              <a:rPr lang="en-US" dirty="0">
                <a:solidFill>
                  <a:srgbClr val="FF0000"/>
                </a:solidFill>
              </a:rPr>
              <a:t>XYZ</a:t>
            </a:r>
            <a:r>
              <a:rPr lang="en-US" dirty="0"/>
              <a:t>’ ) = ‘</a:t>
            </a:r>
            <a:r>
              <a:rPr lang="en-US" dirty="0">
                <a:solidFill>
                  <a:srgbClr val="0000CC"/>
                </a:solidFill>
              </a:rPr>
              <a:t>AB</a:t>
            </a:r>
            <a:r>
              <a:rPr lang="en-US" dirty="0">
                <a:solidFill>
                  <a:srgbClr val="FF0000"/>
                </a:solidFill>
              </a:rPr>
              <a:t>XYZ</a:t>
            </a:r>
            <a:r>
              <a:rPr lang="en-US" dirty="0">
                <a:solidFill>
                  <a:srgbClr val="0000CC"/>
                </a:solidFill>
              </a:rPr>
              <a:t>CDEFG</a:t>
            </a:r>
            <a:r>
              <a:rPr lang="en-US" dirty="0"/>
              <a:t>’</a:t>
            </a:r>
          </a:p>
          <a:p>
            <a:pPr marL="0" indent="0" algn="just">
              <a:buNone/>
            </a:pPr>
            <a:r>
              <a:rPr lang="en-US" dirty="0"/>
              <a:t>INSERT( ‘</a:t>
            </a:r>
            <a:r>
              <a:rPr lang="en-US" dirty="0">
                <a:solidFill>
                  <a:srgbClr val="0000CC"/>
                </a:solidFill>
              </a:rPr>
              <a:t>ABCDEFG</a:t>
            </a:r>
            <a:r>
              <a:rPr lang="en-US" dirty="0"/>
              <a:t>’, 6, ‘</a:t>
            </a:r>
            <a:r>
              <a:rPr lang="en-US" dirty="0">
                <a:solidFill>
                  <a:srgbClr val="FF0000"/>
                </a:solidFill>
              </a:rPr>
              <a:t>XYZ</a:t>
            </a:r>
            <a:r>
              <a:rPr lang="en-US" dirty="0"/>
              <a:t>’ ) = ‘</a:t>
            </a:r>
            <a:r>
              <a:rPr lang="en-US" dirty="0">
                <a:solidFill>
                  <a:srgbClr val="0000CC"/>
                </a:solidFill>
              </a:rPr>
              <a:t>ABCDE</a:t>
            </a:r>
            <a:r>
              <a:rPr lang="en-US" dirty="0">
                <a:solidFill>
                  <a:srgbClr val="FF0000"/>
                </a:solidFill>
              </a:rPr>
              <a:t>XYZ</a:t>
            </a:r>
            <a:r>
              <a:rPr lang="en-US" dirty="0">
                <a:solidFill>
                  <a:srgbClr val="0000CC"/>
                </a:solidFill>
              </a:rPr>
              <a:t>FG</a:t>
            </a:r>
            <a:r>
              <a:rPr lang="en-US" dirty="0"/>
              <a:t>’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972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0545" y="1268700"/>
            <a:ext cx="86412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Insertion:</a:t>
            </a:r>
          </a:p>
          <a:p>
            <a:pPr marL="0" indent="0" algn="just">
              <a:buNone/>
            </a:pPr>
            <a:r>
              <a:rPr lang="en-US" dirty="0"/>
              <a:t>The INSERT function can be implemented by using the string operations as follows: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INSERT(T, K, S) 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00CC"/>
                </a:solidFill>
              </a:rPr>
              <a:t>= SUBSTRING(T, 1, K-1) // S // SUBSTRING(T, K, LENGTH(T) – K + 1)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30" y="4797190"/>
            <a:ext cx="8857230" cy="111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386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</a:p>
          <a:p>
            <a:pPr marL="0" indent="0" algn="just">
              <a:buNone/>
            </a:pPr>
            <a:r>
              <a:rPr lang="en-US" dirty="0"/>
              <a:t>Suppose in a given text T we want to delete the substring which begins in position K and has length L. We  denote this operation by</a:t>
            </a:r>
          </a:p>
          <a:p>
            <a:pPr marL="0" indent="0" algn="just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00CC"/>
                </a:solidFill>
              </a:rPr>
              <a:t>DELETE(text, position, length)</a:t>
            </a:r>
          </a:p>
          <a:p>
            <a:pPr marL="0" indent="0" algn="just">
              <a:buNone/>
            </a:pPr>
            <a:r>
              <a:rPr lang="en-US" b="1" u="sng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DELETE( ‘</a:t>
            </a:r>
            <a:r>
              <a:rPr lang="en-US" dirty="0">
                <a:solidFill>
                  <a:srgbClr val="0000CC"/>
                </a:solidFill>
              </a:rPr>
              <a:t>ABCDEFG</a:t>
            </a:r>
            <a:r>
              <a:rPr lang="en-US" dirty="0"/>
              <a:t>’, 4, 2) = ‘</a:t>
            </a:r>
            <a:r>
              <a:rPr lang="en-US" dirty="0">
                <a:solidFill>
                  <a:srgbClr val="0000CC"/>
                </a:solidFill>
              </a:rPr>
              <a:t>ABCFG</a:t>
            </a:r>
            <a:r>
              <a:rPr lang="en-US" dirty="0"/>
              <a:t>’</a:t>
            </a:r>
          </a:p>
          <a:p>
            <a:pPr marL="0" indent="0" algn="just">
              <a:buNone/>
            </a:pPr>
            <a:r>
              <a:rPr lang="en-US" dirty="0"/>
              <a:t>DELETE( ‘</a:t>
            </a:r>
            <a:r>
              <a:rPr lang="en-US" dirty="0">
                <a:solidFill>
                  <a:srgbClr val="0000CC"/>
                </a:solidFill>
              </a:rPr>
              <a:t>ABCDEFG</a:t>
            </a:r>
            <a:r>
              <a:rPr lang="en-US" dirty="0"/>
              <a:t>’, 2, 4) = ‘</a:t>
            </a:r>
            <a:r>
              <a:rPr lang="en-US" dirty="0">
                <a:solidFill>
                  <a:srgbClr val="0000CC"/>
                </a:solidFill>
              </a:rPr>
              <a:t>AFG</a:t>
            </a:r>
            <a:r>
              <a:rPr lang="en-US" dirty="0"/>
              <a:t>’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634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</a:p>
          <a:p>
            <a:pPr marL="0" indent="0" algn="just">
              <a:buNone/>
            </a:pPr>
            <a:r>
              <a:rPr lang="en-US" dirty="0"/>
              <a:t>We assume that nothing is deleted if position K=0. Thus</a:t>
            </a:r>
          </a:p>
          <a:p>
            <a:pPr marL="0" indent="0" algn="just">
              <a:buNone/>
            </a:pPr>
            <a:r>
              <a:rPr lang="en-US" dirty="0"/>
              <a:t>	DELETE( ‘</a:t>
            </a:r>
            <a:r>
              <a:rPr lang="en-US" dirty="0">
                <a:solidFill>
                  <a:srgbClr val="0000CC"/>
                </a:solidFill>
              </a:rPr>
              <a:t>ABCDEFG</a:t>
            </a:r>
            <a:r>
              <a:rPr lang="en-US" dirty="0"/>
              <a:t>’, 0, 2) = ‘</a:t>
            </a:r>
            <a:r>
              <a:rPr lang="en-US" dirty="0">
                <a:solidFill>
                  <a:srgbClr val="0000CC"/>
                </a:solidFill>
              </a:rPr>
              <a:t>ABCDEFG</a:t>
            </a:r>
            <a:r>
              <a:rPr lang="en-US" dirty="0"/>
              <a:t>’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47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0545" y="1268700"/>
            <a:ext cx="86412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</a:p>
          <a:p>
            <a:pPr marL="0" indent="0" algn="just">
              <a:buNone/>
            </a:pPr>
            <a:r>
              <a:rPr lang="en-US" dirty="0"/>
              <a:t>The DELETE function can be implemented by using the string operations as follows: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DELETE(T, K, L) 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00CC"/>
                </a:solidFill>
              </a:rPr>
              <a:t>= SUBSTRING(T, 1, K-1) // SUBSTRING(T, K+L, LENGTH(T) – K – L + 1)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37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0545" y="1268700"/>
            <a:ext cx="86412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  <a:endParaRPr lang="en-US" dirty="0"/>
          </a:p>
          <a:p>
            <a:pPr marL="0" indent="0" algn="just">
              <a:buNone/>
            </a:pPr>
            <a:r>
              <a:rPr lang="en-US" b="1" dirty="0"/>
              <a:t>DELETE(T, K, L) </a:t>
            </a:r>
          </a:p>
          <a:p>
            <a:pPr marL="0" indent="0" algn="just">
              <a:buNone/>
            </a:pPr>
            <a:r>
              <a:rPr lang="en-US" sz="2400" b="1" dirty="0"/>
              <a:t>= SUBSTRING(T, 1, K-1) // SUBSTRING(T, K+L, LENGTH(T) – K – L + 1)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0" y="2990849"/>
            <a:ext cx="8785220" cy="1056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10" y="3871370"/>
            <a:ext cx="8641200" cy="234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6065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0545" y="1268700"/>
            <a:ext cx="86412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10" y="2060810"/>
            <a:ext cx="8733306" cy="252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4287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0545" y="1268700"/>
            <a:ext cx="86412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0" y="1844779"/>
            <a:ext cx="8281150" cy="1403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79" y="3428999"/>
            <a:ext cx="8445111" cy="2818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5740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02875" y="116540"/>
            <a:ext cx="8229600" cy="6340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0545" y="692620"/>
            <a:ext cx="8641200" cy="568879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Deletion: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67" y="1340710"/>
            <a:ext cx="8927453" cy="4752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0809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00"/>
                <a:ext cx="8229600" cy="5112710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itchFamily="2" charset="2"/>
                  <a:buChar char="§"/>
                </a:pP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Replacement:</a:t>
                </a:r>
              </a:p>
              <a:p>
                <a:pPr marL="0" indent="0" algn="just">
                  <a:buNone/>
                </a:pPr>
                <a:r>
                  <a:rPr lang="en-US" dirty="0"/>
                  <a:t>Suppose in a given text T we want to replace the first occurrence of a pattern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a pattern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We will denote this operation by</a:t>
                </a:r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b="1" dirty="0">
                    <a:solidFill>
                      <a:srgbClr val="0000CC"/>
                    </a:solidFill>
                  </a:rPr>
                  <a:t>REPLACE (text,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00CC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𝒑𝒂𝒕𝒕𝒆𝒓𝒏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0000CC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00CC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00CC"/>
                            </a:solidFill>
                            <a:latin typeface="Cambria Math"/>
                          </a:rPr>
                          <m:t>𝒑𝒂𝒕𝒕𝒆𝒓𝒏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00CC"/>
                    </a:solidFill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en-US" b="1" u="sng" dirty="0"/>
                  <a:t>Example:</a:t>
                </a:r>
              </a:p>
              <a:p>
                <a:pPr marL="0" indent="0" algn="just">
                  <a:buNone/>
                </a:pPr>
                <a:r>
                  <a:rPr lang="en-US" dirty="0"/>
                  <a:t>REPLACE( ‘</a:t>
                </a:r>
                <a:r>
                  <a:rPr lang="en-US" dirty="0">
                    <a:solidFill>
                      <a:srgbClr val="0000CC"/>
                    </a:solidFill>
                  </a:rPr>
                  <a:t>XABYABZ</a:t>
                </a:r>
                <a:r>
                  <a:rPr lang="en-US" dirty="0"/>
                  <a:t>’,  ‘</a:t>
                </a:r>
                <a:r>
                  <a:rPr lang="en-US" dirty="0">
                    <a:solidFill>
                      <a:srgbClr val="0000CC"/>
                    </a:solidFill>
                  </a:rPr>
                  <a:t>AB</a:t>
                </a:r>
                <a:r>
                  <a:rPr lang="en-US" dirty="0"/>
                  <a:t>’,  ‘</a:t>
                </a:r>
                <a:r>
                  <a:rPr lang="en-US" dirty="0">
                    <a:solidFill>
                      <a:srgbClr val="FF0000"/>
                    </a:solidFill>
                  </a:rPr>
                  <a:t>C</a:t>
                </a:r>
                <a:r>
                  <a:rPr lang="en-US" dirty="0"/>
                  <a:t>’) = ‘</a:t>
                </a:r>
                <a:r>
                  <a:rPr lang="en-US" dirty="0">
                    <a:solidFill>
                      <a:srgbClr val="0000CC"/>
                    </a:solidFill>
                  </a:rPr>
                  <a:t>X</a:t>
                </a:r>
                <a:r>
                  <a:rPr lang="en-US" dirty="0">
                    <a:solidFill>
                      <a:srgbClr val="FF0000"/>
                    </a:solidFill>
                  </a:rPr>
                  <a:t>C</a:t>
                </a:r>
                <a:r>
                  <a:rPr lang="en-US" dirty="0">
                    <a:solidFill>
                      <a:srgbClr val="0000CC"/>
                    </a:solidFill>
                  </a:rPr>
                  <a:t>YABZ</a:t>
                </a:r>
                <a:r>
                  <a:rPr lang="en-US" dirty="0"/>
                  <a:t>’</a:t>
                </a:r>
              </a:p>
              <a:p>
                <a:pPr marL="0" indent="0" algn="just">
                  <a:buNone/>
                </a:pPr>
                <a:r>
                  <a:rPr lang="en-US" dirty="0"/>
                  <a:t>REPLACE( ‘</a:t>
                </a:r>
                <a:r>
                  <a:rPr lang="en-US" dirty="0">
                    <a:solidFill>
                      <a:srgbClr val="0000CC"/>
                    </a:solidFill>
                  </a:rPr>
                  <a:t>XABYABZ</a:t>
                </a:r>
                <a:r>
                  <a:rPr lang="en-US" dirty="0"/>
                  <a:t>’,  ‘</a:t>
                </a:r>
                <a:r>
                  <a:rPr lang="en-US" dirty="0">
                    <a:solidFill>
                      <a:srgbClr val="0000CC"/>
                    </a:solidFill>
                  </a:rPr>
                  <a:t>BA</a:t>
                </a:r>
                <a:r>
                  <a:rPr lang="en-US" dirty="0"/>
                  <a:t>’,  ‘</a:t>
                </a:r>
                <a:r>
                  <a:rPr lang="en-US" dirty="0">
                    <a:solidFill>
                      <a:srgbClr val="FF0000"/>
                    </a:solidFill>
                  </a:rPr>
                  <a:t>C</a:t>
                </a:r>
                <a:r>
                  <a:rPr lang="en-US" dirty="0"/>
                  <a:t>’) = ‘</a:t>
                </a:r>
                <a:r>
                  <a:rPr lang="en-US" dirty="0">
                    <a:solidFill>
                      <a:srgbClr val="0000CC"/>
                    </a:solidFill>
                  </a:rPr>
                  <a:t>XABYABZ</a:t>
                </a:r>
                <a:r>
                  <a:rPr lang="en-US" dirty="0"/>
                  <a:t>’</a:t>
                </a:r>
              </a:p>
              <a:p>
                <a:pPr marL="0" indent="0" algn="just">
                  <a:buNone/>
                </a:pPr>
                <a:r>
                  <a:rPr lang="en-US" dirty="0"/>
                  <a:t>In the second case, the pattern BA does not occur, hence there is no change.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00"/>
                <a:ext cx="8229600" cy="5112710"/>
              </a:xfrm>
              <a:blipFill rotWithShape="1">
                <a:blip r:embed="rId3"/>
                <a:stretch>
                  <a:fillRect l="-1852" t="-2503" r="-3037" b="-13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37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Word Processing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Replacement: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0" y="1916790"/>
            <a:ext cx="8826736" cy="2232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8697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9440" y="2492870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534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5118</TotalTime>
  <Words>639</Words>
  <Application>Microsoft Office PowerPoint</Application>
  <PresentationFormat>On-screen Show (4:3)</PresentationFormat>
  <Paragraphs>170</Paragraphs>
  <Slides>28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1_Custom Design</vt:lpstr>
      <vt:lpstr>Custom Design</vt:lpstr>
      <vt:lpstr>Slipstream</vt:lpstr>
      <vt:lpstr>Office Theme</vt:lpstr>
      <vt:lpstr>3_Office Theme</vt:lpstr>
      <vt:lpstr>1_Slipstream</vt:lpstr>
      <vt:lpstr>1_Office Theme</vt:lpstr>
      <vt:lpstr>2_Office Theme</vt:lpstr>
      <vt:lpstr>Data Structures  ICT-1211  Information and Communication Technology</vt:lpstr>
      <vt:lpstr> String Processing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String Operation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Word Processing</vt:lpstr>
      <vt:lpstr>Thank you……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Elizabeth Davis</dc:creator>
  <cp:lastModifiedBy>Dulal Sir</cp:lastModifiedBy>
  <cp:revision>816</cp:revision>
  <dcterms:created xsi:type="dcterms:W3CDTF">2006-08-30T10:11:05Z</dcterms:created>
  <dcterms:modified xsi:type="dcterms:W3CDTF">2025-07-09T09:34:41Z</dcterms:modified>
</cp:coreProperties>
</file>