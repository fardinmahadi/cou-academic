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notesMasterIdLst>
    <p:notesMasterId r:id="rId21"/>
  </p:notesMasterIdLst>
  <p:sldIdLst>
    <p:sldId id="345" r:id="rId4"/>
    <p:sldId id="493" r:id="rId5"/>
    <p:sldId id="406" r:id="rId6"/>
    <p:sldId id="489" r:id="rId7"/>
    <p:sldId id="407" r:id="rId8"/>
    <p:sldId id="419" r:id="rId9"/>
    <p:sldId id="420" r:id="rId10"/>
    <p:sldId id="421" r:id="rId11"/>
    <p:sldId id="422" r:id="rId12"/>
    <p:sldId id="423" r:id="rId13"/>
    <p:sldId id="424" r:id="rId14"/>
    <p:sldId id="425" r:id="rId15"/>
    <p:sldId id="426" r:id="rId16"/>
    <p:sldId id="427" r:id="rId17"/>
    <p:sldId id="408" r:id="rId18"/>
    <p:sldId id="409" r:id="rId19"/>
    <p:sldId id="494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46" autoAdjust="0"/>
    <p:restoredTop sz="91615" autoAdjust="0"/>
  </p:normalViewPr>
  <p:slideViewPr>
    <p:cSldViewPr snapToGrid="0">
      <p:cViewPr varScale="1">
        <p:scale>
          <a:sx n="67" d="100"/>
          <a:sy n="67" d="100"/>
        </p:scale>
        <p:origin x="-124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C8D40F-337E-475A-B8D0-2FD58C6D0387}" type="datetimeFigureOut">
              <a:rPr lang="en-US" smtClean="0"/>
              <a:t>9/29/2024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09FA0E-C547-4E4D-80AD-FEB8A6571D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785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0268-8CD4-504F-ABA5-1C9CCA49C623}" type="datetime1">
              <a:rPr lang="en-US" smtClean="0"/>
              <a:t>9/29/2024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661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C1D01-1B9F-7C40-813B-513D0EDB4DAD}" type="datetime1">
              <a:rPr lang="en-US" smtClean="0"/>
              <a:t>9/29/2024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692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B0D1A-2EA3-3343-AAB9-1846DE5CAD5F}" type="datetime1">
              <a:rPr lang="en-US" smtClean="0"/>
              <a:t>9/29/2024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247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741DD-39D0-5B4D-9046-B63EFFC59727}" type="datetime1">
              <a:rPr lang="en-US" smtClean="0"/>
              <a:t>9/29/2024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627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1697D-3C77-404E-BF10-67BDD1040D45}" type="datetime1">
              <a:rPr lang="en-US" smtClean="0"/>
              <a:t>9/29/2024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08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69DE7-D140-8942-81CE-278DE9DEC074}" type="datetime1">
              <a:rPr lang="en-US" smtClean="0"/>
              <a:t>9/29/2024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293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C0E96-8730-7547-8D85-86E2E04695A6}" type="datetime1">
              <a:rPr lang="en-US" smtClean="0"/>
              <a:t>9/29/2024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528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EC598-C370-B048-9E1F-CBD36421979E}" type="datetime1">
              <a:rPr lang="en-US" smtClean="0"/>
              <a:t>9/29/2024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40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76CB3-5715-E34A-A7C1-F5A05382CE93}" type="datetime1">
              <a:rPr lang="en-US" smtClean="0"/>
              <a:t>9/29/2024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47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B2211-647A-3D45-8976-B84E1F718B75}" type="datetime1">
              <a:rPr lang="en-US" smtClean="0"/>
              <a:t>9/29/2024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523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64B15-D269-024B-997D-E9A8A37476E1}" type="datetime1">
              <a:rPr lang="en-US" smtClean="0"/>
              <a:t>9/29/2024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543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65817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14507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91150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7529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33764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857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6324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222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3155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36084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96919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A6E7098-1D9E-4297-8B06-8858A6CB2C48}" type="datetime1">
              <a:rPr lang="fr-FR"/>
              <a:pPr/>
              <a:t>29/09/2024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C31CAB-83F9-4A4F-970C-5EAB1D42FFB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8437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9D57E40-D648-455A-9437-30FA8FE56DD6}" type="datetime1">
              <a:rPr lang="fr-FR"/>
              <a:pPr/>
              <a:t>29/09/2024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7E0763-8C84-4A0C-BF22-E8FBB0D343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9083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3DE751E-08CA-4D99-89B2-9FC9DE2F4625}" type="datetime1">
              <a:rPr lang="fr-FR"/>
              <a:pPr/>
              <a:t>29/09/2024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3BDE4F-8BEA-439D-BA05-0EFEBB61C6C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6731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D697BC-62C7-4F99-8C37-A408B62C8993}" type="datetime1">
              <a:rPr lang="fr-FR"/>
              <a:pPr/>
              <a:t>29/09/2024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E7523-BF8E-4897-AD6D-B3C234AD941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0280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3466664-56B2-422F-8B50-F59FA16202E4}" type="datetime1">
              <a:rPr lang="fr-FR"/>
              <a:pPr/>
              <a:t>29/09/2024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0E09A0-16D6-4176-A8F9-C1456DE5039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9350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EC2F925-DC51-4DF6-9C0D-52D121C83119}" type="datetime1">
              <a:rPr lang="fr-FR"/>
              <a:pPr/>
              <a:t>29/09/2024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E8AD07-74B5-414C-BC00-90E42DED0B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4302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DED0F17-9F3A-43C4-AA85-AB4E0FAD16D9}" type="datetime1">
              <a:rPr lang="fr-FR"/>
              <a:pPr/>
              <a:t>29/09/2024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B9DFBF-5E1F-4EB9-93B7-3749EA01810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8316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00051F7-5A91-48AF-A3CB-CB3AECA38DB8}" type="datetime1">
              <a:rPr lang="fr-FR"/>
              <a:pPr/>
              <a:t>29/09/2024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685E2C-7CA7-4F52-B75F-FBB43463FA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9064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9E41F2-B5DD-4979-B2E9-DDEB29191F2A}" type="datetime1">
              <a:rPr lang="fr-FR"/>
              <a:pPr/>
              <a:t>29/09/2024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3865FE-0C86-4A78-AF62-9D91622BC57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74389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D7D9A12-E6C0-4876-802E-698B1CA58FA9}" type="datetime1">
              <a:rPr lang="fr-FR"/>
              <a:pPr/>
              <a:t>29/09/2024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E1BB3D-D5F5-4526-9991-8EC9121349E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90148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F34D8D-EE93-4818-9FCB-0C3F0226D4F2}" type="datetime1">
              <a:rPr lang="fr-FR"/>
              <a:pPr/>
              <a:t>29/09/2024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A6242A-2212-4C71-B4FB-3287FD49589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6866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371600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9B11AC-AE98-49D4-983B-A8FD90AEBC06}" type="datetime1">
              <a:rPr lang="fr-FR"/>
              <a:pPr/>
              <a:t>29/09/2024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endParaRPr lang="vi-V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6255E9-86BB-409F-B032-A00BE8952A8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750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54F56B-6E71-E14F-82F4-B249D7839BE9}" type="datetime1">
              <a:rPr lang="en-US" smtClean="0"/>
              <a:t>9/29/2024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C1585-C671-4F90-AA0D-FD45AA239D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406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75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00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 charset="0"/>
                <a:cs typeface="Arial" charset="0"/>
              </a:rPr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611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8A24BF4C-9CA2-423E-B4F6-7F55918723CE}" type="datetime1">
              <a:rPr lang="fr-FR" smtClean="0">
                <a:ea typeface="ＭＳ Ｐゴシック" charset="-128"/>
                <a:cs typeface="Arial" charset="0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29/09/2024</a:t>
            </a:fld>
            <a:endParaRPr lang="en-US">
              <a:ea typeface="ＭＳ Ｐゴシック" charset="-128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endParaRPr lang="en-US">
              <a:ea typeface="ＭＳ Ｐゴシック" charset="-128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AE2053D5-6219-41C3-8D16-FE99C84E3D09}" type="slidenum">
              <a:rPr lang="en-US" smtClean="0">
                <a:ea typeface="ＭＳ Ｐゴシック" charset="-128"/>
                <a:cs typeface="Arial" charset="0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ea typeface="ＭＳ Ｐゴシック" charset="-128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51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3"/>
          <p:cNvSpPr>
            <a:spLocks noGrp="1"/>
          </p:cNvSpPr>
          <p:nvPr>
            <p:ph type="subTitle" idx="1"/>
          </p:nvPr>
        </p:nvSpPr>
        <p:spPr>
          <a:xfrm>
            <a:off x="1600200" y="4871544"/>
            <a:ext cx="6400800" cy="1529256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Lecture-16</a:t>
            </a: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Date: </a:t>
            </a:r>
            <a:r>
              <a:rPr lang="en-US" sz="32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//</a:t>
            </a:r>
            <a:r>
              <a:rPr lang="en-US" sz="3200" b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2024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74" name="Title 2"/>
          <p:cNvSpPr>
            <a:spLocks noGrp="1"/>
          </p:cNvSpPr>
          <p:nvPr>
            <p:ph type="ctrTitle"/>
          </p:nvPr>
        </p:nvSpPr>
        <p:spPr>
          <a:xfrm>
            <a:off x="533400" y="725213"/>
            <a:ext cx="8077200" cy="4432027"/>
          </a:xfrm>
        </p:spPr>
        <p:txBody>
          <a:bodyPr/>
          <a:lstStyle/>
          <a:p>
            <a:pPr marL="18288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itchFamily="18" charset="0"/>
              <a:buNone/>
              <a:defRPr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Data Structures</a:t>
            </a:r>
            <a:b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ICT-1211</a:t>
            </a: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Information and Communication Technology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D62340-A1EA-4CE0-A397-B868A3BF73D1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Trebuchet MS"/>
                <a:ea typeface="+mn-ea"/>
                <a:cs typeface="Arial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Trebuchet MS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418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57275" y="2072235"/>
            <a:ext cx="7500938" cy="172824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sz="4000" dirty="0">
                <a:solidFill>
                  <a:srgbClr val="FF0000"/>
                </a:solidFill>
              </a:rPr>
              <a:t>Stacks, Queues, Recursion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15956A-8026-4861-99E0-6ECDFB0AE949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2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8196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9063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STACKS: </a:t>
            </a:r>
            <a:r>
              <a:rPr lang="en-US" sz="3200" dirty="0">
                <a:solidFill>
                  <a:srgbClr val="00B050"/>
                </a:solidFill>
              </a:rPr>
              <a:t>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6893" y="3032142"/>
            <a:ext cx="9144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charset="2"/>
              <a:buChar char="Ø"/>
            </a:pPr>
            <a:r>
              <a:rPr lang="en-US" sz="2400" dirty="0"/>
              <a:t>A stack is a linear structure in which items may be added or removed only at one ends</a:t>
            </a:r>
          </a:p>
          <a:p>
            <a:pPr marL="342900" indent="-342900">
              <a:lnSpc>
                <a:spcPct val="150000"/>
              </a:lnSpc>
              <a:buFont typeface="Wingdings" charset="2"/>
              <a:buChar char="Ø"/>
            </a:pPr>
            <a:r>
              <a:rPr lang="en-US" sz="2400" dirty="0"/>
              <a:t>Stacks are also called Last-in-First-out (</a:t>
            </a:r>
            <a:r>
              <a:rPr lang="en-US" sz="2400" b="1" dirty="0">
                <a:solidFill>
                  <a:srgbClr val="FF0000"/>
                </a:solidFill>
              </a:rPr>
              <a:t>LIFO</a:t>
            </a:r>
            <a:r>
              <a:rPr lang="en-US" sz="2400" dirty="0"/>
              <a:t>) list.</a:t>
            </a:r>
          </a:p>
          <a:p>
            <a:pPr marL="342900" indent="-342900">
              <a:lnSpc>
                <a:spcPct val="150000"/>
              </a:lnSpc>
              <a:buFont typeface="Wingdings" charset="2"/>
              <a:buChar char="Ø"/>
            </a:pPr>
            <a:r>
              <a:rPr lang="en-US" sz="2400" dirty="0"/>
              <a:t>Other names:</a:t>
            </a:r>
          </a:p>
          <a:p>
            <a:pPr marL="1257300" lvl="2" indent="-342900">
              <a:lnSpc>
                <a:spcPct val="150000"/>
              </a:lnSpc>
              <a:buFont typeface="Wingdings" charset="2"/>
              <a:buChar char="v"/>
            </a:pPr>
            <a:r>
              <a:rPr lang="en-US" sz="2400" dirty="0"/>
              <a:t>Piles</a:t>
            </a:r>
          </a:p>
          <a:p>
            <a:pPr marL="1257300" lvl="2" indent="-342900">
              <a:lnSpc>
                <a:spcPct val="150000"/>
              </a:lnSpc>
              <a:buFont typeface="Wingdings" charset="2"/>
              <a:buChar char="v"/>
            </a:pPr>
            <a:r>
              <a:rPr lang="en-US" sz="2400" dirty="0"/>
              <a:t>Push-down lists.</a:t>
            </a:r>
          </a:p>
          <a:p>
            <a:pPr marL="342900" indent="-342900">
              <a:buFont typeface="Wingdings" charset="2"/>
              <a:buChar char="Ø"/>
            </a:pPr>
            <a:r>
              <a:rPr lang="en-US" sz="2400" dirty="0"/>
              <a:t>Although the stack may be a very restricted type of data structure, it has many important applications in computer science.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69"/>
          <a:stretch/>
        </p:blipFill>
        <p:spPr>
          <a:xfrm rot="16200000">
            <a:off x="3324151" y="-1687278"/>
            <a:ext cx="2379476" cy="685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08471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8162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STACKS: </a:t>
            </a:r>
            <a:r>
              <a:rPr lang="en-US" sz="3200" dirty="0">
                <a:solidFill>
                  <a:srgbClr val="00B050"/>
                </a:solidFill>
              </a:rPr>
              <a:t>Dealing Postponed Decisions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02136"/>
            <a:ext cx="9144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/>
              <a:t>Stacks are frequently used to indicate the order of the processing of data when certain steps of the processing must be postponed until other conditions are fulfilled.  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218" y="3108960"/>
            <a:ext cx="8717526" cy="273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405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8162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STACKS: </a:t>
            </a:r>
            <a:r>
              <a:rPr lang="en-US" sz="3200" dirty="0">
                <a:solidFill>
                  <a:srgbClr val="00B050"/>
                </a:solidFill>
              </a:rPr>
              <a:t>Special Terminology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0682" y="598223"/>
            <a:ext cx="892684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Special terminology is used for two basic operations associated with stacks: </a:t>
            </a:r>
          </a:p>
          <a:p>
            <a:pPr algn="just">
              <a:lnSpc>
                <a:spcPct val="150000"/>
              </a:lnSpc>
            </a:pPr>
            <a:endParaRPr lang="en-US" sz="2400" dirty="0"/>
          </a:p>
          <a:p>
            <a:pPr algn="just">
              <a:lnSpc>
                <a:spcPct val="150000"/>
              </a:lnSpc>
            </a:pPr>
            <a:endParaRPr lang="en-US" sz="2400" dirty="0"/>
          </a:p>
          <a:p>
            <a:pPr algn="just">
              <a:lnSpc>
                <a:spcPct val="150000"/>
              </a:lnSpc>
            </a:pPr>
            <a:endParaRPr lang="en-US" sz="2400" dirty="0"/>
          </a:p>
          <a:p>
            <a:pPr algn="just">
              <a:lnSpc>
                <a:spcPct val="150000"/>
              </a:lnSpc>
            </a:pPr>
            <a:endParaRPr lang="en-US" sz="2400" dirty="0"/>
          </a:p>
          <a:p>
            <a:pPr algn="just">
              <a:lnSpc>
                <a:spcPct val="150000"/>
              </a:lnSpc>
            </a:pPr>
            <a:endParaRPr lang="en-US" sz="2400" dirty="0"/>
          </a:p>
          <a:p>
            <a:pPr marL="457200" indent="-457200" algn="just">
              <a:lnSpc>
                <a:spcPct val="150000"/>
              </a:lnSpc>
              <a:buAutoNum type="alphaLcParenBoth"/>
            </a:pPr>
            <a:r>
              <a:rPr lang="en-US" sz="2800" dirty="0"/>
              <a:t>“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Push</a:t>
            </a:r>
            <a:r>
              <a:rPr lang="en-US" sz="2800" dirty="0"/>
              <a:t>”-used to insert an element into a stack</a:t>
            </a:r>
          </a:p>
          <a:p>
            <a:pPr marL="457200" indent="-457200" algn="just">
              <a:lnSpc>
                <a:spcPct val="150000"/>
              </a:lnSpc>
              <a:buAutoNum type="alphaLcParenBoth"/>
            </a:pPr>
            <a:r>
              <a:rPr lang="en-US" sz="2800" dirty="0"/>
              <a:t>“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Pop</a:t>
            </a:r>
            <a:r>
              <a:rPr lang="en-US" sz="2800" dirty="0"/>
              <a:t>”-used to delete an element from a stack.</a:t>
            </a:r>
          </a:p>
        </p:txBody>
      </p:sp>
      <p:pic>
        <p:nvPicPr>
          <p:cNvPr id="2050" name="Picture 2" descr="mage result for push on sta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0962" y="1577339"/>
            <a:ext cx="3388317" cy="2949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5637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0682" y="-26893"/>
            <a:ext cx="80060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STACKS: </a:t>
            </a:r>
            <a:r>
              <a:rPr lang="en-US" sz="3200" dirty="0">
                <a:solidFill>
                  <a:srgbClr val="00B050"/>
                </a:solidFill>
              </a:rPr>
              <a:t>Push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82" y="596239"/>
            <a:ext cx="89268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Suppose the following 6 elements are pushed, in order, onto an empty stack: </a:t>
            </a:r>
          </a:p>
          <a:p>
            <a:pPr algn="ctr"/>
            <a:r>
              <a:rPr lang="en-US" sz="2400" b="1" dirty="0">
                <a:solidFill>
                  <a:srgbClr val="00B050"/>
                </a:solidFill>
              </a:rPr>
              <a:t>AAA, BBB, CCC, DDD, EEE, FFF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0" t="65744" r="286" b="16649"/>
          <a:stretch/>
        </p:blipFill>
        <p:spPr>
          <a:xfrm rot="16200000">
            <a:off x="6024864" y="2696359"/>
            <a:ext cx="4685642" cy="144505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55" t="19946" b="61749"/>
          <a:stretch/>
        </p:blipFill>
        <p:spPr>
          <a:xfrm rot="16200000">
            <a:off x="-1507295" y="3019821"/>
            <a:ext cx="4628240" cy="145228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" r="76471"/>
          <a:stretch/>
        </p:blipFill>
        <p:spPr>
          <a:xfrm rot="16200000">
            <a:off x="4156827" y="812084"/>
            <a:ext cx="1111737" cy="635945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04365" y="6225988"/>
            <a:ext cx="6588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Diagram of Stack</a:t>
            </a:r>
          </a:p>
        </p:txBody>
      </p:sp>
    </p:spTree>
    <p:extLst>
      <p:ext uri="{BB962C8B-B14F-4D97-AF65-F5344CB8AC3E}">
        <p14:creationId xmlns:p14="http://schemas.microsoft.com/office/powerpoint/2010/main" val="1951173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8162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STACKS: </a:t>
            </a:r>
            <a:r>
              <a:rPr lang="en-US" sz="3200" b="1" dirty="0">
                <a:solidFill>
                  <a:srgbClr val="00B050"/>
                </a:solidFill>
              </a:rPr>
              <a:t>Array Representation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0682" y="557882"/>
            <a:ext cx="8926842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charset="2"/>
              <a:buChar char="Ø"/>
            </a:pPr>
            <a:r>
              <a:rPr lang="en-US" sz="2400" dirty="0"/>
              <a:t>Stack may be represented in the computer in various ways,</a:t>
            </a:r>
          </a:p>
          <a:p>
            <a:pPr marL="1828800" lvl="3" indent="-457200">
              <a:lnSpc>
                <a:spcPct val="150000"/>
              </a:lnSpc>
              <a:buFont typeface="Wingdings" charset="2"/>
              <a:buChar char="ü"/>
            </a:pPr>
            <a:r>
              <a:rPr lang="en-US" sz="2400" dirty="0"/>
              <a:t>usually by means of a one-way list, or</a:t>
            </a:r>
          </a:p>
          <a:p>
            <a:pPr marL="1828800" lvl="3" indent="-457200">
              <a:lnSpc>
                <a:spcPct val="150000"/>
              </a:lnSpc>
              <a:buFont typeface="Wingdings" charset="2"/>
              <a:buChar char="ü"/>
            </a:pPr>
            <a:r>
              <a:rPr lang="en-US" sz="2400" dirty="0"/>
              <a:t>A linear array</a:t>
            </a:r>
          </a:p>
          <a:p>
            <a:pPr marL="457200" indent="-457200">
              <a:lnSpc>
                <a:spcPct val="150000"/>
              </a:lnSpc>
              <a:buFont typeface="Wingdings" charset="2"/>
              <a:buChar char="Ø"/>
            </a:pPr>
            <a:r>
              <a:rPr lang="en-US" sz="2400" dirty="0"/>
              <a:t>Usually Stacks will be maintained by</a:t>
            </a:r>
            <a:r>
              <a:rPr lang="is-IS" sz="2400" dirty="0"/>
              <a:t>…...</a:t>
            </a:r>
          </a:p>
          <a:p>
            <a:pPr marL="1371600" lvl="2" indent="-457200">
              <a:lnSpc>
                <a:spcPct val="150000"/>
              </a:lnSpc>
              <a:buFont typeface="Courier New" charset="0"/>
              <a:buChar char="o"/>
            </a:pPr>
            <a:r>
              <a:rPr lang="en-US" sz="2400" dirty="0"/>
              <a:t>A linear array, </a:t>
            </a:r>
            <a:r>
              <a:rPr lang="en-US" sz="2400" b="1" dirty="0">
                <a:solidFill>
                  <a:srgbClr val="00B0F0"/>
                </a:solidFill>
              </a:rPr>
              <a:t>STACK</a:t>
            </a:r>
            <a:r>
              <a:rPr lang="en-US" sz="2400" b="1" dirty="0"/>
              <a:t>,(</a:t>
            </a:r>
            <a:r>
              <a:rPr lang="en-US" sz="2400" dirty="0"/>
              <a:t>main lists</a:t>
            </a:r>
            <a:r>
              <a:rPr lang="en-US" sz="2400" b="1" dirty="0"/>
              <a:t>)</a:t>
            </a:r>
          </a:p>
          <a:p>
            <a:pPr marL="1371600" lvl="2" indent="-457200">
              <a:lnSpc>
                <a:spcPct val="150000"/>
              </a:lnSpc>
              <a:buFont typeface="Courier New" charset="0"/>
              <a:buChar char="o"/>
            </a:pPr>
            <a:r>
              <a:rPr lang="en-US" sz="2400" dirty="0"/>
              <a:t>A pointer variable,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b="1" dirty="0">
                <a:solidFill>
                  <a:srgbClr val="FF0000"/>
                </a:solidFill>
              </a:rPr>
              <a:t>TOP</a:t>
            </a:r>
            <a:r>
              <a:rPr lang="en-US" sz="2400" b="1" dirty="0"/>
              <a:t>, (</a:t>
            </a:r>
            <a:r>
              <a:rPr lang="en-US" sz="2400" dirty="0"/>
              <a:t>contains the locations of the top element of the stack</a:t>
            </a:r>
            <a:r>
              <a:rPr lang="en-US" sz="2400" b="1" dirty="0"/>
              <a:t>)</a:t>
            </a:r>
          </a:p>
          <a:p>
            <a:pPr marL="1371600" lvl="2" indent="-457200" algn="just">
              <a:lnSpc>
                <a:spcPct val="150000"/>
              </a:lnSpc>
              <a:buFont typeface="Courier New" charset="0"/>
              <a:buChar char="o"/>
            </a:pPr>
            <a:r>
              <a:rPr lang="en-US" sz="2400" dirty="0"/>
              <a:t>A variable </a:t>
            </a:r>
            <a:r>
              <a:rPr lang="en-US" sz="2400" b="1" dirty="0">
                <a:solidFill>
                  <a:srgbClr val="7030A0"/>
                </a:solidFill>
              </a:rPr>
              <a:t>MAXSTK</a:t>
            </a:r>
            <a:r>
              <a:rPr lang="en-US" sz="2400" dirty="0"/>
              <a:t>, (gives the maximum number of elements that can be held by the stack)</a:t>
            </a:r>
            <a:endParaRPr lang="en-US" sz="2400" b="1" dirty="0"/>
          </a:p>
          <a:p>
            <a:pPr marL="1371600" lvl="2" indent="-457200">
              <a:lnSpc>
                <a:spcPct val="150000"/>
              </a:lnSpc>
              <a:buFont typeface="Courier New" charset="0"/>
              <a:buChar char="o"/>
            </a:pPr>
            <a:endParaRPr lang="en-US" sz="2400" b="1" dirty="0"/>
          </a:p>
          <a:p>
            <a:pPr marL="2286000" lvl="4" indent="-457200">
              <a:lnSpc>
                <a:spcPct val="150000"/>
              </a:lnSpc>
              <a:buFont typeface="Courier New" charset="0"/>
              <a:buChar char="o"/>
            </a:pPr>
            <a:endParaRPr 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80682" y="5607424"/>
            <a:ext cx="906331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The condition TOP=0 </a:t>
            </a:r>
            <a:r>
              <a:rPr lang="en-US" sz="2400" dirty="0"/>
              <a:t>or </a:t>
            </a:r>
            <a:r>
              <a:rPr lang="en-US" sz="2400" b="1" dirty="0"/>
              <a:t>TOP=NULL </a:t>
            </a:r>
            <a:r>
              <a:rPr lang="en-US" sz="2400" dirty="0"/>
              <a:t>of a </a:t>
            </a:r>
            <a:r>
              <a:rPr lang="en-US" sz="2400" b="1" dirty="0"/>
              <a:t>STACK </a:t>
            </a:r>
            <a:r>
              <a:rPr lang="en-US" sz="2400" dirty="0"/>
              <a:t>indicates</a:t>
            </a:r>
            <a:r>
              <a:rPr lang="is-IS" sz="2400" dirty="0"/>
              <a:t>…..?</a:t>
            </a:r>
          </a:p>
          <a:p>
            <a:pPr algn="ctr">
              <a:lnSpc>
                <a:spcPct val="150000"/>
              </a:lnSpc>
            </a:pPr>
            <a:r>
              <a:rPr lang="is-IS" sz="2800" b="1" dirty="0">
                <a:solidFill>
                  <a:srgbClr val="FF0000"/>
                </a:solidFill>
              </a:rPr>
              <a:t>EMPTY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976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4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854341" y="-1472751"/>
            <a:ext cx="3079376" cy="76984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80682" y="-26893"/>
            <a:ext cx="79774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STACKS: </a:t>
            </a:r>
            <a:r>
              <a:rPr lang="en-US" sz="3200" b="1" dirty="0">
                <a:solidFill>
                  <a:srgbClr val="00B050"/>
                </a:solidFill>
              </a:rPr>
              <a:t>Array Representation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82" y="4141694"/>
            <a:ext cx="89268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CC"/>
                </a:solidFill>
              </a:rPr>
              <a:t>Present Status: </a:t>
            </a:r>
            <a:r>
              <a:rPr lang="en-US" sz="2400" b="1" dirty="0"/>
              <a:t>TOP=3; </a:t>
            </a:r>
          </a:p>
          <a:p>
            <a:r>
              <a:rPr lang="en-US" sz="2400" b="1" dirty="0"/>
              <a:t>		  MAXSTK=8;</a:t>
            </a:r>
          </a:p>
          <a:p>
            <a:r>
              <a:rPr lang="en-US" sz="2400" b="1" dirty="0"/>
              <a:t> 		 There is room for 5 more items in the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405718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CC"/>
                </a:solidFill>
              </a:rPr>
              <a:t>Future Implementation:</a:t>
            </a:r>
          </a:p>
          <a:p>
            <a:r>
              <a:rPr lang="en-US" sz="2400" b="1" dirty="0"/>
              <a:t>	Pushing an item onto a stack</a:t>
            </a:r>
          </a:p>
          <a:p>
            <a:r>
              <a:rPr lang="en-US" sz="2400" b="1" dirty="0"/>
              <a:t>	Popping an item from a stack</a:t>
            </a:r>
          </a:p>
        </p:txBody>
      </p:sp>
    </p:spTree>
    <p:extLst>
      <p:ext uri="{BB962C8B-B14F-4D97-AF65-F5344CB8AC3E}">
        <p14:creationId xmlns:p14="http://schemas.microsoft.com/office/powerpoint/2010/main" val="969475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8162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STACKS: </a:t>
            </a:r>
            <a:r>
              <a:rPr lang="en-US" sz="3200" b="1" dirty="0">
                <a:solidFill>
                  <a:srgbClr val="00B050"/>
                </a:solidFill>
              </a:rPr>
              <a:t>Pushing Algorithm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9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0682" y="463752"/>
            <a:ext cx="8926842" cy="35702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/>
              <a:t>PUSH (</a:t>
            </a:r>
            <a:r>
              <a:rPr lang="en-US" sz="2800" b="1" dirty="0">
                <a:solidFill>
                  <a:srgbClr val="00B0F0"/>
                </a:solidFill>
              </a:rPr>
              <a:t>STACK</a:t>
            </a:r>
            <a:r>
              <a:rPr lang="en-US" sz="2800" b="1" dirty="0"/>
              <a:t>, </a:t>
            </a:r>
            <a:r>
              <a:rPr lang="en-US" sz="2800" b="1" dirty="0">
                <a:solidFill>
                  <a:srgbClr val="FF0000"/>
                </a:solidFill>
              </a:rPr>
              <a:t>TOP</a:t>
            </a:r>
            <a:r>
              <a:rPr lang="en-US" sz="2800" b="1" dirty="0"/>
              <a:t>, </a:t>
            </a:r>
            <a:r>
              <a:rPr lang="en-US" sz="2800" b="1" dirty="0">
                <a:solidFill>
                  <a:srgbClr val="7030A0"/>
                </a:solidFill>
              </a:rPr>
              <a:t>MAXSTK</a:t>
            </a:r>
            <a:r>
              <a:rPr lang="en-US" sz="2800" b="1" dirty="0"/>
              <a:t>, ITEM)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Step 1. </a:t>
            </a:r>
            <a:r>
              <a:rPr lang="en-US" sz="2400" dirty="0"/>
              <a:t>[Stack already filled?]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	If</a:t>
            </a:r>
            <a:r>
              <a:rPr lang="en-US" sz="2800" b="1" dirty="0">
                <a:solidFill>
                  <a:srgbClr val="FF0000"/>
                </a:solidFill>
              </a:rPr>
              <a:t> TOP</a:t>
            </a:r>
            <a:r>
              <a:rPr lang="en-US" sz="2800" b="1" dirty="0"/>
              <a:t>=</a:t>
            </a:r>
            <a:r>
              <a:rPr lang="en-US" sz="2800" b="1" dirty="0">
                <a:solidFill>
                  <a:srgbClr val="7030A0"/>
                </a:solidFill>
              </a:rPr>
              <a:t>MAXSTK, </a:t>
            </a:r>
            <a:r>
              <a:rPr lang="en-US" sz="2400" dirty="0"/>
              <a:t>then print: </a:t>
            </a:r>
            <a:r>
              <a:rPr lang="en-US" sz="2400" b="1" dirty="0"/>
              <a:t>OVERFLOW</a:t>
            </a:r>
            <a:r>
              <a:rPr lang="en-US" sz="2400" dirty="0"/>
              <a:t>, and Return.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Step 2.</a:t>
            </a:r>
            <a:r>
              <a:rPr lang="en-US" sz="2400" dirty="0"/>
              <a:t> Set </a:t>
            </a:r>
            <a:r>
              <a:rPr lang="en-US" sz="2800" b="1" dirty="0">
                <a:solidFill>
                  <a:srgbClr val="FF0000"/>
                </a:solidFill>
              </a:rPr>
              <a:t>TOP</a:t>
            </a:r>
            <a:r>
              <a:rPr lang="en-US" sz="2400" dirty="0"/>
              <a:t>=</a:t>
            </a:r>
            <a:r>
              <a:rPr lang="en-US" sz="2800" b="1" dirty="0">
                <a:solidFill>
                  <a:srgbClr val="FF0000"/>
                </a:solidFill>
              </a:rPr>
              <a:t>TOP</a:t>
            </a:r>
            <a:r>
              <a:rPr lang="en-US" sz="2400" dirty="0"/>
              <a:t>+1. [Increase TOP by 1.]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Step 3. </a:t>
            </a:r>
            <a:r>
              <a:rPr lang="en-US" sz="2400" dirty="0"/>
              <a:t>Set </a:t>
            </a:r>
            <a:r>
              <a:rPr lang="en-US" sz="2800" b="1" dirty="0">
                <a:solidFill>
                  <a:srgbClr val="00B0F0"/>
                </a:solidFill>
              </a:rPr>
              <a:t>STACK</a:t>
            </a:r>
            <a:r>
              <a:rPr lang="en-US" sz="2400" dirty="0"/>
              <a:t>[</a:t>
            </a:r>
            <a:r>
              <a:rPr lang="en-US" sz="2800" b="1" dirty="0">
                <a:solidFill>
                  <a:srgbClr val="FF0000"/>
                </a:solidFill>
              </a:rPr>
              <a:t>TOP</a:t>
            </a:r>
            <a:r>
              <a:rPr lang="en-US" sz="2400" dirty="0"/>
              <a:t>]:=</a:t>
            </a:r>
            <a:r>
              <a:rPr lang="en-US" sz="2800" b="1" dirty="0"/>
              <a:t>ITEM. </a:t>
            </a:r>
            <a:r>
              <a:rPr lang="en-US" sz="2400" dirty="0"/>
              <a:t>[Insert ITEM in new TOP position]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Step 4. </a:t>
            </a:r>
            <a:r>
              <a:rPr lang="en-US" sz="2400" dirty="0"/>
              <a:t>Return</a:t>
            </a:r>
            <a:r>
              <a:rPr lang="en-US" sz="2400" b="1" dirty="0"/>
              <a:t>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6" b="4764"/>
          <a:stretch/>
        </p:blipFill>
        <p:spPr>
          <a:xfrm rot="16200000">
            <a:off x="1130660" y="3114580"/>
            <a:ext cx="2478294" cy="46320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4840942" y="4164553"/>
            <a:ext cx="4168588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1. Since TOP=3, go to Step 2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2. TOP=3+1=4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3. STACK [TOP]=STACK[4]= </a:t>
            </a:r>
            <a:r>
              <a:rPr lang="en-US" sz="2000" b="1" dirty="0"/>
              <a:t>WWW</a:t>
            </a:r>
          </a:p>
          <a:p>
            <a:pPr>
              <a:lnSpc>
                <a:spcPct val="200000"/>
              </a:lnSpc>
            </a:pPr>
            <a:r>
              <a:rPr lang="en-US" sz="2000" b="1" dirty="0"/>
              <a:t>4. Return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246228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4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10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0682" y="-26893"/>
            <a:ext cx="8162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STACKS: </a:t>
            </a:r>
            <a:r>
              <a:rPr lang="en-US" sz="3200" b="1" dirty="0">
                <a:solidFill>
                  <a:srgbClr val="00B050"/>
                </a:solidFill>
              </a:rPr>
              <a:t>Popping Algorithm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88" y="463752"/>
            <a:ext cx="8926842" cy="35702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/>
              <a:t>POP (</a:t>
            </a:r>
            <a:r>
              <a:rPr lang="en-US" sz="2800" b="1" dirty="0">
                <a:solidFill>
                  <a:srgbClr val="00B0F0"/>
                </a:solidFill>
              </a:rPr>
              <a:t>STACK</a:t>
            </a:r>
            <a:r>
              <a:rPr lang="en-US" sz="2800" b="1" dirty="0"/>
              <a:t>, </a:t>
            </a:r>
            <a:r>
              <a:rPr lang="en-US" sz="2800" b="1" dirty="0">
                <a:solidFill>
                  <a:srgbClr val="FF0000"/>
                </a:solidFill>
              </a:rPr>
              <a:t>TOP</a:t>
            </a:r>
            <a:r>
              <a:rPr lang="en-US" sz="2800" b="1" dirty="0"/>
              <a:t>, ITEM)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Step 1. </a:t>
            </a:r>
            <a:r>
              <a:rPr lang="en-US" sz="2400" dirty="0"/>
              <a:t>[Stack has an item to be removed?]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	If</a:t>
            </a:r>
            <a:r>
              <a:rPr lang="en-US" sz="2800" b="1" dirty="0">
                <a:solidFill>
                  <a:srgbClr val="FF0000"/>
                </a:solidFill>
              </a:rPr>
              <a:t> TOP</a:t>
            </a:r>
            <a:r>
              <a:rPr lang="en-US" sz="2800" b="1" dirty="0"/>
              <a:t>=</a:t>
            </a:r>
            <a:r>
              <a:rPr lang="en-US" sz="2800" b="1" dirty="0">
                <a:solidFill>
                  <a:srgbClr val="7030A0"/>
                </a:solidFill>
              </a:rPr>
              <a:t>0, </a:t>
            </a:r>
            <a:r>
              <a:rPr lang="en-US" sz="2400" dirty="0"/>
              <a:t>then print: </a:t>
            </a:r>
            <a:r>
              <a:rPr lang="en-US" sz="2400" b="1" dirty="0"/>
              <a:t>Underflow</a:t>
            </a:r>
            <a:r>
              <a:rPr lang="en-US" sz="2400" dirty="0"/>
              <a:t>, and Return.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Step 2.</a:t>
            </a:r>
            <a:r>
              <a:rPr lang="en-US" sz="2400" dirty="0"/>
              <a:t> Set </a:t>
            </a:r>
            <a:r>
              <a:rPr lang="en-US" sz="2800" b="1" dirty="0"/>
              <a:t>ITEM</a:t>
            </a:r>
            <a:r>
              <a:rPr lang="en-US" sz="2400" dirty="0"/>
              <a:t>= </a:t>
            </a:r>
            <a:r>
              <a:rPr lang="en-US" sz="2800" b="1" dirty="0">
                <a:solidFill>
                  <a:srgbClr val="00B0F0"/>
                </a:solidFill>
              </a:rPr>
              <a:t>STACK</a:t>
            </a:r>
            <a:r>
              <a:rPr lang="en-US" sz="2400" dirty="0"/>
              <a:t>[</a:t>
            </a:r>
            <a:r>
              <a:rPr lang="en-US" sz="2800" b="1" dirty="0">
                <a:solidFill>
                  <a:srgbClr val="FF0000"/>
                </a:solidFill>
              </a:rPr>
              <a:t>TOP</a:t>
            </a:r>
            <a:r>
              <a:rPr lang="en-US" sz="2400" dirty="0"/>
              <a:t>] [Assign TOP element to ITEM.]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Step 3. </a:t>
            </a:r>
            <a:r>
              <a:rPr lang="en-US" sz="2400" dirty="0"/>
              <a:t>Set </a:t>
            </a:r>
            <a:r>
              <a:rPr lang="en-US" sz="2800" b="1" dirty="0">
                <a:solidFill>
                  <a:srgbClr val="FF0000"/>
                </a:solidFill>
              </a:rPr>
              <a:t>TOP</a:t>
            </a:r>
            <a:r>
              <a:rPr lang="en-US" sz="2400" dirty="0"/>
              <a:t>:=</a:t>
            </a:r>
            <a:r>
              <a:rPr lang="en-US" sz="2800" b="1" dirty="0">
                <a:solidFill>
                  <a:srgbClr val="FF0000"/>
                </a:solidFill>
              </a:rPr>
              <a:t> TOP</a:t>
            </a:r>
            <a:r>
              <a:rPr lang="en-US" sz="2800" dirty="0"/>
              <a:t>-</a:t>
            </a:r>
            <a:r>
              <a:rPr lang="en-US" sz="2800" b="1" dirty="0"/>
              <a:t>1. </a:t>
            </a:r>
            <a:r>
              <a:rPr lang="en-US" sz="2400" dirty="0"/>
              <a:t>[Decreases TOP by 1]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Step 4. </a:t>
            </a:r>
            <a:r>
              <a:rPr lang="en-US" sz="2400" dirty="0"/>
              <a:t>Return</a:t>
            </a:r>
            <a:r>
              <a:rPr lang="en-US" sz="2400" b="1" dirty="0"/>
              <a:t> 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6" b="4764"/>
          <a:stretch/>
        </p:blipFill>
        <p:spPr>
          <a:xfrm rot="16200000">
            <a:off x="1130660" y="3114580"/>
            <a:ext cx="2478294" cy="46320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TextBox 14"/>
          <p:cNvSpPr txBox="1"/>
          <p:nvPr/>
        </p:nvSpPr>
        <p:spPr>
          <a:xfrm>
            <a:off x="4840942" y="4164553"/>
            <a:ext cx="4168588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1. Since TOP=3, go to Step 2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2. ITEM=ZZZ.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3. TOP=3-1=2.</a:t>
            </a:r>
            <a:endParaRPr lang="en-US" sz="2000" b="1" dirty="0"/>
          </a:p>
          <a:p>
            <a:pPr>
              <a:lnSpc>
                <a:spcPct val="200000"/>
              </a:lnSpc>
            </a:pPr>
            <a:r>
              <a:rPr lang="en-US" sz="2000" b="1" dirty="0"/>
              <a:t>4. Return.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952491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4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8162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STACKS: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11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0682" y="4616660"/>
            <a:ext cx="90633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charset="2"/>
              <a:buChar char="ü"/>
            </a:pPr>
            <a:r>
              <a:rPr lang="en-US" sz="2400" b="1" dirty="0">
                <a:solidFill>
                  <a:srgbClr val="FF0000"/>
                </a:solidFill>
              </a:rPr>
              <a:t>TOP</a:t>
            </a:r>
            <a:r>
              <a:rPr lang="en-US" sz="2400" b="1" dirty="0"/>
              <a:t> </a:t>
            </a:r>
            <a:r>
              <a:rPr lang="en-US" sz="2400" dirty="0"/>
              <a:t>is changed  before the insertion in PUSH, whereas</a:t>
            </a:r>
          </a:p>
          <a:p>
            <a:pPr marL="342900" indent="-342900">
              <a:lnSpc>
                <a:spcPct val="200000"/>
              </a:lnSpc>
              <a:buFont typeface="Wingdings" charset="2"/>
              <a:buChar char="ü"/>
            </a:pPr>
            <a:r>
              <a:rPr lang="en-US" sz="2400" b="1" dirty="0">
                <a:solidFill>
                  <a:srgbClr val="FF0000"/>
                </a:solidFill>
              </a:rPr>
              <a:t>TOP</a:t>
            </a:r>
            <a:r>
              <a:rPr lang="en-US" sz="2400" b="1" dirty="0"/>
              <a:t> </a:t>
            </a:r>
            <a:r>
              <a:rPr lang="en-US" sz="2400" dirty="0"/>
              <a:t>is changed after the deletion in POP</a:t>
            </a:r>
            <a:endParaRPr 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4565980" y="954954"/>
            <a:ext cx="4168588" cy="2923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POP</a:t>
            </a:r>
          </a:p>
          <a:p>
            <a:r>
              <a:rPr lang="en-US" sz="2400" dirty="0"/>
              <a:t>1. Since TOP=3, go to Step 2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2. ITEM=ZZZ.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3. TOP=3-1=2.</a:t>
            </a:r>
            <a:endParaRPr lang="en-US" sz="2000" b="1" dirty="0"/>
          </a:p>
          <a:p>
            <a:pPr>
              <a:lnSpc>
                <a:spcPct val="200000"/>
              </a:lnSpc>
            </a:pPr>
            <a:r>
              <a:rPr lang="en-US" sz="2000" b="1" dirty="0"/>
              <a:t>4. Return.</a:t>
            </a:r>
            <a:endParaRPr lang="en-US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01909" y="941720"/>
            <a:ext cx="4168588" cy="2923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PUSH</a:t>
            </a:r>
          </a:p>
          <a:p>
            <a:r>
              <a:rPr lang="en-US" sz="2400" dirty="0"/>
              <a:t>1. Since TOP=3, go to Step 2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2. TOP=3+1=4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3. STACK [TOP]=STACK[4]= </a:t>
            </a:r>
            <a:r>
              <a:rPr lang="en-US" sz="2000" b="1" dirty="0"/>
              <a:t>WWW</a:t>
            </a:r>
          </a:p>
          <a:p>
            <a:pPr>
              <a:lnSpc>
                <a:spcPct val="200000"/>
              </a:lnSpc>
            </a:pPr>
            <a:r>
              <a:rPr lang="en-US" sz="2000" b="1" dirty="0"/>
              <a:t>4. Return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17511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8162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STACKS: </a:t>
            </a:r>
            <a:r>
              <a:rPr lang="en-US" sz="3200" b="1" dirty="0">
                <a:solidFill>
                  <a:srgbClr val="00B050"/>
                </a:solidFill>
              </a:rPr>
              <a:t>Arithmetic Expressions;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-13447" y="436859"/>
            <a:ext cx="9117106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charset="2"/>
              <a:buChar char="ü"/>
            </a:pPr>
            <a:r>
              <a:rPr lang="en-US" sz="2400" dirty="0"/>
              <a:t>Let Q be an arithmetic expression involving constants and operation.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     </a:t>
            </a:r>
            <a:r>
              <a:rPr lang="en-US" sz="3200" dirty="0"/>
              <a:t> Q: 2 ↑3+5*2 ↑2-12/6, </a:t>
            </a:r>
            <a:r>
              <a:rPr lang="en-US" sz="2800" dirty="0">
                <a:solidFill>
                  <a:srgbClr val="FF0000"/>
                </a:solidFill>
              </a:rPr>
              <a:t>we have to find the value of Q</a:t>
            </a:r>
            <a:endParaRPr lang="en-US" sz="3200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charset="2"/>
              <a:buChar char="ü"/>
            </a:pPr>
            <a:r>
              <a:rPr lang="en-US" sz="2400" dirty="0"/>
              <a:t>Q may have different levels of precedence in its binary operations.</a:t>
            </a:r>
          </a:p>
          <a:p>
            <a:pPr marL="285750" indent="-285750" algn="just">
              <a:lnSpc>
                <a:spcPct val="150000"/>
              </a:lnSpc>
              <a:buFont typeface="Wingdings" charset="2"/>
              <a:buChar char="ü"/>
            </a:pPr>
            <a:r>
              <a:rPr lang="en-US" sz="2400" dirty="0"/>
              <a:t>We assume the following three levels of precedence for the usual </a:t>
            </a:r>
            <a:r>
              <a:rPr lang="en-US" sz="2400" b="1" dirty="0"/>
              <a:t>FIVE</a:t>
            </a:r>
            <a:r>
              <a:rPr lang="en-US" sz="2400" dirty="0"/>
              <a:t> binary operations.</a:t>
            </a:r>
          </a:p>
          <a:p>
            <a:pPr marL="800100" lvl="1" indent="-342900">
              <a:lnSpc>
                <a:spcPct val="150000"/>
              </a:lnSpc>
              <a:buFont typeface="Wingdings" charset="2"/>
              <a:buChar char="Ø"/>
            </a:pPr>
            <a:r>
              <a:rPr lang="en-US" sz="2400" dirty="0"/>
              <a:t>Highest: Exponential (↑)</a:t>
            </a:r>
          </a:p>
          <a:p>
            <a:pPr marL="800100" lvl="1" indent="-342900">
              <a:lnSpc>
                <a:spcPct val="150000"/>
              </a:lnSpc>
              <a:buFont typeface="Wingdings" charset="2"/>
              <a:buChar char="Ø"/>
            </a:pPr>
            <a:r>
              <a:rPr lang="en-US" sz="2400" dirty="0"/>
              <a:t>Next Highest: Multiplication (*) and division(/)</a:t>
            </a:r>
          </a:p>
          <a:p>
            <a:pPr marL="800100" lvl="1" indent="-342900">
              <a:buFont typeface="Wingdings" charset="2"/>
              <a:buChar char="Ø"/>
            </a:pPr>
            <a:r>
              <a:rPr lang="en-US" sz="2400" dirty="0"/>
              <a:t>Lowest: Addition (+) and Subtraction(-) </a:t>
            </a:r>
          </a:p>
          <a:p>
            <a:pPr marL="342900" indent="-342900">
              <a:buFont typeface="Wingdings" charset="2"/>
              <a:buChar char="ü"/>
            </a:pPr>
            <a:r>
              <a:rPr lang="en-US" sz="2400" dirty="0"/>
              <a:t>Thus, we obtain after exponentiations (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en-US" sz="3200" dirty="0"/>
              <a:t>+5*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en-US" sz="3200" dirty="0"/>
              <a:t>-12/6</a:t>
            </a:r>
            <a:r>
              <a:rPr lang="en-US" sz="2400" dirty="0"/>
              <a:t>)</a:t>
            </a:r>
          </a:p>
          <a:p>
            <a:pPr marL="342900" indent="-342900">
              <a:lnSpc>
                <a:spcPct val="150000"/>
              </a:lnSpc>
              <a:buFont typeface="Wingdings" charset="2"/>
              <a:buChar char="ü"/>
            </a:pPr>
            <a:r>
              <a:rPr lang="en-US" sz="2400" dirty="0"/>
              <a:t>After, multiplication and division </a:t>
            </a:r>
            <a:r>
              <a:rPr lang="en-US" sz="3200" dirty="0"/>
              <a:t>(8+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</a:t>
            </a:r>
            <a:r>
              <a:rPr lang="en-US" sz="3200" dirty="0"/>
              <a:t>-2)</a:t>
            </a:r>
          </a:p>
          <a:p>
            <a:pPr marL="342900" indent="-342900">
              <a:lnSpc>
                <a:spcPct val="150000"/>
              </a:lnSpc>
              <a:buFont typeface="Wingdings" charset="2"/>
              <a:buChar char="ü"/>
            </a:pPr>
            <a:r>
              <a:rPr lang="en-US" sz="2400" dirty="0"/>
              <a:t>After. Addition and subtraction ,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906389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-55794" y="16510"/>
            <a:ext cx="82990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STACKS: </a:t>
            </a:r>
            <a:r>
              <a:rPr lang="en-US" sz="3200" b="1" dirty="0">
                <a:solidFill>
                  <a:srgbClr val="00B050"/>
                </a:solidFill>
              </a:rPr>
              <a:t>Polish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94" y="682892"/>
            <a:ext cx="900752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For most common arithmetic operations: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</a:t>
            </a:r>
            <a:r>
              <a:rPr lang="en-US" sz="2800" dirty="0"/>
              <a:t>A+B,     C-D,      E*F,       G/H    (</a:t>
            </a:r>
            <a:r>
              <a:rPr lang="en-US" sz="2800" i="1" dirty="0">
                <a:solidFill>
                  <a:srgbClr val="FF0000"/>
                </a:solidFill>
              </a:rPr>
              <a:t>infix notation</a:t>
            </a:r>
            <a:r>
              <a:rPr lang="en-US" sz="2800" i="1" dirty="0"/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94" y="2151529"/>
            <a:ext cx="898063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i="1" dirty="0">
                <a:solidFill>
                  <a:srgbClr val="0000CC"/>
                </a:solidFill>
              </a:rPr>
              <a:t>Polish notation</a:t>
            </a:r>
            <a:r>
              <a:rPr lang="en-US" sz="2400" b="1" dirty="0">
                <a:solidFill>
                  <a:srgbClr val="0000CC"/>
                </a:solidFill>
              </a:rPr>
              <a:t> </a:t>
            </a:r>
            <a:r>
              <a:rPr lang="en-US" sz="2400" dirty="0"/>
              <a:t>refers to the notation in which the operator symbol is placed before its two operands. </a:t>
            </a:r>
          </a:p>
          <a:p>
            <a:pPr algn="just"/>
            <a:endParaRPr lang="en-US" sz="1050" dirty="0"/>
          </a:p>
          <a:p>
            <a:pPr algn="just"/>
            <a:r>
              <a:rPr lang="en-US" sz="2400" dirty="0"/>
              <a:t>For example:               </a:t>
            </a:r>
            <a:r>
              <a:rPr lang="en-US" sz="3200" dirty="0"/>
              <a:t>+AB,     -CD,     *EF,     /GH</a:t>
            </a:r>
            <a:endParaRPr lang="en-US" sz="32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80682" y="4814044"/>
            <a:ext cx="25683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(A+B)*C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3985" y="5353629"/>
            <a:ext cx="2810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= [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+AB</a:t>
            </a:r>
            <a:r>
              <a:rPr lang="en-US" sz="3600" dirty="0"/>
              <a:t>]*C=?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3985" y="6005942"/>
            <a:ext cx="2366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= 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*+ABC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94" y="4163436"/>
            <a:ext cx="90075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Instant Exercise: (</a:t>
            </a:r>
            <a:r>
              <a:rPr lang="en-US" sz="3200" b="1" i="1" dirty="0">
                <a:solidFill>
                  <a:srgbClr val="00B0F0"/>
                </a:solidFill>
              </a:rPr>
              <a:t>Infix expression </a:t>
            </a:r>
            <a:r>
              <a:rPr lang="en-US" sz="3200" dirty="0"/>
              <a:t>to </a:t>
            </a:r>
            <a:r>
              <a:rPr lang="en-US" sz="3200" b="1" i="1" dirty="0">
                <a:solidFill>
                  <a:srgbClr val="0000CC"/>
                </a:solidFill>
              </a:rPr>
              <a:t>polish notation</a:t>
            </a:r>
            <a:r>
              <a:rPr lang="en-US" sz="3200" dirty="0"/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6177" y="4818527"/>
            <a:ext cx="25683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B050"/>
                </a:solidFill>
              </a:rPr>
              <a:t>A+(B*C) </a:t>
            </a:r>
            <a:r>
              <a:rPr lang="en-US" sz="3600" dirty="0">
                <a:solidFill>
                  <a:srgbClr val="00B050"/>
                </a:solidFill>
              </a:rPr>
              <a:t>=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9480" y="5358112"/>
            <a:ext cx="2810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B050"/>
                </a:solidFill>
              </a:rPr>
              <a:t>= A+[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*BC</a:t>
            </a:r>
            <a:r>
              <a:rPr lang="en-US" sz="3600" dirty="0">
                <a:solidFill>
                  <a:srgbClr val="00B050"/>
                </a:solidFill>
              </a:rPr>
              <a:t>]=?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9480" y="6010425"/>
            <a:ext cx="2366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B050"/>
                </a:solidFill>
              </a:rPr>
              <a:t>= 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+A*BC</a:t>
            </a:r>
          </a:p>
        </p:txBody>
      </p:sp>
    </p:spTree>
    <p:extLst>
      <p:ext uri="{BB962C8B-B14F-4D97-AF65-F5344CB8AC3E}">
        <p14:creationId xmlns:p14="http://schemas.microsoft.com/office/powerpoint/2010/main" val="22397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-55794" y="16510"/>
            <a:ext cx="82990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STACKS: </a:t>
            </a:r>
            <a:r>
              <a:rPr lang="en-US" sz="3200" b="1" dirty="0">
                <a:solidFill>
                  <a:srgbClr val="00B050"/>
                </a:solidFill>
              </a:rPr>
              <a:t>Polish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8753" y="721474"/>
            <a:ext cx="3035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7030A0"/>
                </a:solidFill>
              </a:rPr>
              <a:t>(A+B)/(C-D) </a:t>
            </a:r>
            <a:r>
              <a:rPr lang="en-US" sz="3600" b="1" dirty="0">
                <a:solidFill>
                  <a:srgbClr val="7030A0"/>
                </a:solidFill>
              </a:rPr>
              <a:t>=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28196" y="1317423"/>
            <a:ext cx="3564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= [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+AB</a:t>
            </a:r>
            <a:r>
              <a:rPr lang="en-US" sz="3600" b="1" dirty="0">
                <a:solidFill>
                  <a:srgbClr val="7030A0"/>
                </a:solidFill>
              </a:rPr>
              <a:t>]/[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-CD</a:t>
            </a:r>
            <a:r>
              <a:rPr lang="en-US" sz="3600" b="1" dirty="0">
                <a:solidFill>
                  <a:srgbClr val="7030A0"/>
                </a:solidFill>
              </a:rPr>
              <a:t>] =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8196" y="1913372"/>
            <a:ext cx="2366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=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/+AB-CD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2998694"/>
            <a:ext cx="900752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charset="2"/>
              <a:buChar char="ü"/>
            </a:pPr>
            <a:r>
              <a:rPr lang="en-US" sz="2800" dirty="0"/>
              <a:t>The fundamental property of polish notation is that the order in which the operations are to be performed is completely determined by</a:t>
            </a:r>
          </a:p>
          <a:p>
            <a:pPr marL="1371600" lvl="2" indent="-457200" algn="just">
              <a:buFont typeface="Wingdings" charset="2"/>
              <a:buChar char="ü"/>
            </a:pPr>
            <a:r>
              <a:rPr lang="en-US" sz="2800" dirty="0"/>
              <a:t> The positions of the operators, and </a:t>
            </a:r>
          </a:p>
          <a:p>
            <a:pPr marL="1371600" lvl="2" indent="-457200" algn="just">
              <a:buFont typeface="Wingdings" charset="2"/>
              <a:buChar char="ü"/>
            </a:pPr>
            <a:r>
              <a:rPr lang="en-US" sz="2800" dirty="0"/>
              <a:t>Operands in the expression. </a:t>
            </a:r>
          </a:p>
          <a:p>
            <a:pPr marL="457200" indent="-457200" algn="just">
              <a:buFont typeface="Wingdings" charset="2"/>
              <a:buChar char="ü"/>
            </a:pPr>
            <a:r>
              <a:rPr lang="en-US" sz="2800" b="1" dirty="0">
                <a:solidFill>
                  <a:srgbClr val="7030A0"/>
                </a:solidFill>
              </a:rPr>
              <a:t>One never needs parentheses when writing expressions in polish notation.</a:t>
            </a:r>
          </a:p>
        </p:txBody>
      </p:sp>
    </p:spTree>
    <p:extLst>
      <p:ext uri="{BB962C8B-B14F-4D97-AF65-F5344CB8AC3E}">
        <p14:creationId xmlns:p14="http://schemas.microsoft.com/office/powerpoint/2010/main" val="1154968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-55794" y="16510"/>
            <a:ext cx="8099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STACKS: </a:t>
            </a:r>
            <a:r>
              <a:rPr lang="en-US" sz="3200" b="1" dirty="0">
                <a:solidFill>
                  <a:srgbClr val="00B050"/>
                </a:solidFill>
              </a:rPr>
              <a:t>Reverse Polish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01285"/>
            <a:ext cx="900752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i="1" dirty="0">
                <a:solidFill>
                  <a:srgbClr val="7030A0"/>
                </a:solidFill>
              </a:rPr>
              <a:t>Reverse Polish Notation </a:t>
            </a:r>
            <a:r>
              <a:rPr lang="en-US" sz="2400" dirty="0"/>
              <a:t>refers to the analogous notation in which the operator symbol is placed after its two operands:</a:t>
            </a:r>
          </a:p>
          <a:p>
            <a:pPr algn="just"/>
            <a:endParaRPr lang="en-US" sz="2400" dirty="0"/>
          </a:p>
          <a:p>
            <a:pPr algn="ctr"/>
            <a:r>
              <a:rPr lang="en-US" sz="3600" b="1" dirty="0"/>
              <a:t>AB+,     CD-,    EF*,       GH/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2624864"/>
            <a:ext cx="900752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charset="2"/>
              <a:buChar char="ü"/>
            </a:pPr>
            <a:r>
              <a:rPr lang="en-US" sz="2400" dirty="0"/>
              <a:t>This notation is frequently called </a:t>
            </a:r>
            <a:r>
              <a:rPr lang="en-US" sz="2800" b="1" i="1" dirty="0">
                <a:solidFill>
                  <a:srgbClr val="7030A0"/>
                </a:solidFill>
              </a:rPr>
              <a:t>postfix notation</a:t>
            </a:r>
          </a:p>
          <a:p>
            <a:pPr marL="285750" indent="-285750" algn="just">
              <a:lnSpc>
                <a:spcPct val="150000"/>
              </a:lnSpc>
              <a:buFont typeface="Wingdings" charset="2"/>
              <a:buChar char="ü"/>
            </a:pPr>
            <a:r>
              <a:rPr lang="en-US" sz="2800" dirty="0"/>
              <a:t>One never needs parentheses to determine the order of the operations in any arithmetic expression in </a:t>
            </a:r>
            <a:r>
              <a:rPr lang="en-US" sz="2800" b="1" i="1" dirty="0">
                <a:solidFill>
                  <a:srgbClr val="7030A0"/>
                </a:solidFill>
              </a:rPr>
              <a:t>postfix notation</a:t>
            </a:r>
          </a:p>
          <a:p>
            <a:pPr algn="just">
              <a:lnSpc>
                <a:spcPct val="150000"/>
              </a:lnSpc>
            </a:pPr>
            <a:r>
              <a:rPr lang="en-US" sz="28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111916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-55794" y="16510"/>
            <a:ext cx="84491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STACKS: </a:t>
            </a:r>
            <a:r>
              <a:rPr lang="en-US" sz="3200" b="1" dirty="0">
                <a:solidFill>
                  <a:srgbClr val="00B050"/>
                </a:solidFill>
              </a:rPr>
              <a:t>Evaluation of Postfix Expression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217" y="601285"/>
            <a:ext cx="779929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P:   5,   6,    2,   +,   *,   12,   4,   /,   -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672008"/>
              </p:ext>
            </p:extLst>
          </p:nvPr>
        </p:nvGraphicFramePr>
        <p:xfrm>
          <a:off x="2443864" y="1326516"/>
          <a:ext cx="4064000" cy="539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Symbol Scanned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STACK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2926486" y="2114781"/>
            <a:ext cx="8499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/>
              <a:t>(1) 5</a:t>
            </a:r>
            <a:endParaRPr lang="en-US" sz="2800" dirty="0"/>
          </a:p>
        </p:txBody>
      </p:sp>
      <p:sp>
        <p:nvSpPr>
          <p:cNvPr id="11" name="Rectangle 10"/>
          <p:cNvSpPr/>
          <p:nvPr/>
        </p:nvSpPr>
        <p:spPr>
          <a:xfrm>
            <a:off x="5310302" y="2114781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77209" y="3027743"/>
            <a:ext cx="8499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(3)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53839" y="6138884"/>
            <a:ext cx="9589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(10</a:t>
            </a:r>
            <a:r>
              <a:rPr lang="en-US" sz="2800"/>
              <a:t>) )</a:t>
            </a:r>
            <a:endParaRPr lang="en-US" sz="2800" dirty="0"/>
          </a:p>
        </p:txBody>
      </p:sp>
      <p:sp>
        <p:nvSpPr>
          <p:cNvPr id="14" name="Rectangle 13"/>
          <p:cNvSpPr/>
          <p:nvPr/>
        </p:nvSpPr>
        <p:spPr>
          <a:xfrm>
            <a:off x="2890622" y="5731535"/>
            <a:ext cx="7777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(9) -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54554" y="5319853"/>
            <a:ext cx="8066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(8) /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2914" y="4796633"/>
            <a:ext cx="8499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(7) 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01064" y="2601104"/>
            <a:ext cx="8499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(2) 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1101" y="2522674"/>
            <a:ext cx="7216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5, 6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51559" y="2997802"/>
            <a:ext cx="10759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5, 6, 2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61533" y="3460080"/>
            <a:ext cx="8499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(4) +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78930" y="3442891"/>
            <a:ext cx="7216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5,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90030" y="3903831"/>
            <a:ext cx="8467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(5) *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42279" y="3904572"/>
            <a:ext cx="5501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2914" y="4369994"/>
            <a:ext cx="10326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(6) 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22362" y="4341997"/>
            <a:ext cx="10871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40, 12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81573" y="4832701"/>
            <a:ext cx="14414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40, 12, 4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13732" y="5290895"/>
            <a:ext cx="9044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40,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83650" y="5726885"/>
            <a:ext cx="5501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581448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40966" y="2774224"/>
            <a:ext cx="8229600" cy="1143000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you……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E0763-8C84-4A0C-BF22-E8FBB0D34350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701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7694</TotalTime>
  <Words>870</Words>
  <Application>Microsoft Office PowerPoint</Application>
  <PresentationFormat>On-screen Show (4:3)</PresentationFormat>
  <Paragraphs>159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Office Theme</vt:lpstr>
      <vt:lpstr>Slipstream</vt:lpstr>
      <vt:lpstr>3_Office Theme</vt:lpstr>
      <vt:lpstr>Data Structures  ICT-1211  Information and Communication Technology</vt:lpstr>
      <vt:lpstr> Stacks, Queues, Recursion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you……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AION</cp:lastModifiedBy>
  <cp:revision>468</cp:revision>
  <dcterms:created xsi:type="dcterms:W3CDTF">2016-12-28T08:52:04Z</dcterms:created>
  <dcterms:modified xsi:type="dcterms:W3CDTF">2024-09-29T01:10:54Z</dcterms:modified>
</cp:coreProperties>
</file>