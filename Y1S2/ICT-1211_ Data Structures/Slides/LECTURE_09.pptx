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  <p:sldMasterId id="2147483696" r:id="rId4"/>
  </p:sldMasterIdLst>
  <p:notesMasterIdLst>
    <p:notesMasterId r:id="rId32"/>
  </p:notesMasterIdLst>
  <p:sldIdLst>
    <p:sldId id="345" r:id="rId5"/>
    <p:sldId id="389" r:id="rId6"/>
    <p:sldId id="386" r:id="rId7"/>
    <p:sldId id="350" r:id="rId8"/>
    <p:sldId id="351" r:id="rId9"/>
    <p:sldId id="352" r:id="rId10"/>
    <p:sldId id="353" r:id="rId11"/>
    <p:sldId id="382" r:id="rId12"/>
    <p:sldId id="383" r:id="rId13"/>
    <p:sldId id="384" r:id="rId14"/>
    <p:sldId id="385" r:id="rId15"/>
    <p:sldId id="354" r:id="rId16"/>
    <p:sldId id="355" r:id="rId17"/>
    <p:sldId id="381" r:id="rId18"/>
    <p:sldId id="362" r:id="rId19"/>
    <p:sldId id="363" r:id="rId20"/>
    <p:sldId id="364" r:id="rId21"/>
    <p:sldId id="365" r:id="rId22"/>
    <p:sldId id="372" r:id="rId23"/>
    <p:sldId id="373" r:id="rId24"/>
    <p:sldId id="366" r:id="rId25"/>
    <p:sldId id="367" r:id="rId26"/>
    <p:sldId id="369" r:id="rId27"/>
    <p:sldId id="370" r:id="rId28"/>
    <p:sldId id="368" r:id="rId29"/>
    <p:sldId id="371" r:id="rId30"/>
    <p:sldId id="390" r:id="rId3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5" autoAdjust="0"/>
    <p:restoredTop sz="82384" autoAdjust="0"/>
  </p:normalViewPr>
  <p:slideViewPr>
    <p:cSldViewPr snapToGrid="0">
      <p:cViewPr varScale="1">
        <p:scale>
          <a:sx n="60" d="100"/>
          <a:sy n="60" d="100"/>
        </p:scale>
        <p:origin x="-1452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C8D40F-337E-475A-B8D0-2FD58C6D0387}" type="datetimeFigureOut">
              <a:rPr lang="en-US" smtClean="0"/>
              <a:t>7/8/2025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9FA0E-C547-4E4D-80AD-FEB8A6571D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5785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4519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755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93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Recall that, for a LA, the computer does not keep track of the address LOC(LA[K]) of every element LA[K] of LA, but does keep track of </a:t>
            </a:r>
            <a:r>
              <a:rPr lang="en-US" i="1" dirty="0"/>
              <a:t>Base(LA), </a:t>
            </a:r>
            <a:r>
              <a:rPr lang="en-US" i="0" dirty="0"/>
              <a:t>the address of the first element of 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079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955688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750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4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i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46132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an organization which divides its membership list into four groups, where each group contains an alphabetized list of those member living in a certain area.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2778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749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46531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92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654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5672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792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6017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203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24291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65302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162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16659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890206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9FA0E-C547-4E4D-80AD-FEB8A6571DF3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27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F9AB17-464E-4A64-BBF0-94479CF10AD3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661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3EB9D9-AF34-4A8A-96E5-6C5B3A8A0F8A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692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6D60F-ECAB-40B8-A7B8-A4DD5AA679E0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247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D34F-F919-4792-8DC2-A733C32C9999}" type="datetime1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627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560FA5-600B-421B-9E5E-22FCFEC76525}" type="datetime1">
              <a:rPr lang="en-US" smtClean="0"/>
              <a:t>7/8/2025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08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589D8D-5A22-4450-ABA3-DC6DA3D313DF}" type="datetime1">
              <a:rPr lang="en-US" smtClean="0"/>
              <a:t>7/8/2025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7293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2FD1-EFE0-4F2C-A74B-CDFA719EC8BC}" type="datetime1">
              <a:rPr lang="en-US" smtClean="0"/>
              <a:t>7/8/2025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528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375D8-1F9C-4813-BC76-D92E2035D1E4}" type="datetime1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1404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5489D-D363-4404-B658-8D8E9A55384D}" type="datetime1">
              <a:rPr lang="en-US" smtClean="0"/>
              <a:t>7/8/2025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4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648943-8537-474C-9DCF-1039A5FACE47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5230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54A269-B3BB-4B06-9280-79B80C43ACB3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5436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67290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16187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02688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9754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52390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68892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32266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3410653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604372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458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36341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73795" y="5052545"/>
            <a:ext cx="5637010" cy="882119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7581" y="3132290"/>
            <a:ext cx="7175351" cy="1793167"/>
          </a:xfrm>
          <a:effectLst/>
        </p:spPr>
        <p:txBody>
          <a:bodyPr/>
          <a:lstStyle>
            <a:lvl1pPr marL="640080" indent="-457200"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62340-A1EA-4CE0-A397-B868A3BF73D1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86552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13"/>
          </p:nvPr>
        </p:nvSpPr>
        <p:spPr>
          <a:xfrm>
            <a:off x="1143000" y="731520"/>
            <a:ext cx="6400800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15956A-8026-4861-99E0-6ECDFB0AE94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13560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3195" y="2172648"/>
            <a:ext cx="5966666" cy="2423346"/>
          </a:xfrm>
          <a:effectLst/>
        </p:spPr>
        <p:txBody>
          <a:bodyPr anchor="b"/>
          <a:lstStyle>
            <a:lvl1pPr algn="r">
              <a:defRPr sz="4600" b="1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2438" y="4607511"/>
            <a:ext cx="5970494" cy="83546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615CA4-E6C8-4CEA-B956-D910F5B7540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94454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142999" y="731519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731520"/>
            <a:ext cx="3346704" cy="34747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D07151-5D65-4A99-9B3C-1AD90A0CDB34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80893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6447" y="1400327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7302" y="731520"/>
            <a:ext cx="3346704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lang="en-US" sz="2400" b="1" i="0" kern="1200" dirty="0" smtClean="0">
                <a:gradFill>
                  <a:gsLst>
                    <a:gs pos="0">
                      <a:schemeClr val="tx1"/>
                    </a:gs>
                    <a:gs pos="4000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2">
                        <a:alpha val="65000"/>
                      </a:schemeClr>
                    </a:gs>
                  </a:gsLst>
                  <a:lin ang="5400000" scaled="0"/>
                </a:gradFill>
                <a:effectLst/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399032"/>
            <a:ext cx="3346704" cy="2743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BB722-728E-4B59-9298-3538DCF90145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819712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6ED25E-DD21-4264-AC1E-16FAB2C1A6BB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443586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BD25C1-455A-42F6-A97C-28ADF134F6B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324363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095" y="2209800"/>
            <a:ext cx="3636085" cy="1258493"/>
          </a:xfrm>
          <a:effectLst/>
        </p:spPr>
        <p:txBody>
          <a:bodyPr anchor="b"/>
          <a:lstStyle>
            <a:lvl1pPr marL="228600" indent="-228600" algn="l">
              <a:defRPr sz="2800" b="1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93515" y="731520"/>
            <a:ext cx="4017085" cy="4894730"/>
          </a:xfrm>
        </p:spPr>
        <p:txBody>
          <a:bodyPr anchor="ctr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5765" y="3497802"/>
            <a:ext cx="3388660" cy="21395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3FE1C5-B386-4F39-9C53-595BBFCF3FBA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266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3866920"/>
            <a:ext cx="9144000" cy="2991080"/>
          </a:xfrm>
          <a:prstGeom prst="rect">
            <a:avLst/>
          </a:prstGeom>
          <a:gradFill>
            <a:gsLst>
              <a:gs pos="0">
                <a:schemeClr val="bg1">
                  <a:alpha val="92000"/>
                </a:schemeClr>
              </a:gs>
              <a:gs pos="37000">
                <a:schemeClr val="bg1">
                  <a:alpha val="77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386692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90000"/>
                </a:schemeClr>
              </a:gs>
              <a:gs pos="48000">
                <a:schemeClr val="bg1">
                  <a:alpha val="63000"/>
                </a:schemeClr>
              </a:gs>
              <a:gs pos="100000">
                <a:schemeClr val="bg2">
                  <a:alpha val="8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2652713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4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475175" y="1143000"/>
            <a:ext cx="4114800" cy="3127806"/>
          </a:xfrm>
          <a:prstGeom prst="roundRect">
            <a:avLst>
              <a:gd name="adj" fmla="val 4230"/>
            </a:avLst>
          </a:prstGeom>
          <a:solidFill>
            <a:schemeClr val="bg2">
              <a:lumMod val="90000"/>
            </a:schemeClr>
          </a:solidFill>
          <a:effectLst>
            <a:reflection blurRad="4350" stA="23000" endA="300" endPos="28000" dir="5400000" sy="-100000" algn="bl" rotWithShape="0"/>
          </a:effectLst>
          <a:scene3d>
            <a:camera prst="perspectiveContrastingLeftFacing" fov="1800000">
              <a:rot lat="300000" lon="2100000" rev="0"/>
            </a:camera>
            <a:lightRig rig="balanced" dir="t"/>
          </a:scene3d>
          <a:sp3d>
            <a:bevelT w="50800" h="50800"/>
          </a:sp3d>
        </p:spPr>
        <p:txBody>
          <a:bodyPr rtlCol="0">
            <a:normAutofit/>
            <a:flatTx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77887" y="1010486"/>
            <a:ext cx="3694114" cy="2163020"/>
          </a:xfrm>
        </p:spPr>
        <p:txBody>
          <a:bodyPr anchor="b"/>
          <a:lstStyle>
            <a:lvl1pPr marL="182880" indent="-182880">
              <a:buFont typeface="Georgia" pitchFamily="18" charset="0"/>
              <a:buChar char="*"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7268" y="4464421"/>
            <a:ext cx="6383538" cy="1143000"/>
          </a:xfrm>
        </p:spPr>
        <p:txBody>
          <a:bodyPr anchor="b"/>
          <a:lstStyle>
            <a:lvl1pPr algn="l">
              <a:defRPr sz="4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11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20DAF8-F313-4B38-ABA6-B71EF7A65CC9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88141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05000" y="731519"/>
            <a:ext cx="6400800" cy="347472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12591F-5004-4509-B8D1-F884A2A6FD92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520015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53758" y="376517"/>
            <a:ext cx="2057400" cy="5238339"/>
          </a:xfrm>
          <a:effectLst/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324113" y="731519"/>
            <a:ext cx="4829287" cy="489472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DE804-5CAD-47EC-9448-455B6DA2E950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86178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A6E7098-1D9E-4297-8B06-8858A6CB2C48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C31CAB-83F9-4A4F-970C-5EAB1D42FFB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06616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9D57E40-D648-455A-9437-30FA8FE56DD6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7E0763-8C84-4A0C-BF22-E8FBB0D343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48091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DE751E-08CA-4D99-89B2-9FC9DE2F4625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E3BDE4F-8BEA-439D-BA05-0EFEBB61C6C9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49863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2D697BC-62C7-4F99-8C37-A408B62C8993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2E7523-BF8E-4897-AD6D-B3C234AD941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31505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3466664-56B2-422F-8B50-F59FA16202E4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70E09A0-16D6-4176-A8F9-C1456DE50391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73719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EC2F925-DC51-4DF6-9C0D-52D121C83119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AD07-74B5-414C-BC00-90E42DED0B5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7965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DED0F17-9F3A-43C4-AA85-AB4E0FAD16D9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B9DFBF-5E1F-4EB9-93B7-3749EA01810A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8916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051F7-5A91-48AF-A3CB-CB3AECA38DB8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685E2C-7CA7-4F52-B75F-FBB43463FAA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2341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79E41F2-B5DD-4979-B2E9-DDEB29191F2A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3865FE-0C86-4A78-AF62-9D91622BC57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10918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D7D9A12-E6C0-4876-802E-698B1CA58FA9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0E1BB3D-D5F5-4526-9991-8EC9121349E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3363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FF34D8D-EE93-4818-9FCB-0C3F0226D4F2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A6242A-2212-4C71-B4FB-3287FD49589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793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1000"/>
            <a:ext cx="8229600" cy="1371600"/>
          </a:xfrm>
        </p:spPr>
        <p:txBody>
          <a:bodyPr/>
          <a:lstStyle/>
          <a:p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A9B11AC-AE98-49D4-983B-A8FD90AEBC06}" type="datetime1">
              <a:rPr lang="fr-FR"/>
              <a:pPr/>
              <a:t>08/07/2025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endParaRPr lang="vi-V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06255E9-86BB-409F-B032-A00BE8952A8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81013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slideLayout" Target="../slideLayouts/slideLayout45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90BE8F-DC54-4C54-BB77-B83C6D7ABD43}" type="datetime1">
              <a:rPr lang="en-US" smtClean="0"/>
              <a:t>7/8/2025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BC1585-C671-4F90-AA0D-FD45AA239D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406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1548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5105400"/>
            <a:ext cx="9144000" cy="1752600"/>
          </a:xfrm>
          <a:prstGeom prst="rect">
            <a:avLst/>
          </a:prstGeom>
          <a:gradFill>
            <a:gsLst>
              <a:gs pos="0">
                <a:schemeClr val="bg1">
                  <a:alpha val="91000"/>
                </a:schemeClr>
              </a:gs>
              <a:gs pos="37000">
                <a:schemeClr val="bg1">
                  <a:alpha val="76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51054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89000"/>
                </a:schemeClr>
              </a:gs>
              <a:gs pos="48000">
                <a:schemeClr val="bg1">
                  <a:alpha val="62000"/>
                </a:schemeClr>
              </a:gs>
              <a:gs pos="100000">
                <a:schemeClr val="bg2">
                  <a:alpha val="79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0" y="3768725"/>
            <a:ext cx="9144000" cy="2286000"/>
          </a:xfrm>
          <a:prstGeom prst="rect">
            <a:avLst/>
          </a:prstGeom>
          <a:gradFill flip="none" rotWithShape="1">
            <a:gsLst>
              <a:gs pos="0">
                <a:schemeClr val="bg1">
                  <a:alpha val="0"/>
                </a:schemeClr>
              </a:gs>
              <a:gs pos="29000">
                <a:schemeClr val="bg1">
                  <a:alpha val="30000"/>
                </a:schemeClr>
              </a:gs>
              <a:gs pos="45000">
                <a:schemeClr val="bg2">
                  <a:alpha val="40000"/>
                </a:schemeClr>
              </a:gs>
              <a:gs pos="55000">
                <a:schemeClr val="bg1">
                  <a:alpha val="26000"/>
                </a:schemeClr>
              </a:gs>
              <a:gs pos="65000">
                <a:schemeClr val="bg2">
                  <a:alpha val="6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Oval 9"/>
          <p:cNvSpPr/>
          <p:nvPr/>
        </p:nvSpPr>
        <p:spPr>
          <a:xfrm>
            <a:off x="0" y="1600200"/>
            <a:ext cx="9144000" cy="5105400"/>
          </a:xfrm>
          <a:prstGeom prst="ellipse">
            <a:avLst/>
          </a:prstGeom>
          <a:gradFill flip="none" rotWithShape="1">
            <a:gsLst>
              <a:gs pos="0">
                <a:schemeClr val="bg1"/>
              </a:gs>
              <a:gs pos="56000">
                <a:schemeClr val="bg1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white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93875" y="4371975"/>
            <a:ext cx="6511925" cy="1143000"/>
          </a:xfrm>
          <a:prstGeom prst="rect">
            <a:avLst/>
          </a:prstGeom>
          <a:effectLst/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6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43000" y="731838"/>
            <a:ext cx="6400800" cy="3475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172200" y="6172200"/>
            <a:ext cx="2514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 dirty="0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" y="6172200"/>
            <a:ext cx="3352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0000" y="6172200"/>
            <a:ext cx="1828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pPr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buNone/>
              <a:defRPr/>
            </a:pPr>
            <a:fld id="{7F751AA3-EE16-4A02-8022-3142FE923698}" type="slidenum">
              <a:rPr lang="en-US">
                <a:solidFill>
                  <a:prstClr val="black">
                    <a:lumMod val="50000"/>
                    <a:lumOff val="50000"/>
                  </a:prstClr>
                </a:solidFill>
                <a:latin typeface="Arial" charset="0"/>
                <a:cs typeface="Arial" charset="0"/>
              </a:rPr>
              <a:pPr defTabSz="449263" eaLnBrk="0" fontAlgn="base" hangingPunct="0"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100000"/>
                <a:buFont typeface="Times New Roman" pitchFamily="18" charset="0"/>
                <a:buNone/>
                <a:defRPr/>
              </a:pPr>
              <a:t>‹#›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91641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hdr="0" ftr="0" dt="0"/>
  <p:txStyles>
    <p:titleStyle>
      <a:lvl1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 kern="1200">
          <a:gradFill>
            <a:gsLst>
              <a:gs pos="0">
                <a:schemeClr val="tx1"/>
              </a:gs>
              <a:gs pos="40000">
                <a:schemeClr val="tx1">
                  <a:lumMod val="75000"/>
                  <a:lumOff val="25000"/>
                </a:schemeClr>
              </a:gs>
              <a:gs pos="100000">
                <a:schemeClr val="tx2">
                  <a:alpha val="65000"/>
                </a:schemeClr>
              </a:gs>
            </a:gsLst>
            <a:lin ang="5400000" scaled="0"/>
          </a:gradFill>
          <a:effectLst>
            <a:reflection blurRad="6350" stA="55000" endA="300" endPos="45500" dir="5400000" sy="-100000" algn="bl" rotWithShape="0"/>
          </a:effectLst>
          <a:latin typeface="+mj-lt"/>
          <a:ea typeface="+mj-ea"/>
          <a:cs typeface="+mj-cs"/>
        </a:defRPr>
      </a:lvl1pPr>
      <a:lvl2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2pPr>
      <a:lvl3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3pPr>
      <a:lvl4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4pPr>
      <a:lvl5pPr marL="319088" indent="-319088" algn="r" rtl="0" eaLnBrk="0" fontAlgn="base" hangingPunct="0">
        <a:spcBef>
          <a:spcPct val="0"/>
        </a:spcBef>
        <a:spcAft>
          <a:spcPct val="0"/>
        </a:spcAft>
        <a:buClr>
          <a:srgbClr val="C3260C"/>
        </a:buClr>
        <a:buSzPct val="128000"/>
        <a:buFont typeface="Georgia" pitchFamily="18" charset="0"/>
        <a:buChar char="*"/>
        <a:defRPr sz="4600" b="1">
          <a:solidFill>
            <a:schemeClr val="tx1"/>
          </a:solidFill>
          <a:latin typeface="Trebuchet MS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200" kern="1200">
          <a:solidFill>
            <a:srgbClr val="404040"/>
          </a:solidFill>
          <a:latin typeface="+mn-lt"/>
          <a:ea typeface="+mn-ea"/>
          <a:cs typeface="+mn-cs"/>
        </a:defRPr>
      </a:lvl1pPr>
      <a:lvl2pPr marL="547688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2000" kern="1200">
          <a:solidFill>
            <a:srgbClr val="404040"/>
          </a:solidFill>
          <a:latin typeface="+mn-lt"/>
          <a:ea typeface="+mn-ea"/>
          <a:cs typeface="+mn-cs"/>
        </a:defRPr>
      </a:lvl2pPr>
      <a:lvl3pPr marL="822325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kern="1200">
          <a:solidFill>
            <a:srgbClr val="404040"/>
          </a:solidFill>
          <a:latin typeface="+mn-lt"/>
          <a:ea typeface="+mn-ea"/>
          <a:cs typeface="+mn-cs"/>
        </a:defRPr>
      </a:lvl3pPr>
      <a:lvl4pPr marL="10969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600" kern="1200">
          <a:solidFill>
            <a:srgbClr val="404040"/>
          </a:solidFill>
          <a:latin typeface="+mn-lt"/>
          <a:ea typeface="+mn-ea"/>
          <a:cs typeface="+mn-cs"/>
        </a:defRPr>
      </a:lvl4pPr>
      <a:lvl5pPr marL="1389063" indent="-182563" algn="l" rtl="0" eaLnBrk="0" fontAlgn="base" hangingPunct="0">
        <a:spcBef>
          <a:spcPct val="20000"/>
        </a:spcBef>
        <a:spcAft>
          <a:spcPts val="300"/>
        </a:spcAft>
        <a:buClr>
          <a:srgbClr val="C3260C"/>
        </a:buClr>
        <a:buSzPct val="130000"/>
        <a:buFont typeface="Georgia" pitchFamily="18" charset="0"/>
        <a:buChar char="*"/>
        <a:defRPr sz="1400" kern="1200">
          <a:solidFill>
            <a:srgbClr val="404040"/>
          </a:solidFill>
          <a:latin typeface="+mn-lt"/>
          <a:ea typeface="+mn-ea"/>
          <a:cs typeface="+mn-cs"/>
        </a:defRPr>
      </a:lvl5pPr>
      <a:lvl6pPr marL="1664208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96596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86000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587752" indent="-182880" algn="l" defTabSz="914400" rtl="0" eaLnBrk="1" latinLnBrk="0" hangingPunct="1">
        <a:spcBef>
          <a:spcPct val="20000"/>
        </a:spcBef>
        <a:spcAft>
          <a:spcPts val="300"/>
        </a:spcAft>
        <a:buClr>
          <a:schemeClr val="accent6">
            <a:lumMod val="75000"/>
          </a:schemeClr>
        </a:buClr>
        <a:buSzPct val="130000"/>
        <a:buFont typeface="Georgia" pitchFamily="18" charset="0"/>
        <a:buChar char="*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title style</a:t>
            </a:r>
            <a:endParaRPr lang="en-US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/>
              <a:t>Click to edit Master text styles</a:t>
            </a:r>
          </a:p>
          <a:p>
            <a:pPr lvl="1"/>
            <a:r>
              <a:rPr lang="fr-FR"/>
              <a:t>Second level</a:t>
            </a:r>
          </a:p>
          <a:p>
            <a:pPr lvl="2"/>
            <a:r>
              <a:rPr lang="fr-FR"/>
              <a:t>Third level</a:t>
            </a:r>
          </a:p>
          <a:p>
            <a:pPr lvl="3"/>
            <a:r>
              <a:rPr lang="fr-FR"/>
              <a:t>Fourth level</a:t>
            </a:r>
          </a:p>
          <a:p>
            <a:pPr lvl="4"/>
            <a:r>
              <a:rPr lang="fr-FR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8A24BF4C-9CA2-423E-B4F6-7F55918723CE}" type="datetime1">
              <a:rPr lang="fr-FR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08/07/2025</a:t>
            </a:fld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endParaRPr lang="en-US">
              <a:ea typeface="ＭＳ Ｐゴシック" charset="-128"/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</a:pPr>
            <a:fld id="{AE2053D5-6219-41C3-8D16-FE99C84E3D09}" type="slidenum">
              <a:rPr lang="en-US" smtClean="0">
                <a:ea typeface="ＭＳ Ｐゴシック" charset="-128"/>
                <a:cs typeface="Arial" charset="0"/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ea typeface="ＭＳ Ｐゴシック" charset="-128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4898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hf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ＭＳ Ｐゴシック" charset="-128"/>
          <a:cs typeface="ＭＳ Ｐゴシック" charset="-128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ＭＳ Ｐゴシック" charset="-128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ＭＳ Ｐゴシック" charset="-128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ＭＳ Ｐゴシック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eg"/><Relationship Id="rId4" Type="http://schemas.openxmlformats.org/officeDocument/2006/relationships/image" Target="../media/image15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ubtitle 3"/>
          <p:cNvSpPr>
            <a:spLocks noGrp="1"/>
          </p:cNvSpPr>
          <p:nvPr>
            <p:ph type="subTitle" idx="1"/>
          </p:nvPr>
        </p:nvSpPr>
        <p:spPr>
          <a:xfrm>
            <a:off x="1600200" y="4871544"/>
            <a:ext cx="6400800" cy="1529256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buClr>
                <a:schemeClr val="accent6">
                  <a:lumMod val="75000"/>
                </a:schemeClr>
              </a:buClr>
              <a:defRPr/>
            </a:pPr>
            <a:endParaRPr lang="en-US" b="1" dirty="0">
              <a:solidFill>
                <a:schemeClr val="tx1"/>
              </a:solidFill>
            </a:endParaRP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Lecture-09</a:t>
            </a:r>
          </a:p>
          <a:p>
            <a:pPr algn="ctr" eaLnBrk="1" fontAlgn="auto" hangingPunct="1">
              <a:buClr>
                <a:schemeClr val="accent6">
                  <a:lumMod val="75000"/>
                </a:schemeClr>
              </a:buClr>
              <a:defRPr/>
            </a:pPr>
            <a:r>
              <a:rPr lang="en-US" sz="3200" b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r>
              <a:rPr lang="en-US" sz="3200" b="1" smtClean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74" name="Title 2"/>
          <p:cNvSpPr>
            <a:spLocks noGrp="1"/>
          </p:cNvSpPr>
          <p:nvPr>
            <p:ph type="ctrTitle"/>
          </p:nvPr>
        </p:nvSpPr>
        <p:spPr>
          <a:xfrm>
            <a:off x="533400" y="725213"/>
            <a:ext cx="8077200" cy="4432027"/>
          </a:xfrm>
        </p:spPr>
        <p:txBody>
          <a:bodyPr/>
          <a:lstStyle/>
          <a:p>
            <a:pPr marL="182880" indent="0" algn="ctr" eaLnBrk="1" fontAlgn="auto" hangingPunct="1">
              <a:spcAft>
                <a:spcPts val="0"/>
              </a:spcAft>
              <a:buClr>
                <a:schemeClr val="accent6">
                  <a:lumMod val="75000"/>
                </a:schemeClr>
              </a:buClr>
              <a:buFont typeface="Georgia" pitchFamily="18" charset="0"/>
              <a:buNone/>
              <a:defRPr/>
            </a:pP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Data Structures</a:t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ICT-1211</a:t>
            </a: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/>
            </a:r>
            <a:b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</a:br>
            <a:r>
              <a:rPr lang="en-US" sz="4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  <a:reflection blurRad="6350" stA="55000" endA="300" endPos="45500" dir="5400000" sy="-100000" algn="bl" rotWithShape="0"/>
                </a:effectLst>
              </a:rPr>
              <a:t>Information and Communication Technology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1D62340-A1EA-4CE0-A397-B868A3BF73D1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Trebuchet MS"/>
                <a:ea typeface="+mn-ea"/>
                <a:cs typeface="Arial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Trebuchet MS"/>
              <a:ea typeface="+mn-ea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7418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403560" y="1700760"/>
            <a:ext cx="6511925" cy="1728240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>
                <a:solidFill>
                  <a:srgbClr val="FF0000"/>
                </a:solidFill>
              </a:rPr>
              <a:t/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>
                <a:solidFill>
                  <a:srgbClr val="FF0000"/>
                </a:solidFill>
              </a:rPr>
              <a:t>Arrays, Records and Pointers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315956A-8026-4861-99E0-6ECDFB0AE949}" type="slidenum">
              <a:rPr lang="en-US" smtClean="0">
                <a:solidFill>
                  <a:prstClr val="black">
                    <a:lumMod val="50000"/>
                    <a:lumOff val="50000"/>
                  </a:prstClr>
                </a:solidFill>
              </a:rPr>
              <a:pPr>
                <a:defRPr/>
              </a:pPr>
              <a:t>2</a:t>
            </a:fld>
            <a:endParaRPr lang="en-US">
              <a:solidFill>
                <a:prstClr val="black">
                  <a:lumMod val="50000"/>
                  <a:lumOff val="50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7759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542924" y="46239"/>
            <a:ext cx="8272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Linear Arrays/ One Dimensional Array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888" y="692570"/>
            <a:ext cx="8729662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In general, the length or the number of data elements of the array can be obtained from the index set by the formula. </a:t>
            </a:r>
          </a:p>
          <a:p>
            <a:pPr algn="just">
              <a:lnSpc>
                <a:spcPct val="150000"/>
              </a:lnSpc>
            </a:pPr>
            <a:endParaRPr lang="en-US" sz="1200" dirty="0"/>
          </a:p>
          <a:p>
            <a:pPr algn="just">
              <a:lnSpc>
                <a:spcPct val="150000"/>
              </a:lnSpc>
            </a:pPr>
            <a:r>
              <a:rPr lang="en-US" sz="2400" dirty="0"/>
              <a:t>				Length=UB-LB+1</a:t>
            </a:r>
          </a:p>
          <a:p>
            <a:pPr algn="just">
              <a:lnSpc>
                <a:spcPct val="150000"/>
              </a:lnSpc>
            </a:pPr>
            <a:r>
              <a:rPr lang="en-US" sz="2400" dirty="0"/>
              <a:t>where UB is the largest index, called the upper bound, and LB is the smallest index, called the lower bound of the array.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1887" y="3939959"/>
            <a:ext cx="8890664" cy="29854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buFont typeface="Wingdings" charset="2"/>
              <a:buChar char="ü"/>
            </a:pPr>
            <a:r>
              <a:rPr lang="en-US" sz="2800" dirty="0"/>
              <a:t>Using the base address of a array LA, the computer calculates the address of any element of LA by the following formula:</a:t>
            </a:r>
          </a:p>
          <a:p>
            <a:pPr algn="ctr"/>
            <a:r>
              <a:rPr lang="en-US" sz="2800" dirty="0"/>
              <a:t>	</a:t>
            </a:r>
          </a:p>
          <a:p>
            <a:pPr algn="ctr"/>
            <a:r>
              <a:rPr lang="en-US" sz="2800" dirty="0">
                <a:solidFill>
                  <a:srgbClr val="FF0000"/>
                </a:solidFill>
              </a:rPr>
              <a:t>LOC(LA[K])=</a:t>
            </a:r>
            <a:r>
              <a:rPr lang="en-US" sz="2800" i="1" dirty="0">
                <a:solidFill>
                  <a:srgbClr val="FF0000"/>
                </a:solidFill>
              </a:rPr>
              <a:t>Base</a:t>
            </a:r>
            <a:r>
              <a:rPr lang="en-US" sz="2800" dirty="0">
                <a:solidFill>
                  <a:srgbClr val="FF0000"/>
                </a:solidFill>
              </a:rPr>
              <a:t>(LA)+w(K-lower bound)</a:t>
            </a:r>
          </a:p>
          <a:p>
            <a:pPr algn="ctr"/>
            <a:endParaRPr lang="en-US" dirty="0">
              <a:solidFill>
                <a:srgbClr val="FF0000"/>
              </a:solidFill>
            </a:endParaRPr>
          </a:p>
          <a:p>
            <a:pPr algn="just"/>
            <a:r>
              <a:rPr lang="en-US" sz="2800" dirty="0"/>
              <a:t>w-is the number of words per memory cell for the array LA.</a:t>
            </a:r>
          </a:p>
        </p:txBody>
      </p:sp>
    </p:spTree>
    <p:extLst>
      <p:ext uri="{BB962C8B-B14F-4D97-AF65-F5344CB8AC3E}">
        <p14:creationId xmlns:p14="http://schemas.microsoft.com/office/powerpoint/2010/main" val="315396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Dimensional Array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0" y="715617"/>
                <a:ext cx="9007524" cy="53553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 algn="just">
                  <a:lnSpc>
                    <a:spcPct val="150000"/>
                  </a:lnSpc>
                  <a:buFont typeface="Wingdings" charset="2"/>
                  <a:buChar char="Ø"/>
                </a:pPr>
                <a:r>
                  <a:rPr lang="en-US" sz="2800" dirty="0"/>
                  <a:t>A two dimensional </a:t>
                </a:r>
                <a:r>
                  <a:rPr lang="en-US" sz="2800" i="1" dirty="0"/>
                  <a:t>m</a:t>
                </a:r>
                <a14:m>
                  <m:oMath xmlns:m="http://schemas.openxmlformats.org/officeDocument/2006/math">
                    <m:r>
                      <a:rPr lang="en-US" sz="28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800" i="1" dirty="0"/>
                  <a:t>n</a:t>
                </a:r>
                <a:r>
                  <a:rPr lang="en-US" sz="2800" dirty="0"/>
                  <a:t> array A is a collection of </a:t>
                </a:r>
                <a:r>
                  <a:rPr lang="en-US" sz="2800" i="1" dirty="0" err="1"/>
                  <a:t>m.n</a:t>
                </a:r>
                <a:r>
                  <a:rPr lang="en-US" sz="2800" dirty="0"/>
                  <a:t> data elements such that each element is specified by a pair of integer, called subscripts(J,K), with the property that</a:t>
                </a:r>
                <a:r>
                  <a:rPr lang="is-IS" sz="2800" dirty="0"/>
                  <a:t>…</a:t>
                </a:r>
                <a:endParaRPr lang="is-IS" sz="3200" dirty="0">
                  <a:solidFill>
                    <a:srgbClr val="FF0000"/>
                  </a:solidFill>
                </a:endParaRPr>
              </a:p>
              <a:p>
                <a:pPr algn="ctr">
                  <a:lnSpc>
                    <a:spcPct val="150000"/>
                  </a:lnSpc>
                </a:pPr>
                <a:r>
                  <a:rPr lang="en-US" sz="3200" dirty="0">
                    <a:solidFill>
                      <a:srgbClr val="FF0000"/>
                    </a:solidFill>
                  </a:rPr>
                  <a:t>1</a:t>
                </a:r>
                <a14:m>
                  <m:oMath xmlns:m="http://schemas.openxmlformats.org/officeDocument/2006/math">
                    <m:r>
                      <a:rPr lang="en-US" sz="3200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 J</a:t>
                </a:r>
                <a:r>
                  <a:rPr lang="en-US" sz="3200" dirty="0">
                    <a:solidFill>
                      <a:srgbClr val="FF0000"/>
                    </a:solidFill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</m:oMath>
                </a14:m>
                <a:r>
                  <a:rPr lang="en-US" sz="3200" i="1" dirty="0">
                    <a:solidFill>
                      <a:srgbClr val="FF0000"/>
                    </a:solidFill>
                  </a:rPr>
                  <a:t>m</a:t>
                </a:r>
                <a:r>
                  <a:rPr lang="en-US" sz="3200" dirty="0">
                    <a:solidFill>
                      <a:srgbClr val="FF0000"/>
                    </a:solidFill>
                  </a:rPr>
                  <a:t> and 1</a:t>
                </a:r>
                <a:r>
                  <a:rPr lang="en-US" sz="3200" dirty="0">
                    <a:solidFill>
                      <a:srgbClr val="FF0000"/>
                    </a:solidFill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3200" dirty="0">
                    <a:solidFill>
                      <a:srgbClr val="FF0000"/>
                    </a:solidFill>
                  </a:rPr>
                  <a:t>K</a:t>
                </a:r>
                <a:r>
                  <a:rPr lang="en-US" sz="3200" dirty="0">
                    <a:solidFill>
                      <a:srgbClr val="FF0000"/>
                    </a:solidFill>
                    <a:ea typeface="Cambria Math" charset="0"/>
                    <a:cs typeface="Cambria Math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3200" i="1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≤</m:t>
                    </m:r>
                    <m:r>
                      <a:rPr lang="en-US" sz="3200" b="0" i="1" smtClean="0">
                        <a:solidFill>
                          <a:srgbClr val="FF0000"/>
                        </a:solidFill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</m:oMath>
                </a14:m>
                <a:r>
                  <a:rPr lang="en-US" sz="3200" i="1" dirty="0">
                    <a:solidFill>
                      <a:srgbClr val="FF0000"/>
                    </a:solidFill>
                  </a:rPr>
                  <a:t>n</a:t>
                </a:r>
              </a:p>
              <a:p>
                <a:pPr marL="342900" indent="-342900" algn="just">
                  <a:lnSpc>
                    <a:spcPct val="150000"/>
                  </a:lnSpc>
                  <a:buFont typeface="Wingdings" charset="2"/>
                  <a:buChar char="Ø"/>
                </a:pPr>
                <a:r>
                  <a:rPr lang="en-US" sz="2800" dirty="0"/>
                  <a:t>A two dimensional arrays are called </a:t>
                </a:r>
                <a:r>
                  <a:rPr lang="en-US" sz="2800" b="1" dirty="0" err="1">
                    <a:solidFill>
                      <a:srgbClr val="0000CC"/>
                    </a:solidFill>
                  </a:rPr>
                  <a:t>metrices</a:t>
                </a:r>
                <a:r>
                  <a:rPr lang="en-US" sz="2800" dirty="0"/>
                  <a:t> in mathematics  and </a:t>
                </a:r>
                <a:r>
                  <a:rPr lang="en-US" sz="2800" b="1" dirty="0">
                    <a:solidFill>
                      <a:srgbClr val="0000CC"/>
                    </a:solidFill>
                  </a:rPr>
                  <a:t>tables</a:t>
                </a:r>
                <a:r>
                  <a:rPr lang="en-US" sz="2800" dirty="0"/>
                  <a:t> in business application; hence two-dimensional arrays are sometimes called </a:t>
                </a:r>
                <a:r>
                  <a:rPr lang="en-US" sz="2800" i="1" dirty="0">
                    <a:solidFill>
                      <a:srgbClr val="0000CC"/>
                    </a:solidFill>
                  </a:rPr>
                  <a:t>matrix arrays</a:t>
                </a:r>
                <a:r>
                  <a:rPr lang="en-US" sz="2800" dirty="0"/>
                  <a:t>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15617"/>
                <a:ext cx="9007524" cy="5355312"/>
              </a:xfrm>
              <a:prstGeom prst="rect">
                <a:avLst/>
              </a:prstGeom>
              <a:blipFill rotWithShape="0">
                <a:blip r:embed="rId4"/>
                <a:stretch>
                  <a:fillRect l="-1150" r="-1286" b="-10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81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Dimensional Array: Representation in Memory</a:t>
            </a:r>
            <a:endParaRPr lang="en-US" sz="28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0" y="742122"/>
                <a:ext cx="9144000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:r>
                  <a:rPr lang="en-US" sz="2400" dirty="0"/>
                  <a:t>Let A be a two-dimensional array </a:t>
                </a:r>
                <a:r>
                  <a:rPr lang="en-US" sz="2400" i="1" dirty="0"/>
                  <a:t>m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i="1" dirty="0"/>
                  <a:t>n</a:t>
                </a:r>
                <a:r>
                  <a:rPr lang="en-US" sz="2400" dirty="0"/>
                  <a:t> array. </a:t>
                </a:r>
              </a:p>
              <a:p>
                <a:pPr algn="just"/>
                <a:endParaRPr lang="en-US" sz="2400" dirty="0"/>
              </a:p>
              <a:p>
                <a:pPr algn="just"/>
                <a:r>
                  <a:rPr lang="en-US" sz="2400" dirty="0"/>
                  <a:t>Although A is pictured as a rectangular array of elements with </a:t>
                </a:r>
                <a:r>
                  <a:rPr lang="en-US" sz="2400" i="1" dirty="0"/>
                  <a:t>m </a:t>
                </a:r>
                <a:r>
                  <a:rPr lang="en-US" sz="2400" dirty="0"/>
                  <a:t>rows and </a:t>
                </a:r>
                <a:r>
                  <a:rPr lang="en-US" sz="2400" i="1" dirty="0"/>
                  <a:t>n </a:t>
                </a:r>
                <a:r>
                  <a:rPr lang="en-US" sz="2400" dirty="0"/>
                  <a:t>columns, </a:t>
                </a:r>
              </a:p>
              <a:p>
                <a:pPr algn="just"/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endParaRPr lang="en-US" sz="2400" dirty="0"/>
              </a:p>
              <a:p>
                <a:pPr algn="just"/>
                <a:r>
                  <a:rPr lang="en-US" sz="2400" dirty="0">
                    <a:solidFill>
                      <a:srgbClr val="0000CC"/>
                    </a:solidFill>
                  </a:rPr>
                  <a:t>The array will be represented by a block of </a:t>
                </a:r>
                <a:r>
                  <a:rPr lang="en-US" sz="2400" i="1" dirty="0" err="1">
                    <a:solidFill>
                      <a:srgbClr val="0000CC"/>
                    </a:solidFill>
                  </a:rPr>
                  <a:t>m.n</a:t>
                </a:r>
                <a:r>
                  <a:rPr lang="en-US" sz="2400" i="1" dirty="0">
                    <a:solidFill>
                      <a:srgbClr val="0000CC"/>
                    </a:solidFill>
                  </a:rPr>
                  <a:t> </a:t>
                </a:r>
                <a:r>
                  <a:rPr lang="en-US" sz="2400" dirty="0">
                    <a:solidFill>
                      <a:srgbClr val="0000CC"/>
                    </a:solidFill>
                  </a:rPr>
                  <a:t>sequential memory location.  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742122"/>
                <a:ext cx="9144000" cy="6001643"/>
              </a:xfrm>
              <a:prstGeom prst="rect">
                <a:avLst/>
              </a:prstGeom>
              <a:blipFill rotWithShape="0">
                <a:blip r:embed="rId4"/>
                <a:stretch>
                  <a:fillRect l="-1000" t="-813" r="-1000" b="-14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3183" y="2265154"/>
            <a:ext cx="6745356" cy="3594930"/>
          </a:xfrm>
          <a:prstGeom prst="rect">
            <a:avLst/>
          </a:prstGeom>
        </p:spPr>
      </p:pic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64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6239"/>
            <a:ext cx="9144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Dimensional Array: Representation in Memory</a:t>
            </a:r>
            <a:endParaRPr lang="en-US" sz="28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529004"/>
            <a:ext cx="9007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The programming language will store the array A either</a:t>
            </a:r>
          </a:p>
          <a:p>
            <a:pPr marL="1714500" lvl="3" indent="-342900" algn="just">
              <a:buFont typeface="Wingdings" charset="2"/>
              <a:buChar char="Ø"/>
            </a:pPr>
            <a:r>
              <a:rPr lang="en-US" sz="2400" dirty="0"/>
              <a:t>Column by Column – called </a:t>
            </a:r>
            <a:r>
              <a:rPr lang="en-US" sz="2400" i="1" dirty="0"/>
              <a:t>Column Major Order (CMO)</a:t>
            </a:r>
          </a:p>
          <a:p>
            <a:pPr marL="1714500" lvl="3" indent="-342900" algn="just">
              <a:buFont typeface="Wingdings" charset="2"/>
              <a:buChar char="Ø"/>
            </a:pPr>
            <a:r>
              <a:rPr lang="en-US" sz="2400" dirty="0"/>
              <a:t>Row by Row-called Row Major Order(RMO)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56" t="3284" b="2996"/>
          <a:stretch/>
        </p:blipFill>
        <p:spPr>
          <a:xfrm>
            <a:off x="4585252" y="1860512"/>
            <a:ext cx="2392016" cy="468738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9" r="51962" b="3864"/>
          <a:stretch/>
        </p:blipFill>
        <p:spPr>
          <a:xfrm>
            <a:off x="1426927" y="1729333"/>
            <a:ext cx="2694697" cy="5016024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6</a:t>
            </a:fld>
            <a:endParaRPr lang="en-US"/>
          </a:p>
        </p:txBody>
      </p:sp>
      <p:pic>
        <p:nvPicPr>
          <p:cNvPr id="1026" name="Picture 2" descr="Image result for row major order formula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41" y="1757984"/>
            <a:ext cx="9090661" cy="49587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52641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Dimensional Array: Accessing Element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0" y="836781"/>
                <a:ext cx="9144000" cy="57554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i="1" dirty="0">
                    <a:solidFill>
                      <a:srgbClr val="0000CC"/>
                    </a:solidFill>
                  </a:rPr>
                  <a:t>For one-dimensional array</a:t>
                </a:r>
                <a:r>
                  <a:rPr lang="en-US" sz="2400" dirty="0"/>
                  <a:t>, the computer uses the formula </a:t>
                </a:r>
              </a:p>
              <a:p>
                <a:pPr algn="ctr"/>
                <a:r>
                  <a:rPr lang="en-US" sz="2400" b="1" u="sng" dirty="0">
                    <a:solidFill>
                      <a:srgbClr val="00B050"/>
                    </a:solidFill>
                  </a:rPr>
                  <a:t>LOC(LA[K]) = </a:t>
                </a:r>
                <a:r>
                  <a:rPr lang="en-US" sz="2400" b="1" i="1" u="sng" dirty="0">
                    <a:solidFill>
                      <a:srgbClr val="00B050"/>
                    </a:solidFill>
                  </a:rPr>
                  <a:t>Base</a:t>
                </a:r>
                <a:r>
                  <a:rPr lang="en-US" sz="2400" b="1" u="sng" dirty="0">
                    <a:solidFill>
                      <a:srgbClr val="00B050"/>
                    </a:solidFill>
                  </a:rPr>
                  <a:t>(LA) + w(K-1) </a:t>
                </a:r>
              </a:p>
              <a:p>
                <a:pPr algn="just"/>
                <a:r>
                  <a:rPr lang="en-US" sz="2400" dirty="0"/>
                  <a:t>to find the address of LA[K] in time independent of K, where w is the number of words per memory cell for the array LA and 1 is the lower bound of the index set of LA.</a:t>
                </a:r>
              </a:p>
              <a:p>
                <a:pPr algn="just"/>
                <a:endParaRPr lang="en-US" sz="2400" dirty="0"/>
              </a:p>
              <a:p>
                <a:pPr algn="just"/>
                <a:r>
                  <a:rPr lang="en-US" sz="2400" dirty="0"/>
                  <a:t>A similar situation also holds for any two-dimensional </a:t>
                </a:r>
                <a:r>
                  <a:rPr lang="en-US" sz="2400" i="1" dirty="0"/>
                  <a:t>m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</m:oMath>
                </a14:m>
                <a:r>
                  <a:rPr lang="en-US" sz="2400" i="1" dirty="0"/>
                  <a:t>n </a:t>
                </a:r>
                <a:r>
                  <a:rPr lang="en-US" sz="2400" dirty="0"/>
                  <a:t>array A. Computer keep track of </a:t>
                </a:r>
                <a:r>
                  <a:rPr lang="en-US" sz="2400" i="1" dirty="0"/>
                  <a:t>Base</a:t>
                </a:r>
                <a:r>
                  <a:rPr lang="en-US" sz="2400" dirty="0"/>
                  <a:t>(A)-the address of the first element A[1,1] of A and compute the address LOC(A[J,K]) of A[J,K] using the formula:</a:t>
                </a:r>
              </a:p>
              <a:p>
                <a:pPr algn="just"/>
                <a:endParaRPr lang="en-US" sz="2400" dirty="0"/>
              </a:p>
              <a:p>
                <a:pPr marL="1257300" lvl="2" indent="-342900" algn="just">
                  <a:buFont typeface="Wingdings" charset="2"/>
                  <a:buChar char="v"/>
                </a:pPr>
                <a:r>
                  <a:rPr lang="en-US" sz="2400" dirty="0"/>
                  <a:t> for CMO,       LOC(A[J,K])=</a:t>
                </a:r>
                <a:r>
                  <a:rPr lang="en-US" sz="2400" i="1" dirty="0"/>
                  <a:t>Base</a:t>
                </a:r>
                <a:r>
                  <a:rPr lang="en-US" sz="2400" dirty="0"/>
                  <a:t>(A)+w[M(K-1)+(J-1)]</a:t>
                </a:r>
              </a:p>
              <a:p>
                <a:pPr lvl="2" algn="just"/>
                <a:endParaRPr lang="en-US" sz="2400" dirty="0"/>
              </a:p>
              <a:p>
                <a:pPr marL="1257300" lvl="2" indent="-342900" algn="just">
                  <a:buFont typeface="Wingdings" charset="2"/>
                  <a:buChar char="v"/>
                </a:pPr>
                <a:r>
                  <a:rPr lang="en-US" sz="2400" dirty="0"/>
                  <a:t>For RMO,       LOC(A[J,K])=</a:t>
                </a:r>
                <a:r>
                  <a:rPr lang="en-US" sz="2400" i="1" dirty="0"/>
                  <a:t>Base</a:t>
                </a:r>
                <a:r>
                  <a:rPr lang="en-US" sz="2400" dirty="0"/>
                  <a:t>(A)+w[N(J-1)+(K-1)]</a:t>
                </a:r>
              </a:p>
              <a:p>
                <a:pPr marL="1257300" lvl="2" indent="-342900" algn="just">
                  <a:buFont typeface="Wingdings" charset="2"/>
                  <a:buChar char="v"/>
                </a:pPr>
                <a:endParaRPr lang="en-US" sz="2400" dirty="0"/>
              </a:p>
              <a:p>
                <a:pPr lvl="2" algn="ctr"/>
                <a:r>
                  <a:rPr lang="en-US" sz="3200" b="1" dirty="0">
                    <a:solidFill>
                      <a:srgbClr val="FF0000"/>
                    </a:solidFill>
                  </a:rPr>
                  <a:t>Tech Yourself: Example 4.12, </a:t>
                </a: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836781"/>
                <a:ext cx="9144000" cy="5755422"/>
              </a:xfrm>
              <a:prstGeom prst="rect">
                <a:avLst/>
              </a:prstGeom>
              <a:blipFill>
                <a:blip r:embed="rId4"/>
                <a:stretch>
                  <a:fillRect l="-1000" t="-847" r="-1000" b="-25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596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Dimensional Array: Problem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9257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Given: 3×4 Integer matrix with base address 1000.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Find out the location of A[3][2].</a:t>
            </a:r>
          </a:p>
          <a:p>
            <a:r>
              <a:rPr lang="en-US" sz="3200" dirty="0"/>
              <a:t> 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/>
          <a:srcRect l="16501" t="37708" r="17555" b="18542"/>
          <a:stretch/>
        </p:blipFill>
        <p:spPr>
          <a:xfrm>
            <a:off x="36793" y="2987040"/>
            <a:ext cx="9070413" cy="3383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133600" y="2087880"/>
            <a:ext cx="4678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Using Row major Formula</a:t>
            </a:r>
          </a:p>
        </p:txBody>
      </p:sp>
    </p:spTree>
    <p:extLst>
      <p:ext uri="{BB962C8B-B14F-4D97-AF65-F5344CB8AC3E}">
        <p14:creationId xmlns:p14="http://schemas.microsoft.com/office/powerpoint/2010/main" val="3926441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Dimensional Array: Problem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92570"/>
            <a:ext cx="9144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Given: 3×4 Integer matrix with base address 1000.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Find out the location of A[3][2].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5915" t="21875" r="22357" b="14402"/>
          <a:stretch/>
        </p:blipFill>
        <p:spPr>
          <a:xfrm>
            <a:off x="1154375" y="2590810"/>
            <a:ext cx="7273346" cy="422146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/>
          <a:srcRect l="16501" t="49138" r="17555" b="45344"/>
          <a:stretch/>
        </p:blipFill>
        <p:spPr>
          <a:xfrm>
            <a:off x="554954" y="2103120"/>
            <a:ext cx="8099776" cy="426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1518345"/>
            <a:ext cx="4678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Using Row major Formula</a:t>
            </a:r>
          </a:p>
        </p:txBody>
      </p:sp>
    </p:spTree>
    <p:extLst>
      <p:ext uri="{BB962C8B-B14F-4D97-AF65-F5344CB8AC3E}">
        <p14:creationId xmlns:p14="http://schemas.microsoft.com/office/powerpoint/2010/main" val="2889223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Dimensional Array: Problem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9257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Given: 3×4 Integer matrix with base address 1000.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Find out the location of A[3][2].</a:t>
            </a:r>
          </a:p>
          <a:p>
            <a:r>
              <a:rPr lang="en-US" sz="3200"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1706880"/>
            <a:ext cx="5760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Using Column major Formula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16383" t="22708" r="17439" b="14999"/>
          <a:stretch/>
        </p:blipFill>
        <p:spPr>
          <a:xfrm>
            <a:off x="327660" y="2262230"/>
            <a:ext cx="8610600" cy="4556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845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"/>
          <a:srcRect l="15915" t="21875" r="22357" b="48449"/>
          <a:stretch/>
        </p:blipFill>
        <p:spPr>
          <a:xfrm>
            <a:off x="239973" y="1935480"/>
            <a:ext cx="8035831" cy="217204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Two Dimensional Array: Problem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69257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Given: 3×4 Integer matrix with base address 1000.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Find out the location of A[3][2].</a:t>
            </a:r>
          </a:p>
          <a:p>
            <a:r>
              <a:rPr lang="en-US" sz="3200" dirty="0"/>
              <a:t>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52600" y="1524000"/>
            <a:ext cx="57607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0000CC"/>
                </a:solidFill>
              </a:rPr>
              <a:t>Using Column major Formula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16970" t="38333" r="47070" b="31186"/>
          <a:stretch/>
        </p:blipFill>
        <p:spPr>
          <a:xfrm>
            <a:off x="248165" y="4016296"/>
            <a:ext cx="5664956" cy="2699814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/>
          <a:srcRect l="16383" t="22708" r="32373" b="71133"/>
          <a:stretch/>
        </p:blipFill>
        <p:spPr>
          <a:xfrm>
            <a:off x="2579371" y="6265620"/>
            <a:ext cx="6564629" cy="450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859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Pointers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62609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Let DATA be any array. A variable </a:t>
            </a:r>
            <a:r>
              <a:rPr lang="en-US" sz="2400" b="1" dirty="0"/>
              <a:t>P</a:t>
            </a:r>
            <a:r>
              <a:rPr lang="en-US" sz="2400" dirty="0"/>
              <a:t> is called a </a:t>
            </a:r>
            <a:r>
              <a:rPr lang="en-US" sz="2400" i="1" dirty="0"/>
              <a:t>pointer </a:t>
            </a:r>
            <a:r>
              <a:rPr lang="en-US" sz="2400" dirty="0"/>
              <a:t>if </a:t>
            </a:r>
            <a:r>
              <a:rPr lang="en-US" sz="2400" b="1" dirty="0"/>
              <a:t>P</a:t>
            </a:r>
            <a:r>
              <a:rPr lang="en-US" sz="2400" dirty="0"/>
              <a:t> “points” to an element in DATA, i.e., if </a:t>
            </a:r>
            <a:r>
              <a:rPr lang="en-US" sz="2400" b="1" dirty="0"/>
              <a:t>P</a:t>
            </a:r>
            <a:r>
              <a:rPr lang="en-US" sz="2400" dirty="0"/>
              <a:t> contains the address of an element in DATA. 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1" y="1458889"/>
            <a:ext cx="8243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Pointer Arrays</a:t>
            </a:r>
            <a:endParaRPr lang="en-US" sz="3600" dirty="0">
              <a:solidFill>
                <a:srgbClr val="0000CC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581" y="2087649"/>
            <a:ext cx="913341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An array </a:t>
            </a:r>
            <a:r>
              <a:rPr lang="en-US" sz="2400" b="1" dirty="0"/>
              <a:t>PTR</a:t>
            </a:r>
            <a:r>
              <a:rPr lang="en-US" sz="2400" dirty="0"/>
              <a:t> is called a </a:t>
            </a:r>
            <a:r>
              <a:rPr lang="en-US" sz="2400" i="1" dirty="0"/>
              <a:t>pointer array </a:t>
            </a:r>
            <a:r>
              <a:rPr lang="en-US" sz="2400" dirty="0"/>
              <a:t>if each element of </a:t>
            </a:r>
            <a:r>
              <a:rPr lang="en-US" sz="2400" b="1" dirty="0"/>
              <a:t>PTR </a:t>
            </a:r>
            <a:r>
              <a:rPr lang="en-US" sz="2400" dirty="0"/>
              <a:t> is a pointer 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3" b="7939"/>
          <a:stretch/>
        </p:blipFill>
        <p:spPr>
          <a:xfrm>
            <a:off x="2658842" y="2979472"/>
            <a:ext cx="5025637" cy="29984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581" y="6027003"/>
            <a:ext cx="91334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00CC"/>
                </a:solidFill>
              </a:rPr>
              <a:t>How the membership list can be stored in memory keeping track of the different groups?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81" y="2563974"/>
            <a:ext cx="91334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b="1" dirty="0">
                <a:solidFill>
                  <a:srgbClr val="00B050"/>
                </a:solidFill>
              </a:rPr>
              <a:t>Pointer and Pointer array are used to facilitate the processing the information in DATA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319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Possible Solutions to keep in memory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119270" y="692570"/>
                <a:ext cx="9024730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Possible solutions: using</a:t>
                </a:r>
              </a:p>
              <a:p>
                <a:pPr marL="1257300" lvl="2" indent="-342900">
                  <a:buFont typeface="Wingdings" charset="2"/>
                  <a:buChar char="Ø"/>
                </a:pPr>
                <a:r>
                  <a:rPr lang="en-US" sz="2400" dirty="0"/>
                  <a:t>2D 4 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𝑛</m:t>
                    </m:r>
                  </m:oMath>
                </a14:m>
                <a:r>
                  <a:rPr lang="en-US" sz="2400" dirty="0"/>
                  <a:t> array where each row contain a group, or</a:t>
                </a:r>
              </a:p>
              <a:p>
                <a:pPr marL="1257300" lvl="2" indent="-342900">
                  <a:buFont typeface="Wingdings" charset="2"/>
                  <a:buChar char="Ø"/>
                </a:pPr>
                <a:r>
                  <a:rPr lang="en-US" sz="2400" dirty="0"/>
                  <a:t>2D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𝑛</m:t>
                    </m:r>
                    <m:r>
                      <m:rPr>
                        <m:nor/>
                      </m:rPr>
                      <a:rPr lang="en-US" sz="2400" b="0" i="0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</m:t>
                    </m:r>
                    <m:r>
                      <a:rPr lang="en-US" sz="2400" i="1">
                        <a:latin typeface="Cambria Math" charset="0"/>
                        <a:ea typeface="Cambria Math" charset="0"/>
                        <a:cs typeface="Cambria Math" charset="0"/>
                      </a:rPr>
                      <m:t>×</m:t>
                    </m:r>
                    <m:r>
                      <a:rPr lang="en-US" sz="2400" b="0" i="1" smtClean="0">
                        <a:latin typeface="Cambria Math" charset="0"/>
                        <a:ea typeface="Cambria Math" charset="0"/>
                        <a:cs typeface="Cambria Math" charset="0"/>
                      </a:rPr>
                      <m:t> 4</m:t>
                    </m:r>
                  </m:oMath>
                </a14:m>
                <a:r>
                  <a:rPr lang="en-US" sz="2400" dirty="0"/>
                  <a:t> array where each column contains a group.</a:t>
                </a:r>
              </a:p>
              <a:p>
                <a:pPr marL="407988" lvl="2" indent="-342900" algn="just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These structure allows us to access each individual group, much space will be wasted when the groups vary greatly in size.</a:t>
                </a: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270" y="692570"/>
                <a:ext cx="9024730" cy="1938992"/>
              </a:xfrm>
              <a:prstGeom prst="rect">
                <a:avLst/>
              </a:prstGeom>
              <a:blipFill>
                <a:blip r:embed="rId4"/>
                <a:stretch>
                  <a:fillRect l="-946" t="-2516" r="-1014" b="-62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3" b="7939"/>
          <a:stretch/>
        </p:blipFill>
        <p:spPr>
          <a:xfrm>
            <a:off x="2291649" y="2771049"/>
            <a:ext cx="4784870" cy="285483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5827362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Here the data will require at least a 36-element 4 x 9 or 9 x 4 arrays to store the 21 names, which is almost twice the space that is necessary.  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652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Representation of 4 x 9 array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3" b="7939"/>
          <a:stretch/>
        </p:blipFill>
        <p:spPr>
          <a:xfrm>
            <a:off x="0" y="1123386"/>
            <a:ext cx="4062782" cy="2491794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8907"/>
          <a:stretch/>
        </p:blipFill>
        <p:spPr>
          <a:xfrm>
            <a:off x="4040289" y="1175335"/>
            <a:ext cx="4941945" cy="2217510"/>
          </a:xfrm>
          <a:prstGeom prst="rect">
            <a:avLst/>
          </a:prstGeom>
        </p:spPr>
      </p:pic>
      <p:cxnSp>
        <p:nvCxnSpPr>
          <p:cNvPr id="10" name="Curved Connector 9"/>
          <p:cNvCxnSpPr/>
          <p:nvPr/>
        </p:nvCxnSpPr>
        <p:spPr>
          <a:xfrm rot="16200000" flipH="1">
            <a:off x="4175871" y="-1019055"/>
            <a:ext cx="274284" cy="4559167"/>
          </a:xfrm>
          <a:prstGeom prst="curvedConnector3">
            <a:avLst>
              <a:gd name="adj1" fmla="val -83344"/>
            </a:avLst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970343" y="3213961"/>
            <a:ext cx="37642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>
                <a:solidFill>
                  <a:srgbClr val="FF0000"/>
                </a:solidFill>
              </a:rPr>
              <a:t>Jagged array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215539"/>
            <a:ext cx="9144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b="1" dirty="0"/>
              <a:t>Arrays whose rows –or column- begin with different numbers of data elements and each with unused storage locations are said to be </a:t>
            </a:r>
            <a:r>
              <a:rPr lang="en-US" sz="2400" b="1" i="1" dirty="0"/>
              <a:t>jagged</a:t>
            </a:r>
            <a:r>
              <a:rPr lang="en-US" sz="2400" b="1" dirty="0"/>
              <a:t>.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9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8" descr="http://www.polyvore.com/cgi/img-thing?.out=jpg&amp;size=l&amp;tid=5545805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165" y="3910006"/>
            <a:ext cx="1435524" cy="12440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1" name="Table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97788"/>
              </p:ext>
            </p:extLst>
          </p:nvPr>
        </p:nvGraphicFramePr>
        <p:xfrm>
          <a:off x="500043" y="836781"/>
          <a:ext cx="2657495" cy="5933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014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31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Evans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Group-1</a:t>
                      </a:r>
                    </a:p>
                    <a:p>
                      <a:pPr algn="ctr"/>
                      <a:endParaRPr lang="en-US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Harris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Lewis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Shaw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Conrad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Group-2</a:t>
                      </a:r>
                    </a:p>
                    <a:p>
                      <a:pPr algn="ctr"/>
                      <a:endParaRPr lang="en-US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Wagner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Davis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Group-3</a:t>
                      </a:r>
                    </a:p>
                    <a:p>
                      <a:endParaRPr lang="en-US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Segal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Baker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Group-4</a:t>
                      </a:r>
                    </a:p>
                    <a:p>
                      <a:endParaRPr lang="en-US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Jones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Reed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4264843" y="1530096"/>
            <a:ext cx="487915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>
              <a:buFont typeface="Wingdings" charset="2"/>
              <a:buChar char="ü"/>
            </a:pPr>
            <a:r>
              <a:rPr lang="en-US" sz="2400" b="1" dirty="0">
                <a:solidFill>
                  <a:srgbClr val="00B050"/>
                </a:solidFill>
              </a:rPr>
              <a:t>Space-Efficient</a:t>
            </a:r>
          </a:p>
          <a:p>
            <a:pPr marL="412750" indent="-412750">
              <a:buFont typeface="Wingdings" charset="2"/>
              <a:buChar char="ü"/>
            </a:pPr>
            <a:r>
              <a:rPr lang="en-US" sz="2400" b="1" dirty="0">
                <a:solidFill>
                  <a:srgbClr val="00B050"/>
                </a:solidFill>
              </a:rPr>
              <a:t>Entire list can be easily processed</a:t>
            </a:r>
          </a:p>
          <a:p>
            <a:pPr marL="412750" indent="-412750">
              <a:buFont typeface="Wingdings" charset="2"/>
              <a:buChar char="ü"/>
            </a:pPr>
            <a:r>
              <a:rPr lang="en-US" sz="2400" b="1" dirty="0">
                <a:solidFill>
                  <a:srgbClr val="00B050"/>
                </a:solidFill>
              </a:rPr>
              <a:t>One can easily print all the names on the list.</a:t>
            </a:r>
          </a:p>
        </p:txBody>
      </p:sp>
      <p:pic>
        <p:nvPicPr>
          <p:cNvPr id="14" name="Picture 4" descr="https://s-media-cache-ak0.pinimg.com/236x/52/20/bc/5220bcf5973b8d3461d393da1dfcd4ec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0671" y="1443037"/>
            <a:ext cx="1042512" cy="1051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/>
          <p:cNvSpPr txBox="1"/>
          <p:nvPr/>
        </p:nvSpPr>
        <p:spPr>
          <a:xfrm>
            <a:off x="4333011" y="4116539"/>
            <a:ext cx="4674514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 algn="just">
              <a:buFont typeface="Wingdings" charset="2"/>
              <a:buChar char="ü"/>
            </a:pPr>
            <a:r>
              <a:rPr lang="en-US" sz="2400" b="1" dirty="0">
                <a:solidFill>
                  <a:srgbClr val="7030A0"/>
                </a:solidFill>
              </a:rPr>
              <a:t>There is no way to access any particular group.</a:t>
            </a:r>
          </a:p>
          <a:p>
            <a:pPr marL="355600" indent="-355600" algn="just">
              <a:buFont typeface="Wingdings" charset="2"/>
              <a:buChar char="ü"/>
            </a:pPr>
            <a:r>
              <a:rPr lang="en-US" sz="2400" b="1" dirty="0">
                <a:solidFill>
                  <a:srgbClr val="7030A0"/>
                </a:solidFill>
              </a:rPr>
              <a:t>There is no way to find and print only the names in the third group.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Possible Solutions to keep in memory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2494385"/>
            <a:ext cx="492443" cy="2849640"/>
          </a:xfrm>
          <a:prstGeom prst="rect">
            <a:avLst/>
          </a:prstGeom>
          <a:noFill/>
        </p:spPr>
        <p:txBody>
          <a:bodyPr vert="vert270" wrap="square" rtlCol="0">
            <a:spAutoFit/>
          </a:bodyPr>
          <a:lstStyle/>
          <a:p>
            <a:r>
              <a:rPr lang="en-US" sz="2000" b="1" dirty="0"/>
              <a:t>One group after another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956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8" descr="http://www.polyvore.com/cgi/img-thing?.out=jpg&amp;size=l&amp;tid=5545805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92877" y="3887059"/>
            <a:ext cx="1197204" cy="1037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9243734"/>
              </p:ext>
            </p:extLst>
          </p:nvPr>
        </p:nvGraphicFramePr>
        <p:xfrm>
          <a:off x="135382" y="692570"/>
          <a:ext cx="2657495" cy="6156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857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1101466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76317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256587"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375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Evans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Group-1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327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Harris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Lewis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3"/>
                  </a:ext>
                </a:extLst>
              </a:tr>
              <a:tr h="2422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Shaw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4"/>
                  </a:ext>
                </a:extLst>
              </a:tr>
              <a:tr h="26945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05"/>
                  </a:ext>
                </a:extLst>
              </a:tr>
              <a:tr h="218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Conrad</a:t>
                      </a: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Group-2</a:t>
                      </a:r>
                    </a:p>
                    <a:p>
                      <a:pPr algn="ctr"/>
                      <a:endParaRPr lang="en-US" sz="1400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06"/>
                  </a:ext>
                </a:extLst>
              </a:tr>
              <a:tr h="21372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7"/>
                  </a:ext>
                </a:extLst>
              </a:tr>
              <a:tr h="26611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8"/>
                  </a:ext>
                </a:extLst>
              </a:tr>
              <a:tr h="218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Wagner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9"/>
                  </a:ext>
                </a:extLst>
              </a:tr>
              <a:tr h="21848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10"/>
                  </a:ext>
                </a:extLst>
              </a:tr>
              <a:tr h="170862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Davis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Group-3</a:t>
                      </a:r>
                    </a:p>
                    <a:p>
                      <a:endParaRPr lang="en-US" sz="1400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11"/>
                  </a:ext>
                </a:extLst>
              </a:tr>
              <a:tr h="1232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Segal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2"/>
                  </a:ext>
                </a:extLst>
              </a:tr>
              <a:tr h="12323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13"/>
                  </a:ext>
                </a:extLst>
              </a:tr>
              <a:tr h="2327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Baker</a:t>
                      </a:r>
                    </a:p>
                  </a:txBody>
                  <a:tcPr/>
                </a:tc>
                <a:tc rowSpan="5"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Group-4</a:t>
                      </a:r>
                    </a:p>
                    <a:p>
                      <a:endParaRPr lang="en-US" sz="1400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14"/>
                  </a:ext>
                </a:extLst>
              </a:tr>
              <a:tr h="156574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5"/>
                  </a:ext>
                </a:extLst>
              </a:tr>
              <a:tr h="16609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14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Jones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7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Reed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18"/>
                  </a:ext>
                </a:extLst>
              </a:tr>
              <a:tr h="185371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$$$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vert="vert270"/>
                </a:tc>
                <a:extLst>
                  <a:ext uri="{0D108BD9-81ED-4DB2-BD59-A6C34878D82A}">
                    <a16:rowId xmlns:a16="http://schemas.microsoft.com/office/drawing/2014/main" xmlns="" val="10019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64396" y="1175335"/>
            <a:ext cx="534312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 algn="just">
              <a:buFont typeface="Wingdings" charset="2"/>
              <a:buChar char="ü"/>
            </a:pPr>
            <a:r>
              <a:rPr lang="en-US" sz="2400" b="1" dirty="0">
                <a:solidFill>
                  <a:srgbClr val="00B050"/>
                </a:solidFill>
              </a:rPr>
              <a:t>Uses only a few extra memory cells-one for each group.</a:t>
            </a:r>
          </a:p>
          <a:p>
            <a:pPr marL="355600" indent="-355600" algn="just">
              <a:buFont typeface="Wingdings" charset="2"/>
              <a:buChar char="ü"/>
            </a:pPr>
            <a:r>
              <a:rPr lang="en-US" sz="2400" b="1" dirty="0">
                <a:solidFill>
                  <a:srgbClr val="00B050"/>
                </a:solidFill>
              </a:rPr>
              <a:t>Any one now find those names in he third group by locating those names which appear after the second sentinel</a:t>
            </a:r>
          </a:p>
        </p:txBody>
      </p:sp>
      <p:pic>
        <p:nvPicPr>
          <p:cNvPr id="9" name="Picture 4" descr="https://s-media-cache-ak0.pinimg.com/236x/52/20/bc/5220bcf5973b8d3461d393da1dfcd4ec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259" y="1787271"/>
            <a:ext cx="736138" cy="828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3718861" y="3966424"/>
            <a:ext cx="528866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55600" indent="-355600" algn="just">
              <a:buFont typeface="Wingdings" charset="2"/>
              <a:buChar char="ü"/>
            </a:pPr>
            <a:r>
              <a:rPr lang="en-US" sz="2400" b="1" dirty="0">
                <a:solidFill>
                  <a:srgbClr val="FFC000"/>
                </a:solidFill>
              </a:rPr>
              <a:t>The list still must be traversed from the beginning in order to recognize the third group.</a:t>
            </a:r>
          </a:p>
          <a:p>
            <a:pPr marL="355600" indent="-355600" algn="just">
              <a:buFont typeface="Wingdings" charset="2"/>
              <a:buChar char="ü"/>
            </a:pPr>
            <a:r>
              <a:rPr lang="en-US" sz="2400" b="1" dirty="0">
                <a:solidFill>
                  <a:srgbClr val="FFC000"/>
                </a:solidFill>
              </a:rPr>
              <a:t>The different groups are not indexed with this representation.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Possible Solutions to keep in memory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82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8695" y="972861"/>
            <a:ext cx="4265323" cy="518728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ARRAYS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692570"/>
            <a:ext cx="900752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Pointer arrays is introduced in the last two space-efficient data structure.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1668421"/>
            <a:ext cx="481808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The pointer array contains the locations of the</a:t>
            </a:r>
            <a:r>
              <a:rPr lang="is-IS" sz="2400" dirty="0"/>
              <a:t>…..</a:t>
            </a:r>
          </a:p>
          <a:p>
            <a:pPr marL="800100" lvl="1" indent="-342900">
              <a:buFont typeface="Wingdings" charset="2"/>
              <a:buChar char="ü"/>
            </a:pPr>
            <a:r>
              <a:rPr lang="en-US" sz="2400" dirty="0"/>
              <a:t>Different groups, or</a:t>
            </a:r>
          </a:p>
          <a:p>
            <a:pPr marL="742950" lvl="1" indent="-285750">
              <a:buFont typeface="Wingdings" charset="2"/>
              <a:buChar char="ü"/>
            </a:pPr>
            <a:r>
              <a:rPr lang="en-US" sz="2400" dirty="0"/>
              <a:t>First element in the different groups. </a:t>
            </a:r>
          </a:p>
          <a:p>
            <a:pPr marL="742950" lvl="1" indent="-285750">
              <a:buFont typeface="Wingdings" charset="2"/>
              <a:buChar char="ü"/>
            </a:pPr>
            <a:r>
              <a:rPr lang="en-US" sz="2400" dirty="0"/>
              <a:t>GROUP[L] and GROUP[L+1]-1 contain respectively, the first and last element in group L.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17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46087" y="4960755"/>
            <a:ext cx="322863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Suppose L=3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FF0000"/>
                </a:solidFill>
              </a:rPr>
              <a:t>1</a:t>
            </a:r>
            <a:r>
              <a:rPr lang="en-US" sz="2400" baseline="30000" dirty="0">
                <a:solidFill>
                  <a:srgbClr val="FF0000"/>
                </a:solidFill>
              </a:rPr>
              <a:t>st</a:t>
            </a:r>
            <a:r>
              <a:rPr lang="en-US" sz="2400" dirty="0">
                <a:solidFill>
                  <a:srgbClr val="FF0000"/>
                </a:solidFill>
              </a:rPr>
              <a:t> Element of grp 3</a:t>
            </a:r>
            <a:r>
              <a:rPr lang="en-US" sz="2400" dirty="0"/>
              <a:t>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GROUP[L]=GROUP[3]</a:t>
            </a:r>
          </a:p>
          <a:p>
            <a:r>
              <a:rPr lang="en-US" sz="2400" dirty="0"/>
              <a:t>                       = 14</a:t>
            </a:r>
          </a:p>
          <a:p>
            <a:r>
              <a:rPr lang="en-US" sz="2400" dirty="0"/>
              <a:t>                       = Davis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551337" y="5907972"/>
            <a:ext cx="37151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FF0000"/>
                </a:solidFill>
              </a:rPr>
              <a:t>Last Element of grp 3</a:t>
            </a:r>
            <a:r>
              <a:rPr lang="en-US" sz="2800" dirty="0"/>
              <a:t>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86766" y="6334706"/>
            <a:ext cx="14339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err="1">
                <a:solidFill>
                  <a:srgbClr val="0000CC"/>
                </a:solidFill>
              </a:rPr>
              <a:t>Pls</a:t>
            </a:r>
            <a:r>
              <a:rPr lang="en-US" sz="2800" b="1" dirty="0">
                <a:solidFill>
                  <a:srgbClr val="0000CC"/>
                </a:solidFill>
              </a:rPr>
              <a:t> Try</a:t>
            </a:r>
          </a:p>
        </p:txBody>
      </p:sp>
      <p:pic>
        <p:nvPicPr>
          <p:cNvPr id="13" name="Picture 4" descr="https://s-media-cache-ak0.pinimg.com/236x/52/20/bc/5220bcf5973b8d3461d393da1dfcd4ec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6804" y="6347947"/>
            <a:ext cx="512093" cy="516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997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963" y="692570"/>
            <a:ext cx="4735561" cy="57591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POINTER ARRAYS: Example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1715882"/>
            <a:ext cx="570071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GROUP[L+1]-1</a:t>
            </a:r>
          </a:p>
          <a:p>
            <a:r>
              <a:rPr lang="en-US" sz="2400" dirty="0"/>
              <a:t>                          =GROUP[3+1]-1</a:t>
            </a:r>
          </a:p>
          <a:p>
            <a:r>
              <a:rPr lang="en-US" sz="2400" dirty="0"/>
              <a:t>                          =16-1</a:t>
            </a:r>
          </a:p>
          <a:p>
            <a:r>
              <a:rPr lang="en-US" sz="2400" dirty="0"/>
              <a:t>                          =15</a:t>
            </a:r>
          </a:p>
          <a:p>
            <a:r>
              <a:rPr lang="en-US" sz="2400" dirty="0"/>
              <a:t>                          = </a:t>
            </a:r>
            <a:r>
              <a:rPr lang="en-US" sz="2400" dirty="0" err="1"/>
              <a:t>Segel</a:t>
            </a:r>
            <a:endParaRPr lang="en-US" sz="2400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18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1285590"/>
            <a:ext cx="28697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Last element of grp 3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996052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8778" y="529004"/>
            <a:ext cx="3515222" cy="61898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0" y="46239"/>
            <a:ext cx="8243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POINTER ARRAYS: Extended</a:t>
            </a:r>
            <a:endParaRPr lang="en-US" sz="3600" dirty="0">
              <a:solidFill>
                <a:srgbClr val="0000CC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17" y="504394"/>
            <a:ext cx="527436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Here unused memory cells are indicated by the shading.</a:t>
            </a:r>
          </a:p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Observe that now there are some empty cells between the groups.</a:t>
            </a:r>
          </a:p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Accordingly, a new element may be inserted in a new group without necessarily moving the elements in any other group.</a:t>
            </a:r>
          </a:p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Using the data structure, one requires an array NUMB which gives the number of elements in each group.</a:t>
            </a:r>
          </a:p>
          <a:p>
            <a:pPr marL="342900" indent="-342900" algn="just">
              <a:buFont typeface="Wingdings" charset="2"/>
              <a:buChar char="Ø"/>
            </a:pPr>
            <a:r>
              <a:rPr lang="en-US" sz="2400" dirty="0"/>
              <a:t>Observe that GROUP[K+1]-GROUP[K]  is </a:t>
            </a:r>
            <a:r>
              <a:rPr lang="en-US" sz="2400" dirty="0">
                <a:solidFill>
                  <a:srgbClr val="0000CC"/>
                </a:solidFill>
              </a:rPr>
              <a:t>the total number of space available for group K</a:t>
            </a:r>
            <a:r>
              <a:rPr lang="en-US" sz="2400" dirty="0"/>
              <a:t>. Hence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5887855"/>
            <a:ext cx="723568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FREE[K]=GROUP[K+1]-GROUP[K]-NUMB[K]</a:t>
            </a:r>
          </a:p>
          <a:p>
            <a:pPr algn="just"/>
            <a:r>
              <a:rPr lang="en-US" sz="2400" dirty="0"/>
              <a:t>Gives the number of empty cells following GROUP K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07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92302" y="668152"/>
            <a:ext cx="3515222" cy="6189848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0" y="46239"/>
            <a:ext cx="82432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POINTER ARRAYS: Extended, </a:t>
            </a:r>
            <a:r>
              <a:rPr lang="en-US" sz="3600" dirty="0">
                <a:solidFill>
                  <a:srgbClr val="0000CC"/>
                </a:solidFill>
              </a:rPr>
              <a:t>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765" y="836781"/>
            <a:ext cx="53995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Suppose, we want to print only the number of FREE cells of GROUP 2. Then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828026"/>
            <a:ext cx="564218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>
                <a:solidFill>
                  <a:srgbClr val="FF0000"/>
                </a:solidFill>
              </a:rPr>
              <a:t>FREE[K]=GROUP[K+1]-GROUP[K]-NUMB[K]</a:t>
            </a:r>
            <a:endParaRPr lang="en-US" sz="2400" b="1" dirty="0">
              <a:solidFill>
                <a:srgbClr val="FF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5648" y="2413874"/>
            <a:ext cx="5590889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en-US" sz="2400" b="1" dirty="0">
                <a:solidFill>
                  <a:srgbClr val="FF0000"/>
                </a:solidFill>
              </a:rPr>
              <a:t>FREE[2]=GROUP[2+1]-GROUP[2]-NUMB[2]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              = 19-7-9</a:t>
            </a:r>
          </a:p>
          <a:p>
            <a:pPr algn="just"/>
            <a:r>
              <a:rPr lang="en-US" sz="2400" b="1" dirty="0">
                <a:solidFill>
                  <a:srgbClr val="FF0000"/>
                </a:solidFill>
              </a:rPr>
              <a:t>              =3 </a:t>
            </a:r>
          </a:p>
        </p:txBody>
      </p:sp>
      <p:sp>
        <p:nvSpPr>
          <p:cNvPr id="8" name="Rectangle 7"/>
          <p:cNvSpPr/>
          <p:nvPr/>
        </p:nvSpPr>
        <p:spPr>
          <a:xfrm>
            <a:off x="92765" y="4204513"/>
            <a:ext cx="2828467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0000CC"/>
                </a:solidFill>
              </a:rPr>
              <a:t>For GROUP 3?</a:t>
            </a:r>
          </a:p>
          <a:p>
            <a:r>
              <a:rPr lang="en-US" sz="3600" dirty="0">
                <a:solidFill>
                  <a:srgbClr val="0000CC"/>
                </a:solidFill>
              </a:rPr>
              <a:t>Try now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RECORDS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836781"/>
            <a:ext cx="90075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A </a:t>
            </a:r>
            <a:r>
              <a:rPr lang="en-US" sz="2400" b="1" i="1" dirty="0">
                <a:solidFill>
                  <a:srgbClr val="0000CC"/>
                </a:solidFill>
              </a:rPr>
              <a:t>record</a:t>
            </a:r>
            <a:r>
              <a:rPr lang="en-US" sz="2400" dirty="0"/>
              <a:t> is a collection of related data items, each of which is called a field or attribute, and 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 a </a:t>
            </a:r>
            <a:r>
              <a:rPr lang="en-US" sz="2400" b="1" i="1" dirty="0">
                <a:solidFill>
                  <a:srgbClr val="0000CC"/>
                </a:solidFill>
              </a:rPr>
              <a:t>file </a:t>
            </a:r>
            <a:r>
              <a:rPr lang="en-US" sz="2400" dirty="0"/>
              <a:t>is a collection or similar records.</a:t>
            </a:r>
          </a:p>
          <a:p>
            <a:pPr marL="285750" indent="-285750" algn="just">
              <a:lnSpc>
                <a:spcPct val="150000"/>
              </a:lnSpc>
              <a:buFont typeface="Wingdings" charset="2"/>
              <a:buChar char="ü"/>
            </a:pPr>
            <a:r>
              <a:rPr lang="en-US" sz="2400" dirty="0"/>
              <a:t>Although, a </a:t>
            </a:r>
            <a:r>
              <a:rPr lang="en-US" sz="2400" b="1" i="1" dirty="0">
                <a:solidFill>
                  <a:srgbClr val="0000CC"/>
                </a:solidFill>
              </a:rPr>
              <a:t>record</a:t>
            </a:r>
            <a:r>
              <a:rPr lang="en-US" sz="2400" dirty="0"/>
              <a:t> is a collection of data items, it differs from a linear array in the following ways</a:t>
            </a:r>
            <a:r>
              <a:rPr lang="is-IS" sz="2400" dirty="0"/>
              <a:t>…............</a:t>
            </a:r>
          </a:p>
          <a:p>
            <a:pPr marL="1257300" lvl="2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is-IS" sz="2400" dirty="0"/>
              <a:t>A record may be a collection of nonhomogeneous data; </a:t>
            </a:r>
          </a:p>
          <a:p>
            <a:pPr marL="1257300" lvl="2" indent="-342900" algn="just">
              <a:lnSpc>
                <a:spcPct val="150000"/>
              </a:lnSpc>
              <a:buFont typeface="Wingdings" charset="2"/>
              <a:buChar char="Ø"/>
            </a:pPr>
            <a:r>
              <a:rPr lang="is-IS" sz="2400" dirty="0"/>
              <a:t>The data items in a record are indexed by attribute names, so there may not be a natural ordering of its elements.</a:t>
            </a:r>
            <a:endParaRPr lang="en-US" sz="240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86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RECORDS: </a:t>
            </a:r>
            <a:r>
              <a:rPr lang="en-US" sz="36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</a:t>
            </a:r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Example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14300" y="836781"/>
            <a:ext cx="889322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Newborn</a:t>
            </a:r>
          </a:p>
          <a:p>
            <a:pPr lvl="1"/>
            <a:r>
              <a:rPr lang="en-US" dirty="0"/>
              <a:t>2. Name</a:t>
            </a:r>
          </a:p>
          <a:p>
            <a:pPr lvl="1"/>
            <a:r>
              <a:rPr lang="en-US" dirty="0"/>
              <a:t>2. Sex</a:t>
            </a:r>
          </a:p>
          <a:p>
            <a:pPr lvl="1"/>
            <a:r>
              <a:rPr lang="en-US" dirty="0"/>
              <a:t>2. Birthday</a:t>
            </a:r>
          </a:p>
          <a:p>
            <a:pPr lvl="2"/>
            <a:r>
              <a:rPr lang="en-US" dirty="0"/>
              <a:t>3. Month</a:t>
            </a:r>
          </a:p>
          <a:p>
            <a:pPr lvl="2"/>
            <a:r>
              <a:rPr lang="en-US" dirty="0"/>
              <a:t>3. Day</a:t>
            </a:r>
          </a:p>
          <a:p>
            <a:pPr lvl="2"/>
            <a:r>
              <a:rPr lang="en-US" dirty="0"/>
              <a:t>3. Year</a:t>
            </a:r>
          </a:p>
          <a:p>
            <a:pPr marL="469900" lvl="2"/>
            <a:r>
              <a:rPr lang="en-US" dirty="0"/>
              <a:t>2. Father</a:t>
            </a:r>
          </a:p>
          <a:p>
            <a:pPr marL="469900" lvl="2"/>
            <a:r>
              <a:rPr lang="en-US" dirty="0"/>
              <a:t>	3. Name</a:t>
            </a:r>
          </a:p>
          <a:p>
            <a:pPr marL="469900" lvl="2"/>
            <a:r>
              <a:rPr lang="en-US" dirty="0"/>
              <a:t>	3. Age</a:t>
            </a:r>
          </a:p>
          <a:p>
            <a:pPr marL="469900" lvl="2"/>
            <a:r>
              <a:rPr lang="en-US" dirty="0"/>
              <a:t>2. Mother</a:t>
            </a:r>
          </a:p>
          <a:p>
            <a:pPr marL="469900" lvl="2"/>
            <a:r>
              <a:rPr lang="en-US" dirty="0"/>
              <a:t>	3. Name</a:t>
            </a:r>
          </a:p>
          <a:p>
            <a:pPr marL="469900" lvl="2"/>
            <a:r>
              <a:rPr lang="en-US" dirty="0"/>
              <a:t>	3. Age</a:t>
            </a:r>
          </a:p>
          <a:p>
            <a:pPr marL="469900" lvl="2"/>
            <a:endParaRPr lang="en-US" dirty="0"/>
          </a:p>
          <a:p>
            <a:pPr marL="1257300" lvl="2" indent="-342900">
              <a:buFont typeface="+mj-lt"/>
              <a:buAutoNum type="arabicPeriod" startAt="2"/>
            </a:pPr>
            <a:endParaRPr lang="en-US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51950"/>
              </p:ext>
            </p:extLst>
          </p:nvPr>
        </p:nvGraphicFramePr>
        <p:xfrm>
          <a:off x="114300" y="4672049"/>
          <a:ext cx="8658231" cy="1112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43153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5571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562512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  <a:gridCol w="409038">
                  <a:extLst>
                    <a:ext uri="{9D8B030D-6E8A-4147-A177-3AD203B41FA5}">
                      <a16:colId xmlns:a16="http://schemas.microsoft.com/office/drawing/2014/main" xmlns="" val="20003"/>
                    </a:ext>
                  </a:extLst>
                </a:gridCol>
                <a:gridCol w="628651">
                  <a:extLst>
                    <a:ext uri="{9D8B030D-6E8A-4147-A177-3AD203B41FA5}">
                      <a16:colId xmlns:a16="http://schemas.microsoft.com/office/drawing/2014/main" xmlns="" val="20004"/>
                    </a:ext>
                  </a:extLst>
                </a:gridCol>
                <a:gridCol w="1943099">
                  <a:extLst>
                    <a:ext uri="{9D8B030D-6E8A-4147-A177-3AD203B41FA5}">
                      <a16:colId xmlns:a16="http://schemas.microsoft.com/office/drawing/2014/main" xmlns="" val="20005"/>
                    </a:ext>
                  </a:extLst>
                </a:gridCol>
                <a:gridCol w="571501">
                  <a:extLst>
                    <a:ext uri="{9D8B030D-6E8A-4147-A177-3AD203B41FA5}">
                      <a16:colId xmlns:a16="http://schemas.microsoft.com/office/drawing/2014/main" xmlns="" val="20006"/>
                    </a:ext>
                  </a:extLst>
                </a:gridCol>
                <a:gridCol w="1728786">
                  <a:extLst>
                    <a:ext uri="{9D8B030D-6E8A-4147-A177-3AD203B41FA5}">
                      <a16:colId xmlns:a16="http://schemas.microsoft.com/office/drawing/2014/main" xmlns="" val="20007"/>
                    </a:ext>
                  </a:extLst>
                </a:gridCol>
                <a:gridCol w="714381">
                  <a:extLst>
                    <a:ext uri="{9D8B030D-6E8A-4147-A177-3AD203B41FA5}">
                      <a16:colId xmlns:a16="http://schemas.microsoft.com/office/drawing/2014/main" xmlns="" val="20008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just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Sex</a:t>
                      </a:r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/>
                      <a:r>
                        <a:rPr lang="en-US" dirty="0"/>
                        <a:t>Birthday</a:t>
                      </a:r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Father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Mother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algn="just"/>
                      <a:endParaRPr 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014538" y="985838"/>
            <a:ext cx="71294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rgbClr val="0000CC"/>
                </a:solidFill>
              </a:rPr>
              <a:t>Under the relationship of group item </a:t>
            </a:r>
            <a:r>
              <a:rPr lang="en-US" sz="2400">
                <a:solidFill>
                  <a:srgbClr val="0000CC"/>
                </a:solidFill>
              </a:rPr>
              <a:t>to sub- item, </a:t>
            </a:r>
            <a:r>
              <a:rPr lang="en-US" sz="2400" dirty="0">
                <a:solidFill>
                  <a:srgbClr val="0000CC"/>
                </a:solidFill>
              </a:rPr>
              <a:t>the data items in a record form a hierarchical structure which can be described by mean of “Level</a:t>
            </a:r>
            <a:r>
              <a:rPr lang="en-US" sz="2400">
                <a:solidFill>
                  <a:srgbClr val="0000CC"/>
                </a:solidFill>
              </a:rPr>
              <a:t>” numbers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557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Indexing Items in a Record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0" y="836781"/>
            <a:ext cx="90075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Wingdings" charset="2"/>
              <a:buChar char="ü"/>
            </a:pPr>
            <a:r>
              <a:rPr lang="en-US" sz="2400" dirty="0"/>
              <a:t>Suppose we want to access some data item in a record.</a:t>
            </a:r>
          </a:p>
          <a:p>
            <a:pPr marL="342900" indent="-342900" algn="just">
              <a:buFont typeface="Wingdings" charset="2"/>
              <a:buChar char="ü"/>
            </a:pPr>
            <a:r>
              <a:rPr lang="en-US" sz="2400" dirty="0"/>
              <a:t>We can not simply write the data name of the item since the same may appear in different places in the record. For example</a:t>
            </a:r>
            <a:r>
              <a:rPr lang="is-IS" sz="2400" dirty="0"/>
              <a:t>…..</a:t>
            </a:r>
            <a:endParaRPr lang="en-US" sz="2400" dirty="0"/>
          </a:p>
        </p:txBody>
      </p:sp>
      <p:sp>
        <p:nvSpPr>
          <p:cNvPr id="7" name="TextBox 6"/>
          <p:cNvSpPr txBox="1"/>
          <p:nvPr/>
        </p:nvSpPr>
        <p:spPr>
          <a:xfrm>
            <a:off x="101600" y="2344887"/>
            <a:ext cx="2400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Newborn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2. Name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2. Sex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2. Birthday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3. Month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3. Day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3. Year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2. Father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Name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Age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2. Mother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Name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Age</a:t>
            </a:r>
          </a:p>
          <a:p>
            <a:pPr marL="469900" lvl="2"/>
            <a:endParaRPr lang="en-US" b="1" dirty="0">
              <a:solidFill>
                <a:srgbClr val="7030A0"/>
              </a:solidFill>
            </a:endParaRPr>
          </a:p>
          <a:p>
            <a:pPr marL="1257300" lvl="2" indent="-342900">
              <a:buFont typeface="+mj-lt"/>
              <a:buAutoNum type="arabicPeriod" startAt="2"/>
            </a:pP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44700" y="2344887"/>
            <a:ext cx="66898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Wingdings" charset="2"/>
              <a:buChar char="Ø"/>
            </a:pPr>
            <a:r>
              <a:rPr lang="en-US" sz="2400" dirty="0"/>
              <a:t>In order to specify a particular item, </a:t>
            </a:r>
          </a:p>
          <a:p>
            <a:pPr marL="800100" lvl="1" indent="-342900" algn="just">
              <a:buFont typeface="Wingdings" charset="2"/>
              <a:buChar char="v"/>
            </a:pPr>
            <a:r>
              <a:rPr lang="en-US" sz="2400" dirty="0"/>
              <a:t>we may have to </a:t>
            </a:r>
            <a:r>
              <a:rPr lang="en-US" sz="2400" i="1" dirty="0"/>
              <a:t>qualify</a:t>
            </a:r>
            <a:r>
              <a:rPr lang="en-US" sz="2400" dirty="0"/>
              <a:t> the name by using appropriate group item names in the structure.</a:t>
            </a:r>
          </a:p>
          <a:p>
            <a:pPr marL="800100" lvl="1" indent="-342900" algn="just">
              <a:buFont typeface="Wingdings" charset="2"/>
              <a:buChar char="v"/>
            </a:pPr>
            <a:r>
              <a:rPr lang="en-US" sz="2400" dirty="0"/>
              <a:t>This </a:t>
            </a:r>
            <a:r>
              <a:rPr lang="en-US" sz="2400" i="1" dirty="0"/>
              <a:t>qualification </a:t>
            </a:r>
            <a:r>
              <a:rPr lang="en-US" sz="2400" dirty="0"/>
              <a:t>is indicated by using decimal points (periods) to separate group items from </a:t>
            </a:r>
            <a:r>
              <a:rPr lang="en-US" sz="2400" dirty="0" err="1"/>
              <a:t>subitems</a:t>
            </a:r>
            <a:r>
              <a:rPr lang="en-US" sz="2400" dirty="0"/>
              <a:t>.</a:t>
            </a:r>
          </a:p>
          <a:p>
            <a:pPr marL="800100" lvl="1" indent="-342900" algn="just">
              <a:buFont typeface="Wingdings" charset="2"/>
              <a:buChar char="v"/>
            </a:pPr>
            <a:r>
              <a:rPr lang="en-US" sz="2400" dirty="0"/>
              <a:t>Example: </a:t>
            </a:r>
            <a:r>
              <a:rPr lang="en-US" sz="2400" dirty="0" err="1">
                <a:solidFill>
                  <a:srgbClr val="0000CC"/>
                </a:solidFill>
              </a:rPr>
              <a:t>Newborn.Father.Age</a:t>
            </a:r>
            <a:r>
              <a:rPr lang="en-US" sz="2400" dirty="0"/>
              <a:t> or </a:t>
            </a:r>
            <a:r>
              <a:rPr lang="en-US" sz="2400" dirty="0" err="1">
                <a:solidFill>
                  <a:srgbClr val="FF0000"/>
                </a:solidFill>
              </a:rPr>
              <a:t>Father.Age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9" name="Oval Callout 8"/>
          <p:cNvSpPr/>
          <p:nvPr/>
        </p:nvSpPr>
        <p:spPr>
          <a:xfrm>
            <a:off x="3467100" y="5702300"/>
            <a:ext cx="2247900" cy="889904"/>
          </a:xfrm>
          <a:prstGeom prst="wedgeEllipseCallout">
            <a:avLst>
              <a:gd name="adj1" fmla="val 28320"/>
              <a:gd name="adj2" fmla="val -93056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Fully qualified</a:t>
            </a:r>
            <a:r>
              <a:rPr lang="en-US" dirty="0">
                <a:solidFill>
                  <a:schemeClr val="tx1"/>
                </a:solidFill>
              </a:rPr>
              <a:t> reference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3349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1036787"/>
            <a:ext cx="2400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7030A0"/>
                </a:solidFill>
              </a:rPr>
              <a:t>Newborn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2. Name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2. Sex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2. Birthday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3. Month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3. Day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3. Year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2. Father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Name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Age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2. Mother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Name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Age</a:t>
            </a:r>
          </a:p>
          <a:p>
            <a:pPr marL="469900" lvl="2"/>
            <a:endParaRPr lang="en-US" b="1" dirty="0">
              <a:solidFill>
                <a:srgbClr val="7030A0"/>
              </a:solidFill>
            </a:endParaRPr>
          </a:p>
          <a:p>
            <a:pPr marL="1257300" lvl="2" indent="-342900">
              <a:buFont typeface="+mj-lt"/>
              <a:buAutoNum type="arabicPeriod" startAt="2"/>
            </a:pPr>
            <a:endParaRPr lang="en-US" b="1" dirty="0">
              <a:solidFill>
                <a:srgbClr val="7030A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254500" y="1036787"/>
            <a:ext cx="24003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rgbClr val="FF0000"/>
                </a:solidFill>
              </a:rPr>
              <a:t>Newborn(20)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2. Name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2. Sex</a:t>
            </a:r>
          </a:p>
          <a:p>
            <a:pPr lvl="1"/>
            <a:r>
              <a:rPr lang="en-US" b="1" dirty="0">
                <a:solidFill>
                  <a:srgbClr val="7030A0"/>
                </a:solidFill>
              </a:rPr>
              <a:t>2. Birthday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3. Month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3. Day</a:t>
            </a:r>
          </a:p>
          <a:p>
            <a:pPr lvl="2"/>
            <a:r>
              <a:rPr lang="en-US" b="1" dirty="0">
                <a:solidFill>
                  <a:srgbClr val="7030A0"/>
                </a:solidFill>
              </a:rPr>
              <a:t>3. Year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2. Father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Name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Age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2. Mother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Name</a:t>
            </a:r>
          </a:p>
          <a:p>
            <a:pPr marL="469900" lvl="2"/>
            <a:r>
              <a:rPr lang="en-US" b="1" dirty="0">
                <a:solidFill>
                  <a:srgbClr val="7030A0"/>
                </a:solidFill>
              </a:rPr>
              <a:t>	3. Age</a:t>
            </a:r>
          </a:p>
          <a:p>
            <a:pPr marL="469900" lvl="2"/>
            <a:endParaRPr lang="en-US" b="1" dirty="0">
              <a:solidFill>
                <a:srgbClr val="7030A0"/>
              </a:solidFill>
            </a:endParaRPr>
          </a:p>
          <a:p>
            <a:pPr marL="1257300" lvl="2" indent="-342900">
              <a:buFont typeface="+mj-lt"/>
              <a:buAutoNum type="arabicPeriod" startAt="2"/>
            </a:pPr>
            <a:endParaRPr lang="en-US" b="1" dirty="0">
              <a:solidFill>
                <a:srgbClr val="7030A0"/>
              </a:solidFill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flipV="1">
            <a:off x="1676400" y="1231900"/>
            <a:ext cx="2445224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Indexing Items in a Record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Oval Callout 10"/>
          <p:cNvSpPr/>
          <p:nvPr/>
        </p:nvSpPr>
        <p:spPr>
          <a:xfrm>
            <a:off x="6134100" y="1397000"/>
            <a:ext cx="2654300" cy="1092200"/>
          </a:xfrm>
          <a:prstGeom prst="wedgeEllipseCallout">
            <a:avLst>
              <a:gd name="adj1" fmla="val -56191"/>
              <a:gd name="adj2" fmla="val -59198"/>
            </a:avLst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Newborn </a:t>
            </a:r>
            <a:r>
              <a:rPr lang="en-US">
                <a:solidFill>
                  <a:srgbClr val="FF0000"/>
                </a:solidFill>
              </a:rPr>
              <a:t>is defined to be a file with 20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0" y="5041900"/>
            <a:ext cx="9144000" cy="15388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charset="2"/>
              <a:buChar char="ü"/>
            </a:pPr>
            <a:r>
              <a:rPr lang="en-US" sz="2400" dirty="0"/>
              <a:t>The Name of the sixth newborn to be referenced by writing </a:t>
            </a:r>
            <a:r>
              <a:rPr lang="is-IS" sz="2400" dirty="0"/>
              <a:t>…....</a:t>
            </a:r>
          </a:p>
          <a:p>
            <a:pPr algn="ctr"/>
            <a:r>
              <a:rPr lang="en-US" sz="2400" b="1" dirty="0">
                <a:solidFill>
                  <a:srgbClr val="0000CC"/>
                </a:solidFill>
              </a:rPr>
              <a:t>Newborn. Name[6]</a:t>
            </a:r>
          </a:p>
          <a:p>
            <a:pPr marL="342900" indent="-342900" algn="just">
              <a:buFont typeface="Wingdings" charset="2"/>
              <a:buChar char="ü"/>
            </a:pPr>
            <a:r>
              <a:rPr lang="en-US" sz="2200" dirty="0"/>
              <a:t>The age of the father of the 6</a:t>
            </a:r>
            <a:r>
              <a:rPr lang="en-US" sz="2200" baseline="30000" dirty="0"/>
              <a:t>th</a:t>
            </a:r>
            <a:r>
              <a:rPr lang="en-US" sz="2200" dirty="0"/>
              <a:t> newborn may be referenced by writing</a:t>
            </a:r>
            <a:r>
              <a:rPr lang="is-IS" sz="2200" dirty="0"/>
              <a:t>…..</a:t>
            </a:r>
          </a:p>
          <a:p>
            <a:pPr algn="ctr"/>
            <a:r>
              <a:rPr lang="is-IS" sz="2400" b="1" dirty="0">
                <a:solidFill>
                  <a:srgbClr val="0000CC"/>
                </a:solidFill>
              </a:rPr>
              <a:t>Newborn.Father.Age[6]</a:t>
            </a:r>
            <a:endParaRPr lang="en-US" sz="2400" b="1" dirty="0">
              <a:solidFill>
                <a:srgbClr val="0000CC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76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1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Representation of RECORDS in memory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0" y="836781"/>
            <a:ext cx="922588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/>
              <a:t>Since records may contain nonhomogeneous data, the element of a record can not be stored in an array.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5750" y="2543175"/>
            <a:ext cx="76438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See Example: 4.18, 4.20, 4.21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1329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4623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MATRICES and SPARSE MATRICES</a:t>
            </a:r>
            <a:endParaRPr lang="en-US" sz="3600" b="1" dirty="0">
              <a:solidFill>
                <a:srgbClr val="0000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161201" y="1175335"/>
            <a:ext cx="92258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Teach Yourself with example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830957"/>
            <a:ext cx="8562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</a:rPr>
              <a:t>Try to understand the </a:t>
            </a:r>
            <a:r>
              <a:rPr lang="en-US" sz="2800" b="1">
                <a:solidFill>
                  <a:srgbClr val="FF0000"/>
                </a:solidFill>
              </a:rPr>
              <a:t>SOLVED Problems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BC1585-C671-4F90-AA0D-FD45AA239D02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483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39440" y="2492870"/>
            <a:ext cx="8229600" cy="1143000"/>
          </a:xfrm>
        </p:spPr>
        <p:txBody>
          <a:bodyPr/>
          <a:lstStyle/>
          <a:p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you……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E0763-8C84-4A0C-BF22-E8FBB0D3435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319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pstream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Slipstream">
      <a:majorFont>
        <a:latin typeface="Trebuchet MS"/>
        <a:ea typeface=""/>
        <a:cs typeface=""/>
        <a:font script="Jpan" typeface="HGｺﾞｼｯｸM"/>
        <a:font script="Hang" typeface="HY그래픽B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ｺﾞｼｯｸM"/>
        <a:font script="Hang" typeface="HY그래픽M"/>
        <a:font script="Hans" typeface="方正姚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ipstream">
      <a:fillStyleLst>
        <a:solidFill>
          <a:schemeClr val="phClr"/>
        </a:solidFill>
        <a:gradFill rotWithShape="1">
          <a:gsLst>
            <a:gs pos="28000">
              <a:schemeClr val="phClr">
                <a:tint val="18000"/>
                <a:satMod val="120000"/>
                <a:lumMod val="88000"/>
              </a:schemeClr>
            </a:gs>
            <a:gs pos="100000">
              <a:schemeClr val="phClr">
                <a:tint val="40000"/>
                <a:satMod val="100000"/>
                <a:lumMod val="7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95000"/>
              </a:schemeClr>
            </a:gs>
            <a:gs pos="100000">
              <a:schemeClr val="phClr">
                <a:shade val="82000"/>
                <a:satMod val="125000"/>
                <a:lumMod val="74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>
              <a:shade val="75000"/>
              <a:satMod val="125000"/>
              <a:lumMod val="7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50800" dir="5400000" sx="98000" sy="98000" rotWithShape="0">
              <a:srgbClr val="000000">
                <a:alpha val="20000"/>
              </a:srgbClr>
            </a:outerShdw>
          </a:effectLst>
        </a:effectStyle>
        <a:effectStyle>
          <a:effectLst>
            <a:outerShdw blurRad="40005" dist="22984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alanced" dir="tr"/>
          </a:scene3d>
          <a:sp3d prstMaterial="matte">
            <a:bevelT w="19050" h="38100"/>
          </a:sp3d>
        </a:effectStyle>
        <a:effectStyle>
          <a:effectLst>
            <a:reflection blurRad="38100" stA="26000" endPos="23000" dist="25400" dir="5400000" sy="-100000" rotWithShape="0"/>
          </a:effectLst>
          <a:scene3d>
            <a:camera prst="orthographicFront">
              <a:rot lat="0" lon="0" rev="0"/>
            </a:camera>
            <a:lightRig rig="balanced" dir="tr"/>
          </a:scene3d>
          <a:sp3d contourW="14605" prstMaterial="plastic">
            <a:bevelT w="50800"/>
            <a:contourClr>
              <a:schemeClr val="phClr">
                <a:shade val="30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shade val="90000"/>
                <a:satMod val="160000"/>
                <a:lumMod val="100000"/>
              </a:schemeClr>
            </a:gs>
            <a:gs pos="60000">
              <a:schemeClr val="phClr">
                <a:tint val="95000"/>
                <a:shade val="100000"/>
                <a:satMod val="130000"/>
                <a:lumMod val="130000"/>
              </a:schemeClr>
            </a:gs>
            <a:gs pos="100000">
              <a:schemeClr val="phClr">
                <a:tint val="97000"/>
                <a:shade val="100000"/>
                <a:hueMod val="100000"/>
                <a:satMod val="140000"/>
                <a:lumMod val="80000"/>
              </a:schemeClr>
            </a:gs>
          </a:gsLst>
          <a:path path="circle">
            <a:fillToRect l="20000" t="10000" r="20000" b="60000"/>
          </a:path>
        </a:gradFill>
        <a:gradFill rotWithShape="1">
          <a:gsLst>
            <a:gs pos="0">
              <a:schemeClr val="phClr">
                <a:tint val="94000"/>
                <a:satMod val="160000"/>
                <a:lumMod val="160000"/>
              </a:schemeClr>
            </a:gs>
            <a:gs pos="42000">
              <a:schemeClr val="phClr">
                <a:tint val="94000"/>
                <a:shade val="94000"/>
                <a:satMod val="160000"/>
                <a:lumMod val="130000"/>
              </a:schemeClr>
            </a:gs>
            <a:gs pos="100000">
              <a:schemeClr val="phClr">
                <a:tint val="97000"/>
                <a:shade val="94000"/>
                <a:satMod val="180000"/>
                <a:lumMod val="84000"/>
              </a:schemeClr>
            </a:gs>
          </a:gsLst>
          <a:path path="circle">
            <a:fillToRect l="24000" t="44000" r="24000" b="12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2280</TotalTime>
  <Words>1645</Words>
  <Application>Microsoft Office PowerPoint</Application>
  <PresentationFormat>On-screen Show (4:3)</PresentationFormat>
  <Paragraphs>340</Paragraphs>
  <Slides>27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4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Office Theme</vt:lpstr>
      <vt:lpstr>Slipstream</vt:lpstr>
      <vt:lpstr>1_Slipstream</vt:lpstr>
      <vt:lpstr>3_Office Theme</vt:lpstr>
      <vt:lpstr>Data Structures  ICT-1211  Information and Communication Technology</vt:lpstr>
      <vt:lpstr> Arrays, Records and Pointers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you……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Dulal Sir</cp:lastModifiedBy>
  <cp:revision>291</cp:revision>
  <dcterms:created xsi:type="dcterms:W3CDTF">2016-12-28T08:52:04Z</dcterms:created>
  <dcterms:modified xsi:type="dcterms:W3CDTF">2025-07-08T08:37:55Z</dcterms:modified>
</cp:coreProperties>
</file>