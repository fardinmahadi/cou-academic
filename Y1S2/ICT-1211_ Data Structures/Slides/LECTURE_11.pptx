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6"/>
  </p:notesMasterIdLst>
  <p:sldIdLst>
    <p:sldId id="345" r:id="rId4"/>
    <p:sldId id="416" r:id="rId5"/>
    <p:sldId id="360" r:id="rId6"/>
    <p:sldId id="361" r:id="rId7"/>
    <p:sldId id="362" r:id="rId8"/>
    <p:sldId id="377" r:id="rId9"/>
    <p:sldId id="363" r:id="rId10"/>
    <p:sldId id="402" r:id="rId11"/>
    <p:sldId id="40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371" r:id="rId20"/>
    <p:sldId id="372" r:id="rId21"/>
    <p:sldId id="373" r:id="rId22"/>
    <p:sldId id="374" r:id="rId23"/>
    <p:sldId id="375" r:id="rId24"/>
    <p:sldId id="41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9" autoAdjust="0"/>
    <p:restoredTop sz="92153" autoAdjust="0"/>
  </p:normalViewPr>
  <p:slideViewPr>
    <p:cSldViewPr snapToGrid="0">
      <p:cViewPr varScale="1">
        <p:scale>
          <a:sx n="68" d="100"/>
          <a:sy n="68" d="100"/>
        </p:scale>
        <p:origin x="-122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30268-8CD4-504F-ABA5-1C9CCA49C623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C1D01-1B9F-7C40-813B-513D0EDB4DAD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B0D1A-2EA3-3343-AAB9-1846DE5CAD5F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741DD-39D0-5B4D-9046-B63EFFC59727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1697D-3C77-404E-BF10-67BDD1040D45}" type="datetime1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69DE7-D140-8942-81CE-278DE9DEC074}" type="datetime1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C0E96-8730-7547-8D85-86E2E04695A6}" type="datetime1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EC598-C370-B048-9E1F-CBD36421979E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6CB3-5715-E34A-A7C1-F5A05382CE93}" type="datetime1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B2211-647A-3D45-8976-B84E1F718B75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64B15-D269-024B-997D-E9A8A37476E1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6896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2499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64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4955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231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410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3879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1394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6464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54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3364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900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7744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02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591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089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3380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417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362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51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201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522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30/07/2025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14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4F56B-6E71-E14F-82F4-B249D7839BE9}" type="datetime1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2694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30/07/2025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7980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Lecture-11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617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Searching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" y="658906"/>
            <a:ext cx="90075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Given: </a:t>
            </a:r>
          </a:p>
          <a:p>
            <a:pPr marL="1257300" lvl="2" indent="-342900">
              <a:buFont typeface="Arial" charset="0"/>
              <a:buChar char="•"/>
            </a:pPr>
            <a:r>
              <a:rPr lang="en-US" sz="2400" dirty="0"/>
              <a:t>LIST- a linked list in memory (Unknown/Unseen)</a:t>
            </a:r>
          </a:p>
          <a:p>
            <a:pPr marL="1257300" lvl="2" indent="-342900">
              <a:buFont typeface="Arial" charset="0"/>
              <a:buChar char="•"/>
            </a:pPr>
            <a:r>
              <a:rPr lang="en-US" sz="2400" dirty="0"/>
              <a:t>ITEM- a specific information.</a:t>
            </a:r>
          </a:p>
          <a:p>
            <a:endParaRPr lang="en-US" sz="2400" dirty="0"/>
          </a:p>
          <a:p>
            <a:pPr algn="just"/>
            <a:r>
              <a:rPr lang="en-US" sz="2400" dirty="0"/>
              <a:t>Objective: Finding the location LOC of the node where ITEM first  </a:t>
            </a:r>
          </a:p>
          <a:p>
            <a:pPr algn="just"/>
            <a:r>
              <a:rPr lang="en-US" sz="2400" dirty="0"/>
              <a:t>                   appears in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682" y="3388659"/>
            <a:ext cx="8926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Here, TWO searching algorithm will be discussed for finding the location of LOC of the node where ITEM first appears in LIST.</a:t>
            </a:r>
          </a:p>
          <a:p>
            <a:pPr marL="342900" indent="-342900" algn="just">
              <a:lnSpc>
                <a:spcPct val="150000"/>
              </a:lnSpc>
              <a:buFont typeface="Arial" charset="0"/>
              <a:buChar char="•"/>
            </a:pPr>
            <a:r>
              <a:rPr lang="en-US" sz="2400" dirty="0">
                <a:solidFill>
                  <a:srgbClr val="0000CC"/>
                </a:solidFill>
              </a:rPr>
              <a:t>Algorithm-1</a:t>
            </a:r>
            <a:r>
              <a:rPr lang="en-US" sz="2400" dirty="0"/>
              <a:t> for LIST is </a:t>
            </a:r>
            <a:r>
              <a:rPr lang="en-US" sz="2400" dirty="0">
                <a:solidFill>
                  <a:srgbClr val="00B0F0"/>
                </a:solidFill>
              </a:rPr>
              <a:t>Unsorted</a:t>
            </a:r>
          </a:p>
          <a:p>
            <a:pPr marL="342900" indent="-342900" algn="just">
              <a:lnSpc>
                <a:spcPct val="150000"/>
              </a:lnSpc>
              <a:buFont typeface="Arial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Algorithm-2</a:t>
            </a:r>
            <a:r>
              <a:rPr lang="en-US" sz="2400" dirty="0"/>
              <a:t> for LIST is </a:t>
            </a:r>
            <a:r>
              <a:rPr lang="en-US" sz="2400" dirty="0">
                <a:solidFill>
                  <a:srgbClr val="7030A0"/>
                </a:solidFill>
              </a:rPr>
              <a:t>Sorted.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5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dirty="0">
                <a:solidFill>
                  <a:srgbClr val="00B050"/>
                </a:solidFill>
              </a:rPr>
              <a:t>Searching Algorithm-1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893" y="564777"/>
                <a:ext cx="9251577" cy="6186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SEARCH (INFO, LINK, START, ITEM, LOC)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[when list is unsorted]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Step1.   Set PTR:=START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Step2.   Repeat Step 3 while PTR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Step3. 	          If ITEM=INFO [PTR], then: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     Set LOC:=PTR, and Exit.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       Else: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     Set LOC:=LINK[PTR]. [PTR now points to the next node.]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          [End of If structure.]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[End of Step 2 loop.]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Step4.  [Search is unsuccessful.] Set LOC:=NULL.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Step5.  Exit.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3" y="564777"/>
                <a:ext cx="9251577" cy="6186309"/>
              </a:xfrm>
              <a:prstGeom prst="rect">
                <a:avLst/>
              </a:prstGeom>
              <a:blipFill rotWithShape="0">
                <a:blip r:embed="rId3"/>
                <a:stretch>
                  <a:fillRect l="-988" r="-329" b="-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39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Searching Algorithm-2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893" y="295837"/>
                <a:ext cx="9198993" cy="5816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0000CC"/>
                    </a:solidFill>
                  </a:rPr>
                  <a:t>SEARCH (INFO, LINK, START, ITEM, LOC) </a:t>
                </a:r>
                <a:r>
                  <a:rPr lang="en-US" sz="2400" b="1" dirty="0">
                    <a:solidFill>
                      <a:srgbClr val="00B050"/>
                    </a:solidFill>
                  </a:rPr>
                  <a:t>[when list is sorted]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Step1.   Set PTR:=START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Step2.   Repeat Step 3 while PTR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≠</m:t>
                    </m:r>
                  </m:oMath>
                </a14:m>
                <a:r>
                  <a:rPr lang="en-US" sz="2400" dirty="0"/>
                  <a:t> NULL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Step3. 	          If ITEM &lt; INFO [PTR], then: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/>
                  <a:t>		     Set PTR:=LINK[PTR] [PTR now points to next node.]</a:t>
                </a:r>
              </a:p>
              <a:p>
                <a:r>
                  <a:rPr lang="en-US" sz="2400" dirty="0"/>
                  <a:t>	          Else if ITEM=INFO[PTR], then:</a:t>
                </a:r>
              </a:p>
              <a:p>
                <a:r>
                  <a:rPr lang="en-US" sz="2400" dirty="0"/>
                  <a:t>		     Set: LOC=PTR. and Exit [Search is successful]</a:t>
                </a:r>
              </a:p>
              <a:p>
                <a:r>
                  <a:rPr lang="en-US" sz="2400" dirty="0"/>
                  <a:t>	         Else:</a:t>
                </a:r>
              </a:p>
              <a:p>
                <a:r>
                  <a:rPr lang="en-US" sz="2400" dirty="0"/>
                  <a:t>		     Set LOC:= NULL, and Exit. [</a:t>
                </a:r>
                <a:r>
                  <a:rPr lang="en-US" sz="2000" dirty="0"/>
                  <a:t>ITEM now exceeds INFO[PTR]</a:t>
                </a:r>
                <a:r>
                  <a:rPr lang="en-US" sz="2400" dirty="0"/>
                  <a:t>]       </a:t>
                </a:r>
              </a:p>
              <a:p>
                <a:r>
                  <a:rPr lang="en-US" sz="2400" dirty="0"/>
                  <a:t>	        [End of If structure.]</a:t>
                </a:r>
              </a:p>
              <a:p>
                <a:r>
                  <a:rPr lang="en-US" sz="2400" dirty="0"/>
                  <a:t>	[End of Step 2 loop.]</a:t>
                </a:r>
              </a:p>
              <a:p>
                <a:r>
                  <a:rPr lang="en-US" sz="2400" dirty="0"/>
                  <a:t>Step4.   Set LOC:=NULL.</a:t>
                </a:r>
              </a:p>
              <a:p>
                <a:r>
                  <a:rPr lang="en-US" sz="2400" dirty="0"/>
                  <a:t>Step5.  Exit.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93" y="295837"/>
                <a:ext cx="9198993" cy="5816977"/>
              </a:xfrm>
              <a:prstGeom prst="rect">
                <a:avLst/>
              </a:prstGeom>
              <a:blipFill rotWithShape="0">
                <a:blip r:embed="rId3"/>
                <a:stretch>
                  <a:fillRect l="-994" b="-1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9"/>
          <p:cNvSpPr/>
          <p:nvPr/>
        </p:nvSpPr>
        <p:spPr>
          <a:xfrm>
            <a:off x="2380128" y="5615272"/>
            <a:ext cx="2649071" cy="1156447"/>
          </a:xfrm>
          <a:prstGeom prst="ellipse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Descending Order Sorted LIST</a:t>
            </a:r>
          </a:p>
        </p:txBody>
      </p:sp>
      <p:sp>
        <p:nvSpPr>
          <p:cNvPr id="11" name="Oval 10"/>
          <p:cNvSpPr/>
          <p:nvPr/>
        </p:nvSpPr>
        <p:spPr>
          <a:xfrm>
            <a:off x="5252280" y="5534590"/>
            <a:ext cx="2990969" cy="13234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Any change in algorithm for Ascending Order Sorted LIST?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835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Searching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82" y="1269246"/>
            <a:ext cx="91171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NB. A binary search algorithm cannot be applied to a sorted linked list.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Since, there is no way of indexing the middle element in the list. </a:t>
            </a:r>
          </a:p>
        </p:txBody>
      </p:sp>
      <p:sp>
        <p:nvSpPr>
          <p:cNvPr id="9" name="Oval Callout 8"/>
          <p:cNvSpPr/>
          <p:nvPr/>
        </p:nvSpPr>
        <p:spPr>
          <a:xfrm>
            <a:off x="4626389" y="4679576"/>
            <a:ext cx="2638034" cy="1244980"/>
          </a:xfrm>
          <a:prstGeom prst="wedgeEllipseCallout">
            <a:avLst>
              <a:gd name="adj1" fmla="val -110195"/>
              <a:gd name="adj2" fmla="val -256944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main drawbacks in using a linked list as </a:t>
            </a:r>
            <a:r>
              <a:rPr lang="en-US">
                <a:solidFill>
                  <a:schemeClr val="tx1"/>
                </a:solidFill>
              </a:rPr>
              <a:t>data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2" y="682892"/>
            <a:ext cx="3254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Limitations: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3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Memory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79445"/>
            <a:ext cx="91440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The maintenance of linked lists in memory assumes the possibility of </a:t>
            </a:r>
            <a:r>
              <a:rPr lang="is-IS" sz="2800" dirty="0"/>
              <a:t>…...</a:t>
            </a:r>
          </a:p>
          <a:p>
            <a:pPr marL="1371600" lvl="2" indent="-457200" algn="just">
              <a:lnSpc>
                <a:spcPct val="150000"/>
              </a:lnSpc>
              <a:buFont typeface="Wingdings" charset="2"/>
              <a:buChar char="v"/>
            </a:pPr>
            <a:r>
              <a:rPr lang="en-US" sz="2800" dirty="0"/>
              <a:t>Inserting new nodes into the lists, and</a:t>
            </a:r>
          </a:p>
          <a:p>
            <a:pPr marL="1371600" lvl="2" indent="-457200" algn="just">
              <a:lnSpc>
                <a:spcPct val="150000"/>
              </a:lnSpc>
              <a:buFont typeface="Wingdings" charset="2"/>
              <a:buChar char="v"/>
            </a:pPr>
            <a:r>
              <a:rPr lang="en-US" sz="2800" dirty="0"/>
              <a:t>Deleting nodes from the list.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 Hence, requires some mechanism which provides:</a:t>
            </a:r>
          </a:p>
          <a:p>
            <a:pPr marL="1371600" lvl="2" indent="-4572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800" u="sng" dirty="0">
                <a:solidFill>
                  <a:srgbClr val="FF0000"/>
                </a:solidFill>
              </a:rPr>
              <a:t>Unused memory space for the new nodes.</a:t>
            </a:r>
          </a:p>
          <a:p>
            <a:pPr marL="1371600" lvl="2" indent="-4572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800" u="sng" dirty="0">
                <a:solidFill>
                  <a:srgbClr val="FF0000"/>
                </a:solidFill>
              </a:rPr>
              <a:t>Deleted nodes becomes available for future use.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276165" y="5889812"/>
            <a:ext cx="4396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6"/>
                </a:solidFill>
              </a:rPr>
              <a:t>To meet the necessities</a:t>
            </a:r>
            <a:r>
              <a:rPr lang="is-IS" sz="2800" b="1" dirty="0">
                <a:solidFill>
                  <a:schemeClr val="accent6"/>
                </a:solidFill>
              </a:rPr>
              <a:t>….....</a:t>
            </a:r>
            <a:endParaRPr lang="en-US" sz="2800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5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Memory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4435"/>
            <a:ext cx="91440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dirty="0"/>
              <a:t>Together with the linked lists in memory, a </a:t>
            </a:r>
            <a:r>
              <a:rPr lang="en-US" sz="3200" u="sng" dirty="0">
                <a:solidFill>
                  <a:srgbClr val="FF0000"/>
                </a:solidFill>
              </a:rPr>
              <a:t>special list is maintained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which consists of unused memory cells.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dirty="0"/>
              <a:t>This list, which has its </a:t>
            </a:r>
            <a:r>
              <a:rPr lang="en-US" sz="3200" u="sng" dirty="0">
                <a:solidFill>
                  <a:srgbClr val="00B0F0"/>
                </a:solidFill>
              </a:rPr>
              <a:t>own pointer</a:t>
            </a:r>
            <a:r>
              <a:rPr lang="en-US" sz="3200" dirty="0"/>
              <a:t>, is called </a:t>
            </a:r>
            <a:r>
              <a:rPr lang="is-IS" sz="3200" dirty="0"/>
              <a:t>…</a:t>
            </a:r>
          </a:p>
          <a:p>
            <a:pPr marL="1200150" lvl="2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b="1" i="1" u="sng" dirty="0">
                <a:solidFill>
                  <a:srgbClr val="00B050"/>
                </a:solidFill>
              </a:rPr>
              <a:t>The list of available space</a:t>
            </a:r>
            <a:r>
              <a:rPr lang="en-US" sz="3200" i="1" dirty="0">
                <a:solidFill>
                  <a:srgbClr val="00B0F0"/>
                </a:solidFill>
              </a:rPr>
              <a:t> </a:t>
            </a:r>
            <a:r>
              <a:rPr lang="en-US" sz="3200" dirty="0">
                <a:solidFill>
                  <a:srgbClr val="00B0F0"/>
                </a:solidFill>
              </a:rPr>
              <a:t> </a:t>
            </a:r>
            <a:r>
              <a:rPr lang="en-US" sz="3200" dirty="0"/>
              <a:t>or </a:t>
            </a:r>
          </a:p>
          <a:p>
            <a:pPr marL="1200150" lvl="2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i="1" u="sng" dirty="0">
                <a:solidFill>
                  <a:srgbClr val="FF0000"/>
                </a:solidFill>
              </a:rPr>
              <a:t>the  free-storage </a:t>
            </a:r>
            <a:r>
              <a:rPr lang="en-US" sz="3200" i="1" dirty="0">
                <a:solidFill>
                  <a:srgbClr val="FF0000"/>
                </a:solidFill>
              </a:rPr>
              <a:t>list </a:t>
            </a:r>
            <a:r>
              <a:rPr lang="en-US" sz="3200" dirty="0"/>
              <a:t>or</a:t>
            </a:r>
          </a:p>
          <a:p>
            <a:pPr marL="1200150" lvl="2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i="1" u="sng" dirty="0">
                <a:solidFill>
                  <a:srgbClr val="7030A0"/>
                </a:solidFill>
              </a:rPr>
              <a:t>the free pool</a:t>
            </a:r>
            <a:r>
              <a:rPr lang="en-US" sz="3200" i="1" dirty="0">
                <a:solidFill>
                  <a:srgbClr val="00B0F0"/>
                </a:solidFill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9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Memory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64435"/>
            <a:ext cx="9144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dirty="0"/>
              <a:t>Here, linked lists are implemented by parallel arrays.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dirty="0"/>
              <a:t>Suppose </a:t>
            </a:r>
            <a:r>
              <a:rPr lang="en-US" sz="3200" b="1" u="sng" dirty="0">
                <a:solidFill>
                  <a:srgbClr val="0000CC"/>
                </a:solidFill>
              </a:rPr>
              <a:t>INSERTIONS</a:t>
            </a:r>
            <a:r>
              <a:rPr lang="en-US" sz="3200" dirty="0"/>
              <a:t> and </a:t>
            </a:r>
            <a:r>
              <a:rPr lang="en-US" sz="3200" b="1" u="sng" dirty="0">
                <a:solidFill>
                  <a:srgbClr val="00B050"/>
                </a:solidFill>
              </a:rPr>
              <a:t>DELETIONS</a:t>
            </a:r>
            <a:r>
              <a:rPr lang="en-US" sz="3200" dirty="0"/>
              <a:t> are to be performed on our linked lists.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3200" dirty="0"/>
              <a:t>Then </a:t>
            </a:r>
            <a:r>
              <a:rPr lang="en-US" sz="3200" u="sng" dirty="0">
                <a:solidFill>
                  <a:schemeClr val="accent2">
                    <a:lumMod val="75000"/>
                  </a:schemeClr>
                </a:solidFill>
              </a:rPr>
              <a:t>the unused memory cells in the arrays </a:t>
            </a:r>
            <a:r>
              <a:rPr lang="en-US" sz="3200" dirty="0"/>
              <a:t>will also be linked together to form a linked list using </a:t>
            </a:r>
            <a:r>
              <a:rPr lang="en-US" sz="3200" b="1" dirty="0"/>
              <a:t>AVAIL </a:t>
            </a:r>
            <a:r>
              <a:rPr lang="en-US" sz="3200" dirty="0"/>
              <a:t>as its list pointer variable.</a:t>
            </a:r>
          </a:p>
          <a:p>
            <a:pPr algn="ctr">
              <a:lnSpc>
                <a:spcPct val="150000"/>
              </a:lnSpc>
            </a:pPr>
            <a:r>
              <a:rPr lang="en-US" sz="3200" b="1" dirty="0"/>
              <a:t>LIST(INFO, LINK, START, AVAIL)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5.10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" t="3328" r="1845" b="10623"/>
          <a:stretch/>
        </p:blipFill>
        <p:spPr>
          <a:xfrm>
            <a:off x="-1" y="954741"/>
            <a:ext cx="4253661" cy="50078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14"/>
          <a:stretch/>
        </p:blipFill>
        <p:spPr>
          <a:xfrm>
            <a:off x="4202442" y="879633"/>
            <a:ext cx="4477398" cy="5082988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11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5.11(a)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27"/>
          <a:stretch/>
        </p:blipFill>
        <p:spPr>
          <a:xfrm>
            <a:off x="67235" y="682892"/>
            <a:ext cx="4397189" cy="59585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871" y="682892"/>
            <a:ext cx="4529653" cy="595855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46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5.11(b)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77573" y="529004"/>
            <a:ext cx="6064622" cy="2523478"/>
          </a:xfrm>
          <a:prstGeom prst="rect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2"/>
          <a:stretch/>
        </p:blipFill>
        <p:spPr>
          <a:xfrm rot="10800000">
            <a:off x="369896" y="3119718"/>
            <a:ext cx="8185358" cy="373828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97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4154" y="529004"/>
            <a:ext cx="4400564" cy="617763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5.11(c)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" t="2181" r="9848"/>
          <a:stretch/>
        </p:blipFill>
        <p:spPr>
          <a:xfrm>
            <a:off x="26896" y="564776"/>
            <a:ext cx="4257132" cy="602924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6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Example 5.12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25117"/>
            <a:ext cx="9007524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Suppose LIST(INFO, LINK, START, AVAIL) has memory space for n=5 nodes,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Furthermore, suppose LIST is initially empty.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			</a:t>
            </a:r>
            <a:r>
              <a:rPr lang="en-US" sz="2800" b="1" dirty="0">
                <a:solidFill>
                  <a:srgbClr val="0000CC"/>
                </a:solidFill>
              </a:rPr>
              <a:t>Your  INSTATNT Task</a:t>
            </a:r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500" b="1" dirty="0">
                <a:solidFill>
                  <a:srgbClr val="00B050"/>
                </a:solidFill>
              </a:rPr>
              <a:t>Show the LINKED LIST which consists of START, AVAIL, INFO, LINK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7" t="1961" r="4116" b="10980"/>
          <a:stretch/>
        </p:blipFill>
        <p:spPr>
          <a:xfrm>
            <a:off x="2540673" y="2564109"/>
            <a:ext cx="4006860" cy="4293891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1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Garbage Collection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9588"/>
            <a:ext cx="4760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Time </a:t>
            </a:r>
            <a:r>
              <a:rPr lang="en-US" sz="2400" b="1">
                <a:solidFill>
                  <a:srgbClr val="0000CC"/>
                </a:solidFill>
              </a:rPr>
              <a:t>Consuming Method for OS: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1201253"/>
            <a:ext cx="47602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00CC"/>
                </a:solidFill>
              </a:rPr>
              <a:t>Time Efficient Method for OS: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662918"/>
            <a:ext cx="90075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The OS of a computer may periodically collect all the deleted space onto the free-space list. Any technique which does this collection is called </a:t>
            </a:r>
            <a:r>
              <a:rPr lang="en-US" sz="2800" i="1" dirty="0">
                <a:solidFill>
                  <a:srgbClr val="00B050"/>
                </a:solidFill>
              </a:rPr>
              <a:t>garbage collection</a:t>
            </a:r>
            <a:r>
              <a:rPr lang="en-US" sz="2800" i="1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800" i="1" dirty="0"/>
              <a:t>Garbage Collection </a:t>
            </a:r>
            <a:r>
              <a:rPr lang="en-US" sz="2800" dirty="0"/>
              <a:t>usually takes place in </a:t>
            </a:r>
            <a:r>
              <a:rPr lang="en-US" sz="2800" b="1" dirty="0">
                <a:solidFill>
                  <a:srgbClr val="FF0000"/>
                </a:solidFill>
              </a:rPr>
              <a:t>TWO</a:t>
            </a:r>
            <a:r>
              <a:rPr lang="en-US" sz="2800" dirty="0"/>
              <a:t> steps</a:t>
            </a:r>
            <a:r>
              <a:rPr lang="en-US" sz="2800" i="1" dirty="0"/>
              <a:t>: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Firstly, the Computer runs through the memory, tagging those cells which are currently in use, and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en-US" sz="2800" dirty="0"/>
              <a:t>Then, computer runs through the memory, collecting all untagged space onto the free-storage list.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Garbage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605948"/>
            <a:ext cx="8393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CC"/>
                </a:solidFill>
              </a:rPr>
              <a:t>When garbage collection task executed </a:t>
            </a:r>
            <a:r>
              <a:rPr lang="en-US" sz="2800" b="1">
                <a:solidFill>
                  <a:srgbClr val="0000CC"/>
                </a:solidFill>
              </a:rPr>
              <a:t>by Computer?</a:t>
            </a:r>
            <a:endParaRPr lang="en-US" sz="2800" b="1" dirty="0">
              <a:solidFill>
                <a:srgbClr val="0000CC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021978"/>
            <a:ext cx="90075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00B050"/>
                </a:solidFill>
              </a:rPr>
              <a:t>The garbage collection may take place when </a:t>
            </a:r>
            <a:r>
              <a:rPr lang="is-IS" sz="2400" b="1" dirty="0">
                <a:solidFill>
                  <a:srgbClr val="00B050"/>
                </a:solidFill>
              </a:rPr>
              <a:t>…....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b="1" dirty="0">
                <a:solidFill>
                  <a:srgbClr val="7030A0"/>
                </a:solidFill>
              </a:rPr>
              <a:t>There is only some minimum amount of space in the free-storage list, or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There is no space at all left in the free-storage list, or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b="1" dirty="0">
                <a:solidFill>
                  <a:schemeClr val="accent5"/>
                </a:solidFill>
              </a:rPr>
              <a:t>When the CPU is idle and has time to do the collection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53790" y="4679576"/>
            <a:ext cx="1048870" cy="887506"/>
          </a:xfrm>
          <a:prstGeom prst="smileyFac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048872" y="4854387"/>
            <a:ext cx="8041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The garbage collection is invisible to </a:t>
            </a:r>
            <a:r>
              <a:rPr lang="en-US" sz="2800" b="1">
                <a:solidFill>
                  <a:srgbClr val="FF0000"/>
                </a:solidFill>
              </a:rPr>
              <a:t>the programmer 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19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0682" y="-26893"/>
            <a:ext cx="7073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Overflow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57882"/>
            <a:ext cx="914400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Sometimes new data are to be inserted into a data structure but there is no available space (the free-storage list is empty).</a:t>
            </a:r>
          </a:p>
          <a:p>
            <a:pPr algn="just"/>
            <a:r>
              <a:rPr lang="en-US" sz="2800" dirty="0"/>
              <a:t>This situation is usually called </a:t>
            </a:r>
            <a:r>
              <a:rPr lang="en-US" sz="2800" b="1" i="1" dirty="0">
                <a:solidFill>
                  <a:srgbClr val="0000CC"/>
                </a:solidFill>
              </a:rPr>
              <a:t>Overflow.</a:t>
            </a:r>
            <a:r>
              <a:rPr lang="en-US" sz="2800" dirty="0"/>
              <a:t> 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b="1" dirty="0">
                <a:solidFill>
                  <a:srgbClr val="00B050"/>
                </a:solidFill>
              </a:rPr>
              <a:t>Usually, Overflow will occur with our linked list when </a:t>
            </a:r>
            <a:r>
              <a:rPr lang="en-US" sz="2800" b="1" dirty="0">
                <a:solidFill>
                  <a:srgbClr val="FF0000"/>
                </a:solidFill>
              </a:rPr>
              <a:t>AVAIL=NULL</a:t>
            </a:r>
            <a:r>
              <a:rPr lang="en-US" sz="2800" b="1" dirty="0">
                <a:solidFill>
                  <a:srgbClr val="00B050"/>
                </a:solidFill>
              </a:rPr>
              <a:t> and </a:t>
            </a:r>
            <a:r>
              <a:rPr lang="en-US" sz="2800" b="1" dirty="0">
                <a:solidFill>
                  <a:srgbClr val="FF0000"/>
                </a:solidFill>
              </a:rPr>
              <a:t>there is an insertion.</a:t>
            </a:r>
          </a:p>
          <a:p>
            <a:pPr algn="just"/>
            <a:endParaRPr lang="en-US" sz="2800" dirty="0"/>
          </a:p>
          <a:p>
            <a:pPr algn="ctr"/>
            <a:r>
              <a:rPr lang="en-US" sz="2800" b="1" i="1" dirty="0">
                <a:solidFill>
                  <a:srgbClr val="FF0000"/>
                </a:solidFill>
              </a:rPr>
              <a:t>How we can handle Overflow situation?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We may handle the </a:t>
            </a:r>
            <a:r>
              <a:rPr lang="en-US" sz="2400" i="1" dirty="0"/>
              <a:t>Overflow</a:t>
            </a:r>
            <a:r>
              <a:rPr lang="en-US" sz="2400" dirty="0"/>
              <a:t> situation by</a:t>
            </a:r>
            <a:r>
              <a:rPr lang="is-IS" sz="2400" dirty="0"/>
              <a:t>….......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is-IS" sz="2400" dirty="0"/>
              <a:t>Printing the message </a:t>
            </a:r>
            <a:r>
              <a:rPr lang="is-IS" sz="2400" b="1" dirty="0"/>
              <a:t>OVERFLOW</a:t>
            </a:r>
            <a:endParaRPr lang="is-IS" sz="2400" dirty="0"/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is-IS" sz="2400" dirty="0"/>
              <a:t>We may modify the program by adding space to the underlying arrays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38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70731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Underflow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82" y="638564"/>
            <a:ext cx="892684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Sometime someone wants to delete data from a data structure where the data structure is empty. This situation is usually called </a:t>
            </a:r>
            <a:r>
              <a:rPr lang="en-US" sz="2400" b="1" dirty="0">
                <a:solidFill>
                  <a:srgbClr val="00B050"/>
                </a:solidFill>
              </a:rPr>
              <a:t>Underflow</a:t>
            </a:r>
            <a:r>
              <a:rPr lang="en-US" sz="2400" dirty="0"/>
              <a:t>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>
                <a:solidFill>
                  <a:srgbClr val="00B050"/>
                </a:solidFill>
              </a:rPr>
              <a:t>Usually, underflow will occur with our linked lists when </a:t>
            </a:r>
            <a:r>
              <a:rPr lang="en-US" sz="2400" dirty="0">
                <a:solidFill>
                  <a:srgbClr val="FF0000"/>
                </a:solidFill>
              </a:rPr>
              <a:t>START=NULL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50"/>
                </a:solidFill>
              </a:rPr>
              <a:t>and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there is a deletion.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  <a:p>
            <a:pPr algn="ctr"/>
            <a:r>
              <a:rPr lang="en-US" sz="3200" b="1" i="1" dirty="0">
                <a:solidFill>
                  <a:srgbClr val="FF0000"/>
                </a:solidFill>
              </a:rPr>
              <a:t>How we can handle Underflow situation?</a:t>
            </a:r>
          </a:p>
          <a:p>
            <a:pPr algn="just">
              <a:lnSpc>
                <a:spcPct val="150000"/>
              </a:lnSpc>
            </a:pP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We may handle the </a:t>
            </a:r>
            <a:r>
              <a:rPr lang="en-US" sz="2400" i="1" dirty="0"/>
              <a:t>Overflow</a:t>
            </a:r>
            <a:r>
              <a:rPr lang="en-US" sz="2400" dirty="0"/>
              <a:t> situation by</a:t>
            </a:r>
            <a:r>
              <a:rPr lang="is-IS" sz="2400" dirty="0"/>
              <a:t>….......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ü"/>
            </a:pPr>
            <a:r>
              <a:rPr lang="is-IS" sz="2400" dirty="0"/>
              <a:t>Printing the message UNDERFLOW</a:t>
            </a:r>
          </a:p>
          <a:p>
            <a:pPr algn="just"/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949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6" r="36947" b="3421"/>
          <a:stretch/>
        </p:blipFill>
        <p:spPr>
          <a:xfrm rot="16200000">
            <a:off x="3485066" y="-21097"/>
            <a:ext cx="2475778" cy="8569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37" b="3421"/>
          <a:stretch/>
        </p:blipFill>
        <p:spPr>
          <a:xfrm rot="16200000">
            <a:off x="3854375" y="-2309500"/>
            <a:ext cx="1873632" cy="87056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4776"/>
            <a:ext cx="9007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Let LIST be a linked list with successive nodes A and B. Suppose, a node N is to be inserted into the list between nodes A and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2" y="5353447"/>
            <a:ext cx="9063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FF0000"/>
                </a:solidFill>
              </a:rPr>
              <a:t>Here, it does not take into account the memory space for the new node N will come from the AVAIL list. </a:t>
            </a:r>
          </a:p>
          <a:p>
            <a:pPr algn="just"/>
            <a:r>
              <a:rPr lang="en-US" sz="2400" dirty="0">
                <a:solidFill>
                  <a:srgbClr val="00B050"/>
                </a:solidFill>
              </a:rPr>
              <a:t>But</a:t>
            </a:r>
            <a:r>
              <a:rPr lang="is-IS" sz="2400" dirty="0">
                <a:solidFill>
                  <a:srgbClr val="00B050"/>
                </a:solidFill>
              </a:rPr>
              <a:t>…..for easier processing, the first node in the AVAIL will be used for the new node N.</a:t>
            </a: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7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67" r="5836"/>
          <a:stretch/>
        </p:blipFill>
        <p:spPr>
          <a:xfrm rot="16200000">
            <a:off x="3031312" y="-2036227"/>
            <a:ext cx="3052482" cy="900752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0681" y="529004"/>
            <a:ext cx="65105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More exact Illustration </a:t>
            </a:r>
            <a:r>
              <a:rPr lang="en-US" sz="2400" b="1">
                <a:solidFill>
                  <a:srgbClr val="00B050"/>
                </a:solidFill>
              </a:rPr>
              <a:t>of such an insertion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81" y="4087906"/>
            <a:ext cx="89268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Here, THREE pointer fields are changed: ???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Which are?</a:t>
            </a:r>
          </a:p>
          <a:p>
            <a:pPr marL="342900" indent="-342900">
              <a:buFont typeface="Wingdings" charset="2"/>
              <a:buChar char="Ø"/>
            </a:pPr>
            <a:r>
              <a:rPr lang="en-US" sz="2400" dirty="0"/>
              <a:t>The nextpointer field of node A now points to the new node N.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AVAIL now points to the second node in the free pool.</a:t>
            </a:r>
          </a:p>
          <a:p>
            <a:pPr marL="342900" indent="-342900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The nextpointer field of node N now point to node B.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523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0682" y="-26893"/>
            <a:ext cx="636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LINKED LISTS: </a:t>
            </a:r>
            <a:r>
              <a:rPr lang="en-US" sz="3200" b="1" dirty="0">
                <a:solidFill>
                  <a:srgbClr val="00B050"/>
                </a:solidFill>
              </a:rPr>
              <a:t>Insertion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82" y="1539517"/>
            <a:ext cx="89268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There are also TWO special cases: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If the new node N is the first node in the list, then START will point to N, and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en-US" sz="2400" dirty="0"/>
              <a:t>If the new node is the last node in the list, then N will contain the null pointer.</a:t>
            </a:r>
          </a:p>
          <a:p>
            <a:pPr marL="800100" lvl="1" indent="-342900" algn="just">
              <a:lnSpc>
                <a:spcPct val="150000"/>
              </a:lnSpc>
              <a:buFont typeface="Wingdings" charset="2"/>
              <a:buChar char="Ø"/>
            </a:pP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36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40966" y="2774224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86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2872</TotalTime>
  <Words>967</Words>
  <Application>Microsoft Office PowerPoint</Application>
  <PresentationFormat>On-screen Show (4:3)</PresentationFormat>
  <Paragraphs>148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Office Theme</vt:lpstr>
      <vt:lpstr>Slipstream</vt:lpstr>
      <vt:lpstr>3_Office Theme</vt:lpstr>
      <vt:lpstr>Data Structures  ICT-1211  Information and Communication Technology</vt:lpstr>
      <vt:lpstr> Linked Lists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325</cp:revision>
  <dcterms:created xsi:type="dcterms:W3CDTF">2016-12-28T08:52:04Z</dcterms:created>
  <dcterms:modified xsi:type="dcterms:W3CDTF">2025-07-30T08:26:15Z</dcterms:modified>
</cp:coreProperties>
</file>