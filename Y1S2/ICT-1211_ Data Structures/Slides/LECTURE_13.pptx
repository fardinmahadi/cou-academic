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9"/>
  </p:notesMasterIdLst>
  <p:sldIdLst>
    <p:sldId id="345" r:id="rId4"/>
    <p:sldId id="416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5" r:id="rId16"/>
    <p:sldId id="393" r:id="rId17"/>
    <p:sldId id="41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9" autoAdjust="0"/>
    <p:restoredTop sz="92153" autoAdjust="0"/>
  </p:normalViewPr>
  <p:slideViewPr>
    <p:cSldViewPr snapToGrid="0">
      <p:cViewPr varScale="1">
        <p:scale>
          <a:sx n="68" d="100"/>
          <a:sy n="68" d="100"/>
        </p:scale>
        <p:origin x="-122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19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689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499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646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95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31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10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87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394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464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54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364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267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043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63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950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750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281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396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308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927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582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568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26/09/2024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3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9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26/09/2024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75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Lecture-13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//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170076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61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Inserting at the Beginning </a:t>
            </a:r>
            <a:r>
              <a:rPr lang="is-IS" sz="3200" b="1" dirty="0">
                <a:solidFill>
                  <a:srgbClr val="00B050"/>
                </a:solidFill>
              </a:rPr>
              <a:t>….</a:t>
            </a:r>
            <a:r>
              <a:rPr lang="en-US" sz="3200" b="1" dirty="0">
                <a:solidFill>
                  <a:srgbClr val="00B050"/>
                </a:solidFill>
              </a:rPr>
              <a:t>ALG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39588"/>
            <a:ext cx="91440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INSFIRST (INFO, LINK, START, AVAIL,ITEM)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[OVERFLOW?] If AVAIL=NULL, then Write: OVERFLOW, and Exit.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[Remove first node from AVAIL list.]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Set NEW:=AVAIL and AVAIL:=LINK[AVAIL]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Set INFO[NEW]:=ITEM.[Copies new data into new node.]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Set LINK[NEW]:=START.[New Node now points to original first node.]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Set START:=NEW. [Change START so it points to the new node.]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Exit.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4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323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323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F43E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F43E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EE9E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EE9E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Inserting at the Beginning </a:t>
            </a:r>
            <a:r>
              <a:rPr lang="is-IS" sz="3200" b="1" dirty="0">
                <a:solidFill>
                  <a:srgbClr val="00B050"/>
                </a:solidFill>
              </a:rPr>
              <a:t>….</a:t>
            </a:r>
            <a:r>
              <a:rPr lang="en-US" sz="3200" b="1" dirty="0" err="1">
                <a:solidFill>
                  <a:srgbClr val="00B050"/>
                </a:solidFill>
              </a:rPr>
              <a:t>Exmp</a:t>
            </a:r>
            <a:endParaRPr lang="en-US" sz="3200" b="1" dirty="0">
              <a:solidFill>
                <a:srgbClr val="00B05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9" y="682892"/>
            <a:ext cx="4260712" cy="595855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781" y="642514"/>
            <a:ext cx="4629743" cy="6039308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2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7895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Inserting after a given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39588"/>
            <a:ext cx="9144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INSLOC (INFO, LINK, START, AVAIL, LOC, ITEM)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[OVERFLOW?] If AVAIL=NULL, then Write: OVERFLOW, and Exit.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[Remove first node from AVAIL list.]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Set NEW:=AVAIL and AVAIL:=LINK[AVAIL]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Set INFO[NEW]:=ITEM.[Copies new data into new node.]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If LOC=NULL, then [Insert as first node.]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     </a:t>
            </a:r>
            <a:r>
              <a:rPr lang="en-US" sz="2400" dirty="0">
                <a:solidFill>
                  <a:srgbClr val="0000CC"/>
                </a:solidFill>
              </a:rPr>
              <a:t>Set LINK[NEW]:=START and START:=NEW.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Else: [Insert after node with location LOC.]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     </a:t>
            </a:r>
            <a:r>
              <a:rPr lang="en-US" sz="2400" dirty="0">
                <a:solidFill>
                  <a:srgbClr val="0000CC"/>
                </a:solidFill>
              </a:rPr>
              <a:t>Set LINK[NEW]:=LINK[LOC] and LINK[LOC]:=NEW.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[END if If structure.]</a:t>
            </a: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en-US" sz="2400" dirty="0"/>
              <a:t>Exit.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323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E3237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DD05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A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Inserting into a Sorted Linked List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22977" y="1465727"/>
            <a:ext cx="2528047" cy="1142999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B050"/>
                </a:solidFill>
              </a:rPr>
              <a:t>Given 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5580" y="1739158"/>
            <a:ext cx="1297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82" y="2608726"/>
            <a:ext cx="89268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</a:rPr>
              <a:t>ITEM</a:t>
            </a:r>
            <a:r>
              <a:rPr lang="en-US" sz="2400" dirty="0"/>
              <a:t> must be inserted between nodes A and B so that</a:t>
            </a:r>
          </a:p>
          <a:p>
            <a:pPr algn="ctr">
              <a:lnSpc>
                <a:spcPct val="150000"/>
              </a:lnSpc>
            </a:pPr>
            <a:r>
              <a:rPr lang="en-US" sz="2400" b="1" dirty="0"/>
              <a:t>INFO[A] &lt; </a:t>
            </a:r>
            <a:r>
              <a:rPr lang="en-US" sz="2400" b="1" dirty="0">
                <a:solidFill>
                  <a:srgbClr val="FF0000"/>
                </a:solidFill>
              </a:rPr>
              <a:t>ITEM </a:t>
            </a:r>
            <a:r>
              <a:rPr lang="en-US" sz="2400" b="1" dirty="0"/>
              <a:t>&lt;= INFO[B]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41" y="3790002"/>
            <a:ext cx="8807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Thus,</a:t>
            </a:r>
          </a:p>
          <a:p>
            <a:pPr marL="342900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 Firstly we should write an Algorithm to find the location, LOC, where is suitable to insert the </a:t>
            </a:r>
            <a:r>
              <a:rPr lang="en-US" sz="2400" b="1" dirty="0">
                <a:solidFill>
                  <a:srgbClr val="FF0000"/>
                </a:solidFill>
              </a:rPr>
              <a:t>ITEM </a:t>
            </a:r>
            <a:r>
              <a:rPr lang="en-US" sz="2400" dirty="0"/>
              <a:t>in the sorted linked list.</a:t>
            </a:r>
          </a:p>
          <a:p>
            <a:pPr marL="342900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Secondly, we have to write the algorithm to insert to the found Location.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1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Find LOC in a Sorted Linked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0682" y="353269"/>
                <a:ext cx="9063318" cy="6647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b="1" dirty="0"/>
                  <a:t>FINDA(INFO, LINK, START, ITEM, LOC</a:t>
                </a:r>
                <a:r>
                  <a:rPr lang="en-US" sz="2400" b="1" dirty="0"/>
                  <a:t>)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sz="2400" dirty="0"/>
                  <a:t>[List empty?] If START=NULL, then Set LOC:=NULL, and Return.</a:t>
                </a:r>
              </a:p>
              <a:p>
                <a:pPr marL="457200" indent="-457200" algn="just">
                  <a:buAutoNum type="arabicPeriod"/>
                </a:pPr>
                <a:r>
                  <a:rPr lang="en-US" sz="2400" dirty="0"/>
                  <a:t>[Special Case?] If ITEM&lt;INFO[START], then: Set LOC:=NULL, and, Return.</a:t>
                </a:r>
              </a:p>
              <a:p>
                <a:pPr marL="457200" indent="-457200" algn="just">
                  <a:lnSpc>
                    <a:spcPct val="150000"/>
                  </a:lnSpc>
                  <a:buAutoNum type="arabicPeriod"/>
                </a:pPr>
                <a:r>
                  <a:rPr lang="en-US" sz="2400" dirty="0"/>
                  <a:t>Set SAVE:=START and PTR:=LINK[START].[Initialize pointers]</a:t>
                </a:r>
              </a:p>
              <a:p>
                <a:pPr marL="457200" indent="-457200" algn="just">
                  <a:lnSpc>
                    <a:spcPct val="150000"/>
                  </a:lnSpc>
                  <a:buAutoNum type="arabicPeriod"/>
                </a:pPr>
                <a:r>
                  <a:rPr lang="en-US" sz="2400" dirty="0"/>
                  <a:t>Repeat Steps 5 and 6  while PTR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/>
                  <a:t> NULL.</a:t>
                </a:r>
              </a:p>
              <a:p>
                <a:pPr marL="457200" indent="-457200" algn="just">
                  <a:lnSpc>
                    <a:spcPct val="150000"/>
                  </a:lnSpc>
                  <a:buAutoNum type="arabicPeriod"/>
                </a:pPr>
                <a:r>
                  <a:rPr lang="en-US" sz="2400" dirty="0"/>
                  <a:t>If ITEM&lt;INFO[PTR], then: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400" dirty="0"/>
                  <a:t>      Set LOC:=SAVE, and Return.</a:t>
                </a:r>
              </a:p>
              <a:p>
                <a:pPr lvl="1" algn="just"/>
                <a:r>
                  <a:rPr lang="en-US" sz="2400" dirty="0"/>
                  <a:t>[End of If structure]</a:t>
                </a:r>
              </a:p>
              <a:p>
                <a:pPr marL="66675" lvl="1" indent="-53975" algn="just">
                  <a:lnSpc>
                    <a:spcPct val="150000"/>
                  </a:lnSpc>
                </a:pPr>
                <a:r>
                  <a:rPr lang="en-US" sz="2400" dirty="0"/>
                  <a:t>6. Set SAVE:=PTR and PTR:=LINK[PTR]. [Update pointers.]</a:t>
                </a:r>
              </a:p>
              <a:p>
                <a:pPr marL="66675" lvl="1" indent="-53975" algn="just"/>
                <a:r>
                  <a:rPr lang="en-US" sz="2400" dirty="0"/>
                  <a:t>      [End of Step 4 loop.]</a:t>
                </a:r>
              </a:p>
              <a:p>
                <a:pPr marL="66675" lvl="1" indent="-53975" algn="just">
                  <a:lnSpc>
                    <a:spcPct val="150000"/>
                  </a:lnSpc>
                </a:pPr>
                <a:r>
                  <a:rPr lang="en-US" sz="2400" dirty="0"/>
                  <a:t>7. Set LOC:= SAVE.</a:t>
                </a:r>
              </a:p>
              <a:p>
                <a:pPr marL="66675" lvl="1" indent="-53975" algn="just">
                  <a:lnSpc>
                    <a:spcPct val="150000"/>
                  </a:lnSpc>
                </a:pPr>
                <a:r>
                  <a:rPr lang="en-US" sz="2400" dirty="0"/>
                  <a:t>8. Return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2" y="353269"/>
                <a:ext cx="9063318" cy="6647974"/>
              </a:xfrm>
              <a:prstGeom prst="rect">
                <a:avLst/>
              </a:prstGeom>
              <a:blipFill rotWithShape="0">
                <a:blip r:embed="rId3"/>
                <a:stretch>
                  <a:fillRect l="-1345" r="-1076" b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55536" y="3168469"/>
            <a:ext cx="1475813" cy="5903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0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0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8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0" dur="2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 ITEM into a Sorted Linked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82" y="739588"/>
            <a:ext cx="892684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INSSRT(INFO, LINK, START, AVAIL, ITEM)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/>
              <a:t>[Use </a:t>
            </a:r>
            <a:r>
              <a:rPr lang="en-US" sz="2400" b="1" dirty="0"/>
              <a:t>FINDA(INFO, LINK, START, ITEM, LOC</a:t>
            </a:r>
            <a:r>
              <a:rPr lang="en-US" sz="2000" b="1" dirty="0"/>
              <a:t>)</a:t>
            </a:r>
            <a:r>
              <a:rPr lang="en-US" sz="2000" dirty="0"/>
              <a:t> </a:t>
            </a:r>
            <a:r>
              <a:rPr lang="en-US" sz="2400" dirty="0"/>
              <a:t>to find the location of the proceeding ITEM]</a:t>
            </a:r>
          </a:p>
          <a:p>
            <a:pPr marL="457200" indent="-457200" algn="just">
              <a:lnSpc>
                <a:spcPct val="150000"/>
              </a:lnSpc>
              <a:buFontTx/>
              <a:buAutoNum type="arabicPeriod"/>
            </a:pPr>
            <a:r>
              <a:rPr lang="en-US" sz="2400" dirty="0"/>
              <a:t>Use </a:t>
            </a:r>
            <a:r>
              <a:rPr lang="en-US" sz="2400" b="1" dirty="0"/>
              <a:t>INSLOC (INFO, LINK, START, AVAIL, LOC, ITEM) </a:t>
            </a:r>
            <a:r>
              <a:rPr lang="en-US" sz="2400" dirty="0"/>
              <a:t>to insert ITEM after the node with location LOC.]</a:t>
            </a:r>
            <a:endParaRPr lang="en-US" sz="2000" b="1" dirty="0"/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/>
              <a:t>Exit.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87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Deletion from a Linked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21629"/>
            <a:ext cx="9007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Let LIST be a linked list with a node N between nodes A and B.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34"/>
          <a:stretch/>
        </p:blipFill>
        <p:spPr>
          <a:xfrm rot="16200000">
            <a:off x="3400308" y="-2052568"/>
            <a:ext cx="2172427" cy="881168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2" r="43497"/>
          <a:stretch/>
        </p:blipFill>
        <p:spPr>
          <a:xfrm rot="16200000">
            <a:off x="3407827" y="245096"/>
            <a:ext cx="2191870" cy="880172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0681" y="5970494"/>
            <a:ext cx="88116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Here we don</a:t>
            </a:r>
            <a:r>
              <a:rPr lang="uk-UA" sz="2400" dirty="0">
                <a:solidFill>
                  <a:srgbClr val="FF0000"/>
                </a:solidFill>
              </a:rPr>
              <a:t>’</a:t>
            </a:r>
            <a:r>
              <a:rPr lang="en-US" sz="2400" dirty="0">
                <a:solidFill>
                  <a:srgbClr val="FF0000"/>
                </a:solidFill>
              </a:rPr>
              <a:t>t care about the future of the deleted nodes of the linked list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6"/>
          <a:stretch/>
        </p:blipFill>
        <p:spPr>
          <a:xfrm rot="16200000">
            <a:off x="2374525" y="-1204802"/>
            <a:ext cx="3946883" cy="8090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Deletion from a Linked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6860"/>
            <a:ext cx="7463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CC"/>
                </a:solidFill>
              </a:rPr>
              <a:t>More </a:t>
            </a:r>
            <a:r>
              <a:rPr lang="en-US" sz="2800" b="1">
                <a:solidFill>
                  <a:srgbClr val="0000CC"/>
                </a:solidFill>
              </a:rPr>
              <a:t>Exact procedure: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82" y="4814048"/>
            <a:ext cx="4395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Three pointer fields </a:t>
            </a:r>
            <a:r>
              <a:rPr lang="en-US" sz="2400" b="1">
                <a:solidFill>
                  <a:srgbClr val="00B050"/>
                </a:solidFill>
              </a:rPr>
              <a:t>are changed: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82" y="5244353"/>
            <a:ext cx="9063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en-US" sz="2400" dirty="0"/>
              <a:t>The nextpointer field of node A now points to node B.</a:t>
            </a:r>
          </a:p>
          <a:p>
            <a:pPr marL="285750" indent="-285750">
              <a:buFont typeface="Wingdings" charset="2"/>
              <a:buChar char="Ø"/>
            </a:pPr>
            <a:r>
              <a:rPr lang="en-US" sz="2400" dirty="0"/>
              <a:t>The nextpointer field of N now points to the original first node in the free pool.</a:t>
            </a:r>
          </a:p>
          <a:p>
            <a:pPr marL="285750" indent="-285750">
              <a:buFont typeface="Wingdings" charset="2"/>
              <a:buChar char="Ø"/>
            </a:pPr>
            <a:r>
              <a:rPr lang="en-US" sz="2400" dirty="0"/>
              <a:t>AVAIL now points to the deleted node N.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0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Deletion from a Linked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900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There are also </a:t>
            </a:r>
            <a:r>
              <a:rPr lang="en-US" sz="2400" b="1">
                <a:solidFill>
                  <a:srgbClr val="0000CC"/>
                </a:solidFill>
              </a:rPr>
              <a:t>TWO special cases: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34"/>
          <a:stretch/>
        </p:blipFill>
        <p:spPr>
          <a:xfrm rot="16200000">
            <a:off x="3400308" y="-2234725"/>
            <a:ext cx="2172427" cy="881168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0" y="3442447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If the deleted node N is the first node in the list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START will point to the node B</a:t>
            </a:r>
          </a:p>
          <a:p>
            <a:pPr marL="342900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If the deleted node N is the last node in the list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Node A will contain the NULL pointer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Deletion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430307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Algorithms which delete nodes from linked lists come up in various situations: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The first one deletes the node following a given node, and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The second one deletes the node with a given ITEM of information</a:t>
            </a:r>
          </a:p>
          <a:p>
            <a:pPr marL="342900" indent="-342900" algn="just">
              <a:buFont typeface="Wingdings" charset="2"/>
              <a:buChar char="Ø"/>
            </a:pPr>
            <a:endParaRPr lang="en-US" sz="2400" dirty="0"/>
          </a:p>
          <a:p>
            <a:pPr algn="just"/>
            <a:r>
              <a:rPr lang="en-US" sz="2400" dirty="0">
                <a:solidFill>
                  <a:srgbClr val="0000CC"/>
                </a:solidFill>
              </a:rPr>
              <a:t>All algorithms assume that linked list is in memory in the form</a:t>
            </a:r>
          </a:p>
          <a:p>
            <a:pPr algn="ctr"/>
            <a:r>
              <a:rPr lang="en-US" sz="2400" dirty="0">
                <a:solidFill>
                  <a:srgbClr val="0000CC"/>
                </a:solidFill>
              </a:rPr>
              <a:t>LIST(INFO, LINK, START, AVAIL)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82" y="2920890"/>
            <a:ext cx="8926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B050"/>
                </a:solidFill>
              </a:rPr>
              <a:t>All the algorithms will return the memory space of the deleted node N to the </a:t>
            </a:r>
            <a:r>
              <a:rPr lang="en-US" sz="2400" b="1">
                <a:solidFill>
                  <a:srgbClr val="00B050"/>
                </a:solidFill>
              </a:rPr>
              <a:t>beginning of the AVAIL list.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26325" y="1095640"/>
            <a:ext cx="3120804" cy="82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6817" y="4348282"/>
            <a:ext cx="8967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All algorithms will include the following pair of assignments where </a:t>
            </a:r>
          </a:p>
          <a:p>
            <a:pPr algn="just"/>
            <a:r>
              <a:rPr lang="en-US" sz="2400" dirty="0"/>
              <a:t>LOC is the location of the deleted node N: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LINK[LOC]:=AVAIL and then AVAIL:=LOC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100006" y="-1556451"/>
            <a:ext cx="3120804" cy="82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8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2800" b="1" dirty="0">
                <a:solidFill>
                  <a:srgbClr val="00B050"/>
                </a:solidFill>
              </a:rPr>
              <a:t>Deleting the node following a Given Node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836781"/>
            <a:ext cx="892684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DEL(INFO, LINK, START, AVAIL, LOC, LOCP)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(it deletes the node N with location LOC, LOCP is the location of the node which precedes N)</a:t>
            </a:r>
          </a:p>
          <a:p>
            <a:pPr algn="just"/>
            <a:r>
              <a:rPr lang="en-US" sz="2400" dirty="0"/>
              <a:t>Step 1. If LOCP=NULL, then:</a:t>
            </a:r>
          </a:p>
          <a:p>
            <a:pPr algn="just"/>
            <a:r>
              <a:rPr lang="en-US" sz="2400" dirty="0"/>
              <a:t>              	Set START:=LINK[START]. [Delete first node.]</a:t>
            </a:r>
          </a:p>
          <a:p>
            <a:pPr algn="just"/>
            <a:r>
              <a:rPr lang="en-US" sz="2400" dirty="0"/>
              <a:t>             Else:</a:t>
            </a:r>
          </a:p>
          <a:p>
            <a:pPr algn="just"/>
            <a:r>
              <a:rPr lang="en-US" sz="2400" dirty="0"/>
              <a:t>		Set LINK[LOCP]:=LINK[LOC]. [Deletes node N.]</a:t>
            </a:r>
          </a:p>
          <a:p>
            <a:pPr algn="just"/>
            <a:r>
              <a:rPr lang="en-US" sz="2400" dirty="0"/>
              <a:t>     	[End of If structure]</a:t>
            </a:r>
          </a:p>
          <a:p>
            <a:pPr algn="just"/>
            <a:r>
              <a:rPr lang="en-US" sz="2400" dirty="0"/>
              <a:t>Step 2. [Return deleted node to the AVAIL list.]</a:t>
            </a:r>
          </a:p>
          <a:p>
            <a:pPr algn="just"/>
            <a:r>
              <a:rPr lang="en-US" sz="2400" dirty="0"/>
              <a:t>	Set LINK[LOC]:=AVAIL and AVAIL:=LOC.</a:t>
            </a:r>
          </a:p>
          <a:p>
            <a:pPr algn="just"/>
            <a:r>
              <a:rPr lang="en-US" sz="2400" dirty="0"/>
              <a:t>Step 3. Exit.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" t="10440" r="3529" b="2817"/>
          <a:stretch/>
        </p:blipFill>
        <p:spPr>
          <a:xfrm>
            <a:off x="1747316" y="4495148"/>
            <a:ext cx="6468036" cy="24280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92"/>
          <a:stretch/>
        </p:blipFill>
        <p:spPr>
          <a:xfrm>
            <a:off x="425409" y="4507270"/>
            <a:ext cx="8075542" cy="22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9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1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2854</TotalTime>
  <Words>832</Words>
  <Application>Microsoft Office PowerPoint</Application>
  <PresentationFormat>On-screen Show (4:3)</PresentationFormat>
  <Paragraphs>108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Office Theme</vt:lpstr>
      <vt:lpstr>Slipstream</vt:lpstr>
      <vt:lpstr>3_Office Theme</vt:lpstr>
      <vt:lpstr>Data Structures  ICT-1211  Information and Communication Technology</vt:lpstr>
      <vt:lpstr> 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AION</cp:lastModifiedBy>
  <cp:revision>323</cp:revision>
  <dcterms:created xsi:type="dcterms:W3CDTF">2016-12-28T08:52:04Z</dcterms:created>
  <dcterms:modified xsi:type="dcterms:W3CDTF">2024-09-26T01:16:16Z</dcterms:modified>
</cp:coreProperties>
</file>