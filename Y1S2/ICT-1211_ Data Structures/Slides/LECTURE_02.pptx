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22"/>
  </p:notesMasterIdLst>
  <p:sldIdLst>
    <p:sldId id="349" r:id="rId4"/>
    <p:sldId id="346" r:id="rId5"/>
    <p:sldId id="318" r:id="rId6"/>
    <p:sldId id="331" r:id="rId7"/>
    <p:sldId id="334" r:id="rId8"/>
    <p:sldId id="335" r:id="rId9"/>
    <p:sldId id="336" r:id="rId10"/>
    <p:sldId id="337" r:id="rId11"/>
    <p:sldId id="338" r:id="rId12"/>
    <p:sldId id="339" r:id="rId13"/>
    <p:sldId id="319" r:id="rId14"/>
    <p:sldId id="340" r:id="rId15"/>
    <p:sldId id="328" r:id="rId16"/>
    <p:sldId id="321" r:id="rId17"/>
    <p:sldId id="322" r:id="rId18"/>
    <p:sldId id="323" r:id="rId19"/>
    <p:sldId id="324" r:id="rId20"/>
    <p:sldId id="34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9" autoAdjust="0"/>
    <p:restoredTop sz="84824" autoAdjust="0"/>
  </p:normalViewPr>
  <p:slideViewPr>
    <p:cSldViewPr snapToGrid="0">
      <p:cViewPr varScale="1">
        <p:scale>
          <a:sx n="62" d="100"/>
          <a:sy n="62" d="100"/>
        </p:scale>
        <p:origin x="-136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78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7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368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79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689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66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42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829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9107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907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92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076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3143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20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7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55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01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87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07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47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098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432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4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848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9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77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02/07/2025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45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Lecture-02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146331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48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2286000"/>
            <a:ext cx="7467600" cy="2514600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77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964" y="46239"/>
            <a:ext cx="707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</a:t>
            </a:r>
            <a:r>
              <a:rPr lang="en-US" sz="4000" b="1">
                <a:solidFill>
                  <a:srgbClr val="FF0000"/>
                </a:solidFill>
              </a:rPr>
              <a:t>Structure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82" y="836781"/>
            <a:ext cx="891054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solidFill>
                  <a:srgbClr val="0000CC"/>
                </a:solidFill>
              </a:rPr>
              <a:t>The data appearing in our data structure are processed by mean of certain operations.</a:t>
            </a:r>
          </a:p>
          <a:p>
            <a:endParaRPr lang="en-US" sz="2400" dirty="0"/>
          </a:p>
          <a:p>
            <a:r>
              <a:rPr lang="en-US" sz="3200" dirty="0"/>
              <a:t>The most frequently used of these operation are: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Traversing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Searching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Inserting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Deleting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Update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Sorting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Merging</a:t>
            </a:r>
          </a:p>
        </p:txBody>
      </p:sp>
    </p:spTree>
    <p:extLst>
      <p:ext uri="{BB962C8B-B14F-4D97-AF65-F5344CB8AC3E}">
        <p14:creationId xmlns:p14="http://schemas.microsoft.com/office/powerpoint/2010/main" val="181036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964" y="46239"/>
            <a:ext cx="707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</a:t>
            </a:r>
            <a:r>
              <a:rPr lang="en-US" sz="4000" b="1">
                <a:solidFill>
                  <a:srgbClr val="FF0000"/>
                </a:solidFill>
              </a:rPr>
              <a:t>Structure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82" y="674551"/>
            <a:ext cx="8910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algn="just"/>
            <a:r>
              <a:rPr lang="en-US" sz="3200" dirty="0"/>
              <a:t>Accessing each record once so that certain items in the record may be processed (Visit).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82" y="2315502"/>
            <a:ext cx="90470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Example:</a:t>
            </a:r>
          </a:p>
          <a:p>
            <a:pPr algn="just"/>
            <a:r>
              <a:rPr lang="en-US" sz="2800" dirty="0">
                <a:solidFill>
                  <a:srgbClr val="0000CC"/>
                </a:solidFill>
              </a:rPr>
              <a:t>An organization contains a membership file in which each record contains data for a given member:</a:t>
            </a:r>
          </a:p>
          <a:p>
            <a:pPr algn="just"/>
            <a:r>
              <a:rPr lang="en-US" sz="2800" dirty="0">
                <a:solidFill>
                  <a:srgbClr val="00B050"/>
                </a:solidFill>
              </a:rPr>
              <a:t>     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	     Address	Tel. Number	 	Age	Sex</a:t>
            </a:r>
          </a:p>
          <a:p>
            <a:pPr algn="just"/>
            <a:endParaRPr lang="en-US" sz="2800" dirty="0">
              <a:solidFill>
                <a:srgbClr val="C00000"/>
              </a:solidFill>
            </a:endParaRPr>
          </a:p>
          <a:p>
            <a:pPr marL="514350" indent="-514350" algn="just">
              <a:buAutoNum type="alphaLcParenBoth"/>
            </a:pPr>
            <a:r>
              <a:rPr lang="en-US" sz="2800" dirty="0">
                <a:solidFill>
                  <a:srgbClr val="7030A0"/>
                </a:solidFill>
              </a:rPr>
              <a:t>Suppose the organization wants to announce through a mailing.</a:t>
            </a:r>
          </a:p>
          <a:p>
            <a:pPr marL="514350" indent="-514350" algn="just">
              <a:buAutoNum type="alphaLcParenBoth"/>
            </a:pPr>
            <a:r>
              <a:rPr lang="en-US" sz="2800" dirty="0">
                <a:solidFill>
                  <a:srgbClr val="7030A0"/>
                </a:solidFill>
              </a:rPr>
              <a:t>Suppose one wants to find the name of all members in a certain 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6219" y="6150077"/>
            <a:ext cx="449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Operation: Traversing</a:t>
            </a:r>
          </a:p>
        </p:txBody>
      </p:sp>
    </p:spTree>
    <p:extLst>
      <p:ext uri="{BB962C8B-B14F-4D97-AF65-F5344CB8AC3E}">
        <p14:creationId xmlns:p14="http://schemas.microsoft.com/office/powerpoint/2010/main" val="121543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964" y="46239"/>
            <a:ext cx="707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</a:t>
            </a:r>
            <a:r>
              <a:rPr lang="en-US" sz="4000" b="1">
                <a:solidFill>
                  <a:srgbClr val="FF0000"/>
                </a:solidFill>
              </a:rPr>
              <a:t>Structure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82" y="674551"/>
            <a:ext cx="891054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algn="just"/>
            <a:r>
              <a:rPr lang="en-US" sz="2800" dirty="0"/>
              <a:t>Finding the location of the record with a given </a:t>
            </a:r>
            <a:r>
              <a:rPr lang="en-US" sz="2800" b="1" dirty="0">
                <a:solidFill>
                  <a:srgbClr val="0000CC"/>
                </a:solidFill>
              </a:rPr>
              <a:t>key value</a:t>
            </a:r>
            <a:r>
              <a:rPr lang="en-US" sz="2800" dirty="0"/>
              <a:t>, or finding the locations of all records which satisfy one or more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82" y="2389242"/>
            <a:ext cx="904701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Example:</a:t>
            </a:r>
          </a:p>
          <a:p>
            <a:pPr algn="just"/>
            <a:r>
              <a:rPr lang="en-US" sz="2800" dirty="0">
                <a:solidFill>
                  <a:srgbClr val="0000CC"/>
                </a:solidFill>
              </a:rPr>
              <a:t>An organization contains a membership file in which each record contains data for a given member:</a:t>
            </a:r>
          </a:p>
          <a:p>
            <a:pPr algn="just"/>
            <a:r>
              <a:rPr lang="en-US" sz="2800" dirty="0">
                <a:solidFill>
                  <a:srgbClr val="00B050"/>
                </a:solidFill>
              </a:rPr>
              <a:t>     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	     Address	Tel. Number	 	Age	Sex</a:t>
            </a:r>
          </a:p>
          <a:p>
            <a:pPr algn="just"/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algn="just">
              <a:buAutoNum type="alphaLcParenBoth"/>
            </a:pPr>
            <a:r>
              <a:rPr lang="en-US" sz="2800" dirty="0">
                <a:solidFill>
                  <a:srgbClr val="7030A0"/>
                </a:solidFill>
              </a:rPr>
              <a:t>Suppose one wants to obtain address for a given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6219" y="5781369"/>
            <a:ext cx="449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Operation: Searching</a:t>
            </a:r>
          </a:p>
        </p:txBody>
      </p:sp>
    </p:spTree>
    <p:extLst>
      <p:ext uri="{BB962C8B-B14F-4D97-AF65-F5344CB8AC3E}">
        <p14:creationId xmlns:p14="http://schemas.microsoft.com/office/powerpoint/2010/main" val="64717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964" y="46239"/>
            <a:ext cx="707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</a:t>
            </a:r>
            <a:r>
              <a:rPr lang="en-US" sz="4000" b="1">
                <a:solidFill>
                  <a:srgbClr val="FF0000"/>
                </a:solidFill>
              </a:rPr>
              <a:t>Structure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82" y="674551"/>
            <a:ext cx="891054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algn="just"/>
            <a:r>
              <a:rPr lang="en-US" sz="3600" dirty="0"/>
              <a:t>Adding a new record to the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82" y="1946792"/>
            <a:ext cx="904701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Example:</a:t>
            </a:r>
          </a:p>
          <a:p>
            <a:pPr algn="just"/>
            <a:r>
              <a:rPr lang="en-US" sz="2800" dirty="0">
                <a:solidFill>
                  <a:srgbClr val="0000CC"/>
                </a:solidFill>
              </a:rPr>
              <a:t>An organization contains a membership file in which each record contains data for a given member:</a:t>
            </a:r>
          </a:p>
          <a:p>
            <a:pPr algn="just"/>
            <a:r>
              <a:rPr lang="en-US" sz="2800" dirty="0">
                <a:solidFill>
                  <a:srgbClr val="00B050"/>
                </a:solidFill>
              </a:rPr>
              <a:t>     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	     Address	Tel. Number	 	Age	Sex</a:t>
            </a:r>
          </a:p>
          <a:p>
            <a:pPr algn="just"/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algn="just">
              <a:buAutoNum type="alphaLcParenBoth"/>
            </a:pPr>
            <a:r>
              <a:rPr lang="en-US" sz="2800" dirty="0">
                <a:solidFill>
                  <a:srgbClr val="7030A0"/>
                </a:solidFill>
              </a:rPr>
              <a:t>Suppose a new person joins the organization.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6219" y="5781369"/>
            <a:ext cx="449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Operation: Inserting</a:t>
            </a:r>
          </a:p>
        </p:txBody>
      </p:sp>
    </p:spTree>
    <p:extLst>
      <p:ext uri="{BB962C8B-B14F-4D97-AF65-F5344CB8AC3E}">
        <p14:creationId xmlns:p14="http://schemas.microsoft.com/office/powerpoint/2010/main" val="116035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964" y="46239"/>
            <a:ext cx="707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</a:t>
            </a:r>
            <a:r>
              <a:rPr lang="en-US" sz="4000" b="1">
                <a:solidFill>
                  <a:srgbClr val="FF0000"/>
                </a:solidFill>
              </a:rPr>
              <a:t>Structure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82" y="674551"/>
            <a:ext cx="891054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algn="just"/>
            <a:r>
              <a:rPr lang="en-US" sz="3600" dirty="0"/>
              <a:t>Removing a record from the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82" y="1946792"/>
            <a:ext cx="904701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Example:</a:t>
            </a:r>
          </a:p>
          <a:p>
            <a:pPr algn="just"/>
            <a:r>
              <a:rPr lang="en-US" sz="2800" dirty="0">
                <a:solidFill>
                  <a:srgbClr val="0000CC"/>
                </a:solidFill>
              </a:rPr>
              <a:t>An organization contains a membership file in which each record contains data for a given member:</a:t>
            </a:r>
          </a:p>
          <a:p>
            <a:pPr algn="just"/>
            <a:r>
              <a:rPr lang="en-US" sz="2800" dirty="0">
                <a:solidFill>
                  <a:srgbClr val="00B050"/>
                </a:solidFill>
              </a:rPr>
              <a:t>     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	     Address	Tel. Number	 	Age	Sex</a:t>
            </a:r>
          </a:p>
          <a:p>
            <a:pPr algn="just"/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algn="just">
              <a:buAutoNum type="alphaLcParenBoth"/>
            </a:pPr>
            <a:r>
              <a:rPr lang="en-US" sz="2800" dirty="0">
                <a:solidFill>
                  <a:srgbClr val="7030A0"/>
                </a:solidFill>
              </a:rPr>
              <a:t>Suppose a Member dies.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6219" y="5781369"/>
            <a:ext cx="449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Operation: Deleting</a:t>
            </a:r>
          </a:p>
        </p:txBody>
      </p:sp>
    </p:spTree>
    <p:extLst>
      <p:ext uri="{BB962C8B-B14F-4D97-AF65-F5344CB8AC3E}">
        <p14:creationId xmlns:p14="http://schemas.microsoft.com/office/powerpoint/2010/main" val="120563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964" y="46239"/>
            <a:ext cx="707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</a:t>
            </a:r>
            <a:r>
              <a:rPr lang="en-US" sz="4000" b="1">
                <a:solidFill>
                  <a:srgbClr val="FF0000"/>
                </a:solidFill>
              </a:rPr>
              <a:t>Structure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82" y="674551"/>
            <a:ext cx="89105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algn="just"/>
            <a:r>
              <a:rPr lang="en-US" sz="3200" dirty="0"/>
              <a:t>Changing items in the record with the new data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82" y="1946792"/>
            <a:ext cx="90470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Example:</a:t>
            </a:r>
          </a:p>
          <a:p>
            <a:pPr algn="just"/>
            <a:r>
              <a:rPr lang="en-US" sz="2800" dirty="0">
                <a:solidFill>
                  <a:srgbClr val="0000CC"/>
                </a:solidFill>
              </a:rPr>
              <a:t>An organization contains a membership file in which each record contains data for a given member:</a:t>
            </a:r>
          </a:p>
          <a:p>
            <a:pPr algn="just"/>
            <a:r>
              <a:rPr lang="en-US" sz="2800" dirty="0">
                <a:solidFill>
                  <a:srgbClr val="00B050"/>
                </a:solidFill>
              </a:rPr>
              <a:t>     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	     Address	Tel. Number	 	Age	Sex</a:t>
            </a:r>
          </a:p>
          <a:p>
            <a:pPr algn="just"/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algn="just">
              <a:buAutoNum type="alphaLcParenBoth"/>
            </a:pPr>
            <a:r>
              <a:rPr lang="en-US" sz="2800" dirty="0">
                <a:solidFill>
                  <a:srgbClr val="7030A0"/>
                </a:solidFill>
              </a:rPr>
              <a:t>Suppose a member has moved and has a new address and telephone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6219" y="5781369"/>
            <a:ext cx="449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Operation: Updating </a:t>
            </a:r>
          </a:p>
        </p:txBody>
      </p:sp>
    </p:spTree>
    <p:extLst>
      <p:ext uri="{BB962C8B-B14F-4D97-AF65-F5344CB8AC3E}">
        <p14:creationId xmlns:p14="http://schemas.microsoft.com/office/powerpoint/2010/main" val="272379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964" y="46239"/>
            <a:ext cx="707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</a:t>
            </a:r>
            <a:r>
              <a:rPr lang="en-US" sz="4000" b="1">
                <a:solidFill>
                  <a:srgbClr val="FF0000"/>
                </a:solidFill>
              </a:rPr>
              <a:t>Structure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82" y="674551"/>
            <a:ext cx="8910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algn="just"/>
            <a:r>
              <a:rPr lang="en-US" sz="3200" dirty="0"/>
              <a:t>Arranging the record in some logical order (e.g. alphabetically according to some NAME key)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82" y="2389242"/>
            <a:ext cx="90470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Example:</a:t>
            </a:r>
          </a:p>
          <a:p>
            <a:pPr algn="just"/>
            <a:r>
              <a:rPr lang="en-US" sz="2800" dirty="0">
                <a:solidFill>
                  <a:srgbClr val="0000CC"/>
                </a:solidFill>
              </a:rPr>
              <a:t>An organization contains a membership file in which each record contains data for a given member:</a:t>
            </a:r>
          </a:p>
          <a:p>
            <a:pPr algn="just"/>
            <a:r>
              <a:rPr lang="en-US" sz="2800" dirty="0">
                <a:solidFill>
                  <a:srgbClr val="00B050"/>
                </a:solidFill>
              </a:rPr>
              <a:t>         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	     Address	Tel. Number	 	Age	Sex</a:t>
            </a:r>
          </a:p>
          <a:p>
            <a:pPr algn="just"/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 algn="just">
              <a:buAutoNum type="alphaLcParenBoth"/>
            </a:pPr>
            <a:r>
              <a:rPr lang="en-US" sz="2800" dirty="0">
                <a:solidFill>
                  <a:srgbClr val="7030A0"/>
                </a:solidFill>
              </a:rPr>
              <a:t>Suppose One wants to obtain all the members list according to alphabetical order of their family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6219" y="5781369"/>
            <a:ext cx="449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Operation: Sorting  </a:t>
            </a:r>
          </a:p>
        </p:txBody>
      </p:sp>
    </p:spTree>
    <p:extLst>
      <p:ext uri="{BB962C8B-B14F-4D97-AF65-F5344CB8AC3E}">
        <p14:creationId xmlns:p14="http://schemas.microsoft.com/office/powerpoint/2010/main" val="325485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3964" y="46239"/>
            <a:ext cx="7079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</a:t>
            </a:r>
            <a:r>
              <a:rPr lang="en-US" sz="4000" b="1">
                <a:solidFill>
                  <a:srgbClr val="FF0000"/>
                </a:solidFill>
              </a:rPr>
              <a:t>Structure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82" y="674551"/>
            <a:ext cx="8910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pPr algn="just"/>
            <a:r>
              <a:rPr lang="en-US" sz="3200" dirty="0"/>
              <a:t>Combining the records in two different sorted files into a single sorted file.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948" y="2875935"/>
            <a:ext cx="8535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Example: Exam Answer Script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6219" y="5781369"/>
            <a:ext cx="449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Operation: Merging  </a:t>
            </a:r>
          </a:p>
        </p:txBody>
      </p:sp>
    </p:spTree>
    <p:extLst>
      <p:ext uri="{BB962C8B-B14F-4D97-AF65-F5344CB8AC3E}">
        <p14:creationId xmlns:p14="http://schemas.microsoft.com/office/powerpoint/2010/main" val="292485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377" y="20113"/>
            <a:ext cx="33132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Algorithms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77" y="1082178"/>
            <a:ext cx="9065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dirty="0"/>
              <a:t>An algorithm is a well-defined list of step for solving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77732"/>
            <a:ext cx="90656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The efficiency of an algorithm is obtained by measuring the </a:t>
            </a:r>
            <a:r>
              <a:rPr lang="en-US" sz="3200" b="1" dirty="0">
                <a:solidFill>
                  <a:srgbClr val="0000CC"/>
                </a:solidFill>
              </a:rPr>
              <a:t>TIME</a:t>
            </a:r>
            <a:r>
              <a:rPr lang="en-US" sz="3200" b="1" dirty="0"/>
              <a:t> </a:t>
            </a:r>
            <a:r>
              <a:rPr lang="en-US" sz="3200" dirty="0"/>
              <a:t>and </a:t>
            </a:r>
            <a:r>
              <a:rPr lang="en-US" sz="3200" b="1" dirty="0">
                <a:solidFill>
                  <a:srgbClr val="0000CC"/>
                </a:solidFill>
              </a:rPr>
              <a:t>SPACE</a:t>
            </a:r>
            <a:r>
              <a:rPr lang="en-US" sz="3200" dirty="0">
                <a:solidFill>
                  <a:srgbClr val="0000CC"/>
                </a:solidFill>
              </a:rPr>
              <a:t> </a:t>
            </a:r>
            <a:r>
              <a:rPr lang="en-US" sz="3200" dirty="0"/>
              <a:t>it uses.  </a:t>
            </a:r>
          </a:p>
        </p:txBody>
      </p:sp>
    </p:spTree>
    <p:extLst>
      <p:ext uri="{BB962C8B-B14F-4D97-AF65-F5344CB8AC3E}">
        <p14:creationId xmlns:p14="http://schemas.microsoft.com/office/powerpoint/2010/main" val="128545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377" y="20113"/>
            <a:ext cx="5329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Algorithms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377" y="993520"/>
            <a:ext cx="8929147" cy="5847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200" dirty="0"/>
              <a:t>(Largest Element in Array) A nonempty array </a:t>
            </a:r>
            <a:r>
              <a:rPr lang="en-US" sz="2200" b="1" dirty="0"/>
              <a:t>DATA</a:t>
            </a:r>
            <a:r>
              <a:rPr lang="en-US" sz="2200" dirty="0"/>
              <a:t> with </a:t>
            </a:r>
            <a:r>
              <a:rPr lang="en-US" sz="2200" b="1" dirty="0"/>
              <a:t>N</a:t>
            </a:r>
            <a:r>
              <a:rPr lang="en-US" sz="2200" dirty="0"/>
              <a:t> numerical values is given. This algorithm finds the location </a:t>
            </a:r>
            <a:r>
              <a:rPr lang="en-US" sz="2200" b="1" dirty="0"/>
              <a:t>LOC </a:t>
            </a:r>
            <a:r>
              <a:rPr lang="en-US" sz="2200" dirty="0"/>
              <a:t>and the value </a:t>
            </a:r>
            <a:r>
              <a:rPr lang="en-US" sz="2200" b="1" dirty="0"/>
              <a:t>MAX</a:t>
            </a:r>
            <a:r>
              <a:rPr lang="en-US" sz="2200" dirty="0"/>
              <a:t> of the largest element of </a:t>
            </a:r>
            <a:r>
              <a:rPr lang="en-US" sz="2200" b="1" dirty="0"/>
              <a:t>DATA</a:t>
            </a:r>
            <a:r>
              <a:rPr lang="en-US" sz="2200" dirty="0"/>
              <a:t>. The variable </a:t>
            </a:r>
            <a:r>
              <a:rPr lang="en-US" sz="2200" b="1" dirty="0"/>
              <a:t>K</a:t>
            </a:r>
            <a:r>
              <a:rPr lang="en-US" sz="2200" dirty="0"/>
              <a:t> is used as  counter.</a:t>
            </a:r>
          </a:p>
          <a:p>
            <a:pPr marL="285750" indent="-285750" algn="just">
              <a:lnSpc>
                <a:spcPct val="200000"/>
              </a:lnSpc>
              <a:buFont typeface="Arial" charset="0"/>
              <a:buChar char="•"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1.   [Initialize] Set K:=1, LOC:=1 and MAX := DATA[1].</a:t>
            </a:r>
          </a:p>
          <a:p>
            <a:pPr marL="285750" indent="-285750" algn="just">
              <a:lnSpc>
                <a:spcPct val="200000"/>
              </a:lnSpc>
              <a:buFont typeface="Arial" charset="0"/>
              <a:buChar char="•"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2.   [Increment counter.] Set K:=K+1.</a:t>
            </a:r>
          </a:p>
          <a:p>
            <a:pPr marL="285750" indent="-285750" algn="just">
              <a:lnSpc>
                <a:spcPct val="200000"/>
              </a:lnSpc>
              <a:buFont typeface="Arial" charset="0"/>
              <a:buChar char="•"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3.   [Test counter.] If K&gt;N, then:</a:t>
            </a:r>
          </a:p>
          <a:p>
            <a:pPr lvl="3" algn="just">
              <a:lnSpc>
                <a:spcPct val="200000"/>
              </a:lnSpc>
            </a:pPr>
            <a:r>
              <a:rPr 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LOC, MAX, and Exit.</a:t>
            </a:r>
          </a:p>
          <a:p>
            <a:pPr marL="285750" indent="-285750" algn="just">
              <a:lnSpc>
                <a:spcPct val="200000"/>
              </a:lnSpc>
              <a:buFont typeface="Arial" charset="0"/>
              <a:buChar char="•"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4. [Compare and update.] If MAX&lt;DATA[K], then: </a:t>
            </a:r>
          </a:p>
          <a:p>
            <a:pPr algn="just">
              <a:lnSpc>
                <a:spcPct val="200000"/>
              </a:lnSpc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       Set LOC:=K and MAX := DATA[K].</a:t>
            </a:r>
          </a:p>
          <a:p>
            <a:pPr marL="285750" indent="-285750" algn="just">
              <a:lnSpc>
                <a:spcPct val="200000"/>
              </a:lnSpc>
              <a:buFont typeface="Arial" charset="0"/>
              <a:buChar char="•"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5. [Repeat loop.] Go to Step 2.</a:t>
            </a:r>
          </a:p>
        </p:txBody>
      </p:sp>
    </p:spTree>
    <p:extLst>
      <p:ext uri="{BB962C8B-B14F-4D97-AF65-F5344CB8AC3E}">
        <p14:creationId xmlns:p14="http://schemas.microsoft.com/office/powerpoint/2010/main" val="444394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4" r="8090" b="3908"/>
          <a:stretch/>
        </p:blipFill>
        <p:spPr>
          <a:xfrm>
            <a:off x="2207810" y="461670"/>
            <a:ext cx="4576447" cy="607944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8377" y="20113"/>
            <a:ext cx="5329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Flowcharts</a:t>
            </a:r>
          </a:p>
        </p:txBody>
      </p:sp>
    </p:spTree>
    <p:extLst>
      <p:ext uri="{BB962C8B-B14F-4D97-AF65-F5344CB8AC3E}">
        <p14:creationId xmlns:p14="http://schemas.microsoft.com/office/powerpoint/2010/main" val="978879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377" y="20113"/>
            <a:ext cx="5329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Algorithms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77" y="621711"/>
            <a:ext cx="8929147" cy="3170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(Largest Element in Array) A nonempty array </a:t>
            </a:r>
            <a:r>
              <a:rPr lang="en-US" sz="2000" b="1" dirty="0"/>
              <a:t>DATA</a:t>
            </a:r>
            <a:r>
              <a:rPr lang="en-US" sz="2000" dirty="0"/>
              <a:t> with </a:t>
            </a:r>
            <a:r>
              <a:rPr lang="en-US" sz="2000" b="1" dirty="0"/>
              <a:t>N</a:t>
            </a:r>
            <a:r>
              <a:rPr lang="en-US" sz="2000" dirty="0"/>
              <a:t> numerical values is given. This algorithm finds the location </a:t>
            </a:r>
            <a:r>
              <a:rPr lang="en-US" sz="2000" b="1" dirty="0"/>
              <a:t>LOC </a:t>
            </a:r>
            <a:r>
              <a:rPr lang="en-US" sz="2000" dirty="0"/>
              <a:t>and the value </a:t>
            </a:r>
            <a:r>
              <a:rPr lang="en-US" sz="2000" b="1" dirty="0"/>
              <a:t>MAX</a:t>
            </a:r>
            <a:r>
              <a:rPr lang="en-US" sz="2000" dirty="0"/>
              <a:t> of the largest element of </a:t>
            </a:r>
            <a:r>
              <a:rPr lang="en-US" sz="2000" b="1" dirty="0"/>
              <a:t>DATA</a:t>
            </a:r>
            <a:r>
              <a:rPr lang="en-US" sz="2000" dirty="0"/>
              <a:t>. The variable </a:t>
            </a:r>
            <a:r>
              <a:rPr lang="en-US" sz="2000" b="1" dirty="0"/>
              <a:t>K</a:t>
            </a:r>
            <a:r>
              <a:rPr lang="en-US" sz="2000" dirty="0"/>
              <a:t> is used as  counter.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1.   [Initialize] Set K:=1, LOC:=1 and MAX := DATA[1].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2.   [Increment counter.] Set K:=K+1.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3.   [Test counter.] If K&gt;N, then:</a:t>
            </a:r>
          </a:p>
          <a:p>
            <a:pPr lvl="3" algn="just"/>
            <a:r>
              <a:rPr lang="en-US" sz="2000" b="1" dirty="0">
                <a:solidFill>
                  <a:srgbClr val="00B050"/>
                </a:solidFill>
              </a:rPr>
              <a:t>Write</a:t>
            </a:r>
            <a:r>
              <a:rPr lang="en-US" sz="2000" dirty="0"/>
              <a:t>: LOC, MAX, and Exit.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4. [Compare and update.] If MAX&lt;DATA[K], then: </a:t>
            </a:r>
          </a:p>
          <a:p>
            <a:pPr algn="just"/>
            <a:r>
              <a:rPr lang="en-US" sz="2000" dirty="0"/>
              <a:t>	        Set LOC:=K and MAX := DATA[K].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Step5. [Repeat loop.] Go to Step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3958046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2000" dirty="0">
                <a:solidFill>
                  <a:srgbClr val="0000CC"/>
                </a:solidFill>
              </a:rPr>
              <a:t>The Steps of the algorithm are executed one after the other, beginning with </a:t>
            </a:r>
            <a:r>
              <a:rPr lang="en-US" sz="2000" b="1" dirty="0">
                <a:solidFill>
                  <a:srgbClr val="FF0000"/>
                </a:solidFill>
              </a:rPr>
              <a:t>Step 1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2000" dirty="0">
                <a:solidFill>
                  <a:srgbClr val="0000CC"/>
                </a:solidFill>
              </a:rPr>
              <a:t>Control may be transferred to </a:t>
            </a:r>
            <a:r>
              <a:rPr lang="en-US" sz="2000" b="1" dirty="0">
                <a:solidFill>
                  <a:srgbClr val="FF0000"/>
                </a:solidFill>
              </a:rPr>
              <a:t>Step n</a:t>
            </a:r>
            <a:r>
              <a:rPr lang="en-US" sz="2000" dirty="0">
                <a:solidFill>
                  <a:srgbClr val="0000CC"/>
                </a:solidFill>
              </a:rPr>
              <a:t> of the algorithm by the statement “</a:t>
            </a:r>
            <a:r>
              <a:rPr lang="en-US" sz="2000" b="1" i="1" dirty="0">
                <a:solidFill>
                  <a:srgbClr val="FF0000"/>
                </a:solidFill>
              </a:rPr>
              <a:t>Go to Step n</a:t>
            </a:r>
            <a:r>
              <a:rPr lang="en-US" sz="2000" dirty="0">
                <a:solidFill>
                  <a:srgbClr val="0000CC"/>
                </a:solidFill>
              </a:rPr>
              <a:t>”</a:t>
            </a:r>
          </a:p>
          <a:p>
            <a:pPr marL="285750" indent="-285750">
              <a:buFont typeface="Wingdings" charset="2"/>
              <a:buChar char="ü"/>
            </a:pPr>
            <a:r>
              <a:rPr lang="en-US" sz="2000" dirty="0">
                <a:solidFill>
                  <a:srgbClr val="0000CC"/>
                </a:solidFill>
              </a:rPr>
              <a:t>If several statements appear in the same step, e.g.,</a:t>
            </a:r>
          </a:p>
          <a:p>
            <a:pPr lvl="5"/>
            <a:r>
              <a:rPr lang="en-US" sz="2000" dirty="0"/>
              <a:t>Set K:=1, LOC:=1 and MAX := DATA[1].</a:t>
            </a:r>
          </a:p>
          <a:p>
            <a:pPr lvl="5"/>
            <a:r>
              <a:rPr lang="en-US" sz="2000" dirty="0">
                <a:solidFill>
                  <a:srgbClr val="0000CC"/>
                </a:solidFill>
              </a:rPr>
              <a:t>                                    then they are executed from </a:t>
            </a:r>
            <a:r>
              <a:rPr lang="en-US" sz="2000" b="1" dirty="0">
                <a:solidFill>
                  <a:srgbClr val="FF0000"/>
                </a:solidFill>
              </a:rPr>
              <a:t>LEFT TO RIGHT</a:t>
            </a:r>
          </a:p>
          <a:p>
            <a:pPr marL="342900" indent="-342900">
              <a:buFont typeface="Wingdings" charset="2"/>
              <a:buChar char="ü"/>
            </a:pPr>
            <a:r>
              <a:rPr lang="en-US" sz="2000" dirty="0">
                <a:solidFill>
                  <a:srgbClr val="0000CC"/>
                </a:solidFill>
              </a:rPr>
              <a:t>The algorithm is completed when the statement</a:t>
            </a:r>
          </a:p>
          <a:p>
            <a:pPr lvl="6"/>
            <a:r>
              <a:rPr lang="en-US" sz="2000" dirty="0"/>
              <a:t>Exit. </a:t>
            </a:r>
            <a:r>
              <a:rPr lang="en-US" sz="2000" dirty="0">
                <a:solidFill>
                  <a:srgbClr val="0000CC"/>
                </a:solidFill>
              </a:rPr>
              <a:t>Is encountered.  </a:t>
            </a:r>
          </a:p>
        </p:txBody>
      </p:sp>
    </p:spTree>
    <p:extLst>
      <p:ext uri="{BB962C8B-B14F-4D97-AF65-F5344CB8AC3E}">
        <p14:creationId xmlns:p14="http://schemas.microsoft.com/office/powerpoint/2010/main" val="76807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377" y="20113"/>
            <a:ext cx="5329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Algorithms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77" y="621711"/>
            <a:ext cx="8929147" cy="3170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(Largest Element in Array) A nonempty array </a:t>
            </a:r>
            <a:r>
              <a:rPr lang="en-US" sz="2000" b="1" dirty="0"/>
              <a:t>DATA</a:t>
            </a:r>
            <a:r>
              <a:rPr lang="en-US" sz="2000" dirty="0"/>
              <a:t> with </a:t>
            </a:r>
            <a:r>
              <a:rPr lang="en-US" sz="2000" b="1" dirty="0"/>
              <a:t>N</a:t>
            </a:r>
            <a:r>
              <a:rPr lang="en-US" sz="2000" dirty="0"/>
              <a:t> numerical values is given. This algorithm finds the location </a:t>
            </a:r>
            <a:r>
              <a:rPr lang="en-US" sz="2000" b="1" dirty="0"/>
              <a:t>LOC </a:t>
            </a:r>
            <a:r>
              <a:rPr lang="en-US" sz="2000" dirty="0"/>
              <a:t>and the value </a:t>
            </a:r>
            <a:r>
              <a:rPr lang="en-US" sz="2000" b="1" dirty="0"/>
              <a:t>MAX</a:t>
            </a:r>
            <a:r>
              <a:rPr lang="en-US" sz="2000" dirty="0"/>
              <a:t> of the largest element of </a:t>
            </a:r>
            <a:r>
              <a:rPr lang="en-US" sz="2000" b="1" dirty="0"/>
              <a:t>DATA</a:t>
            </a:r>
            <a:r>
              <a:rPr lang="en-US" sz="2000" dirty="0"/>
              <a:t>. The variable </a:t>
            </a:r>
            <a:r>
              <a:rPr lang="en-US" sz="2000" b="1" dirty="0"/>
              <a:t>K</a:t>
            </a:r>
            <a:r>
              <a:rPr lang="en-US" sz="2000" dirty="0"/>
              <a:t> is used as  counter.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1.   [Initialize] Set K:=1, LOC:=1 and MAX := DATA[1].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2.   [Increment counter.] Set K:=K+1.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3.   [Test counter.] If K&gt;N, then:</a:t>
            </a:r>
          </a:p>
          <a:p>
            <a:pPr lvl="3" algn="just"/>
            <a:r>
              <a:rPr lang="en-US" sz="2000" b="1" dirty="0">
                <a:solidFill>
                  <a:srgbClr val="00B050"/>
                </a:solidFill>
              </a:rPr>
              <a:t>Write</a:t>
            </a:r>
            <a:r>
              <a:rPr lang="en-US" sz="2000" dirty="0"/>
              <a:t>: LOC, MAX, and Exit.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4. [Compare and update.] If MAX&lt;DATA[K], then: </a:t>
            </a:r>
          </a:p>
          <a:p>
            <a:pPr algn="just"/>
            <a:r>
              <a:rPr lang="en-US" sz="2000" dirty="0"/>
              <a:t>	        Set LOC:=K and MAX := DATA[K].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Step5. [Repeat loop.] Go to Step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377" y="3958046"/>
            <a:ext cx="906562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200" dirty="0">
                <a:solidFill>
                  <a:srgbClr val="0000CC"/>
                </a:solidFill>
              </a:rPr>
              <a:t>The </a:t>
            </a:r>
            <a:r>
              <a:rPr lang="en-US" sz="2200" dirty="0">
                <a:solidFill>
                  <a:srgbClr val="00B050"/>
                </a:solidFill>
              </a:rPr>
              <a:t>[comment] </a:t>
            </a:r>
            <a:r>
              <a:rPr lang="en-US" sz="2200" dirty="0">
                <a:solidFill>
                  <a:srgbClr val="0000CC"/>
                </a:solidFill>
              </a:rPr>
              <a:t>will usually appear at the beginning or the end of the step.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200" dirty="0">
                <a:solidFill>
                  <a:srgbClr val="0000CC"/>
                </a:solidFill>
              </a:rPr>
              <a:t>Variable names will use capital letters as in </a:t>
            </a:r>
            <a:r>
              <a:rPr lang="en-US" sz="2200" dirty="0"/>
              <a:t>MAX</a:t>
            </a:r>
            <a:r>
              <a:rPr lang="en-US" sz="2200" dirty="0">
                <a:solidFill>
                  <a:srgbClr val="0000CC"/>
                </a:solidFill>
              </a:rPr>
              <a:t> and </a:t>
            </a:r>
            <a:r>
              <a:rPr lang="en-US" sz="2200" dirty="0"/>
              <a:t>DATA</a:t>
            </a:r>
            <a:r>
              <a:rPr lang="en-US" sz="2200" dirty="0">
                <a:solidFill>
                  <a:srgbClr val="0000CC"/>
                </a:solidFill>
              </a:rPr>
              <a:t>.</a:t>
            </a:r>
          </a:p>
          <a:p>
            <a:pPr marL="1257300" lvl="2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200" dirty="0">
                <a:solidFill>
                  <a:srgbClr val="FF0000"/>
                </a:solidFill>
              </a:rPr>
              <a:t>Single-letter names of variables used as counters or subscripts </a:t>
            </a:r>
            <a:r>
              <a:rPr lang="en-US" sz="2200" dirty="0">
                <a:solidFill>
                  <a:srgbClr val="0000CC"/>
                </a:solidFill>
              </a:rPr>
              <a:t>will also be capitalized in the algorithms (K and N, for example).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endParaRPr lang="en-US" sz="2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540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377" y="20113"/>
            <a:ext cx="5329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Algorithms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77" y="621711"/>
            <a:ext cx="8929147" cy="3170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(Largest Element in Array) A nonempty array </a:t>
            </a:r>
            <a:r>
              <a:rPr lang="en-US" sz="2000" b="1" dirty="0"/>
              <a:t>DATA</a:t>
            </a:r>
            <a:r>
              <a:rPr lang="en-US" sz="2000" dirty="0"/>
              <a:t> with </a:t>
            </a:r>
            <a:r>
              <a:rPr lang="en-US" sz="2000" b="1" dirty="0"/>
              <a:t>N</a:t>
            </a:r>
            <a:r>
              <a:rPr lang="en-US" sz="2000" dirty="0"/>
              <a:t> numerical values is given. This algorithm finds the location </a:t>
            </a:r>
            <a:r>
              <a:rPr lang="en-US" sz="2000" b="1" dirty="0"/>
              <a:t>LOC </a:t>
            </a:r>
            <a:r>
              <a:rPr lang="en-US" sz="2000" dirty="0"/>
              <a:t>and the value </a:t>
            </a:r>
            <a:r>
              <a:rPr lang="en-US" sz="2000" b="1" dirty="0"/>
              <a:t>MAX</a:t>
            </a:r>
            <a:r>
              <a:rPr lang="en-US" sz="2000" dirty="0"/>
              <a:t> of the largest element of </a:t>
            </a:r>
            <a:r>
              <a:rPr lang="en-US" sz="2000" b="1" dirty="0"/>
              <a:t>DATA</a:t>
            </a:r>
            <a:r>
              <a:rPr lang="en-US" sz="2000" dirty="0"/>
              <a:t>. The variable </a:t>
            </a:r>
            <a:r>
              <a:rPr lang="en-US" sz="2000" b="1" dirty="0"/>
              <a:t>K</a:t>
            </a:r>
            <a:r>
              <a:rPr lang="en-US" sz="2000" dirty="0"/>
              <a:t> is used as  counter.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1.   [Initialize] Set K:=1, LOC:=1 and MAX := DATA[1].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2.   [Increment counter.] Set K:=K+1.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3.   [Test counter.] If K&gt;N, then:</a:t>
            </a:r>
          </a:p>
          <a:p>
            <a:pPr lvl="3" algn="just"/>
            <a:r>
              <a:rPr lang="en-US" sz="2000" b="1" dirty="0">
                <a:solidFill>
                  <a:srgbClr val="00B050"/>
                </a:solidFill>
              </a:rPr>
              <a:t>Write</a:t>
            </a:r>
            <a:r>
              <a:rPr lang="en-US" sz="2000" dirty="0"/>
              <a:t>: LOC, MAX, and Exit.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 4. [Compare and update.] If MAX&lt;DATA[K], then: </a:t>
            </a:r>
          </a:p>
          <a:p>
            <a:pPr algn="just"/>
            <a:r>
              <a:rPr lang="en-US" sz="2000" dirty="0"/>
              <a:t>	        Set LOC:=K and MAX := DATA[K].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n-US" sz="2000" dirty="0"/>
              <a:t>Step5. [Repeat loop.] Go to Step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377" y="3958046"/>
            <a:ext cx="906562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2200" dirty="0">
                <a:solidFill>
                  <a:srgbClr val="0000CC"/>
                </a:solidFill>
              </a:rPr>
              <a:t>Assignment statements will use the dots-equal notation (:=). </a:t>
            </a:r>
          </a:p>
          <a:p>
            <a:pPr lvl="1"/>
            <a:r>
              <a:rPr lang="en-US" sz="2200" dirty="0">
                <a:solidFill>
                  <a:srgbClr val="0000CC"/>
                </a:solidFill>
              </a:rPr>
              <a:t>For example,</a:t>
            </a:r>
            <a:r>
              <a:rPr lang="en-US" sz="2200" dirty="0"/>
              <a:t> MAX := DATA[1]. </a:t>
            </a:r>
            <a:r>
              <a:rPr lang="en-US" sz="2200" dirty="0">
                <a:solidFill>
                  <a:srgbClr val="0000CC"/>
                </a:solidFill>
              </a:rPr>
              <a:t>( Some time ← or = is used for this operation</a:t>
            </a:r>
          </a:p>
          <a:p>
            <a:pPr marL="342900" indent="-342900">
              <a:buFont typeface="Wingdings" charset="2"/>
              <a:buChar char="ü"/>
            </a:pPr>
            <a:r>
              <a:rPr lang="en-US" sz="2200" dirty="0">
                <a:solidFill>
                  <a:srgbClr val="0000CC"/>
                </a:solidFill>
              </a:rPr>
              <a:t>Data may be input and assigned to variables by means of a </a:t>
            </a:r>
            <a:r>
              <a:rPr lang="en-US" sz="2200" dirty="0">
                <a:solidFill>
                  <a:srgbClr val="00B050"/>
                </a:solidFill>
              </a:rPr>
              <a:t>Read</a:t>
            </a:r>
            <a:r>
              <a:rPr lang="en-US" sz="2200" dirty="0">
                <a:solidFill>
                  <a:srgbClr val="0000CC"/>
                </a:solidFill>
              </a:rPr>
              <a:t> statement</a:t>
            </a:r>
          </a:p>
          <a:p>
            <a:pPr lvl="2"/>
            <a:r>
              <a:rPr lang="en-US" sz="2200" dirty="0">
                <a:solidFill>
                  <a:srgbClr val="0000CC"/>
                </a:solidFill>
              </a:rPr>
              <a:t>For example, </a:t>
            </a:r>
            <a:r>
              <a:rPr lang="en-US" sz="2200" dirty="0"/>
              <a:t>Read: Variable names</a:t>
            </a:r>
          </a:p>
          <a:p>
            <a:pPr marL="342900" indent="-342900">
              <a:buFont typeface="Wingdings" charset="2"/>
              <a:buChar char="ü"/>
            </a:pPr>
            <a:r>
              <a:rPr lang="en-US" sz="2200" dirty="0">
                <a:solidFill>
                  <a:srgbClr val="0000CC"/>
                </a:solidFill>
              </a:rPr>
              <a:t>Similarly, data in variable may be output by mean of a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FF0000"/>
                </a:solidFill>
              </a:rPr>
              <a:t>Write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CC"/>
                </a:solidFill>
              </a:rPr>
              <a:t>or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FF0000"/>
                </a:solidFill>
              </a:rPr>
              <a:t>Print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00CC"/>
                </a:solidFill>
              </a:rPr>
              <a:t>statement</a:t>
            </a:r>
          </a:p>
          <a:p>
            <a:pPr lvl="2"/>
            <a:r>
              <a:rPr lang="en-US" sz="2200" dirty="0"/>
              <a:t>For example, Write: Message and / or variable names.</a:t>
            </a:r>
            <a:endParaRPr lang="en-US" sz="2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572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-58099" y="682892"/>
            <a:ext cx="906562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The complexity of an algorithm is the function which gives the running time and/or space in terms of the input size.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In order to compare algorithms, we must have some criteria to measure the efficiency of a algorithm.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Suppose </a:t>
            </a:r>
            <a:r>
              <a:rPr lang="en-US" sz="2400" b="1" i="1" dirty="0">
                <a:solidFill>
                  <a:srgbClr val="0000CC"/>
                </a:solidFill>
              </a:rPr>
              <a:t>M</a:t>
            </a:r>
            <a:r>
              <a:rPr lang="en-US" sz="2400" dirty="0"/>
              <a:t> is an algorithm, and suppose</a:t>
            </a:r>
            <a:r>
              <a:rPr lang="en-US" sz="2400" i="1" dirty="0">
                <a:solidFill>
                  <a:srgbClr val="0000CC"/>
                </a:solidFill>
              </a:rPr>
              <a:t> </a:t>
            </a:r>
            <a:r>
              <a:rPr lang="en-US" sz="2400" b="1" i="1" dirty="0">
                <a:solidFill>
                  <a:srgbClr val="0000CC"/>
                </a:solidFill>
              </a:rPr>
              <a:t>n</a:t>
            </a:r>
            <a:r>
              <a:rPr lang="en-US" sz="2400" i="1" dirty="0">
                <a:solidFill>
                  <a:srgbClr val="0000CC"/>
                </a:solidFill>
              </a:rPr>
              <a:t> </a:t>
            </a:r>
            <a:r>
              <a:rPr lang="en-US" sz="2400" dirty="0"/>
              <a:t>is the size of the input data.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	The </a:t>
            </a:r>
            <a:r>
              <a:rPr lang="en-US" sz="2400" i="1" dirty="0">
                <a:solidFill>
                  <a:srgbClr val="0000CC"/>
                </a:solidFill>
              </a:rPr>
              <a:t>TIME</a:t>
            </a:r>
            <a:r>
              <a:rPr lang="en-US" sz="2400" dirty="0"/>
              <a:t> and </a:t>
            </a:r>
            <a:r>
              <a:rPr lang="en-US" sz="2400" i="1" dirty="0">
                <a:solidFill>
                  <a:srgbClr val="0000CC"/>
                </a:solidFill>
              </a:rPr>
              <a:t>SPACE</a:t>
            </a:r>
            <a:r>
              <a:rPr lang="en-US" sz="2400" dirty="0"/>
              <a:t> used by the algorithm M are the two main measures for the efficiency of </a:t>
            </a:r>
            <a:r>
              <a:rPr lang="en-US" sz="2400" i="1" dirty="0">
                <a:solidFill>
                  <a:srgbClr val="0000CC"/>
                </a:solidFill>
              </a:rPr>
              <a:t>M.</a:t>
            </a:r>
          </a:p>
          <a:p>
            <a:pPr algn="just"/>
            <a:endParaRPr lang="en-US" sz="2400" i="1" dirty="0">
              <a:solidFill>
                <a:srgbClr val="0000CC"/>
              </a:solidFill>
            </a:endParaRPr>
          </a:p>
          <a:p>
            <a:pPr algn="just"/>
            <a:r>
              <a:rPr lang="en-US" sz="2400" dirty="0"/>
              <a:t>The</a:t>
            </a:r>
            <a:r>
              <a:rPr lang="en-US" sz="2400" dirty="0">
                <a:solidFill>
                  <a:srgbClr val="0000CC"/>
                </a:solidFill>
              </a:rPr>
              <a:t> TIME </a:t>
            </a:r>
            <a:r>
              <a:rPr lang="en-US" sz="2400" dirty="0"/>
              <a:t>is measured by counting the number of key operation-in sorting and searching algorithms. (the # of comparison)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0000CC"/>
                </a:solidFill>
              </a:rPr>
              <a:t>SPACE</a:t>
            </a:r>
            <a:r>
              <a:rPr lang="en-US" sz="2400" dirty="0"/>
              <a:t> is measured by counting the maximum of memory needed by the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377" y="20113"/>
            <a:ext cx="5329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Complexity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949741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30621" y="2686762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7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1039</TotalTime>
  <Words>1053</Words>
  <Application>Microsoft Office PowerPoint</Application>
  <PresentationFormat>On-screen Show (4:3)</PresentationFormat>
  <Paragraphs>151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Office Theme</vt:lpstr>
      <vt:lpstr>1_Slipstream</vt:lpstr>
      <vt:lpstr>3_Office Theme</vt:lpstr>
      <vt:lpstr>Data Structures  ICT-1211  Information and Communication Technology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131</cp:revision>
  <dcterms:created xsi:type="dcterms:W3CDTF">2016-12-28T08:52:04Z</dcterms:created>
  <dcterms:modified xsi:type="dcterms:W3CDTF">2025-07-02T09:24:40Z</dcterms:modified>
</cp:coreProperties>
</file>