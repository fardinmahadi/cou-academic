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49" r:id="rId2"/>
    <p:sldMasterId id="2147483673" r:id="rId3"/>
    <p:sldMasterId id="2147483697" r:id="rId4"/>
    <p:sldMasterId id="2147483917" r:id="rId5"/>
    <p:sldMasterId id="2147483930" r:id="rId6"/>
  </p:sldMasterIdLst>
  <p:notesMasterIdLst>
    <p:notesMasterId r:id="rId39"/>
  </p:notesMasterIdLst>
  <p:handoutMasterIdLst>
    <p:handoutMasterId r:id="rId40"/>
  </p:handoutMasterIdLst>
  <p:sldIdLst>
    <p:sldId id="345" r:id="rId7"/>
    <p:sldId id="487" r:id="rId8"/>
    <p:sldId id="444" r:id="rId9"/>
    <p:sldId id="488" r:id="rId10"/>
    <p:sldId id="489" r:id="rId11"/>
    <p:sldId id="490" r:id="rId12"/>
    <p:sldId id="491" r:id="rId13"/>
    <p:sldId id="492" r:id="rId14"/>
    <p:sldId id="493" r:id="rId15"/>
    <p:sldId id="494" r:id="rId16"/>
    <p:sldId id="495" r:id="rId17"/>
    <p:sldId id="497" r:id="rId18"/>
    <p:sldId id="496" r:id="rId19"/>
    <p:sldId id="499" r:id="rId20"/>
    <p:sldId id="500" r:id="rId21"/>
    <p:sldId id="498" r:id="rId22"/>
    <p:sldId id="501" r:id="rId23"/>
    <p:sldId id="503" r:id="rId24"/>
    <p:sldId id="504" r:id="rId25"/>
    <p:sldId id="502" r:id="rId26"/>
    <p:sldId id="506" r:id="rId27"/>
    <p:sldId id="505" r:id="rId28"/>
    <p:sldId id="507" r:id="rId29"/>
    <p:sldId id="508" r:id="rId30"/>
    <p:sldId id="509" r:id="rId31"/>
    <p:sldId id="510" r:id="rId32"/>
    <p:sldId id="511" r:id="rId33"/>
    <p:sldId id="513" r:id="rId34"/>
    <p:sldId id="512" r:id="rId35"/>
    <p:sldId id="515" r:id="rId36"/>
    <p:sldId id="516" r:id="rId37"/>
    <p:sldId id="435" r:id="rId3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20FA9B9D-EBA2-484A-BEBB-C985D39332FA}">
          <p14:sldIdLst>
            <p14:sldId id="345"/>
            <p14:sldId id="487"/>
            <p14:sldId id="444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7"/>
            <p14:sldId id="496"/>
            <p14:sldId id="499"/>
            <p14:sldId id="500"/>
            <p14:sldId id="498"/>
            <p14:sldId id="501"/>
            <p14:sldId id="503"/>
            <p14:sldId id="504"/>
            <p14:sldId id="502"/>
            <p14:sldId id="506"/>
            <p14:sldId id="505"/>
            <p14:sldId id="507"/>
            <p14:sldId id="508"/>
            <p14:sldId id="509"/>
            <p14:sldId id="510"/>
            <p14:sldId id="511"/>
            <p14:sldId id="513"/>
            <p14:sldId id="512"/>
            <p14:sldId id="515"/>
            <p14:sldId id="516"/>
            <p14:sldId id="435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04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FF0000"/>
    <a:srgbClr val="CCECFF"/>
    <a:srgbClr val="FFFF66"/>
    <a:srgbClr val="FF5050"/>
    <a:srgbClr val="CCFF33"/>
    <a:srgbClr val="99FF99"/>
    <a:srgbClr val="FF9933"/>
    <a:srgbClr val="E1BD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50" autoAdjust="0"/>
    <p:restoredTop sz="85385" autoAdjust="0"/>
  </p:normalViewPr>
  <p:slideViewPr>
    <p:cSldViewPr>
      <p:cViewPr varScale="1">
        <p:scale>
          <a:sx n="62" d="100"/>
          <a:sy n="62" d="100"/>
        </p:scale>
        <p:origin x="-1362" y="-90"/>
      </p:cViewPr>
      <p:guideLst>
        <p:guide orient="horz" pos="204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8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85B3E0D0-1152-4589-91DF-203E7BB440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6024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2D14C573-AC46-4D06-93FF-47369F34E5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5038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64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D42F94-761A-4B1B-B963-538E812BAE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36501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F4E988-DFC5-4FEC-8838-7F8B84C210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91731"/>
      </p:ext>
    </p:extLst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C23C8D-3E3D-4A36-9AAB-59652C03E0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69931"/>
      </p:ext>
    </p:extLst>
  </p:cSld>
  <p:clrMapOvr>
    <a:masterClrMapping/>
  </p:clrMapOvr>
  <p:transition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238F6-0243-49FF-AE47-783FBF2D5B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53112"/>
      </p:ext>
    </p:extLst>
  </p:cSld>
  <p:clrMapOvr>
    <a:masterClrMapping/>
  </p:clrMapOvr>
  <p:transition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9D4513-2C2A-4633-9A8D-4A862FD60A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31205"/>
      </p:ext>
    </p:extLst>
  </p:cSld>
  <p:clrMapOvr>
    <a:masterClrMapping/>
  </p:clrMapOvr>
  <p:transition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25A9A8-1A92-4E66-B34C-04E835A7E1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28335"/>
      </p:ext>
    </p:extLst>
  </p:cSld>
  <p:clrMapOvr>
    <a:masterClrMapping/>
  </p:clrMapOvr>
  <p:transition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CC087-243C-4087-980E-AAEA0E7BE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36552"/>
      </p:ext>
    </p:extLst>
  </p:cSld>
  <p:clrMapOvr>
    <a:masterClrMapping/>
  </p:clrMapOvr>
  <p:transition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A06260-6C4C-4786-B72E-7A871EAEE3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97348"/>
      </p:ext>
    </p:extLst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9C295B-B928-42B2-BB40-AB19BC45E4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94765"/>
      </p:ext>
    </p:extLst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41022C-6757-429C-856D-0F3DE0678D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60825"/>
      </p:ext>
    </p:extLst>
  </p:cSld>
  <p:clrMapOvr>
    <a:masterClrMapping/>
  </p:clrMapOvr>
  <p:transition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C35CF-FF5D-4C47-BC07-14DE2D7090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56478"/>
      </p:ext>
    </p:extLst>
  </p:cSld>
  <p:clrMapOvr>
    <a:masterClrMapping/>
  </p:clrMapOvr>
  <p:transition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F3D0C-A43E-49B8-80CE-2479664D50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65530"/>
      </p:ext>
    </p:extLst>
  </p:cSld>
  <p:clrMapOvr>
    <a:masterClrMapping/>
  </p:clrMapOvr>
  <p:transition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EA2202-F55D-421F-B21A-E672BD730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25370"/>
      </p:ext>
    </p:extLst>
  </p:cSld>
  <p:clrMapOvr>
    <a:masterClrMapping/>
  </p:clrMapOvr>
  <p:transition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F8116-451F-45F8-98EF-A163DB10B4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1675"/>
      </p:ext>
    </p:extLst>
  </p:cSld>
  <p:clrMapOvr>
    <a:masterClrMapping/>
  </p:clrMapOvr>
  <p:transition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E719C9-BA41-4E7F-8A20-8A838622C2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59144"/>
      </p:ext>
    </p:extLst>
  </p:cSld>
  <p:clrMapOvr>
    <a:masterClrMapping/>
  </p:clrMapOvr>
  <p:transition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2E43F-022D-4C54-BC37-A0ECB85C9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12442"/>
      </p:ext>
    </p:extLst>
  </p:cSld>
  <p:clrMapOvr>
    <a:masterClrMapping/>
  </p:clrMapOvr>
  <p:transition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EB95BA-5BBC-4564-9076-5E5080EF3F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91365"/>
      </p:ext>
    </p:extLst>
  </p:cSld>
  <p:clrMapOvr>
    <a:masterClrMapping/>
  </p:clrMapOvr>
  <p:transition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4FC9B2-29AA-4B94-AB49-6847134DDA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66111"/>
      </p:ext>
    </p:extLst>
  </p:cSld>
  <p:clrMapOvr>
    <a:masterClrMapping/>
  </p:clrMapOvr>
  <p:transition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60A7C-5636-4F75-BE19-4C9478B1FD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04199"/>
      </p:ext>
    </p:extLst>
  </p:cSld>
  <p:clrMapOvr>
    <a:masterClrMapping/>
  </p:clrMapOvr>
  <p:transition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16398-3C8C-4FA8-A597-B8FF5A9307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58780"/>
      </p:ext>
    </p:extLst>
  </p:cSld>
  <p:clrMapOvr>
    <a:masterClrMapping/>
  </p:clrMapOvr>
  <p:transition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54C004-F925-4C08-8C63-FCB1669604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63563"/>
      </p:ext>
    </p:extLst>
  </p:cSld>
  <p:clrMapOvr>
    <a:masterClrMapping/>
  </p:clrMapOvr>
  <p:transition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60B2A-46B2-4F00-982E-8B26E61716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89641"/>
      </p:ext>
    </p:extLst>
  </p:cSld>
  <p:clrMapOvr>
    <a:masterClrMapping/>
  </p:clrMapOvr>
  <p:transition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141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0107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2564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0077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9142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3645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1230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0154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7113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7783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2419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4208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4268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5508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4287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246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1473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6290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6723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8701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2714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80764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293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2012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210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5599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520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700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838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9071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715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053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667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1299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05081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72718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95254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90977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53172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61176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34259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80453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59565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80698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95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33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3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CD0D545F-5054-415D-A4CB-4ECB580E14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wipe dir="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22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2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2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086D4231-D39F-433C-9620-0AAE50D9CD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>
    <p:wipe dir="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cs typeface="+mn-cs"/>
              </a:rPr>
              <a:pPr defTabSz="449263" eaLnBrk="0" hangingPunct="0"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917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161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/>
            <a:fld id="{8A24BF4C-9CA2-423E-B4F6-7F55918723CE}" type="datetime1">
              <a:rPr lang="fr-FR" smtClean="0">
                <a:ea typeface="ＭＳ Ｐゴシック" charset="-128"/>
                <a:cs typeface="+mn-cs"/>
              </a:rPr>
              <a:pPr defTabSz="457200"/>
              <a:t>02/07/2025</a:t>
            </a:fld>
            <a:endParaRPr lang="en-US">
              <a:ea typeface="ＭＳ Ｐゴシック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/>
            <a:endParaRPr lang="en-US">
              <a:ea typeface="ＭＳ Ｐゴシック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/>
            <a:fld id="{AE2053D5-6219-41C3-8D16-FE99C84E3D09}" type="slidenum">
              <a:rPr lang="en-US" smtClean="0">
                <a:ea typeface="ＭＳ Ｐゴシック" charset="-128"/>
                <a:cs typeface="+mn-cs"/>
              </a:rPr>
              <a:pPr defTabSz="457200"/>
              <a:t>‹#›</a:t>
            </a:fld>
            <a:endParaRPr lang="en-US"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818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09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Lecture-04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146331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Arial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03560" y="2348850"/>
            <a:ext cx="6511925" cy="17282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String 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109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Basic Terminology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Each programming language contains a character set that is used to communicate with the computer. This sets usually includes the following:</a:t>
            </a:r>
            <a:endParaRPr lang="tr-TR" b="1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dirty="0"/>
              <a:t> 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</a:rPr>
              <a:t>Alphabet:</a:t>
            </a:r>
            <a:r>
              <a:rPr lang="en-US" sz="2000" dirty="0"/>
              <a:t>   </a:t>
            </a:r>
            <a:r>
              <a:rPr lang="en-US" sz="2000" b="1" dirty="0"/>
              <a:t>A  B  C  D  E  F  G  H  I  J  K  L  M  N O  P Q  R  S  T  U  V  W  X  Y  Z</a:t>
            </a:r>
          </a:p>
          <a:p>
            <a:pPr marL="0" indent="0" algn="just">
              <a:buNone/>
            </a:pPr>
            <a:endParaRPr lang="en-US" sz="2000" b="1" dirty="0"/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</a:rPr>
              <a:t>Digits: </a:t>
            </a:r>
            <a:r>
              <a:rPr lang="en-US" sz="2000" b="1" dirty="0"/>
              <a:t>	     0  1  2  3  4  5  6  7  8  9  </a:t>
            </a:r>
          </a:p>
          <a:p>
            <a:pPr marL="0" indent="0" algn="just">
              <a:buNone/>
            </a:pPr>
            <a:endParaRPr lang="en-US" sz="2000" b="1" dirty="0"/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</a:rPr>
              <a:t>Special characters:</a:t>
            </a:r>
            <a:r>
              <a:rPr lang="en-US" sz="2000" b="1" dirty="0"/>
              <a:t>   +  -  /  *  ( )  ,  .  $  =  ‘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16260" y="5524560"/>
            <a:ext cx="288040" cy="288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6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dirty="0">
                <a:cs typeface="Times New Roman" pitchFamily="18" charset="0"/>
              </a:rPr>
              <a:t>A finite sequence </a:t>
            </a:r>
            <a:r>
              <a:rPr lang="en-US" b="1" dirty="0">
                <a:solidFill>
                  <a:srgbClr val="FF0000"/>
                </a:solidFill>
                <a:cs typeface="Times New Roman" pitchFamily="18" charset="0"/>
              </a:rPr>
              <a:t>S</a:t>
            </a:r>
            <a:r>
              <a:rPr lang="en-US" dirty="0">
                <a:cs typeface="Times New Roman" pitchFamily="18" charset="0"/>
              </a:rPr>
              <a:t> of zero or more characters is called a </a:t>
            </a: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string</a:t>
            </a:r>
            <a:r>
              <a:rPr lang="en-US" dirty="0">
                <a:solidFill>
                  <a:srgbClr val="0000CC"/>
                </a:solidFill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cs typeface="Times New Roman" pitchFamily="18" charset="0"/>
              </a:rPr>
              <a:t>The number of characters in a string is called its </a:t>
            </a: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length.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cs typeface="Times New Roman" pitchFamily="18" charset="0"/>
              </a:rPr>
              <a:t>The string with zero characters is called </a:t>
            </a: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empty</a:t>
            </a:r>
            <a:r>
              <a:rPr lang="en-US" dirty="0">
                <a:cs typeface="Times New Roman" pitchFamily="18" charset="0"/>
              </a:rPr>
              <a:t> string or the </a:t>
            </a: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null</a:t>
            </a:r>
            <a:r>
              <a:rPr lang="en-US" dirty="0">
                <a:cs typeface="Times New Roman" pitchFamily="18" charset="0"/>
              </a:rPr>
              <a:t> string.</a:t>
            </a:r>
            <a:endParaRPr lang="tr-TR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451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0000CC"/>
                </a:solidFill>
                <a:cs typeface="Times New Roman" pitchFamily="18" charset="0"/>
              </a:rPr>
              <a:t>Example:</a:t>
            </a: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		‘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THE END</a:t>
            </a:r>
            <a:r>
              <a:rPr lang="en-US" dirty="0">
                <a:cs typeface="Times New Roman" pitchFamily="18" charset="0"/>
              </a:rPr>
              <a:t>’</a:t>
            </a: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		‘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TO BE OR NOT TO BE</a:t>
            </a:r>
            <a:r>
              <a:rPr lang="en-US" dirty="0">
                <a:cs typeface="Times New Roman" pitchFamily="18" charset="0"/>
              </a:rPr>
              <a:t>’</a:t>
            </a: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		‘  ‘</a:t>
            </a: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		‘             ‘</a:t>
            </a: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Length:  </a:t>
            </a: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7, 18, 0, 2</a:t>
            </a:r>
            <a:r>
              <a:rPr lang="en-US" dirty="0"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		</a:t>
            </a:r>
            <a:endParaRPr lang="tr-TR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27730" y="3861060"/>
            <a:ext cx="360050" cy="36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93130" y="3854015"/>
            <a:ext cx="360050" cy="36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13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2720"/>
                <a:ext cx="8229600" cy="4968690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>
                  <a:buFont typeface="Wingdings" pitchFamily="2" charset="2"/>
                  <a:buChar char="§"/>
                </a:pPr>
                <a:r>
                  <a:rPr lang="en-US" dirty="0">
                    <a:cs typeface="Times New Roman" pitchFamily="18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cs typeface="Times New Roman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cs typeface="Times New Roman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cs typeface="Times New Roman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cs typeface="Times New Roman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cs typeface="Times New Roman" pitchFamily="18" charset="0"/>
                  </a:rPr>
                  <a:t> be strings. The string consisting of the characters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cs typeface="Times New Roman" pitchFamily="18" charset="0"/>
                  </a:rPr>
                  <a:t> followed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cs typeface="Times New Roman" pitchFamily="18" charset="0"/>
                  </a:rPr>
                  <a:t> is called the </a:t>
                </a:r>
                <a:r>
                  <a:rPr lang="en-US" b="1" dirty="0">
                    <a:solidFill>
                      <a:srgbClr val="0000CC"/>
                    </a:solidFill>
                    <a:cs typeface="Times New Roman" pitchFamily="18" charset="0"/>
                  </a:rPr>
                  <a:t>concatenation</a:t>
                </a:r>
                <a:r>
                  <a:rPr lang="en-US" dirty="0">
                    <a:solidFill>
                      <a:schemeClr val="tx1"/>
                    </a:solidFill>
                    <a:cs typeface="Times New Roman" pitchFamily="18" charset="0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cs typeface="Times New Roman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dirty="0">
                  <a:solidFill>
                    <a:schemeClr val="tx1"/>
                  </a:solidFill>
                  <a:cs typeface="Times New Roman" pitchFamily="18" charset="0"/>
                </a:endParaRPr>
              </a:p>
              <a:p>
                <a:pPr algn="just">
                  <a:buFont typeface="Wingdings" pitchFamily="2" charset="2"/>
                  <a:buChar char="§"/>
                </a:pPr>
                <a:r>
                  <a:rPr lang="en-US" dirty="0">
                    <a:cs typeface="Times New Roman" pitchFamily="18" charset="0"/>
                  </a:rPr>
                  <a:t>It will be denoted by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00CC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  <a:cs typeface="Times New Roman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  <a:cs typeface="Times New Roman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0000CC"/>
                    </a:solidFill>
                    <a:cs typeface="Times New Roman" pitchFamily="18" charset="0"/>
                  </a:rPr>
                  <a:t> //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  <a:cs typeface="Times New Roman" pitchFamily="18" charset="0"/>
                          </a:rPr>
                          <m:t>𝑺</m:t>
                        </m:r>
                      </m:e>
                      <m:sub>
                        <m:r>
                          <a:rPr lang="en-US" b="1" i="1">
                            <a:solidFill>
                              <a:srgbClr val="0000CC"/>
                            </a:solidFill>
                            <a:latin typeface="Cambria Math"/>
                            <a:cs typeface="Times New Roman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0000CC"/>
                    </a:solidFill>
                    <a:cs typeface="Times New Roman" pitchFamily="18" charset="0"/>
                  </a:rPr>
                  <a:t>.</a:t>
                </a:r>
                <a:endParaRPr lang="en-US" b="1" i="1" dirty="0">
                  <a:solidFill>
                    <a:schemeClr val="tx1"/>
                  </a:solidFill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en-US" dirty="0">
                  <a:solidFill>
                    <a:schemeClr val="tx1"/>
                  </a:solidFill>
                  <a:cs typeface="Times New Roman" pitchFamily="18" charset="0"/>
                </a:endParaRPr>
              </a:p>
              <a:p>
                <a:pPr algn="just">
                  <a:buFont typeface="Wingdings" pitchFamily="2" charset="2"/>
                  <a:buChar char="§"/>
                </a:pPr>
                <a:r>
                  <a:rPr lang="en-US" dirty="0">
                    <a:cs typeface="Times New Roman" pitchFamily="18" charset="0"/>
                  </a:rPr>
                  <a:t>Example:</a:t>
                </a:r>
              </a:p>
              <a:p>
                <a:pPr marL="0" indent="0" algn="just">
                  <a:buNone/>
                </a:pPr>
                <a:r>
                  <a:rPr lang="en-US" dirty="0">
                    <a:cs typeface="Times New Roman" pitchFamily="18" charset="0"/>
                  </a:rPr>
                  <a:t>‘</a:t>
                </a:r>
                <a:r>
                  <a:rPr lang="en-US" b="1" dirty="0">
                    <a:solidFill>
                      <a:srgbClr val="0000CC"/>
                    </a:solidFill>
                    <a:cs typeface="Times New Roman" pitchFamily="18" charset="0"/>
                  </a:rPr>
                  <a:t>THE</a:t>
                </a:r>
                <a:r>
                  <a:rPr lang="en-US" dirty="0">
                    <a:cs typeface="Times New Roman" pitchFamily="18" charset="0"/>
                  </a:rPr>
                  <a:t>’ // ‘</a:t>
                </a:r>
                <a:r>
                  <a:rPr lang="en-US" b="1" dirty="0">
                    <a:solidFill>
                      <a:srgbClr val="FF0000"/>
                    </a:solidFill>
                    <a:cs typeface="Times New Roman" pitchFamily="18" charset="0"/>
                  </a:rPr>
                  <a:t>END</a:t>
                </a:r>
                <a:r>
                  <a:rPr lang="en-US" dirty="0">
                    <a:cs typeface="Times New Roman" pitchFamily="18" charset="0"/>
                  </a:rPr>
                  <a:t>’  = ‘</a:t>
                </a:r>
                <a:r>
                  <a:rPr lang="en-US" b="1" dirty="0">
                    <a:solidFill>
                      <a:srgbClr val="0000CC"/>
                    </a:solidFill>
                    <a:cs typeface="Times New Roman" pitchFamily="18" charset="0"/>
                  </a:rPr>
                  <a:t>THE</a:t>
                </a:r>
                <a:r>
                  <a:rPr lang="en-US" b="1" dirty="0">
                    <a:solidFill>
                      <a:srgbClr val="FF0000"/>
                    </a:solidFill>
                    <a:cs typeface="Times New Roman" pitchFamily="18" charset="0"/>
                  </a:rPr>
                  <a:t>END</a:t>
                </a:r>
                <a:r>
                  <a:rPr lang="en-US" dirty="0">
                    <a:cs typeface="Times New Roman" pitchFamily="18" charset="0"/>
                  </a:rPr>
                  <a:t>’</a:t>
                </a:r>
              </a:p>
              <a:p>
                <a:pPr marL="0" indent="0" algn="just">
                  <a:buNone/>
                </a:pPr>
                <a:r>
                  <a:rPr lang="en-US" dirty="0">
                    <a:cs typeface="Times New Roman" pitchFamily="18" charset="0"/>
                  </a:rPr>
                  <a:t>But</a:t>
                </a:r>
              </a:p>
              <a:p>
                <a:pPr marL="0" indent="0" algn="just">
                  <a:buNone/>
                </a:pPr>
                <a:r>
                  <a:rPr lang="en-US" dirty="0">
                    <a:solidFill>
                      <a:schemeClr val="tx1"/>
                    </a:solidFill>
                    <a:cs typeface="Times New Roman" pitchFamily="18" charset="0"/>
                  </a:rPr>
                  <a:t>‘</a:t>
                </a:r>
                <a:r>
                  <a:rPr lang="en-US" b="1" dirty="0">
                    <a:solidFill>
                      <a:srgbClr val="0000CC"/>
                    </a:solidFill>
                    <a:cs typeface="Times New Roman" pitchFamily="18" charset="0"/>
                  </a:rPr>
                  <a:t>THE</a:t>
                </a:r>
                <a:r>
                  <a:rPr lang="en-US" dirty="0">
                    <a:solidFill>
                      <a:schemeClr val="tx1"/>
                    </a:solidFill>
                    <a:cs typeface="Times New Roman" pitchFamily="18" charset="0"/>
                  </a:rPr>
                  <a:t>’ // </a:t>
                </a:r>
                <a:r>
                  <a:rPr lang="en-US" dirty="0">
                    <a:cs typeface="Times New Roman" pitchFamily="18" charset="0"/>
                  </a:rPr>
                  <a:t>‘      ‘ // ‘</a:t>
                </a:r>
                <a:r>
                  <a:rPr lang="en-US" b="1" dirty="0">
                    <a:solidFill>
                      <a:srgbClr val="FF0000"/>
                    </a:solidFill>
                    <a:cs typeface="Times New Roman" pitchFamily="18" charset="0"/>
                  </a:rPr>
                  <a:t>END</a:t>
                </a:r>
                <a:r>
                  <a:rPr lang="en-US" dirty="0">
                    <a:cs typeface="Times New Roman" pitchFamily="18" charset="0"/>
                  </a:rPr>
                  <a:t>’ =  ‘</a:t>
                </a:r>
                <a:r>
                  <a:rPr lang="en-US" b="1" dirty="0">
                    <a:solidFill>
                      <a:srgbClr val="0000CC"/>
                    </a:solidFill>
                    <a:cs typeface="Times New Roman" pitchFamily="18" charset="0"/>
                  </a:rPr>
                  <a:t>THE</a:t>
                </a:r>
                <a:r>
                  <a:rPr lang="en-US" dirty="0">
                    <a:cs typeface="Times New Roman" pitchFamily="18" charset="0"/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  <a:cs typeface="Times New Roman" pitchFamily="18" charset="0"/>
                  </a:rPr>
                  <a:t>END</a:t>
                </a:r>
                <a:r>
                  <a:rPr lang="en-US" dirty="0">
                    <a:cs typeface="Times New Roman" pitchFamily="18" charset="0"/>
                  </a:rPr>
                  <a:t>’</a:t>
                </a:r>
                <a:endParaRPr lang="en-US" dirty="0">
                  <a:solidFill>
                    <a:schemeClr val="tx1"/>
                  </a:solidFill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en-US" dirty="0">
                  <a:solidFill>
                    <a:schemeClr val="tx1"/>
                  </a:solidFill>
                  <a:cs typeface="Times New Roman" pitchFamily="18" charset="0"/>
                </a:endParaRPr>
              </a:p>
              <a:p>
                <a:pPr algn="just">
                  <a:buFont typeface="Wingdings" pitchFamily="2" charset="2"/>
                  <a:buChar char="§"/>
                </a:pPr>
                <a:endParaRPr lang="en-US" dirty="0">
                  <a:solidFill>
                    <a:schemeClr val="tx1"/>
                  </a:solidFill>
                  <a:cs typeface="Times New Roman" pitchFamily="18" charset="0"/>
                </a:endParaRPr>
              </a:p>
              <a:p>
                <a:pPr algn="just">
                  <a:buFont typeface="Wingdings" pitchFamily="2" charset="2"/>
                  <a:buChar char="§"/>
                </a:pPr>
                <a:endParaRPr lang="en-US" dirty="0">
                  <a:solidFill>
                    <a:srgbClr val="0000CC"/>
                  </a:solidFill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2720"/>
                <a:ext cx="8229600" cy="4968690"/>
              </a:xfrm>
              <a:blipFill rotWithShape="1">
                <a:blip r:embed="rId3"/>
                <a:stretch>
                  <a:fillRect l="-1704" t="-2454" r="-2667" b="-41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94655" y="5825170"/>
            <a:ext cx="360050" cy="36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35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690"/>
                <a:ext cx="8229600" cy="5184720"/>
              </a:xfrm>
            </p:spPr>
            <p:txBody>
              <a:bodyPr>
                <a:normAutofit lnSpcReduction="10000"/>
              </a:bodyPr>
              <a:lstStyle/>
              <a:p>
                <a:pPr algn="just">
                  <a:buFont typeface="Wingdings" pitchFamily="2" charset="2"/>
                  <a:buChar char="§"/>
                </a:pPr>
                <a:r>
                  <a:rPr lang="en-US" dirty="0">
                    <a:cs typeface="Times New Roman" pitchFamily="18" charset="0"/>
                  </a:rPr>
                  <a:t>The length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cs typeface="Times New Roman" pitchFamily="18" charset="0"/>
                  </a:rPr>
                  <a:t>//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cs typeface="Times New Roman" pitchFamily="18" charset="0"/>
                  </a:rPr>
                  <a:t> is equal to the sum of the lengths of the strings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cs typeface="Times New Roman" pitchFamily="18" charset="0"/>
                  </a:rPr>
                  <a:t>. </a:t>
                </a:r>
              </a:p>
              <a:p>
                <a:pPr marL="0" indent="0" algn="just">
                  <a:buNone/>
                </a:pPr>
                <a:endParaRPr lang="en-US" dirty="0">
                  <a:solidFill>
                    <a:schemeClr val="tx1"/>
                  </a:solidFill>
                  <a:cs typeface="Times New Roman" pitchFamily="18" charset="0"/>
                </a:endParaRPr>
              </a:p>
              <a:p>
                <a:pPr algn="just">
                  <a:buFont typeface="Wingdings" pitchFamily="2" charset="2"/>
                  <a:buChar char="§"/>
                </a:pPr>
                <a:r>
                  <a:rPr lang="en-US" dirty="0">
                    <a:cs typeface="Times New Roman" pitchFamily="18" charset="0"/>
                  </a:rPr>
                  <a:t>A string Y is called a </a:t>
                </a:r>
                <a:r>
                  <a:rPr lang="en-US" b="1" dirty="0">
                    <a:solidFill>
                      <a:srgbClr val="0000CC"/>
                    </a:solidFill>
                    <a:cs typeface="Times New Roman" pitchFamily="18" charset="0"/>
                  </a:rPr>
                  <a:t>substring</a:t>
                </a:r>
                <a:r>
                  <a:rPr lang="en-US" b="1" dirty="0">
                    <a:solidFill>
                      <a:srgbClr val="FF0000"/>
                    </a:solidFill>
                    <a:cs typeface="Times New Roman" pitchFamily="18" charset="0"/>
                  </a:rPr>
                  <a:t> </a:t>
                </a:r>
                <a:r>
                  <a:rPr lang="en-US" dirty="0">
                    <a:cs typeface="Times New Roman" pitchFamily="18" charset="0"/>
                  </a:rPr>
                  <a:t>of a string S if there exist strings X and  such that</a:t>
                </a:r>
              </a:p>
              <a:p>
                <a:pPr marL="0" indent="0" algn="just">
                  <a:buNone/>
                </a:pPr>
                <a:r>
                  <a:rPr lang="en-US" dirty="0">
                    <a:cs typeface="Times New Roman" pitchFamily="18" charset="0"/>
                  </a:rPr>
                  <a:t>		</a:t>
                </a:r>
                <a:r>
                  <a:rPr lang="en-US" b="1" dirty="0">
                    <a:solidFill>
                      <a:srgbClr val="0000CC"/>
                    </a:solidFill>
                    <a:cs typeface="Times New Roman" pitchFamily="18" charset="0"/>
                  </a:rPr>
                  <a:t>S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  =</m:t>
                    </m:r>
                    <m:r>
                      <a:rPr lang="en-US" b="1" i="0" smtClean="0">
                        <a:solidFill>
                          <a:srgbClr val="0000CC"/>
                        </a:solidFill>
                        <a:latin typeface="Cambria Math"/>
                        <a:cs typeface="Times New Roman" pitchFamily="18" charset="0"/>
                      </a:rPr>
                      <m:t>𝐗</m:t>
                    </m:r>
                  </m:oMath>
                </a14:m>
                <a:r>
                  <a:rPr lang="en-US" b="1" dirty="0">
                    <a:solidFill>
                      <a:srgbClr val="0000CC"/>
                    </a:solidFill>
                    <a:cs typeface="Times New Roman" pitchFamily="18" charset="0"/>
                  </a:rPr>
                  <a:t> // Y //  Z</a:t>
                </a:r>
              </a:p>
              <a:p>
                <a:pPr marL="0" indent="0" algn="just">
                  <a:buNone/>
                </a:pPr>
                <a:endParaRPr lang="en-US" dirty="0">
                  <a:solidFill>
                    <a:schemeClr val="tx1"/>
                  </a:solidFill>
                  <a:cs typeface="Times New Roman" pitchFamily="18" charset="0"/>
                </a:endParaRPr>
              </a:p>
              <a:p>
                <a:pPr algn="just">
                  <a:buFont typeface="Wingdings" pitchFamily="2" charset="2"/>
                  <a:buChar char="§"/>
                </a:pPr>
                <a:r>
                  <a:rPr lang="en-US" dirty="0">
                    <a:cs typeface="Times New Roman" pitchFamily="18" charset="0"/>
                  </a:rPr>
                  <a:t>If X is an empty string , then Y is called an </a:t>
                </a:r>
                <a:r>
                  <a:rPr lang="en-US" dirty="0">
                    <a:solidFill>
                      <a:srgbClr val="0000CC"/>
                    </a:solidFill>
                    <a:cs typeface="Times New Roman" pitchFamily="18" charset="0"/>
                  </a:rPr>
                  <a:t>initial substring </a:t>
                </a:r>
                <a:r>
                  <a:rPr lang="en-US" dirty="0">
                    <a:cs typeface="Times New Roman" pitchFamily="18" charset="0"/>
                  </a:rPr>
                  <a:t>of S, and if Z is an empty string then Y is called a </a:t>
                </a:r>
                <a:r>
                  <a:rPr lang="en-US" dirty="0">
                    <a:solidFill>
                      <a:srgbClr val="0000CC"/>
                    </a:solidFill>
                    <a:cs typeface="Times New Roman" pitchFamily="18" charset="0"/>
                  </a:rPr>
                  <a:t>terminal substring</a:t>
                </a:r>
                <a:r>
                  <a:rPr lang="en-US" dirty="0">
                    <a:cs typeface="Times New Roman" pitchFamily="18" charset="0"/>
                  </a:rPr>
                  <a:t> of S.</a:t>
                </a:r>
              </a:p>
              <a:p>
                <a:pPr algn="just">
                  <a:buFont typeface="Wingdings" pitchFamily="2" charset="2"/>
                  <a:buChar char="§"/>
                </a:pPr>
                <a:endParaRPr lang="en-US" dirty="0">
                  <a:solidFill>
                    <a:schemeClr val="tx1"/>
                  </a:solidFill>
                  <a:cs typeface="Times New Roman" pitchFamily="18" charset="0"/>
                </a:endParaRPr>
              </a:p>
              <a:p>
                <a:pPr algn="just">
                  <a:buFont typeface="Wingdings" pitchFamily="2" charset="2"/>
                  <a:buChar char="§"/>
                </a:pPr>
                <a:endParaRPr lang="en-US" dirty="0">
                  <a:solidFill>
                    <a:srgbClr val="0000CC"/>
                  </a:solidFill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690"/>
                <a:ext cx="8229600" cy="5184720"/>
              </a:xfrm>
              <a:blipFill rotWithShape="1">
                <a:blip r:embed="rId3"/>
                <a:stretch>
                  <a:fillRect l="-1852" t="-2350" r="-3037" b="-30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248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dirty="0">
                <a:cs typeface="Times New Roman" pitchFamily="18" charset="0"/>
              </a:rPr>
              <a:t>Example: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chemeClr val="tx1"/>
                </a:solidFill>
                <a:cs typeface="Times New Roman" pitchFamily="18" charset="0"/>
              </a:rPr>
              <a:t>‘</a:t>
            </a:r>
            <a:r>
              <a:rPr lang="en-US" sz="2800" b="1" dirty="0">
                <a:solidFill>
                  <a:srgbClr val="0000CC"/>
                </a:solidFill>
                <a:cs typeface="Times New Roman" pitchFamily="18" charset="0"/>
              </a:rPr>
              <a:t>BE OR NOT</a:t>
            </a:r>
            <a:r>
              <a:rPr lang="en-US" sz="2800" dirty="0">
                <a:solidFill>
                  <a:schemeClr val="tx1"/>
                </a:solidFill>
                <a:cs typeface="Times New Roman" pitchFamily="18" charset="0"/>
              </a:rPr>
              <a:t>’  is a substring of </a:t>
            </a:r>
            <a:r>
              <a:rPr lang="en-US" sz="2800" dirty="0">
                <a:cs typeface="Times New Roman" pitchFamily="18" charset="0"/>
              </a:rPr>
              <a:t> ‘</a:t>
            </a:r>
            <a:r>
              <a:rPr lang="en-US" sz="2800" b="1" dirty="0">
                <a:solidFill>
                  <a:srgbClr val="0000CC"/>
                </a:solidFill>
                <a:cs typeface="Times New Roman" pitchFamily="18" charset="0"/>
              </a:rPr>
              <a:t>TO BE OR NOT TO BE</a:t>
            </a:r>
            <a:r>
              <a:rPr lang="en-US" sz="2800" dirty="0">
                <a:cs typeface="Times New Roman" pitchFamily="18" charset="0"/>
              </a:rPr>
              <a:t>’</a:t>
            </a:r>
          </a:p>
          <a:p>
            <a:pPr marL="0" indent="0" algn="just">
              <a:buNone/>
            </a:pPr>
            <a:endParaRPr lang="en-US" sz="2800" dirty="0"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800" dirty="0">
                <a:cs typeface="Times New Roman" pitchFamily="18" charset="0"/>
              </a:rPr>
              <a:t>‘</a:t>
            </a:r>
            <a:r>
              <a:rPr lang="en-US" sz="2800" b="1" dirty="0">
                <a:solidFill>
                  <a:srgbClr val="0000CC"/>
                </a:solidFill>
                <a:cs typeface="Times New Roman" pitchFamily="18" charset="0"/>
              </a:rPr>
              <a:t>THE</a:t>
            </a:r>
            <a:r>
              <a:rPr lang="en-US" sz="2800" dirty="0">
                <a:cs typeface="Times New Roman" pitchFamily="18" charset="0"/>
              </a:rPr>
              <a:t>’ is an initial substring of ‘</a:t>
            </a:r>
            <a:r>
              <a:rPr lang="en-US" sz="2800" b="1" dirty="0">
                <a:solidFill>
                  <a:srgbClr val="0000CC"/>
                </a:solidFill>
                <a:cs typeface="Times New Roman" pitchFamily="18" charset="0"/>
              </a:rPr>
              <a:t>THE END</a:t>
            </a:r>
            <a:r>
              <a:rPr lang="en-US" sz="2800" dirty="0">
                <a:cs typeface="Times New Roman" pitchFamily="18" charset="0"/>
              </a:rPr>
              <a:t>’</a:t>
            </a:r>
          </a:p>
          <a:p>
            <a:pPr marL="0" indent="0" algn="just">
              <a:buNone/>
            </a:pPr>
            <a:endParaRPr lang="en-US" sz="2800" dirty="0"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800" dirty="0">
                <a:cs typeface="Times New Roman" pitchFamily="18" charset="0"/>
              </a:rPr>
              <a:t>* </a:t>
            </a:r>
            <a:r>
              <a:rPr lang="en-US" sz="2800" i="1" dirty="0">
                <a:solidFill>
                  <a:srgbClr val="FF0000"/>
                </a:solidFill>
                <a:cs typeface="Times New Roman" pitchFamily="18" charset="0"/>
              </a:rPr>
              <a:t>If Y is a substring of S, then the length of Y cannot exceed the length of S.</a:t>
            </a:r>
          </a:p>
          <a:p>
            <a:pPr marL="0" indent="0" algn="just">
              <a:buNone/>
            </a:pPr>
            <a:endParaRPr lang="en-US" sz="2800" dirty="0">
              <a:solidFill>
                <a:schemeClr val="tx1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054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Storing 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String are stored in three types of structures:</a:t>
            </a: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rgbClr val="0000CC"/>
                </a:solidFill>
                <a:cs typeface="Times New Roman" pitchFamily="18" charset="0"/>
              </a:rPr>
              <a:t>Fixed-length</a:t>
            </a:r>
            <a:r>
              <a:rPr lang="en-US" dirty="0">
                <a:cs typeface="Times New Roman" pitchFamily="18" charset="0"/>
              </a:rPr>
              <a:t> structures</a:t>
            </a: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rgbClr val="0000CC"/>
                </a:solidFill>
                <a:cs typeface="Times New Roman" pitchFamily="18" charset="0"/>
              </a:rPr>
              <a:t>Variable-length</a:t>
            </a:r>
            <a:r>
              <a:rPr lang="en-US" dirty="0">
                <a:cs typeface="Times New Roman" pitchFamily="18" charset="0"/>
              </a:rPr>
              <a:t> structures with fixed maximums</a:t>
            </a:r>
          </a:p>
          <a:p>
            <a:pPr marL="514350" indent="-514350" algn="just">
              <a:buAutoNum type="arabicPeriod"/>
            </a:pPr>
            <a:r>
              <a:rPr lang="en-US" dirty="0">
                <a:solidFill>
                  <a:srgbClr val="0000CC"/>
                </a:solidFill>
                <a:cs typeface="Times New Roman" pitchFamily="18" charset="0"/>
              </a:rPr>
              <a:t>Linked </a:t>
            </a:r>
            <a:r>
              <a:rPr lang="en-US" dirty="0">
                <a:cs typeface="Times New Roman" pitchFamily="18" charset="0"/>
              </a:rPr>
              <a:t>structures</a:t>
            </a:r>
          </a:p>
          <a:p>
            <a:pPr marL="514350" indent="-514350" algn="just">
              <a:buAutoNum type="arabicPeriod"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626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Storing 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Record-Oriented, Fixed-length Storage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60" y="2148079"/>
            <a:ext cx="7993110" cy="930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39" y="3573020"/>
            <a:ext cx="8433811" cy="1152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9119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Storing 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Record-Oriented, Fixed-length Storage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310" y="2312290"/>
            <a:ext cx="8667545" cy="324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1275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Storing 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Record-Oriented, Fixed-length Storage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400" y="1988800"/>
            <a:ext cx="5514975" cy="462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4420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Storing 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sz="5100" b="1" dirty="0">
                <a:solidFill>
                  <a:srgbClr val="0000CC"/>
                </a:solidFill>
                <a:cs typeface="Times New Roman" pitchFamily="18" charset="0"/>
              </a:rPr>
              <a:t>Record-Oriented, Fixed-length Storage</a:t>
            </a:r>
          </a:p>
          <a:p>
            <a:pPr marL="0" indent="0" algn="just">
              <a:buNone/>
            </a:pPr>
            <a:endParaRPr lang="en-US" sz="5100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5100" dirty="0">
                <a:solidFill>
                  <a:srgbClr val="0000CC"/>
                </a:solidFill>
                <a:cs typeface="Times New Roman" pitchFamily="18" charset="0"/>
              </a:rPr>
              <a:t>Advantages: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5100" dirty="0">
                <a:cs typeface="Times New Roman" pitchFamily="18" charset="0"/>
              </a:rPr>
              <a:t>The ease  of accessing data from any given record.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5100" dirty="0">
                <a:cs typeface="Times New Roman" pitchFamily="18" charset="0"/>
              </a:rPr>
              <a:t>The ease of updating data in any given record ( as long as the length of the new data does not exceed the record length).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347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Storing 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5256730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sz="5100" b="1" dirty="0">
                <a:solidFill>
                  <a:srgbClr val="0000CC"/>
                </a:solidFill>
                <a:cs typeface="Times New Roman" pitchFamily="18" charset="0"/>
              </a:rPr>
              <a:t>Record-Oriented, Fixed-length Storage</a:t>
            </a:r>
          </a:p>
          <a:p>
            <a:pPr marL="0" indent="0" algn="just">
              <a:buNone/>
            </a:pPr>
            <a:endParaRPr lang="en-US" sz="5100" b="1" dirty="0">
              <a:solidFill>
                <a:srgbClr val="0000CC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5800" dirty="0">
                <a:solidFill>
                  <a:srgbClr val="0000CC"/>
                </a:solidFill>
                <a:cs typeface="Times New Roman" pitchFamily="18" charset="0"/>
              </a:rPr>
              <a:t>Disadvantages: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5800" dirty="0">
                <a:cs typeface="Times New Roman" pitchFamily="18" charset="0"/>
              </a:rPr>
              <a:t>Time is wasted reading an entire record if most of the storage consists of inessential blank spaces.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5800" dirty="0">
                <a:cs typeface="Times New Roman" pitchFamily="18" charset="0"/>
              </a:rPr>
              <a:t>Certain records may require more space than available.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5800" dirty="0">
                <a:cs typeface="Times New Roman" pitchFamily="18" charset="0"/>
              </a:rPr>
              <a:t>When the correction consists of more or fewer characters than the original text, changing a misspelled word requires the entire record be changed</a:t>
            </a:r>
            <a:r>
              <a:rPr lang="en-US" sz="5100" dirty="0">
                <a:cs typeface="Times New Roman" pitchFamily="18" charset="0"/>
              </a:rPr>
              <a:t>.</a:t>
            </a: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31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Storing 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50" y="1356688"/>
            <a:ext cx="8892600" cy="1386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550" y="2768773"/>
            <a:ext cx="6153150" cy="376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3711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Storing 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Variable-length Storage with Fixed Maximum</a:t>
            </a: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cs typeface="Times New Roman" pitchFamily="18" charset="0"/>
              </a:rPr>
              <a:t>The storage of variable-length strings in memory cells with fixed lengths can be done in two general ways: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971550" lvl="1" indent="-514350" algn="just">
              <a:buFont typeface="+mj-lt"/>
              <a:buAutoNum type="arabicPeriod"/>
            </a:pPr>
            <a:r>
              <a:rPr lang="en-US" dirty="0">
                <a:cs typeface="Times New Roman" pitchFamily="18" charset="0"/>
              </a:rPr>
              <a:t>One can use a marker, such as two dollar signs (</a:t>
            </a:r>
            <a:r>
              <a:rPr lang="en-US" dirty="0">
                <a:solidFill>
                  <a:srgbClr val="0000CC"/>
                </a:solidFill>
                <a:cs typeface="Times New Roman" pitchFamily="18" charset="0"/>
              </a:rPr>
              <a:t>$$</a:t>
            </a:r>
            <a:r>
              <a:rPr lang="en-US" dirty="0">
                <a:cs typeface="Times New Roman" pitchFamily="18" charset="0"/>
              </a:rPr>
              <a:t>), to signal the end of the string.</a:t>
            </a:r>
          </a:p>
          <a:p>
            <a:pPr marL="971550" lvl="1" indent="-514350" algn="just">
              <a:buFont typeface="+mj-lt"/>
              <a:buAutoNum type="arabicPeriod"/>
            </a:pPr>
            <a:endParaRPr lang="en-US" dirty="0">
              <a:cs typeface="Times New Roman" pitchFamily="18" charset="0"/>
            </a:endParaRPr>
          </a:p>
          <a:p>
            <a:pPr marL="971550" lvl="1" indent="-514350" algn="just">
              <a:buFont typeface="+mj-lt"/>
              <a:buAutoNum type="arabicPeriod"/>
            </a:pPr>
            <a:r>
              <a:rPr lang="en-US" dirty="0">
                <a:cs typeface="Times New Roman" pitchFamily="18" charset="0"/>
              </a:rPr>
              <a:t>One can list the length of the string – as an additional item in the pointer array.</a:t>
            </a:r>
          </a:p>
          <a:p>
            <a:pPr marL="514350" indent="-514350" algn="just">
              <a:buFont typeface="+mj-lt"/>
              <a:buAutoNum type="arabicPeriod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110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Storing 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Variable-length Storage with Fixed Maximum</a:t>
            </a:r>
          </a:p>
          <a:p>
            <a:pPr marL="0" indent="0" algn="just">
              <a:buNone/>
            </a:pPr>
            <a:r>
              <a:rPr lang="en-US" u="sng" dirty="0">
                <a:cs typeface="Times New Roman" pitchFamily="18" charset="0"/>
              </a:rPr>
              <a:t>Example:</a:t>
            </a: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50" y="2793110"/>
            <a:ext cx="8516562" cy="3444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3479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Storing 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Variable-length Storage with Fixed Maximum</a:t>
            </a:r>
          </a:p>
          <a:p>
            <a:pPr marL="0" indent="0" algn="just">
              <a:buNone/>
            </a:pPr>
            <a:r>
              <a:rPr lang="en-US" u="sng" dirty="0">
                <a:cs typeface="Times New Roman" pitchFamily="18" charset="0"/>
              </a:rPr>
              <a:t>Example:</a:t>
            </a: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60" y="2708900"/>
            <a:ext cx="7963951" cy="3528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2580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Storing 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Variable-length Storage with Fixed Maximum</a:t>
            </a:r>
          </a:p>
          <a:p>
            <a:pPr marL="0" indent="0" algn="just">
              <a:buNone/>
            </a:pPr>
            <a:r>
              <a:rPr lang="en-US" u="sng" dirty="0">
                <a:cs typeface="Times New Roman" pitchFamily="18" charset="0"/>
              </a:rPr>
              <a:t>Example:</a:t>
            </a: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40" y="2780910"/>
            <a:ext cx="8354692" cy="3528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1434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Storing 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680"/>
            <a:ext cx="8229600" cy="525673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Linked Storage</a:t>
            </a: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By a (one way) linked list, we mean a linearly ordered sequence of memory cells, called </a:t>
            </a: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nodes</a:t>
            </a:r>
            <a:r>
              <a:rPr lang="en-US" dirty="0">
                <a:cs typeface="Times New Roman" pitchFamily="18" charset="0"/>
              </a:rPr>
              <a:t>, where each node contains an item, called link , which points to the next node in the list (i.e. , which contains the address of the next node). Figure 3-6 is a schematic diagram of such linked list.</a:t>
            </a: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680" y="5207660"/>
            <a:ext cx="7921100" cy="1246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6785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Storing String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Linked Storage</a:t>
            </a: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10" y="2132820"/>
            <a:ext cx="8641200" cy="4031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8051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Character Data Type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Constants: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cs typeface="Times New Roman" pitchFamily="18" charset="0"/>
              </a:rPr>
              <a:t>Many programming languages denote string constants by placing the string in either single or double quotation marks. For example: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cs typeface="Times New Roman" pitchFamily="18" charset="0"/>
              </a:rPr>
              <a:t>‘</a:t>
            </a: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THE END</a:t>
            </a:r>
            <a:r>
              <a:rPr lang="en-US" dirty="0">
                <a:cs typeface="Times New Roman" pitchFamily="18" charset="0"/>
              </a:rPr>
              <a:t>’  and  ‘</a:t>
            </a:r>
            <a:r>
              <a:rPr lang="en-US" b="1" dirty="0">
                <a:solidFill>
                  <a:srgbClr val="0000CC"/>
                </a:solidFill>
                <a:cs typeface="Times New Roman" pitchFamily="18" charset="0"/>
              </a:rPr>
              <a:t>TO BE OR NOT TO BE</a:t>
            </a:r>
            <a:r>
              <a:rPr lang="en-US" dirty="0">
                <a:cs typeface="Times New Roman" pitchFamily="18" charset="0"/>
              </a:rPr>
              <a:t>’</a:t>
            </a: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      are string constants of lengths 7 and 18 characters respectively.</a:t>
            </a: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355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Character Data Type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Variables: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cs typeface="Times New Roman" pitchFamily="18" charset="0"/>
              </a:rPr>
              <a:t>Types of variables: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3200" b="1" dirty="0">
                <a:cs typeface="Times New Roman" pitchFamily="18" charset="0"/>
              </a:rPr>
              <a:t>Static variable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3200" b="1" dirty="0" err="1">
                <a:cs typeface="Times New Roman" pitchFamily="18" charset="0"/>
              </a:rPr>
              <a:t>Semistatic</a:t>
            </a:r>
            <a:r>
              <a:rPr lang="en-US" sz="3200" b="1" dirty="0">
                <a:cs typeface="Times New Roman" pitchFamily="18" charset="0"/>
              </a:rPr>
              <a:t> variable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3200" b="1" dirty="0">
                <a:cs typeface="Times New Roman" pitchFamily="18" charset="0"/>
              </a:rPr>
              <a:t>Dynamic variabl</a:t>
            </a:r>
            <a:r>
              <a:rPr lang="en-US" sz="3200" dirty="0">
                <a:cs typeface="Times New Roman" pitchFamily="18" charset="0"/>
              </a:rPr>
              <a:t>e</a:t>
            </a: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6973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Character Data Type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Variables: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FF0000"/>
                </a:solidFill>
                <a:cs typeface="Times New Roman" pitchFamily="18" charset="0"/>
              </a:rPr>
              <a:t>Static variable:</a:t>
            </a: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By a static character variable, we mean a variable whose length is defined before the program is executed and cannot change throughout the program.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633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Character Data Type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Variables: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err="1">
                <a:solidFill>
                  <a:srgbClr val="FF0000"/>
                </a:solidFill>
                <a:cs typeface="Times New Roman" pitchFamily="18" charset="0"/>
              </a:rPr>
              <a:t>Semistatic</a:t>
            </a:r>
            <a:r>
              <a:rPr lang="en-US" dirty="0">
                <a:solidFill>
                  <a:srgbClr val="FF0000"/>
                </a:solidFill>
                <a:cs typeface="Times New Roman" pitchFamily="18" charset="0"/>
              </a:rPr>
              <a:t> variable:</a:t>
            </a: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By a </a:t>
            </a:r>
            <a:r>
              <a:rPr lang="en-US" dirty="0" err="1">
                <a:cs typeface="Times New Roman" pitchFamily="18" charset="0"/>
              </a:rPr>
              <a:t>semistatic</a:t>
            </a:r>
            <a:r>
              <a:rPr lang="en-US" dirty="0">
                <a:cs typeface="Times New Roman" pitchFamily="18" charset="0"/>
              </a:rPr>
              <a:t> character variable, we mean a variable whose length may vary during the execution of the program as long as the length does not exceed a maximum value determined by the program before the program is executed.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989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Character Data Type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Variables: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>
                <a:solidFill>
                  <a:srgbClr val="FF0000"/>
                </a:solidFill>
                <a:cs typeface="Times New Roman" pitchFamily="18" charset="0"/>
              </a:rPr>
              <a:t>Dynamic variable:</a:t>
            </a:r>
          </a:p>
          <a:p>
            <a:pPr marL="0" indent="0" algn="just">
              <a:buNone/>
            </a:pPr>
            <a:r>
              <a:rPr lang="en-US" dirty="0">
                <a:cs typeface="Times New Roman" pitchFamily="18" charset="0"/>
              </a:rPr>
              <a:t>By a dynamic character variable, we mean a variable whose length can change during the execution of the program.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128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Character Data Type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80" y="1427960"/>
            <a:ext cx="8849968" cy="2808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9345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20"/>
            <a:ext cx="8229600" cy="49686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00" y="1585700"/>
            <a:ext cx="8659175" cy="270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0904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00"/>
            <a:ext cx="8229600" cy="51127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Substring:</a:t>
            </a:r>
          </a:p>
          <a:p>
            <a:pPr marL="0" indent="0" algn="just">
              <a:buNone/>
            </a:pPr>
            <a:r>
              <a:rPr lang="en-US" sz="2800" dirty="0">
                <a:cs typeface="Times New Roman" pitchFamily="18" charset="0"/>
              </a:rPr>
              <a:t>Accessing a substring from a given string requires </a:t>
            </a:r>
            <a:r>
              <a:rPr lang="en-US" sz="2800" dirty="0">
                <a:solidFill>
                  <a:srgbClr val="FF0000"/>
                </a:solidFill>
                <a:cs typeface="Times New Roman" pitchFamily="18" charset="0"/>
              </a:rPr>
              <a:t>three pieces of information</a:t>
            </a:r>
            <a:r>
              <a:rPr lang="en-US" sz="2800" dirty="0">
                <a:cs typeface="Times New Roman" pitchFamily="18" charset="0"/>
              </a:rPr>
              <a:t>: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cs typeface="Times New Roman" pitchFamily="18" charset="0"/>
              </a:rPr>
              <a:t>The name of the string or the string itself.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cs typeface="Times New Roman" pitchFamily="18" charset="0"/>
              </a:rPr>
              <a:t>The position of the first character of the substring in the given string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cs typeface="Times New Roman" pitchFamily="18" charset="0"/>
              </a:rPr>
              <a:t>The length of the substring of the position of the last character of the substring.</a:t>
            </a:r>
          </a:p>
          <a:p>
            <a:pPr marL="0" indent="0" algn="just">
              <a:buNone/>
            </a:pPr>
            <a:r>
              <a:rPr lang="en-US" sz="2600" dirty="0">
                <a:cs typeface="Times New Roman" pitchFamily="18" charset="0"/>
              </a:rPr>
              <a:t>We call this operation SUBSTRING. Specially we can write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SUBSTRING (string, initial, length)</a:t>
            </a:r>
          </a:p>
          <a:p>
            <a:pPr marL="0" indent="0" algn="just">
              <a:buNone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482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0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00"/>
            <a:ext cx="8229600" cy="51127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Substring: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SUBSTRING (string, initial, length)</a:t>
            </a:r>
          </a:p>
          <a:p>
            <a:pPr marL="0" indent="0" algn="ctr">
              <a:buNone/>
            </a:pPr>
            <a:endParaRPr lang="en-US" dirty="0"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70" y="3025517"/>
            <a:ext cx="8577316" cy="161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06488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7430" y="0"/>
            <a:ext cx="8229600" cy="6926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String Operation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680"/>
            <a:ext cx="8229600" cy="525673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cs typeface="Times New Roman" pitchFamily="18" charset="0"/>
            </a:endParaRPr>
          </a:p>
          <a:p>
            <a:pPr algn="just">
              <a:buFont typeface="Wingdings" pitchFamily="2" charset="2"/>
              <a:buChar char="§"/>
            </a:pPr>
            <a:endParaRPr lang="en-US" dirty="0">
              <a:solidFill>
                <a:srgbClr val="0000CC"/>
              </a:solidFill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90" y="836640"/>
            <a:ext cx="5832810" cy="3272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89" y="4141110"/>
            <a:ext cx="5832811" cy="261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54187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9440" y="2636890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5345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5107</TotalTime>
  <Words>955</Words>
  <Application>Microsoft Office PowerPoint</Application>
  <PresentationFormat>On-screen Show (4:3)</PresentationFormat>
  <Paragraphs>401</Paragraphs>
  <Slides>32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1_Custom Design</vt:lpstr>
      <vt:lpstr>Custom Design</vt:lpstr>
      <vt:lpstr>Slipstream</vt:lpstr>
      <vt:lpstr>Office Theme</vt:lpstr>
      <vt:lpstr>3_Office Theme</vt:lpstr>
      <vt:lpstr>1_Slipstream</vt:lpstr>
      <vt:lpstr>Data Structures  ICT-1211  Information and Communication Technology</vt:lpstr>
      <vt:lpstr> String Processing</vt:lpstr>
      <vt:lpstr>Basic Terminology</vt:lpstr>
      <vt:lpstr>String</vt:lpstr>
      <vt:lpstr>String</vt:lpstr>
      <vt:lpstr>String</vt:lpstr>
      <vt:lpstr>String</vt:lpstr>
      <vt:lpstr>String</vt:lpstr>
      <vt:lpstr>Storing String</vt:lpstr>
      <vt:lpstr>Storing String</vt:lpstr>
      <vt:lpstr>Storing String</vt:lpstr>
      <vt:lpstr>Storing String</vt:lpstr>
      <vt:lpstr>Storing String</vt:lpstr>
      <vt:lpstr>Storing String</vt:lpstr>
      <vt:lpstr>Storing String</vt:lpstr>
      <vt:lpstr>Storing String</vt:lpstr>
      <vt:lpstr>Storing String</vt:lpstr>
      <vt:lpstr>Storing String</vt:lpstr>
      <vt:lpstr>Storing String</vt:lpstr>
      <vt:lpstr>Storing String</vt:lpstr>
      <vt:lpstr>Storing String</vt:lpstr>
      <vt:lpstr>Character Data Type</vt:lpstr>
      <vt:lpstr>Character Data Type</vt:lpstr>
      <vt:lpstr>Character Data Type</vt:lpstr>
      <vt:lpstr>Character Data Type</vt:lpstr>
      <vt:lpstr>Character Data Type</vt:lpstr>
      <vt:lpstr>Character Data Type</vt:lpstr>
      <vt:lpstr>String Operation</vt:lpstr>
      <vt:lpstr>String Operation</vt:lpstr>
      <vt:lpstr>String Operation</vt:lpstr>
      <vt:lpstr>String Operation</vt:lpstr>
      <vt:lpstr>Thank you……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Elizabeth Davis</dc:creator>
  <cp:lastModifiedBy>Dulal Sir</cp:lastModifiedBy>
  <cp:revision>813</cp:revision>
  <dcterms:created xsi:type="dcterms:W3CDTF">2006-08-30T10:11:05Z</dcterms:created>
  <dcterms:modified xsi:type="dcterms:W3CDTF">2025-07-02T09:25:15Z</dcterms:modified>
</cp:coreProperties>
</file>