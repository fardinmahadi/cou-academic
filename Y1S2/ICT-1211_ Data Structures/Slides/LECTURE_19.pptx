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7" r:id="rId4"/>
  </p:sldMasterIdLst>
  <p:notesMasterIdLst>
    <p:notesMasterId r:id="rId27"/>
  </p:notesMasterIdLst>
  <p:sldIdLst>
    <p:sldId id="345" r:id="rId5"/>
    <p:sldId id="493" r:id="rId6"/>
    <p:sldId id="428" r:id="rId7"/>
    <p:sldId id="487" r:id="rId8"/>
    <p:sldId id="429" r:id="rId9"/>
    <p:sldId id="430" r:id="rId10"/>
    <p:sldId id="431" r:id="rId11"/>
    <p:sldId id="432" r:id="rId12"/>
    <p:sldId id="433" r:id="rId13"/>
    <p:sldId id="434" r:id="rId14"/>
    <p:sldId id="495" r:id="rId15"/>
    <p:sldId id="496" r:id="rId16"/>
    <p:sldId id="488" r:id="rId17"/>
    <p:sldId id="435" r:id="rId18"/>
    <p:sldId id="436" r:id="rId19"/>
    <p:sldId id="441" r:id="rId20"/>
    <p:sldId id="442" r:id="rId21"/>
    <p:sldId id="444" r:id="rId22"/>
    <p:sldId id="443" r:id="rId23"/>
    <p:sldId id="445" r:id="rId24"/>
    <p:sldId id="446" r:id="rId25"/>
    <p:sldId id="494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6" autoAdjust="0"/>
    <p:restoredTop sz="91615" autoAdjust="0"/>
  </p:normalViewPr>
  <p:slideViewPr>
    <p:cSldViewPr snapToGrid="0">
      <p:cViewPr varScale="1">
        <p:scale>
          <a:sx n="67" d="100"/>
          <a:sy n="67" d="100"/>
        </p:scale>
        <p:origin x="-124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D40F-337E-475A-B8D0-2FD58C6D0387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9FA0E-C547-4E4D-80AD-FEB8A6571D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1. defines 3! In terms of 2!, so we must postpone evaluating 4! Until we evaluate 2!</a:t>
            </a:r>
          </a:p>
          <a:p>
            <a:r>
              <a:rPr lang="en-US" dirty="0"/>
              <a:t>Step 2. Here is 2! Is defined in terms of 1!, so we must postpone evaluating 3! Until we evaluate 1!</a:t>
            </a:r>
          </a:p>
          <a:p>
            <a:r>
              <a:rPr lang="en-US" dirty="0"/>
              <a:t>Step3.</a:t>
            </a:r>
            <a:r>
              <a:rPr lang="en-US" baseline="0" dirty="0"/>
              <a:t> This defines 1! In terms of 0!.</a:t>
            </a:r>
          </a:p>
          <a:p>
            <a:r>
              <a:rPr lang="en-US" baseline="0" dirty="0"/>
              <a:t>Step4. This step can explicitly evaluate 0!, since 0 is the base value of the recursive definition. </a:t>
            </a:r>
          </a:p>
          <a:p>
            <a:r>
              <a:rPr lang="en-US" baseline="0" dirty="0"/>
              <a:t>Step 5~7 we back track, using 0! To find 1!, using 1! To find 2, using 2! To find 3!</a:t>
            </a:r>
          </a:p>
          <a:p>
            <a:endParaRPr lang="en-US" baseline="0" dirty="0"/>
          </a:p>
          <a:p>
            <a:r>
              <a:rPr lang="en-US" baseline="0" dirty="0"/>
              <a:t>This back tracking is indicated by the “reverse” indention.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8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0268-8CD4-504F-ABA5-1C9CCA49C623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6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1D01-1B9F-7C40-813B-513D0EDB4DAD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69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0D1A-2EA3-3343-AAB9-1846DE5CAD5F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41DD-39D0-5B4D-9046-B63EFFC59727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62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697D-3C77-404E-BF10-67BDD1040D45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0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69DE7-D140-8942-81CE-278DE9DEC074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29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C0E96-8730-7547-8D85-86E2E04695A6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2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C598-C370-B048-9E1F-CBD36421979E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40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6CB3-5715-E34A-A7C1-F5A05382CE93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4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2211-647A-3D45-8976-B84E1F718B75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5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64B15-D269-024B-997D-E9A8A37476E1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54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581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450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115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52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376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857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632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222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315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6084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691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19/08/2025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415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19/08/2025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700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19/08/2025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702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19/08/2025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15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19/08/2025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971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19/08/2025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584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19/08/2025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012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19/08/2025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20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19/08/2025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122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19/08/2025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102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19/08/2025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2756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19/08/2025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776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CS473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LectureX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2755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CS473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LectureX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8743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CS473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LectureX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3267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CS473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LectureX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9635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CS473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LectureX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85546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CS473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LectureX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3356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CS473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LectureX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979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CS473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LectureX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3968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CS473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LectureX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5825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CS473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LectureX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0537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CS473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LectureX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702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4F56B-6E71-E14F-82F4-B249D7839BE9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40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61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A24BF4C-9CA2-423E-B4F6-7F55918723CE}" type="datetime1">
              <a:rPr lang="fr-FR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19/08/2025</a:t>
            </a:fld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E2053D5-6219-41C3-8D16-FE99C84E3D09}" type="slidenum">
              <a:rPr lang="en-US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68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CS473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LectureX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496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Lecture-19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Date: </a:t>
            </a:r>
            <a:r>
              <a:rPr lang="en-US" sz="32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</a:t>
            </a:r>
            <a:r>
              <a:rPr lang="en-US" sz="3200" b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2024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43202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57275" y="2072235"/>
            <a:ext cx="7500938" cy="1728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sz="4000" dirty="0">
                <a:solidFill>
                  <a:srgbClr val="FF0000"/>
                </a:solidFill>
              </a:rPr>
              <a:t>Stacks, Queues, Recursion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19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7963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QUICKSORT: An Application of STACKS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69239" y="6480527"/>
            <a:ext cx="2057400" cy="365125"/>
          </a:xfrm>
        </p:spPr>
        <p:txBody>
          <a:bodyPr/>
          <a:lstStyle/>
          <a:p>
            <a:fld id="{1FBC1585-C671-4F90-AA0D-FD45AA239D02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529004"/>
            <a:ext cx="906331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What is Sorting?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The operation of rearranging the elements of a list so that they are in some logical order.</a:t>
            </a: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Numerically ordered (When list contain numerical data)</a:t>
            </a: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Alphabetically ordered (When list contains character data)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Quicksort is an algorithm of the </a:t>
            </a:r>
            <a:r>
              <a:rPr lang="en-US" sz="2400" b="1" dirty="0">
                <a:solidFill>
                  <a:srgbClr val="00B050"/>
                </a:solidFill>
              </a:rPr>
              <a:t>DIVIDE-AND-CONQUER</a:t>
            </a:r>
            <a:r>
              <a:rPr lang="en-US" sz="2400" dirty="0"/>
              <a:t> type.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CC"/>
                </a:solidFill>
              </a:rPr>
              <a:t>The problem of sorting a set is reduced to the problem of sorting two smaller sets.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US" sz="2400" dirty="0"/>
              <a:t>We illustrate this “Reduced Step” by means of a specific example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US" sz="2400" dirty="0"/>
              <a:t>Suppose A is the following list of 12 numbers.</a:t>
            </a:r>
          </a:p>
        </p:txBody>
      </p:sp>
      <p:sp>
        <p:nvSpPr>
          <p:cNvPr id="8" name="Oval 7"/>
          <p:cNvSpPr/>
          <p:nvPr/>
        </p:nvSpPr>
        <p:spPr>
          <a:xfrm>
            <a:off x="33050" y="5202068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782556" y="5202068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33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504370" y="5226163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249231" y="5217058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3019034" y="5223088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769333" y="5212577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539865" y="5202414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287674" y="5213098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058206" y="520776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6817973" y="5198106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7551033" y="5212488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320653" y="5196640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33584" y="4561449"/>
            <a:ext cx="553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0147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69239" y="6480527"/>
            <a:ext cx="2057400" cy="365125"/>
          </a:xfrm>
        </p:spPr>
        <p:txBody>
          <a:bodyPr/>
          <a:lstStyle/>
          <a:p>
            <a:fld id="{1FBC1585-C671-4F90-AA0D-FD45AA239D02}" type="slidenum">
              <a:rPr lang="en-US" smtClean="0"/>
              <a:t>4</a:t>
            </a:fld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Reduction Step of the Quicksort Algorithm</a:t>
            </a:r>
          </a:p>
        </p:txBody>
      </p:sp>
      <p:sp>
        <p:nvSpPr>
          <p:cNvPr id="23" name="Oval 22"/>
          <p:cNvSpPr/>
          <p:nvPr/>
        </p:nvSpPr>
        <p:spPr>
          <a:xfrm>
            <a:off x="123337" y="1400455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872843" y="1400455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33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594657" y="1424550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2339518" y="1415445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3109321" y="1421475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3859620" y="1410964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4630152" y="140080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5377961" y="1411485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6148493" y="1406148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6908260" y="1396493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41320" y="1410875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8410940" y="1395027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223871" y="759836"/>
            <a:ext cx="553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337" y="2178756"/>
            <a:ext cx="88841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charset="0"/>
              <a:buChar char="•"/>
            </a:pPr>
            <a:r>
              <a:rPr lang="en-US" sz="2800" dirty="0"/>
              <a:t>The reduction step of the quicksort algorithm finds the final position of one of the numbers.</a:t>
            </a:r>
          </a:p>
          <a:p>
            <a:pPr marL="457200" indent="-457200">
              <a:lnSpc>
                <a:spcPct val="150000"/>
              </a:lnSpc>
              <a:buFont typeface="Arial" charset="0"/>
              <a:buChar char="•"/>
            </a:pPr>
            <a:r>
              <a:rPr lang="en-US" sz="2800" dirty="0"/>
              <a:t>In this illustration, we use the first number 44.</a:t>
            </a:r>
          </a:p>
        </p:txBody>
      </p:sp>
    </p:spTree>
    <p:extLst>
      <p:ext uri="{BB962C8B-B14F-4D97-AF65-F5344CB8AC3E}">
        <p14:creationId xmlns:p14="http://schemas.microsoft.com/office/powerpoint/2010/main" val="196236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76774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Quicksort/ Reduction Step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5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1761" y="80550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71267" y="805501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33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1493081" y="829596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2237942" y="820491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3007745" y="82652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3758044" y="816010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4528576" y="805847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5276385" y="816531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6046917" y="811194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6806684" y="801539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7539744" y="81592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8309364" y="800073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-36216" y="1665799"/>
            <a:ext cx="9135246" cy="5186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b="1" dirty="0">
              <a:solidFill>
                <a:srgbClr val="0000CC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b="1" dirty="0">
              <a:solidFill>
                <a:srgbClr val="0000CC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b="1" dirty="0">
              <a:solidFill>
                <a:srgbClr val="0000CC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b="1" dirty="0">
              <a:solidFill>
                <a:srgbClr val="0000CC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b="1" dirty="0">
              <a:solidFill>
                <a:srgbClr val="0000CC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b="1" dirty="0"/>
              <a:t>Beginning with the last number</a:t>
            </a:r>
            <a:r>
              <a:rPr lang="en-US" sz="2000" b="1" dirty="0">
                <a:solidFill>
                  <a:srgbClr val="0000CC"/>
                </a:solidFill>
              </a:rPr>
              <a:t>, </a:t>
            </a:r>
            <a:r>
              <a:rPr lang="en-US" sz="2000" b="1" dirty="0">
                <a:solidFill>
                  <a:srgbClr val="00B050"/>
                </a:solidFill>
              </a:rPr>
              <a:t>66</a:t>
            </a:r>
            <a:r>
              <a:rPr lang="en-US" sz="2000" b="1" dirty="0">
                <a:solidFill>
                  <a:srgbClr val="0000CC"/>
                </a:solidFill>
              </a:rPr>
              <a:t>, </a:t>
            </a:r>
            <a:r>
              <a:rPr lang="en-US" sz="2000" b="1" dirty="0"/>
              <a:t>scan the list from right to left till less than </a:t>
            </a:r>
            <a:r>
              <a:rPr lang="en-US" sz="2000" b="1" dirty="0">
                <a:solidFill>
                  <a:srgbClr val="FF0000"/>
                </a:solidFill>
              </a:rPr>
              <a:t>44</a:t>
            </a:r>
            <a:r>
              <a:rPr lang="en-US" sz="2000" b="1" dirty="0">
                <a:solidFill>
                  <a:srgbClr val="0000CC"/>
                </a:solidFill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b="1" dirty="0"/>
              <a:t>Interchange</a:t>
            </a:r>
            <a:r>
              <a:rPr lang="en-US" sz="2000" b="1" dirty="0">
                <a:solidFill>
                  <a:srgbClr val="0000CC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44</a:t>
            </a:r>
            <a:r>
              <a:rPr lang="en-US" sz="2000" b="1" dirty="0">
                <a:solidFill>
                  <a:srgbClr val="0000CC"/>
                </a:solidFill>
              </a:rPr>
              <a:t> </a:t>
            </a:r>
            <a:r>
              <a:rPr lang="en-US" sz="2000" b="1" dirty="0"/>
              <a:t>and</a:t>
            </a:r>
            <a:r>
              <a:rPr lang="en-US" sz="2000" b="1" dirty="0">
                <a:solidFill>
                  <a:srgbClr val="0000CC"/>
                </a:solidFill>
              </a:rPr>
              <a:t> </a:t>
            </a:r>
            <a:r>
              <a:rPr lang="en-US" sz="2000" b="1" dirty="0">
                <a:solidFill>
                  <a:srgbClr val="00B050"/>
                </a:solidFill>
              </a:rPr>
              <a:t>22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b="1" dirty="0">
              <a:solidFill>
                <a:srgbClr val="00B05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b="1" dirty="0">
              <a:solidFill>
                <a:srgbClr val="00B05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b="1" dirty="0">
              <a:solidFill>
                <a:srgbClr val="00B05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b="1" dirty="0"/>
              <a:t>Beginning with, </a:t>
            </a:r>
            <a:r>
              <a:rPr lang="en-US" sz="2000" b="1" dirty="0">
                <a:solidFill>
                  <a:srgbClr val="00B050"/>
                </a:solidFill>
              </a:rPr>
              <a:t>22 ,</a:t>
            </a:r>
            <a:r>
              <a:rPr lang="en-US" sz="2000" b="1" dirty="0"/>
              <a:t> scan left to right till greater than </a:t>
            </a:r>
            <a:r>
              <a:rPr lang="en-US" sz="2000" b="1" dirty="0">
                <a:solidFill>
                  <a:srgbClr val="FF0000"/>
                </a:solidFill>
              </a:rPr>
              <a:t>44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b="1" dirty="0"/>
              <a:t>Interchange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>
                <a:solidFill>
                  <a:srgbClr val="00B050"/>
                </a:solidFill>
              </a:rPr>
              <a:t>44 </a:t>
            </a:r>
            <a:r>
              <a:rPr lang="en-US" sz="2000" b="1" dirty="0"/>
              <a:t>and</a:t>
            </a:r>
            <a:r>
              <a:rPr lang="en-US" sz="2000" b="1" dirty="0">
                <a:solidFill>
                  <a:srgbClr val="00B05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55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b="1" dirty="0">
              <a:solidFill>
                <a:srgbClr val="FF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b="1" dirty="0">
              <a:solidFill>
                <a:srgbClr val="FF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1100" b="1" dirty="0">
              <a:solidFill>
                <a:srgbClr val="FF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b="1" dirty="0"/>
              <a:t>Beginning with</a:t>
            </a:r>
            <a:r>
              <a:rPr lang="en-US" sz="2000" b="1" dirty="0">
                <a:solidFill>
                  <a:srgbClr val="0000CC"/>
                </a:solidFill>
              </a:rPr>
              <a:t>, </a:t>
            </a:r>
            <a:r>
              <a:rPr lang="en-US" sz="2000" b="1" dirty="0">
                <a:solidFill>
                  <a:srgbClr val="00B050"/>
                </a:solidFill>
              </a:rPr>
              <a:t>55</a:t>
            </a:r>
            <a:r>
              <a:rPr lang="en-US" sz="2000" b="1" dirty="0">
                <a:solidFill>
                  <a:srgbClr val="0000CC"/>
                </a:solidFill>
              </a:rPr>
              <a:t>, </a:t>
            </a:r>
            <a:r>
              <a:rPr lang="en-US" sz="2000" b="1" dirty="0"/>
              <a:t>scan the list from right to left till less than </a:t>
            </a:r>
            <a:r>
              <a:rPr lang="en-US" sz="2000" b="1" dirty="0">
                <a:solidFill>
                  <a:srgbClr val="FF0000"/>
                </a:solidFill>
              </a:rPr>
              <a:t>44</a:t>
            </a:r>
            <a:r>
              <a:rPr lang="en-US" sz="2000" b="1" dirty="0">
                <a:solidFill>
                  <a:srgbClr val="0000CC"/>
                </a:solidFill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b="1" dirty="0"/>
              <a:t>Interchange</a:t>
            </a:r>
            <a:r>
              <a:rPr lang="en-US" sz="2000" b="1" dirty="0">
                <a:solidFill>
                  <a:srgbClr val="0000CC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44</a:t>
            </a:r>
            <a:r>
              <a:rPr lang="en-US" sz="2000" b="1" dirty="0">
                <a:solidFill>
                  <a:srgbClr val="0000CC"/>
                </a:solidFill>
              </a:rPr>
              <a:t> </a:t>
            </a:r>
            <a:r>
              <a:rPr lang="en-US" sz="2000" b="1" dirty="0"/>
              <a:t>and</a:t>
            </a:r>
            <a:r>
              <a:rPr lang="en-US" sz="2000" b="1" dirty="0">
                <a:solidFill>
                  <a:srgbClr val="0000CC"/>
                </a:solidFill>
              </a:rPr>
              <a:t> </a:t>
            </a:r>
            <a:r>
              <a:rPr lang="en-US" sz="2000" b="1" dirty="0">
                <a:solidFill>
                  <a:srgbClr val="00B050"/>
                </a:solidFill>
              </a:rPr>
              <a:t>40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24261" y="2486895"/>
            <a:ext cx="719528" cy="5722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4" name="Oval 43"/>
          <p:cNvSpPr/>
          <p:nvPr/>
        </p:nvSpPr>
        <p:spPr>
          <a:xfrm>
            <a:off x="773767" y="2486895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33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1495581" y="2510990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2240442" y="2501885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3010245" y="2507915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3760544" y="2497404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4531076" y="248724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5278885" y="2497925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6049417" y="2492588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6809184" y="2482933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3" name="Oval 52"/>
          <p:cNvSpPr/>
          <p:nvPr/>
        </p:nvSpPr>
        <p:spPr>
          <a:xfrm>
            <a:off x="7542244" y="2497315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8311864" y="2481467"/>
            <a:ext cx="733060" cy="61192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6778543" y="3910729"/>
            <a:ext cx="719528" cy="5722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761277" y="3898469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33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1483091" y="3922564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2227952" y="3913459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2997755" y="3919489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3748054" y="3908978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4518586" y="3898815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5266395" y="3909499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3" name="Oval 62"/>
          <p:cNvSpPr/>
          <p:nvPr/>
        </p:nvSpPr>
        <p:spPr>
          <a:xfrm>
            <a:off x="6036927" y="3904162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-9255" y="3879855"/>
            <a:ext cx="733060" cy="61192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7529754" y="3908889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8299374" y="3893041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2312741" y="5501246"/>
            <a:ext cx="719528" cy="5722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838727" y="5459943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33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9" name="Oval 68"/>
          <p:cNvSpPr/>
          <p:nvPr/>
        </p:nvSpPr>
        <p:spPr>
          <a:xfrm>
            <a:off x="1560541" y="5484038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0" name="Oval 69"/>
          <p:cNvSpPr/>
          <p:nvPr/>
        </p:nvSpPr>
        <p:spPr>
          <a:xfrm>
            <a:off x="6833905" y="5457510"/>
            <a:ext cx="733060" cy="61192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1" name="Oval 70"/>
          <p:cNvSpPr/>
          <p:nvPr/>
        </p:nvSpPr>
        <p:spPr>
          <a:xfrm>
            <a:off x="3075205" y="5480963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2" name="Oval 71"/>
          <p:cNvSpPr/>
          <p:nvPr/>
        </p:nvSpPr>
        <p:spPr>
          <a:xfrm>
            <a:off x="3825504" y="5470452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4596036" y="5460289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5343845" y="5470973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5" name="Oval 74"/>
          <p:cNvSpPr/>
          <p:nvPr/>
        </p:nvSpPr>
        <p:spPr>
          <a:xfrm>
            <a:off x="6114377" y="5465636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6" name="Oval 75"/>
          <p:cNvSpPr/>
          <p:nvPr/>
        </p:nvSpPr>
        <p:spPr>
          <a:xfrm>
            <a:off x="68195" y="5441329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7" name="Oval 76"/>
          <p:cNvSpPr/>
          <p:nvPr/>
        </p:nvSpPr>
        <p:spPr>
          <a:xfrm>
            <a:off x="7607204" y="5470363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8" name="Oval 77"/>
          <p:cNvSpPr/>
          <p:nvPr/>
        </p:nvSpPr>
        <p:spPr>
          <a:xfrm>
            <a:off x="8376824" y="5454515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30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7871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Quicksort/ Reduction Step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6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558323" y="917311"/>
            <a:ext cx="719528" cy="5722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823737" y="872948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33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545551" y="897043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818915" y="870515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3060215" y="893968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3810514" y="883457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2301809" y="917311"/>
            <a:ext cx="719528" cy="572294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328855" y="883978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099387" y="87864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53205" y="854334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7592214" y="883368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8361834" y="867520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-54228" y="1540858"/>
            <a:ext cx="892684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b="1" dirty="0"/>
              <a:t>Beginning with, </a:t>
            </a:r>
            <a:r>
              <a:rPr lang="en-US" sz="2400" b="1" dirty="0">
                <a:solidFill>
                  <a:srgbClr val="00B050"/>
                </a:solidFill>
              </a:rPr>
              <a:t>40,</a:t>
            </a:r>
            <a:r>
              <a:rPr lang="en-US" sz="2400" b="1" dirty="0"/>
              <a:t> scan left to right till greater than </a:t>
            </a:r>
            <a:r>
              <a:rPr lang="en-US" sz="2400" b="1" dirty="0">
                <a:solidFill>
                  <a:srgbClr val="FF0000"/>
                </a:solidFill>
              </a:rPr>
              <a:t>44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b="1" dirty="0"/>
              <a:t>Interchange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00B050"/>
                </a:solidFill>
              </a:rPr>
              <a:t>44 </a:t>
            </a:r>
            <a:r>
              <a:rPr lang="en-US" sz="2400" b="1" dirty="0"/>
              <a:t>and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77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b="1" dirty="0"/>
              <a:t>Beginning with</a:t>
            </a:r>
            <a:r>
              <a:rPr lang="en-US" sz="2400" b="1" dirty="0">
                <a:solidFill>
                  <a:srgbClr val="0000CC"/>
                </a:solidFill>
              </a:rPr>
              <a:t>, </a:t>
            </a:r>
            <a:r>
              <a:rPr lang="en-US" sz="2400" b="1" dirty="0">
                <a:solidFill>
                  <a:srgbClr val="00B050"/>
                </a:solidFill>
              </a:rPr>
              <a:t>77</a:t>
            </a:r>
            <a:r>
              <a:rPr lang="en-US" sz="2400" b="1" dirty="0">
                <a:solidFill>
                  <a:srgbClr val="0000CC"/>
                </a:solidFill>
              </a:rPr>
              <a:t>, </a:t>
            </a:r>
            <a:r>
              <a:rPr lang="en-US" sz="2400" b="1" dirty="0"/>
              <a:t>scan the list from right to left till less than </a:t>
            </a:r>
            <a:r>
              <a:rPr lang="en-US" sz="2400" b="1" dirty="0">
                <a:solidFill>
                  <a:srgbClr val="FF0000"/>
                </a:solidFill>
              </a:rPr>
              <a:t>44</a:t>
            </a:r>
            <a:r>
              <a:rPr lang="en-US" sz="2400" b="1" dirty="0">
                <a:solidFill>
                  <a:srgbClr val="0000CC"/>
                </a:solidFill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b="1" dirty="0"/>
              <a:t>Do not meet such a number before meeting </a:t>
            </a:r>
            <a:r>
              <a:rPr lang="en-US" sz="2400" b="1" dirty="0">
                <a:solidFill>
                  <a:srgbClr val="FF0000"/>
                </a:solidFill>
              </a:rPr>
              <a:t>44</a:t>
            </a:r>
            <a:r>
              <a:rPr lang="en-US" sz="2400" b="1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b="1" dirty="0"/>
              <a:t>Thus, 44 is correctly placed in its final position.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b="1" dirty="0"/>
              <a:t>The task of sorting the original list A has now been reduced to the task of sorting each of the above </a:t>
            </a:r>
            <a:r>
              <a:rPr lang="en-US" sz="2400" b="1" dirty="0" err="1"/>
              <a:t>sublists</a:t>
            </a:r>
            <a:r>
              <a:rPr lang="en-US" sz="2400" b="1" dirty="0"/>
              <a:t>.</a:t>
            </a:r>
          </a:p>
        </p:txBody>
      </p:sp>
      <p:sp>
        <p:nvSpPr>
          <p:cNvPr id="20" name="Oval 19"/>
          <p:cNvSpPr/>
          <p:nvPr/>
        </p:nvSpPr>
        <p:spPr>
          <a:xfrm>
            <a:off x="3062448" y="2358863"/>
            <a:ext cx="719528" cy="5722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811247" y="2314500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33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1533061" y="2338595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6806425" y="2312067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4564451" y="2340856"/>
            <a:ext cx="719528" cy="572294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798024" y="2325009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2289319" y="2358863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5316365" y="2325530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6086897" y="2320193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40715" y="2295886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7579724" y="2324920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8349344" y="2309072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3034968" y="3890354"/>
            <a:ext cx="719528" cy="5722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783767" y="3845991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33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1505581" y="3870086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6778945" y="3843558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4536971" y="3872347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770544" y="3856500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2261839" y="3890354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5288885" y="3857021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6059417" y="3851684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13235" y="3827377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7552244" y="385641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8321864" y="3840563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4" name="Right Brace 43"/>
          <p:cNvSpPr/>
          <p:nvPr/>
        </p:nvSpPr>
        <p:spPr>
          <a:xfrm rot="5400000">
            <a:off x="1258923" y="3325740"/>
            <a:ext cx="464944" cy="2800063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Brace 44"/>
          <p:cNvSpPr/>
          <p:nvPr/>
        </p:nvSpPr>
        <p:spPr>
          <a:xfrm rot="5400000">
            <a:off x="6243206" y="2181437"/>
            <a:ext cx="392493" cy="513614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254833" y="5126636"/>
            <a:ext cx="241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First </a:t>
            </a:r>
            <a:r>
              <a:rPr lang="en-US" sz="2800" b="1" dirty="0" err="1">
                <a:solidFill>
                  <a:srgbClr val="7030A0"/>
                </a:solidFill>
              </a:rPr>
              <a:t>sublist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249059" y="5174106"/>
            <a:ext cx="241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Second </a:t>
            </a:r>
            <a:r>
              <a:rPr lang="en-US" sz="2800" b="1" dirty="0" err="1">
                <a:solidFill>
                  <a:srgbClr val="7030A0"/>
                </a:solidFill>
              </a:rPr>
              <a:t>sublist</a:t>
            </a:r>
            <a:endParaRPr lang="en-US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4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7963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Quicksort/ Reduction Step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557882"/>
            <a:ext cx="89268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reduction step is repeated with each </a:t>
            </a:r>
            <a:r>
              <a:rPr lang="en-US" sz="2400" dirty="0" err="1"/>
              <a:t>sublist</a:t>
            </a:r>
            <a:r>
              <a:rPr lang="en-US" sz="2400" dirty="0"/>
              <a:t> containing 2 or more elements.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Since we can process one </a:t>
            </a:r>
            <a:r>
              <a:rPr lang="en-US" sz="2400" dirty="0" err="1"/>
              <a:t>sublist</a:t>
            </a:r>
            <a:r>
              <a:rPr lang="en-US" sz="2400" dirty="0"/>
              <a:t> at a time, we must be able to keep track of some </a:t>
            </a:r>
            <a:r>
              <a:rPr lang="en-US" sz="2400" dirty="0" err="1"/>
              <a:t>sublist</a:t>
            </a:r>
            <a:r>
              <a:rPr lang="en-US" sz="2400" dirty="0"/>
              <a:t> for future processing.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This is accomplished by using two STACKS</a:t>
            </a:r>
          </a:p>
          <a:p>
            <a:pPr lvl="4" algn="just"/>
            <a:r>
              <a:rPr lang="en-US" sz="2400" b="1" dirty="0">
                <a:solidFill>
                  <a:srgbClr val="00B050"/>
                </a:solidFill>
              </a:rPr>
              <a:t>         LOWER and UPPER</a:t>
            </a:r>
          </a:p>
          <a:p>
            <a:pPr lvl="4" algn="just"/>
            <a:r>
              <a:rPr lang="en-US" sz="2400" dirty="0"/>
              <a:t>to temporarily hold such sub-lists.</a:t>
            </a:r>
          </a:p>
          <a:p>
            <a:pPr marL="403225" lvl="4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addresses of the first and last elements of each </a:t>
            </a:r>
            <a:r>
              <a:rPr lang="en-US" sz="2400" dirty="0" err="1"/>
              <a:t>sublist</a:t>
            </a:r>
            <a:r>
              <a:rPr lang="en-US" sz="2400" dirty="0"/>
              <a:t>, called its </a:t>
            </a:r>
            <a:r>
              <a:rPr lang="en-US" sz="2400" i="1" dirty="0"/>
              <a:t>“</a:t>
            </a:r>
            <a:r>
              <a:rPr lang="en-US" sz="2400" b="1" i="1" dirty="0">
                <a:solidFill>
                  <a:srgbClr val="00B050"/>
                </a:solidFill>
              </a:rPr>
              <a:t>BOUNDARY VALUES</a:t>
            </a:r>
            <a:r>
              <a:rPr lang="en-US" sz="2400" i="1" dirty="0"/>
              <a:t>” </a:t>
            </a:r>
            <a:r>
              <a:rPr lang="en-US" sz="2400" dirty="0"/>
              <a:t>, are pushed onto the STACKs </a:t>
            </a:r>
            <a:r>
              <a:rPr lang="en-US" sz="2400" b="1" dirty="0">
                <a:solidFill>
                  <a:srgbClr val="FF0000"/>
                </a:solidFill>
              </a:rPr>
              <a:t>LOWER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FF0000"/>
                </a:solidFill>
              </a:rPr>
              <a:t>UPPER</a:t>
            </a:r>
            <a:r>
              <a:rPr lang="en-US" sz="2400" dirty="0"/>
              <a:t>, respectively.</a:t>
            </a:r>
          </a:p>
          <a:p>
            <a:pPr marL="403225" lvl="4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reduction steps is applied to a </a:t>
            </a:r>
            <a:r>
              <a:rPr lang="en-US" sz="2400" dirty="0" err="1"/>
              <a:t>sublist</a:t>
            </a:r>
            <a:r>
              <a:rPr lang="en-US" sz="2400" dirty="0"/>
              <a:t> only after its </a:t>
            </a:r>
            <a:r>
              <a:rPr lang="en-US" sz="2400" b="1" i="1" dirty="0">
                <a:solidFill>
                  <a:srgbClr val="00B050"/>
                </a:solidFill>
              </a:rPr>
              <a:t>BOUNDARY VALUES</a:t>
            </a:r>
            <a:r>
              <a:rPr lang="en-US" sz="2400" dirty="0"/>
              <a:t> are removed from the STACKs.</a:t>
            </a:r>
          </a:p>
        </p:txBody>
      </p:sp>
      <p:sp>
        <p:nvSpPr>
          <p:cNvPr id="8" name="Oval 7"/>
          <p:cNvSpPr/>
          <p:nvPr/>
        </p:nvSpPr>
        <p:spPr>
          <a:xfrm>
            <a:off x="3049958" y="5119547"/>
            <a:ext cx="719528" cy="5722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798757" y="5075184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33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520571" y="5099279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6793935" y="5072751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551961" y="5101540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785534" y="5085693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2276829" y="5119547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303875" y="5086214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074407" y="5080877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28225" y="5056570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7567234" y="5085604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336854" y="5069756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0" name="Right Brace 19"/>
          <p:cNvSpPr/>
          <p:nvPr/>
        </p:nvSpPr>
        <p:spPr>
          <a:xfrm rot="5400000">
            <a:off x="1273913" y="4554933"/>
            <a:ext cx="464944" cy="2800063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/>
          <p:cNvSpPr/>
          <p:nvPr/>
        </p:nvSpPr>
        <p:spPr>
          <a:xfrm rot="5400000">
            <a:off x="6258196" y="3410630"/>
            <a:ext cx="392493" cy="513614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69823" y="6355829"/>
            <a:ext cx="241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First </a:t>
            </a:r>
            <a:r>
              <a:rPr lang="en-US" sz="2800" b="1" dirty="0" err="1">
                <a:solidFill>
                  <a:srgbClr val="7030A0"/>
                </a:solidFill>
              </a:rPr>
              <a:t>sublist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64049" y="6403299"/>
            <a:ext cx="241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Second </a:t>
            </a:r>
            <a:r>
              <a:rPr lang="en-US" sz="2800" b="1" dirty="0" err="1">
                <a:solidFill>
                  <a:srgbClr val="7030A0"/>
                </a:solidFill>
              </a:rPr>
              <a:t>sublist</a:t>
            </a:r>
            <a:endParaRPr lang="en-US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00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2000" b="1" dirty="0">
                <a:solidFill>
                  <a:srgbClr val="7030A0"/>
                </a:solidFill>
              </a:rPr>
              <a:t>Illustration of the way the STACKS LOWER and UPPER are used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8</a:t>
            </a:fld>
            <a:endParaRPr lang="en-US"/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6457950" y="137961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BC1585-C671-4F90-AA0D-FD45AA239D0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1761" y="97040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771267" y="970401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33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493081" y="994496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237942" y="985391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3007745" y="99142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758044" y="980910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528576" y="970747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276385" y="981431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046917" y="976094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6806684" y="966439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7539744" y="98082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309364" y="964973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22295" y="329782"/>
            <a:ext cx="553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1" y="1667788"/>
            <a:ext cx="912223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N=12 elements, </a:t>
            </a:r>
          </a:p>
          <a:p>
            <a:pPr algn="ctr"/>
            <a:r>
              <a:rPr lang="en-US" sz="2400" b="1" dirty="0"/>
              <a:t>Thus,</a:t>
            </a:r>
          </a:p>
          <a:p>
            <a:pPr algn="ctr"/>
            <a:r>
              <a:rPr lang="en-US" sz="2400" b="1" dirty="0"/>
              <a:t>Boundary values are ()?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1</a:t>
            </a:r>
            <a:r>
              <a:rPr lang="en-US" sz="2400" b="1" dirty="0"/>
              <a:t> and </a:t>
            </a:r>
            <a:r>
              <a:rPr lang="en-US" sz="2400" b="1" dirty="0">
                <a:solidFill>
                  <a:srgbClr val="7030A0"/>
                </a:solidFill>
              </a:rPr>
              <a:t>12.</a:t>
            </a:r>
          </a:p>
          <a:p>
            <a:pPr algn="ctr"/>
            <a:r>
              <a:rPr lang="en-US" sz="2400" b="1" dirty="0"/>
              <a:t>Now,</a:t>
            </a:r>
          </a:p>
          <a:p>
            <a:pPr algn="ctr"/>
            <a:r>
              <a:rPr lang="en-US" sz="2400" b="1" dirty="0"/>
              <a:t>1 and 12 should be Stacked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LOWER</a:t>
            </a:r>
            <a:r>
              <a:rPr lang="en-US" sz="2400" b="1" dirty="0"/>
              <a:t>:1 and </a:t>
            </a:r>
            <a:r>
              <a:rPr lang="en-US" sz="2400" b="1" dirty="0">
                <a:solidFill>
                  <a:srgbClr val="FF0000"/>
                </a:solidFill>
              </a:rPr>
              <a:t>UPPER</a:t>
            </a:r>
            <a:r>
              <a:rPr lang="en-US" sz="2400" b="1" dirty="0"/>
              <a:t>:12</a:t>
            </a:r>
          </a:p>
          <a:p>
            <a:pPr algn="ctr"/>
            <a:endParaRPr lang="en-US" sz="2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In order to apply the </a:t>
            </a:r>
            <a:r>
              <a:rPr lang="en-US" sz="2400" b="1" dirty="0">
                <a:solidFill>
                  <a:srgbClr val="FF0000"/>
                </a:solidFill>
              </a:rPr>
              <a:t>REDUCTION STEP</a:t>
            </a:r>
            <a:r>
              <a:rPr lang="en-US" sz="2400" b="1" dirty="0"/>
              <a:t>, the algorithm first removes the top values 1 and 12.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After removing the top values 1 and 12 from the STACK, leaving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LOWER</a:t>
            </a:r>
            <a:r>
              <a:rPr lang="en-US" sz="2400" b="1" dirty="0"/>
              <a:t>:(Empty) and </a:t>
            </a:r>
            <a:r>
              <a:rPr lang="en-US" sz="2400" b="1" dirty="0">
                <a:solidFill>
                  <a:srgbClr val="FF0000"/>
                </a:solidFill>
              </a:rPr>
              <a:t>UPPER:</a:t>
            </a:r>
            <a:r>
              <a:rPr lang="en-US" sz="2400" b="1" dirty="0">
                <a:sym typeface="Wingdings" panose="05000000000000000000" pitchFamily="2" charset="2"/>
              </a:rPr>
              <a:t> (Empty)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ym typeface="Wingdings" panose="05000000000000000000" pitchFamily="2" charset="2"/>
              </a:rPr>
              <a:t>Then Applies the </a:t>
            </a: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REDUCTION STEP</a:t>
            </a:r>
            <a:r>
              <a:rPr lang="en-US" sz="2400" b="1" dirty="0">
                <a:sym typeface="Wingdings" panose="05000000000000000000" pitchFamily="2" charset="2"/>
              </a:rPr>
              <a:t> to the corresponding list A[1], A[2],….,A[12].</a:t>
            </a:r>
            <a:endParaRPr lang="en-US" sz="2400" b="1" dirty="0"/>
          </a:p>
          <a:p>
            <a:pPr algn="ctr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0933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1" y="-26893"/>
            <a:ext cx="8941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2000" b="1" dirty="0">
                <a:solidFill>
                  <a:srgbClr val="7030A0"/>
                </a:solidFill>
              </a:rPr>
              <a:t>Illustration of the way the STACKS LOWER and UPPER are </a:t>
            </a:r>
            <a:r>
              <a:rPr lang="en-US" sz="2000" b="1" dirty="0" smtClean="0">
                <a:solidFill>
                  <a:srgbClr val="7030A0"/>
                </a:solidFill>
              </a:rPr>
              <a:t>used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469044"/>
            <a:ext cx="9144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After </a:t>
            </a:r>
            <a:r>
              <a:rPr lang="en-US" sz="2400" dirty="0"/>
              <a:t>executing </a:t>
            </a:r>
            <a:r>
              <a:rPr lang="en-US" sz="2400" b="1" dirty="0">
                <a:solidFill>
                  <a:srgbClr val="FF0000"/>
                </a:solidFill>
              </a:rPr>
              <a:t>REDUCTION STEP </a:t>
            </a:r>
            <a:r>
              <a:rPr lang="en-US" sz="2400" dirty="0"/>
              <a:t>to the list A[1] to A[12]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Finally places the first element 44, in A[5].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Accordingly, the algorithm pushes the boundary values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1 and 4 of the first </a:t>
            </a:r>
            <a:r>
              <a:rPr lang="en-US" sz="2400" dirty="0" err="1"/>
              <a:t>sublist</a:t>
            </a:r>
            <a:r>
              <a:rPr lang="en-US" sz="2400" dirty="0"/>
              <a:t>, and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6 and 12 of the second </a:t>
            </a:r>
            <a:r>
              <a:rPr lang="en-US" sz="2400" dirty="0" err="1"/>
              <a:t>sublist</a:t>
            </a:r>
            <a:r>
              <a:rPr lang="en-US" sz="2400" dirty="0"/>
              <a:t> on to the STACK to yield</a:t>
            </a:r>
          </a:p>
          <a:p>
            <a:pPr lvl="2" algn="ctr"/>
            <a:r>
              <a:rPr lang="en-US" sz="2400" dirty="0"/>
              <a:t>LOWER= </a:t>
            </a:r>
            <a:r>
              <a:rPr lang="en-US" sz="2400" b="1" dirty="0"/>
              <a:t>1, 6 </a:t>
            </a:r>
            <a:r>
              <a:rPr lang="en-US" sz="2400" dirty="0"/>
              <a:t>and UPPER= </a:t>
            </a:r>
            <a:r>
              <a:rPr lang="en-US" sz="2400" b="1" dirty="0"/>
              <a:t>4, 12</a:t>
            </a:r>
          </a:p>
          <a:p>
            <a:pPr lvl="2" algn="ctr"/>
            <a:endParaRPr lang="en-US" sz="2400" b="1" dirty="0"/>
          </a:p>
          <a:p>
            <a:pPr marL="342900" lvl="2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In order to apply the </a:t>
            </a:r>
            <a:r>
              <a:rPr lang="en-US" sz="2400" b="1" dirty="0">
                <a:solidFill>
                  <a:srgbClr val="FF0000"/>
                </a:solidFill>
              </a:rPr>
              <a:t>REDUCTION STEP </a:t>
            </a:r>
            <a:r>
              <a:rPr lang="en-US" sz="2400" dirty="0"/>
              <a:t>again, the algorithm removes the TOP values 6 and 12 from the STACKs, leaving </a:t>
            </a:r>
          </a:p>
          <a:p>
            <a:pPr marL="0" lvl="2" algn="ctr"/>
            <a:r>
              <a:rPr lang="en-US" sz="2400" dirty="0"/>
              <a:t>LOWER= </a:t>
            </a:r>
            <a:r>
              <a:rPr lang="en-US" sz="2400" b="1" dirty="0"/>
              <a:t>1, </a:t>
            </a:r>
            <a:r>
              <a:rPr lang="en-US" sz="2400" dirty="0"/>
              <a:t>and UPPER= </a:t>
            </a:r>
            <a:r>
              <a:rPr lang="en-US" sz="2400" b="1" dirty="0"/>
              <a:t>4</a:t>
            </a:r>
          </a:p>
          <a:p>
            <a:pPr marL="342900" lvl="2" indent="-342900" algn="just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9" name="Slide Number Placeholder 5"/>
          <p:cNvSpPr txBox="1">
            <a:spLocks/>
          </p:cNvSpPr>
          <p:nvPr/>
        </p:nvSpPr>
        <p:spPr>
          <a:xfrm>
            <a:off x="6457950" y="260881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BC1585-C671-4F90-AA0D-FD45AA239D0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049958" y="1372011"/>
            <a:ext cx="719528" cy="5722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798757" y="1327648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33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520571" y="1351743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793935" y="1325215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551961" y="1354004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3785534" y="1338157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2276829" y="137201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03875" y="1338678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6074407" y="133334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28225" y="1309034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7567234" y="1338068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8336854" y="1322220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Right Brace 21"/>
          <p:cNvSpPr/>
          <p:nvPr/>
        </p:nvSpPr>
        <p:spPr>
          <a:xfrm rot="5400000">
            <a:off x="1273913" y="807397"/>
            <a:ext cx="464944" cy="2800063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/>
          <p:cNvSpPr/>
          <p:nvPr/>
        </p:nvSpPr>
        <p:spPr>
          <a:xfrm rot="5400000">
            <a:off x="6258196" y="-336906"/>
            <a:ext cx="392493" cy="513614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69823" y="2608293"/>
            <a:ext cx="241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First </a:t>
            </a:r>
            <a:r>
              <a:rPr lang="en-US" sz="2800" b="1" dirty="0" err="1">
                <a:solidFill>
                  <a:srgbClr val="7030A0"/>
                </a:solidFill>
              </a:rPr>
              <a:t>sublist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64049" y="2655763"/>
            <a:ext cx="241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Second </a:t>
            </a:r>
            <a:r>
              <a:rPr lang="en-US" sz="2800" b="1" dirty="0" err="1">
                <a:solidFill>
                  <a:srgbClr val="7030A0"/>
                </a:solidFill>
              </a:rPr>
              <a:t>sublist</a:t>
            </a:r>
            <a:endParaRPr lang="en-US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61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682" y="-26893"/>
            <a:ext cx="78774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2000" b="1" dirty="0">
                <a:solidFill>
                  <a:srgbClr val="7030A0"/>
                </a:solidFill>
              </a:rPr>
              <a:t>Illustration of the way the STACKS LOWER and UPPER are used</a:t>
            </a:r>
          </a:p>
        </p:txBody>
      </p:sp>
      <p:sp>
        <p:nvSpPr>
          <p:cNvPr id="9" name="Oval 8"/>
          <p:cNvSpPr/>
          <p:nvPr/>
        </p:nvSpPr>
        <p:spPr>
          <a:xfrm>
            <a:off x="5449073" y="1200011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760409" y="1243817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03546" y="1243817"/>
            <a:ext cx="733060" cy="6119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3003740" y="1246119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260603" y="120001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651075" y="1287087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7738453" y="1289022"/>
            <a:ext cx="733060" cy="61192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4854" y="682892"/>
            <a:ext cx="8602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A[6]        A[7]       A[8]         A[9]       A[10]   A[11]   A[12]</a:t>
            </a:r>
          </a:p>
        </p:txBody>
      </p:sp>
      <p:sp>
        <p:nvSpPr>
          <p:cNvPr id="17" name="Oval 16"/>
          <p:cNvSpPr/>
          <p:nvPr/>
        </p:nvSpPr>
        <p:spPr>
          <a:xfrm>
            <a:off x="5451573" y="1967005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1762909" y="201081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506046" y="2010811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3006240" y="2013113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4263103" y="1967005"/>
            <a:ext cx="719528" cy="572294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6653575" y="2054081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7740953" y="2056016"/>
            <a:ext cx="733060" cy="6119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5436583" y="2761481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747919" y="2805287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491056" y="2805287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991250" y="2807589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4248113" y="2761481"/>
            <a:ext cx="719528" cy="5722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6638585" y="2848557"/>
            <a:ext cx="719528" cy="572294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7725963" y="2850492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5409103" y="3588437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1720439" y="3632243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463576" y="3632243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2963770" y="3634545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4220633" y="3588437"/>
            <a:ext cx="719528" cy="5722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6611105" y="3675513"/>
            <a:ext cx="719528" cy="5722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7698483" y="3677448"/>
            <a:ext cx="733060" cy="611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8" name="Right Brace 37"/>
          <p:cNvSpPr/>
          <p:nvPr/>
        </p:nvSpPr>
        <p:spPr>
          <a:xfrm rot="5400000">
            <a:off x="3058579" y="2050734"/>
            <a:ext cx="464944" cy="4960329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080203" y="4949514"/>
            <a:ext cx="241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First </a:t>
            </a:r>
            <a:r>
              <a:rPr lang="en-US" sz="2800" b="1" dirty="0" err="1">
                <a:solidFill>
                  <a:srgbClr val="7030A0"/>
                </a:solidFill>
              </a:rPr>
              <a:t>sublist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79550" y="4697183"/>
            <a:ext cx="241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Second </a:t>
            </a:r>
            <a:r>
              <a:rPr lang="en-US" sz="2800" b="1" dirty="0" err="1">
                <a:solidFill>
                  <a:srgbClr val="7030A0"/>
                </a:solidFill>
              </a:rPr>
              <a:t>sublist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0" y="5336498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second </a:t>
            </a:r>
            <a:r>
              <a:rPr lang="en-US" sz="2400" dirty="0" err="1"/>
              <a:t>sublist</a:t>
            </a:r>
            <a:r>
              <a:rPr lang="en-US" sz="2400" dirty="0"/>
              <a:t> has only one element, Accordingly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algorithm pushes only the boundary values 6 and 10 of the first </a:t>
            </a:r>
            <a:r>
              <a:rPr lang="en-US" sz="2400" dirty="0" err="1"/>
              <a:t>sublist</a:t>
            </a:r>
            <a:r>
              <a:rPr lang="en-US" sz="2400" dirty="0"/>
              <a:t> on the STACKs to yield</a:t>
            </a:r>
          </a:p>
          <a:p>
            <a:pPr marL="342900" lvl="2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LOWER= </a:t>
            </a:r>
            <a:r>
              <a:rPr lang="en-US" sz="2400" b="1" dirty="0"/>
              <a:t>1, 6 </a:t>
            </a:r>
            <a:r>
              <a:rPr lang="en-US" sz="2400" dirty="0"/>
              <a:t>and UPPER= </a:t>
            </a:r>
            <a:r>
              <a:rPr lang="en-US" sz="2400" b="1" dirty="0"/>
              <a:t>4, 10</a:t>
            </a:r>
          </a:p>
        </p:txBody>
      </p:sp>
    </p:spTree>
    <p:extLst>
      <p:ext uri="{BB962C8B-B14F-4D97-AF65-F5344CB8AC3E}">
        <p14:creationId xmlns:p14="http://schemas.microsoft.com/office/powerpoint/2010/main" val="10586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Quick Sort Algorithm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229600" cy="57150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800" dirty="0" smtClean="0"/>
              <a:t>QUICK ( A, N, BEG, END, LOC )</a:t>
            </a:r>
          </a:p>
          <a:p>
            <a:pPr marL="0" indent="0" algn="just">
              <a:buNone/>
            </a:pPr>
            <a:endParaRPr lang="en-US" sz="2800" dirty="0"/>
          </a:p>
          <a:p>
            <a:pPr marL="457200" indent="-457200" algn="just">
              <a:buAutoNum type="arabicPeriod"/>
            </a:pPr>
            <a:r>
              <a:rPr lang="en-US" sz="2400" dirty="0" smtClean="0"/>
              <a:t>[Initialize.] Set LEFT:=BEG, RIGHT:=END and LOC:=BEG</a:t>
            </a:r>
          </a:p>
          <a:p>
            <a:pPr marL="457200" indent="-457200" algn="just">
              <a:buAutoNum type="arabicPeriod"/>
            </a:pPr>
            <a:r>
              <a:rPr lang="en-US" sz="2400" dirty="0" smtClean="0"/>
              <a:t>[Scan from right to left.]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smtClean="0"/>
              <a:t>(a) Repeat while A[LOC]&lt;=A[RIGHT] and LOC!=RIGHT: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smtClean="0"/>
              <a:t>	RIGHT:= RIGHT – 1.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[end of loop]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(b)  If LOC= RIGHT, Then; Return.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(c) If A[LOC]&gt;= A[RIGHT], then: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smtClean="0"/>
              <a:t>	(i) [Interchange A[LOC] and A[RIGHT].]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smtClean="0"/>
              <a:t>		TEMP:= A[LOC], A[LOC]:= A[RIGHT],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smtClean="0"/>
              <a:t>		A[RIGHT]:= TEMP.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 (ii) Set LOC:= RIGHT.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 (iii) Go to step 3.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[End of If structure]</a:t>
            </a:r>
          </a:p>
          <a:p>
            <a:pPr marL="0" indent="0" algn="just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19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Quick Sort Algorithm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229600" cy="57150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800" dirty="0" smtClean="0"/>
              <a:t>QUICK ( A, N, BEG, END, LOC )</a:t>
            </a:r>
          </a:p>
          <a:p>
            <a:pPr marL="0" indent="0" algn="just">
              <a:buNone/>
            </a:pPr>
            <a:endParaRPr lang="en-US" sz="2800" dirty="0"/>
          </a:p>
          <a:p>
            <a:pPr marL="457200" indent="-457200" algn="just">
              <a:buFont typeface="+mj-lt"/>
              <a:buAutoNum type="arabicPeriod" startAt="3"/>
            </a:pPr>
            <a:r>
              <a:rPr lang="en-US" sz="2400" dirty="0" smtClean="0"/>
              <a:t>[Scan from left to right.]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smtClean="0"/>
              <a:t>(a) Repeat while A[LEFT]&lt;=A[LOC] and LEFT!=LOC: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smtClean="0"/>
              <a:t>	LEFT:= LEFT </a:t>
            </a:r>
            <a:r>
              <a:rPr lang="en-US" sz="2400" dirty="0"/>
              <a:t>+</a:t>
            </a:r>
            <a:r>
              <a:rPr lang="en-US" sz="2400" dirty="0" smtClean="0"/>
              <a:t> 1.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[end of loop]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(b)  If LOC= LEFT, Then; Return.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(c) If A[LEFT]&gt;= A[LOC], then: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smtClean="0"/>
              <a:t>	(i) [Interchange A[LEFT] and A[LOC].]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smtClean="0"/>
              <a:t>		TEMP:= A[LOC], A[LOC]:= A[LEFT],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 smtClean="0"/>
              <a:t>		A[LEFT]:= TEMP.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 (ii) Set LOC:= LEFT.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 (iii) Go to </a:t>
            </a:r>
            <a:r>
              <a:rPr lang="en-US" sz="2400" smtClean="0"/>
              <a:t>step 2.</a:t>
            </a:r>
            <a:endParaRPr lang="en-US" sz="2400" dirty="0" smtClean="0"/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[End of If structure]</a:t>
            </a:r>
          </a:p>
          <a:p>
            <a:pPr marL="457200" indent="-457200" algn="just">
              <a:buAutoNum type="arabicPeriod"/>
            </a:pPr>
            <a:endParaRPr lang="en-US" sz="2400" dirty="0"/>
          </a:p>
          <a:p>
            <a:pPr marL="457200" indent="-457200" algn="just">
              <a:buAutoNum type="arabicPeriod"/>
            </a:pPr>
            <a:endParaRPr lang="en-US" sz="2400" dirty="0" smtClean="0"/>
          </a:p>
          <a:p>
            <a:pPr marL="0" indent="0" algn="just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16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722675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Lato"/>
              </a:rPr>
              <a:t>The quick sort is regarded as the best sorting algorithm.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Lato"/>
              </a:rPr>
              <a:t>This is because of its significant advantage in terms of efficiency because it is able to deal well with a huge list of items.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Lato"/>
              </a:rPr>
              <a:t>Because it sorts in place, no additional storage is required as well.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Lato"/>
              </a:rPr>
              <a:t>The slight disadvantage of quick sort is that its worst-case performance is similar to average performances of the bubble, insertion or selections sorts.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Lato"/>
              </a:rPr>
              <a:t>In general, the quick sort produces the most effective and widely used method of sorting a list of any item size.</a:t>
            </a:r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97405" y="73433"/>
            <a:ext cx="19354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QUICKSORT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2766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006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836781"/>
            <a:ext cx="89268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/>
              <a:t>Observe that the reduction step in the k</a:t>
            </a:r>
            <a:r>
              <a:rPr lang="en-US" sz="3200" baseline="30000" dirty="0"/>
              <a:t>th</a:t>
            </a:r>
            <a:r>
              <a:rPr lang="en-US" sz="3200" dirty="0"/>
              <a:t> level finds the location of 2</a:t>
            </a:r>
            <a:r>
              <a:rPr lang="en-US" sz="3200" baseline="30000" dirty="0"/>
              <a:t>k-1</a:t>
            </a:r>
            <a:r>
              <a:rPr lang="en-US" sz="3200" dirty="0"/>
              <a:t> elements.</a:t>
            </a:r>
          </a:p>
        </p:txBody>
      </p:sp>
    </p:spTree>
    <p:extLst>
      <p:ext uri="{BB962C8B-B14F-4D97-AF65-F5344CB8AC3E}">
        <p14:creationId xmlns:p14="http://schemas.microsoft.com/office/powerpoint/2010/main" val="683163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Recursion: Procedure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557882"/>
            <a:ext cx="90075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Recursion is an important concept in Computer Science.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Suppose, P is a </a:t>
            </a:r>
            <a:r>
              <a:rPr lang="en-US" sz="2400" i="1" dirty="0">
                <a:solidFill>
                  <a:srgbClr val="0000CC"/>
                </a:solidFill>
              </a:rPr>
              <a:t>procedure</a:t>
            </a:r>
            <a:r>
              <a:rPr lang="en-US" sz="2400" dirty="0">
                <a:solidFill>
                  <a:srgbClr val="0000CC"/>
                </a:solidFill>
              </a:rPr>
              <a:t> </a:t>
            </a:r>
            <a:r>
              <a:rPr lang="en-US" sz="2400" dirty="0"/>
              <a:t>containing either </a:t>
            </a:r>
          </a:p>
          <a:p>
            <a:pPr marL="1257300" lvl="2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a Call statement to itself or</a:t>
            </a:r>
          </a:p>
          <a:p>
            <a:pPr marL="1257300" lvl="2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a Call statement to a second procedure that may eventually result in a Call statement back to the original </a:t>
            </a:r>
            <a:r>
              <a:rPr lang="en-US" sz="2400" i="1" dirty="0"/>
              <a:t>procedure</a:t>
            </a:r>
            <a:r>
              <a:rPr lang="en-US" sz="2400" dirty="0"/>
              <a:t>, P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Then P is called a </a:t>
            </a:r>
            <a:r>
              <a:rPr lang="en-US" sz="2400" i="1" dirty="0">
                <a:solidFill>
                  <a:srgbClr val="0000CC"/>
                </a:solidFill>
              </a:rPr>
              <a:t>Recursive Procedure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5569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006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Recursion: </a:t>
            </a:r>
            <a:r>
              <a:rPr lang="en-US" sz="3200" i="1" dirty="0">
                <a:solidFill>
                  <a:srgbClr val="0000CC"/>
                </a:solidFill>
              </a:rPr>
              <a:t>Procedure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557882"/>
            <a:ext cx="90075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A </a:t>
            </a:r>
            <a:r>
              <a:rPr lang="en-US" sz="2400" i="1" dirty="0">
                <a:solidFill>
                  <a:srgbClr val="0000CC"/>
                </a:solidFill>
              </a:rPr>
              <a:t>Recursive Procedure</a:t>
            </a:r>
            <a:r>
              <a:rPr lang="en-US" sz="2400" dirty="0">
                <a:solidFill>
                  <a:srgbClr val="0000CC"/>
                </a:solidFill>
              </a:rPr>
              <a:t> </a:t>
            </a:r>
            <a:r>
              <a:rPr lang="en-US" sz="2400" dirty="0"/>
              <a:t>must have the following two properties:</a:t>
            </a:r>
          </a:p>
          <a:p>
            <a:pPr marL="800100" lvl="1" indent="-342900" algn="just">
              <a:lnSpc>
                <a:spcPct val="150000"/>
              </a:lnSpc>
              <a:buFont typeface="Arial" charset="0"/>
              <a:buChar char="•"/>
            </a:pPr>
            <a:r>
              <a:rPr lang="en-US" sz="2400" dirty="0"/>
              <a:t>There must be certain criteria, called </a:t>
            </a:r>
            <a:r>
              <a:rPr lang="en-US" sz="2400" i="1" dirty="0">
                <a:solidFill>
                  <a:srgbClr val="FF0000"/>
                </a:solidFill>
              </a:rPr>
              <a:t>base criteria</a:t>
            </a:r>
            <a:r>
              <a:rPr lang="en-US" sz="2400" dirty="0"/>
              <a:t>, for which the procedure does not call itself</a:t>
            </a:r>
          </a:p>
          <a:p>
            <a:pPr marL="800100" lvl="1" indent="-342900" algn="just">
              <a:lnSpc>
                <a:spcPct val="150000"/>
              </a:lnSpc>
              <a:buFont typeface="Arial" charset="0"/>
              <a:buChar char="•"/>
            </a:pPr>
            <a:r>
              <a:rPr lang="en-US" sz="2400" dirty="0"/>
              <a:t>Each time the </a:t>
            </a:r>
            <a:r>
              <a:rPr lang="en-US" sz="2400" i="1" dirty="0"/>
              <a:t>procedure </a:t>
            </a:r>
            <a:r>
              <a:rPr lang="en-US" sz="2400" dirty="0"/>
              <a:t>does call itself (directly or indirectly), it must be closer to the </a:t>
            </a:r>
            <a:r>
              <a:rPr lang="en-US" sz="2400" i="1" dirty="0"/>
              <a:t>base criteria.</a:t>
            </a:r>
            <a:r>
              <a:rPr lang="en-US" sz="2400" dirty="0"/>
              <a:t> </a:t>
            </a:r>
          </a:p>
          <a:p>
            <a:pPr marL="342900" indent="-342900" algn="just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A </a:t>
            </a:r>
            <a:r>
              <a:rPr lang="en-US" sz="2400" i="1" dirty="0">
                <a:solidFill>
                  <a:srgbClr val="0000CC"/>
                </a:solidFill>
              </a:rPr>
              <a:t>Recursive Procedure </a:t>
            </a:r>
            <a:r>
              <a:rPr lang="en-US" sz="2400" dirty="0"/>
              <a:t>with these two properties is said to be </a:t>
            </a:r>
            <a:r>
              <a:rPr lang="en-US" sz="2400" i="1" dirty="0"/>
              <a:t>well-defined.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785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Recursion: </a:t>
            </a:r>
            <a:r>
              <a:rPr lang="en-US" sz="3200" dirty="0">
                <a:solidFill>
                  <a:srgbClr val="00B050"/>
                </a:solidFill>
              </a:rPr>
              <a:t>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82" y="632024"/>
            <a:ext cx="89268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charset="2"/>
              <a:buChar char="ü"/>
            </a:pPr>
            <a:r>
              <a:rPr lang="en-US" sz="2400" dirty="0"/>
              <a:t>A function is said to be </a:t>
            </a:r>
            <a:r>
              <a:rPr lang="en-US" sz="2400" i="1" dirty="0">
                <a:solidFill>
                  <a:srgbClr val="00B050"/>
                </a:solidFill>
              </a:rPr>
              <a:t>Recursively</a:t>
            </a:r>
            <a:r>
              <a:rPr lang="en-US" sz="2400" i="1" dirty="0"/>
              <a:t> defined </a:t>
            </a:r>
            <a:r>
              <a:rPr lang="en-US" sz="2400" dirty="0"/>
              <a:t> if the function definition refers to itself.</a:t>
            </a:r>
          </a:p>
          <a:p>
            <a:pPr marL="342900" indent="-342900" algn="just">
              <a:buFont typeface="Wingdings" charset="2"/>
              <a:buChar char="ü"/>
            </a:pPr>
            <a:r>
              <a:rPr lang="en-US" sz="2400" dirty="0"/>
              <a:t>A </a:t>
            </a:r>
            <a:r>
              <a:rPr lang="en-US" sz="2400" i="1" dirty="0">
                <a:solidFill>
                  <a:srgbClr val="00B050"/>
                </a:solidFill>
              </a:rPr>
              <a:t>Recursive Function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/>
              <a:t>must have the following two properties:</a:t>
            </a:r>
          </a:p>
          <a:p>
            <a:pPr marL="800100" lvl="1" indent="-342900" algn="just">
              <a:buFont typeface="Wingdings" charset="2"/>
              <a:buChar char="Ø"/>
            </a:pPr>
            <a:r>
              <a:rPr lang="en-US" sz="2400" dirty="0"/>
              <a:t>There must be certain arguments, called </a:t>
            </a:r>
            <a:r>
              <a:rPr lang="en-US" sz="2400" b="1" dirty="0">
                <a:solidFill>
                  <a:srgbClr val="7030A0"/>
                </a:solidFill>
              </a:rPr>
              <a:t>BASE VALUE</a:t>
            </a:r>
            <a:r>
              <a:rPr lang="en-US" sz="2400" i="1" dirty="0"/>
              <a:t>,</a:t>
            </a:r>
            <a:r>
              <a:rPr lang="en-US" sz="2400" dirty="0"/>
              <a:t> for which the function does not refer to itself.</a:t>
            </a:r>
          </a:p>
          <a:p>
            <a:pPr marL="800100" lvl="1" indent="-342900" algn="just">
              <a:buFont typeface="Wingdings" charset="2"/>
              <a:buChar char="Ø"/>
            </a:pPr>
            <a:r>
              <a:rPr lang="en-US" sz="2400" dirty="0"/>
              <a:t>Each time the function does refer to itself, the argument of the function must be closer to a </a:t>
            </a:r>
            <a:r>
              <a:rPr lang="en-US" sz="2400" b="1" dirty="0">
                <a:solidFill>
                  <a:srgbClr val="7030A0"/>
                </a:solidFill>
              </a:rPr>
              <a:t>BASE VALUE</a:t>
            </a:r>
            <a:r>
              <a:rPr lang="en-US" sz="2400" dirty="0"/>
              <a:t>. </a:t>
            </a:r>
          </a:p>
          <a:p>
            <a:pPr marL="342900" indent="-342900" algn="just">
              <a:buFont typeface="Wingdings" charset="2"/>
              <a:buChar char="ü"/>
            </a:pPr>
            <a:r>
              <a:rPr lang="en-US" sz="2400" dirty="0"/>
              <a:t>A </a:t>
            </a:r>
            <a:r>
              <a:rPr lang="en-US" sz="2400" i="1" dirty="0">
                <a:solidFill>
                  <a:srgbClr val="00B050"/>
                </a:solidFill>
              </a:rPr>
              <a:t>Recursive Function </a:t>
            </a:r>
            <a:r>
              <a:rPr lang="en-US" sz="2400" dirty="0"/>
              <a:t>with two properties is also said to be </a:t>
            </a:r>
            <a:r>
              <a:rPr lang="en-US" sz="2400" i="1" dirty="0"/>
              <a:t>well-defined</a:t>
            </a:r>
            <a:r>
              <a:rPr lang="en-US" sz="2400" dirty="0"/>
              <a:t>.</a:t>
            </a:r>
          </a:p>
          <a:p>
            <a:pPr marL="342900" indent="-342900" algn="just">
              <a:buFont typeface="Wingdings" charset="2"/>
              <a:buChar char="ü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1181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-26893"/>
            <a:ext cx="76774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Recursion: Factorial Function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9882" y="606692"/>
            <a:ext cx="9063318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Wingdings" charset="2"/>
              <a:buChar char="ü"/>
            </a:pPr>
            <a:r>
              <a:rPr lang="en-US" altLang="en-US" dirty="0"/>
              <a:t>In some problems, it may be natural to define the problem in terms of the problem itself.</a:t>
            </a:r>
          </a:p>
          <a:p>
            <a:pPr marL="342900" indent="-342900" algn="just">
              <a:buFont typeface="Wingdings" charset="2"/>
              <a:buChar char="ü"/>
            </a:pPr>
            <a:r>
              <a:rPr lang="en-US" altLang="en-US" dirty="0"/>
              <a:t>Recursion is useful for problems that can be represented by a </a:t>
            </a:r>
            <a:r>
              <a:rPr lang="en-US" alt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SIMPLER VERSION </a:t>
            </a:r>
            <a:r>
              <a:rPr lang="en-US" altLang="en-US" dirty="0"/>
              <a:t>of the same problem.</a:t>
            </a:r>
          </a:p>
          <a:p>
            <a:pPr marL="342900" indent="-342900" algn="just">
              <a:buFont typeface="Wingdings" charset="2"/>
              <a:buChar char="ü"/>
            </a:pPr>
            <a:r>
              <a:rPr lang="en-US" altLang="en-US" dirty="0"/>
              <a:t>Example: the factorial function</a:t>
            </a:r>
          </a:p>
          <a:p>
            <a:pPr algn="just">
              <a:buFont typeface="Monotype Sorts" charset="2"/>
              <a:buNone/>
            </a:pPr>
            <a:r>
              <a:rPr lang="en-US" altLang="en-US" dirty="0"/>
              <a:t>		</a:t>
            </a:r>
            <a:r>
              <a:rPr lang="en-US" altLang="en-US" b="1" dirty="0">
                <a:solidFill>
                  <a:srgbClr val="FF0000"/>
                </a:solidFill>
                <a:latin typeface="Courier New" charset="0"/>
              </a:rPr>
              <a:t>6! = 6 * 5 * 4 * 3 * 2 * 1</a:t>
            </a:r>
            <a:endParaRPr lang="en-US" altLang="en-US" dirty="0">
              <a:solidFill>
                <a:srgbClr val="FF0000"/>
              </a:solidFill>
              <a:latin typeface="Courier New" charset="0"/>
            </a:endParaRPr>
          </a:p>
          <a:p>
            <a:pPr algn="just">
              <a:buFont typeface="Monotype Sorts" charset="2"/>
              <a:buNone/>
            </a:pPr>
            <a:r>
              <a:rPr lang="en-US" altLang="en-US" dirty="0">
                <a:solidFill>
                  <a:srgbClr val="FAFD00"/>
                </a:solidFill>
              </a:rPr>
              <a:t>	</a:t>
            </a:r>
            <a:r>
              <a:rPr lang="en-US" altLang="en-US" dirty="0"/>
              <a:t>We could write:</a:t>
            </a:r>
            <a:endParaRPr lang="en-US" altLang="en-US" dirty="0">
              <a:solidFill>
                <a:srgbClr val="FAFD00"/>
              </a:solidFill>
            </a:endParaRPr>
          </a:p>
          <a:p>
            <a:pPr algn="just">
              <a:buFont typeface="Monotype Sorts" charset="2"/>
              <a:buNone/>
            </a:pPr>
            <a:r>
              <a:rPr lang="en-US" altLang="en-US" dirty="0">
                <a:solidFill>
                  <a:srgbClr val="FAFD00"/>
                </a:solidFill>
              </a:rPr>
              <a:t>		</a:t>
            </a:r>
            <a:r>
              <a:rPr lang="en-US" altLang="en-US" b="1" dirty="0">
                <a:solidFill>
                  <a:srgbClr val="FF0000"/>
                </a:solidFill>
                <a:latin typeface="Courier New" charset="0"/>
              </a:rPr>
              <a:t>6! = 6 * 5!</a:t>
            </a:r>
          </a:p>
          <a:p>
            <a:pPr algn="just">
              <a:buFont typeface="Monotype Sorts" charset="2"/>
              <a:buNone/>
            </a:pPr>
            <a:r>
              <a:rPr lang="en-US" altLang="en-US" dirty="0">
                <a:solidFill>
                  <a:srgbClr val="FAFD00"/>
                </a:solidFill>
              </a:rPr>
              <a:t>	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3841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Recursion: Factorial Function</a:t>
            </a:r>
          </a:p>
        </p:txBody>
      </p:sp>
      <p:sp>
        <p:nvSpPr>
          <p:cNvPr id="7" name="Rectangle 1027"/>
          <p:cNvSpPr txBox="1">
            <a:spLocks noChangeArrowheads="1"/>
          </p:cNvSpPr>
          <p:nvPr/>
        </p:nvSpPr>
        <p:spPr>
          <a:xfrm>
            <a:off x="80682" y="836781"/>
            <a:ext cx="8926842" cy="29732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charset="2"/>
              <a:buChar char="ü"/>
            </a:pPr>
            <a:r>
              <a:rPr lang="en-US" altLang="en-US" dirty="0"/>
              <a:t>In general, we can express the factorial function as follows:</a:t>
            </a:r>
            <a:endParaRPr lang="en-US" altLang="en-US" dirty="0">
              <a:solidFill>
                <a:srgbClr val="FAFD00"/>
              </a:solidFill>
            </a:endParaRPr>
          </a:p>
          <a:p>
            <a:pPr algn="just">
              <a:buFont typeface="Monotype Sorts" charset="2"/>
              <a:buNone/>
            </a:pPr>
            <a:r>
              <a:rPr lang="en-US" altLang="en-US" dirty="0">
                <a:solidFill>
                  <a:srgbClr val="FAFD00"/>
                </a:solidFill>
              </a:rPr>
              <a:t>		</a:t>
            </a:r>
            <a:r>
              <a:rPr lang="en-US" altLang="en-US" b="1" dirty="0">
                <a:solidFill>
                  <a:srgbClr val="FF0000"/>
                </a:solidFill>
                <a:latin typeface="Courier New" charset="0"/>
              </a:rPr>
              <a:t>n! = n * (n-1)!</a:t>
            </a:r>
          </a:p>
          <a:p>
            <a:pPr algn="just">
              <a:buFont typeface="Monotype Sorts" charset="2"/>
              <a:buNone/>
            </a:pPr>
            <a:r>
              <a:rPr lang="en-US" altLang="en-US" dirty="0"/>
              <a:t>	Is this correct? </a:t>
            </a:r>
          </a:p>
          <a:p>
            <a:pPr marL="342900" indent="-342900" algn="just">
              <a:buFont typeface="Wingdings" charset="2"/>
              <a:buChar char="ü"/>
            </a:pPr>
            <a:r>
              <a:rPr lang="en-US" altLang="en-US" dirty="0"/>
              <a:t>The factorial function is </a:t>
            </a:r>
            <a:r>
              <a:rPr lang="en-US" altLang="en-US" b="1" dirty="0">
                <a:solidFill>
                  <a:srgbClr val="FF0000"/>
                </a:solidFill>
              </a:rPr>
              <a:t>ONLY DEFINED </a:t>
            </a:r>
            <a:r>
              <a:rPr lang="en-US" altLang="en-US" dirty="0"/>
              <a:t>for </a:t>
            </a:r>
            <a:r>
              <a:rPr lang="en-US" altLang="en-US" i="1" dirty="0"/>
              <a:t>positive</a:t>
            </a:r>
            <a:r>
              <a:rPr lang="en-US" altLang="en-US" dirty="0"/>
              <a:t> integers. So we should be a bit more precise:</a:t>
            </a:r>
          </a:p>
          <a:p>
            <a:pPr algn="just">
              <a:buFont typeface="Monotype Sorts" charset="2"/>
              <a:buNone/>
            </a:pPr>
            <a:r>
              <a:rPr lang="en-US" altLang="en-US" dirty="0">
                <a:solidFill>
                  <a:srgbClr val="FAFD00"/>
                </a:solidFill>
              </a:rPr>
              <a:t>   </a:t>
            </a:r>
            <a:r>
              <a:rPr lang="en-US" altLang="en-US" b="1" dirty="0" err="1">
                <a:latin typeface="Courier New" charset="0"/>
              </a:rPr>
              <a:t>i</a:t>
            </a:r>
            <a:r>
              <a:rPr lang="en-US" altLang="en-US" b="1" dirty="0">
                <a:latin typeface="Courier New" charset="0"/>
              </a:rPr>
              <a:t>) </a:t>
            </a:r>
            <a:r>
              <a:rPr lang="en-US" altLang="en-US" dirty="0">
                <a:solidFill>
                  <a:srgbClr val="FAFD00"/>
                </a:solidFill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Courier New" charset="0"/>
              </a:rPr>
              <a:t>n! = 1</a:t>
            </a:r>
            <a:r>
              <a:rPr lang="en-US" altLang="en-US" b="1" dirty="0">
                <a:solidFill>
                  <a:srgbClr val="FAFD00"/>
                </a:solidFill>
                <a:latin typeface="Courier New" charset="0"/>
              </a:rPr>
              <a:t>	      </a:t>
            </a:r>
            <a:r>
              <a:rPr lang="en-US" altLang="en-US" b="1" dirty="0">
                <a:solidFill>
                  <a:srgbClr val="7030A0"/>
                </a:solidFill>
                <a:latin typeface="Courier New" charset="0"/>
              </a:rPr>
              <a:t>(if n is equal to 1)</a:t>
            </a:r>
          </a:p>
          <a:p>
            <a:pPr algn="just">
              <a:buFont typeface="Monotype Sorts" charset="2"/>
              <a:buNone/>
            </a:pPr>
            <a:r>
              <a:rPr lang="en-US" altLang="en-US" b="1" dirty="0">
                <a:solidFill>
                  <a:srgbClr val="FAFD00"/>
                </a:solidFill>
                <a:latin typeface="Courier New" charset="0"/>
              </a:rPr>
              <a:t> </a:t>
            </a:r>
            <a:r>
              <a:rPr lang="en-US" altLang="en-US" b="1" dirty="0">
                <a:latin typeface="Courier New" charset="0"/>
              </a:rPr>
              <a:t>ii) </a:t>
            </a:r>
            <a:r>
              <a:rPr lang="en-US" altLang="en-US" b="1" dirty="0">
                <a:solidFill>
                  <a:srgbClr val="FF0000"/>
                </a:solidFill>
                <a:latin typeface="Courier New" charset="0"/>
              </a:rPr>
              <a:t>n! = n * (n-1)! </a:t>
            </a:r>
            <a:r>
              <a:rPr lang="en-US" altLang="en-US" b="1" dirty="0">
                <a:solidFill>
                  <a:srgbClr val="7030A0"/>
                </a:solidFill>
                <a:latin typeface="Courier New" charset="0"/>
              </a:rPr>
              <a:t>(if n is larger than 1)</a:t>
            </a:r>
          </a:p>
          <a:p>
            <a:pPr algn="just">
              <a:buFont typeface="Monotype Sorts" charset="2"/>
              <a:buNone/>
            </a:pPr>
            <a:r>
              <a:rPr lang="en-US" altLang="en-US" b="1" dirty="0">
                <a:solidFill>
                  <a:srgbClr val="FAFD00"/>
                </a:solidFill>
                <a:latin typeface="Courier New" charset="0"/>
              </a:rPr>
              <a:t>	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Observe that, this definition of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</a:rPr>
              <a:t>n! </a:t>
            </a:r>
            <a:r>
              <a:rPr lang="en-US" sz="2400" dirty="0"/>
              <a:t>is recursive, since it refers to itself when it uses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</a:rPr>
              <a:t>(n-1)! </a:t>
            </a:r>
            <a:r>
              <a:rPr lang="en-US" sz="2400" dirty="0"/>
              <a:t>, However, </a:t>
            </a:r>
          </a:p>
          <a:p>
            <a:pPr marL="457200" indent="-457200" algn="just">
              <a:lnSpc>
                <a:spcPct val="150000"/>
              </a:lnSpc>
              <a:buFont typeface="Wingdings" charset="2"/>
              <a:buChar char="ü"/>
            </a:pPr>
            <a:r>
              <a:rPr lang="en-US" sz="2400" b="1" dirty="0" err="1">
                <a:latin typeface="Courier New" charset="0"/>
              </a:rPr>
              <a:t>i</a:t>
            </a:r>
            <a:r>
              <a:rPr lang="en-US" sz="2400" b="1" dirty="0">
                <a:latin typeface="Courier New" charset="0"/>
              </a:rPr>
              <a:t>)</a:t>
            </a:r>
            <a:r>
              <a:rPr lang="en-US" sz="2400" dirty="0"/>
              <a:t>the value of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</a:rPr>
              <a:t>n! </a:t>
            </a:r>
            <a:r>
              <a:rPr lang="en-US" sz="2400" dirty="0"/>
              <a:t>is explicitly given when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</a:rPr>
              <a:t>n=0</a:t>
            </a:r>
            <a:r>
              <a:rPr lang="en-US" sz="2400" dirty="0"/>
              <a:t> (</a:t>
            </a:r>
            <a:r>
              <a:rPr lang="en-US" sz="2400" b="1" dirty="0">
                <a:solidFill>
                  <a:srgbClr val="7030A0"/>
                </a:solidFill>
              </a:rPr>
              <a:t>BASE VALUE</a:t>
            </a:r>
            <a:r>
              <a:rPr lang="en-US" sz="2400" dirty="0"/>
              <a:t>)</a:t>
            </a:r>
          </a:p>
          <a:p>
            <a:pPr marL="457200" indent="-457200" algn="just">
              <a:lnSpc>
                <a:spcPct val="150000"/>
              </a:lnSpc>
              <a:buFont typeface="Wingdings" charset="2"/>
              <a:buChar char="ü"/>
            </a:pPr>
            <a:r>
              <a:rPr lang="en-US" sz="2400" b="1" dirty="0">
                <a:latin typeface="Courier New" charset="0"/>
              </a:rPr>
              <a:t>ii)</a:t>
            </a:r>
            <a:r>
              <a:rPr lang="en-US" sz="2400" dirty="0"/>
              <a:t>the value of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</a:rPr>
              <a:t>n! </a:t>
            </a:r>
            <a:r>
              <a:rPr lang="en-US" sz="2400" dirty="0"/>
              <a:t>for arbitrary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</a:rPr>
              <a:t>n</a:t>
            </a:r>
            <a:r>
              <a:rPr lang="en-US" sz="2400" dirty="0"/>
              <a:t> is defined in terms of a smaller value of n which is closer to the </a:t>
            </a:r>
            <a:r>
              <a:rPr lang="en-US" sz="2400" b="1" dirty="0">
                <a:solidFill>
                  <a:srgbClr val="7030A0"/>
                </a:solidFill>
              </a:rPr>
              <a:t>BASE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6901" y="1782343"/>
            <a:ext cx="1541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00B050"/>
                </a:solidFill>
              </a:rPr>
              <a:t>Well… almost.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29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-26893"/>
            <a:ext cx="7977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Recursion: Factorial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7700"/>
            <a:ext cx="90075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EXAMPLE:  </a:t>
            </a:r>
            <a:r>
              <a:rPr lang="en-US" sz="2400" dirty="0"/>
              <a:t>Let’s calculate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</a:rPr>
              <a:t>3! </a:t>
            </a:r>
            <a:r>
              <a:rPr lang="en-US" sz="2400" dirty="0"/>
              <a:t>Using the recursive definition.</a:t>
            </a: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en-US" sz="2400" dirty="0"/>
              <a:t>    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</a:rPr>
              <a:t>3! = 3 . 2!</a:t>
            </a: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en-US" sz="2400" dirty="0"/>
              <a:t>                           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</a:rPr>
              <a:t>2! = 2 . 1!</a:t>
            </a: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en-US" sz="2400" dirty="0"/>
              <a:t>                                                   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</a:rPr>
              <a:t>1! = 1 . 0!</a:t>
            </a: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en-US" sz="2400" dirty="0"/>
              <a:t>                                                                      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</a:rPr>
              <a:t>0! = 1 </a:t>
            </a:r>
            <a:r>
              <a:rPr lang="en-US" sz="2400" b="1" dirty="0">
                <a:solidFill>
                  <a:srgbClr val="7030A0"/>
                </a:solidFill>
                <a:latin typeface="Courier New" charset="0"/>
              </a:rPr>
              <a:t>(BASE VALUE)</a:t>
            </a: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en-US" sz="2400" dirty="0"/>
              <a:t>                                                   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</a:rPr>
              <a:t>1! = 1 . 1 = 1</a:t>
            </a: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en-US" sz="2400" dirty="0"/>
              <a:t>                          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</a:rPr>
              <a:t>2! = 2 . 1 = 2</a:t>
            </a: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en-US" sz="2400" dirty="0"/>
              <a:t>      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</a:rPr>
              <a:t>3! = 3 . 2 =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82" y="5172015"/>
            <a:ext cx="89268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charset="2"/>
              <a:buChar char="ü"/>
            </a:pPr>
            <a:r>
              <a:rPr lang="en-US" sz="2400" b="1" dirty="0">
                <a:solidFill>
                  <a:srgbClr val="7030A0"/>
                </a:solidFill>
              </a:rPr>
              <a:t>Observe that we back track in the reverse order of the original </a:t>
            </a:r>
            <a:r>
              <a:rPr lang="en-US" sz="2400" b="1" dirty="0" err="1">
                <a:solidFill>
                  <a:srgbClr val="7030A0"/>
                </a:solidFill>
              </a:rPr>
              <a:t>postponded</a:t>
            </a:r>
            <a:r>
              <a:rPr lang="en-US" sz="2400" b="1" dirty="0">
                <a:solidFill>
                  <a:srgbClr val="7030A0"/>
                </a:solidFill>
              </a:rPr>
              <a:t> evaluations.</a:t>
            </a:r>
          </a:p>
          <a:p>
            <a:pPr marL="342900" indent="-342900" algn="just">
              <a:buFont typeface="Wingdings" charset="2"/>
              <a:buChar char="ü"/>
            </a:pPr>
            <a:r>
              <a:rPr lang="en-US" sz="2400" b="1" dirty="0">
                <a:solidFill>
                  <a:srgbClr val="7030A0"/>
                </a:solidFill>
              </a:rPr>
              <a:t>Recall that this type of postponed processing tends itself to the use of STACKS. </a:t>
            </a:r>
          </a:p>
        </p:txBody>
      </p:sp>
    </p:spTree>
    <p:extLst>
      <p:ext uri="{BB962C8B-B14F-4D97-AF65-F5344CB8AC3E}">
        <p14:creationId xmlns:p14="http://schemas.microsoft.com/office/powerpoint/2010/main" val="193029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21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682" y="-26893"/>
            <a:ext cx="8020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Recursion: Function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58750" y="939800"/>
            <a:ext cx="8229600" cy="47244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dirty="0"/>
              <a:t>Assume the number typed is 3, that is, numb=3. </a:t>
            </a:r>
          </a:p>
          <a:p>
            <a:pPr algn="just">
              <a:buFont typeface="Monotype Sorts" charset="2"/>
              <a:buNone/>
            </a:pPr>
            <a:r>
              <a:rPr lang="en-US" altLang="en-US" b="1" dirty="0" err="1">
                <a:latin typeface="Courier" charset="0"/>
              </a:rPr>
              <a:t>fac</a:t>
            </a:r>
            <a:r>
              <a:rPr lang="en-US" altLang="en-US" b="1" dirty="0">
                <a:latin typeface="Courier" charset="0"/>
              </a:rPr>
              <a:t>(3) :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4197350" y="3911600"/>
            <a:ext cx="494665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en-US" sz="2000" dirty="0" err="1">
                <a:solidFill>
                  <a:srgbClr val="A2C1FE"/>
                </a:solidFill>
                <a:latin typeface="Courier New" charset="0"/>
              </a:rPr>
              <a:t>int</a:t>
            </a:r>
            <a:r>
              <a:rPr lang="en-US" altLang="en-US" sz="2000" dirty="0">
                <a:latin typeface="Courier New" charset="0"/>
              </a:rPr>
              <a:t> </a:t>
            </a:r>
            <a:r>
              <a:rPr lang="en-US" altLang="en-US" sz="2000" dirty="0" err="1">
                <a:latin typeface="Courier New" charset="0"/>
              </a:rPr>
              <a:t>fac</a:t>
            </a:r>
            <a:r>
              <a:rPr lang="en-US" altLang="en-US" sz="2000" dirty="0">
                <a:latin typeface="Courier New" charset="0"/>
              </a:rPr>
              <a:t>(</a:t>
            </a:r>
            <a:r>
              <a:rPr lang="en-US" altLang="en-US" sz="2000" dirty="0" err="1">
                <a:solidFill>
                  <a:srgbClr val="A2C1FE"/>
                </a:solidFill>
                <a:latin typeface="Courier New" charset="0"/>
              </a:rPr>
              <a:t>int</a:t>
            </a:r>
            <a:r>
              <a:rPr lang="en-US" altLang="en-US" sz="2000" dirty="0">
                <a:latin typeface="Courier New" charset="0"/>
              </a:rPr>
              <a:t> numb){</a:t>
            </a:r>
          </a:p>
          <a:p>
            <a:pPr>
              <a:buClrTx/>
              <a:buSzTx/>
              <a:buFontTx/>
              <a:buNone/>
            </a:pPr>
            <a:r>
              <a:rPr lang="en-US" altLang="en-US" sz="2000" dirty="0">
                <a:latin typeface="Courier New" charset="0"/>
              </a:rPr>
              <a:t>	</a:t>
            </a:r>
            <a:r>
              <a:rPr lang="en-US" altLang="en-US" sz="2000" dirty="0">
                <a:solidFill>
                  <a:srgbClr val="A2C1FE"/>
                </a:solidFill>
                <a:latin typeface="Courier New" charset="0"/>
              </a:rPr>
              <a:t>if</a:t>
            </a:r>
            <a:r>
              <a:rPr lang="en-US" altLang="en-US" sz="2000" dirty="0">
                <a:latin typeface="Courier New" charset="0"/>
              </a:rPr>
              <a:t>(numb&lt;=1)</a:t>
            </a:r>
          </a:p>
          <a:p>
            <a:pPr>
              <a:buClrTx/>
              <a:buSzTx/>
              <a:buFontTx/>
              <a:buNone/>
            </a:pPr>
            <a:r>
              <a:rPr lang="en-US" altLang="en-US" sz="2000" dirty="0">
                <a:latin typeface="Courier New" charset="0"/>
              </a:rPr>
              <a:t> 	   </a:t>
            </a:r>
            <a:r>
              <a:rPr lang="en-US" altLang="en-US" sz="2000" b="1" dirty="0">
                <a:solidFill>
                  <a:schemeClr val="accent6">
                    <a:lumMod val="75000"/>
                  </a:schemeClr>
                </a:solidFill>
                <a:latin typeface="Courier New" charset="0"/>
              </a:rPr>
              <a:t>return</a:t>
            </a:r>
            <a:r>
              <a:rPr lang="en-US" altLang="en-US" sz="2000" dirty="0">
                <a:latin typeface="Courier New" charset="0"/>
              </a:rPr>
              <a:t> 1;</a:t>
            </a:r>
          </a:p>
          <a:p>
            <a:pPr>
              <a:buClrTx/>
              <a:buSzTx/>
              <a:buFontTx/>
              <a:buNone/>
            </a:pPr>
            <a:r>
              <a:rPr lang="en-US" altLang="en-US" sz="2000" dirty="0">
                <a:latin typeface="Courier New" charset="0"/>
              </a:rPr>
              <a:t>	</a:t>
            </a:r>
            <a:r>
              <a:rPr lang="en-US" altLang="en-US" sz="2000" dirty="0">
                <a:solidFill>
                  <a:srgbClr val="A2C1FE"/>
                </a:solidFill>
                <a:latin typeface="Courier New" charset="0"/>
              </a:rPr>
              <a:t>else</a:t>
            </a:r>
            <a:endParaRPr lang="en-US" altLang="en-US" sz="2000" dirty="0">
              <a:latin typeface="Courier New" charset="0"/>
            </a:endParaRPr>
          </a:p>
          <a:p>
            <a:pPr>
              <a:buClrTx/>
              <a:buSzTx/>
              <a:buFontTx/>
              <a:buNone/>
            </a:pPr>
            <a:r>
              <a:rPr lang="en-US" altLang="en-US" sz="2000" dirty="0">
                <a:latin typeface="Courier New" charset="0"/>
              </a:rPr>
              <a:t>	   </a:t>
            </a:r>
            <a:r>
              <a:rPr lang="en-US" altLang="en-US" sz="2000" b="1" dirty="0">
                <a:solidFill>
                  <a:schemeClr val="accent6">
                    <a:lumMod val="75000"/>
                  </a:schemeClr>
                </a:solidFill>
                <a:latin typeface="Courier New" charset="0"/>
              </a:rPr>
              <a:t>return</a:t>
            </a:r>
            <a:r>
              <a:rPr lang="en-US" altLang="en-US" sz="2000" dirty="0">
                <a:latin typeface="Courier New" charset="0"/>
              </a:rPr>
              <a:t> numb * </a:t>
            </a:r>
            <a:r>
              <a:rPr lang="en-US" altLang="en-US" sz="2000" dirty="0" err="1">
                <a:latin typeface="Courier New" charset="0"/>
              </a:rPr>
              <a:t>fac</a:t>
            </a:r>
            <a:r>
              <a:rPr lang="en-US" altLang="en-US" sz="2000" dirty="0">
                <a:latin typeface="Courier New" charset="0"/>
              </a:rPr>
              <a:t>(numb-1);</a:t>
            </a:r>
          </a:p>
          <a:p>
            <a:pPr>
              <a:buClrTx/>
              <a:buSzTx/>
              <a:buFontTx/>
              <a:buNone/>
            </a:pPr>
            <a:r>
              <a:rPr lang="en-US" altLang="en-US" sz="2000" dirty="0">
                <a:latin typeface="Courier New" charset="0"/>
              </a:rPr>
              <a:t>}</a:t>
            </a:r>
            <a:endParaRPr lang="en-US" altLang="en-US" sz="2000" dirty="0">
              <a:latin typeface="Arial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4114800" y="3911600"/>
            <a:ext cx="5029200" cy="20574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95275" y="1484313"/>
            <a:ext cx="527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20000"/>
              </a:spcBef>
            </a:pPr>
            <a:endParaRPr lang="en-US" altLang="en-US" sz="2000">
              <a:latin typeface="Arial" charset="0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-282575" y="1711326"/>
            <a:ext cx="472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lvl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000" dirty="0">
                <a:latin typeface="Courier" charset="0"/>
              </a:rPr>
              <a:t>3 &lt;= 1 ? 		  </a:t>
            </a:r>
            <a:r>
              <a:rPr lang="en-US" altLang="en-US" sz="2000" dirty="0">
                <a:solidFill>
                  <a:srgbClr val="7030A0"/>
                </a:solidFill>
                <a:latin typeface="Arial" charset="0"/>
              </a:rPr>
              <a:t>No.</a:t>
            </a:r>
          </a:p>
          <a:p>
            <a:pPr lvl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000" dirty="0" err="1">
                <a:latin typeface="Courier" charset="0"/>
              </a:rPr>
              <a:t>fac</a:t>
            </a:r>
            <a:r>
              <a:rPr lang="en-US" altLang="en-US" sz="2000" dirty="0">
                <a:latin typeface="Courier" charset="0"/>
              </a:rPr>
              <a:t>(3) = 3 * </a:t>
            </a:r>
            <a:r>
              <a:rPr lang="en-US" altLang="en-US" sz="2000" dirty="0" err="1">
                <a:latin typeface="Courier" charset="0"/>
              </a:rPr>
              <a:t>fac</a:t>
            </a:r>
            <a:r>
              <a:rPr lang="en-US" altLang="en-US" sz="2000" dirty="0">
                <a:latin typeface="Courier" charset="0"/>
              </a:rPr>
              <a:t>(2)</a:t>
            </a:r>
            <a:endParaRPr lang="en-US" altLang="en-US" sz="2000" dirty="0">
              <a:latin typeface="Arial" charset="0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82550" y="2311400"/>
            <a:ext cx="42989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lvl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000" dirty="0" err="1">
                <a:latin typeface="Courier" charset="0"/>
              </a:rPr>
              <a:t>fac</a:t>
            </a:r>
            <a:r>
              <a:rPr lang="en-US" altLang="en-US" sz="2000" dirty="0">
                <a:latin typeface="Courier" charset="0"/>
              </a:rPr>
              <a:t>(2) :</a:t>
            </a:r>
          </a:p>
          <a:p>
            <a:pPr lvl="2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000" dirty="0">
                <a:latin typeface="Courier" charset="0"/>
              </a:rPr>
              <a:t>2 &lt;= 1 ? 		</a:t>
            </a:r>
            <a:r>
              <a:rPr lang="en-US" altLang="en-US" sz="2000" dirty="0">
                <a:solidFill>
                  <a:srgbClr val="7030A0"/>
                </a:solidFill>
                <a:latin typeface="Arial" charset="0"/>
              </a:rPr>
              <a:t>No.</a:t>
            </a:r>
          </a:p>
          <a:p>
            <a:pPr lvl="2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000" dirty="0" err="1">
                <a:latin typeface="Courier" charset="0"/>
              </a:rPr>
              <a:t>fac</a:t>
            </a:r>
            <a:r>
              <a:rPr lang="en-US" altLang="en-US" sz="2000" dirty="0">
                <a:latin typeface="Courier" charset="0"/>
              </a:rPr>
              <a:t>(2) = 2 * </a:t>
            </a:r>
            <a:r>
              <a:rPr lang="en-US" altLang="en-US" sz="2000" dirty="0" err="1">
                <a:latin typeface="Courier" charset="0"/>
              </a:rPr>
              <a:t>fac</a:t>
            </a:r>
            <a:r>
              <a:rPr lang="en-US" altLang="en-US" sz="2000" dirty="0">
                <a:latin typeface="Courier" charset="0"/>
              </a:rPr>
              <a:t>(1)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692150" y="3302000"/>
            <a:ext cx="40386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lvl="2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000" dirty="0" err="1">
                <a:latin typeface="Courier" charset="0"/>
              </a:rPr>
              <a:t>fac</a:t>
            </a:r>
            <a:r>
              <a:rPr lang="en-US" altLang="en-US" sz="2000" dirty="0">
                <a:latin typeface="Courier" charset="0"/>
              </a:rPr>
              <a:t>(1) :</a:t>
            </a:r>
          </a:p>
          <a:p>
            <a:pPr lvl="3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000" dirty="0">
                <a:latin typeface="Courier" charset="0"/>
              </a:rPr>
              <a:t>1 &lt;= 1 ?   </a:t>
            </a:r>
            <a:r>
              <a:rPr lang="en-US" altLang="en-US" sz="2000" dirty="0">
                <a:solidFill>
                  <a:srgbClr val="7030A0"/>
                </a:solidFill>
                <a:latin typeface="Arial" charset="0"/>
              </a:rPr>
              <a:t>Yes.</a:t>
            </a:r>
          </a:p>
          <a:p>
            <a:pPr lvl="3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ourier" charset="0"/>
              </a:rPr>
              <a:t>return</a:t>
            </a:r>
            <a:r>
              <a:rPr lang="en-US" altLang="en-US" sz="2000" dirty="0">
                <a:latin typeface="Courier" charset="0"/>
              </a:rPr>
              <a:t> 1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158750" y="4221163"/>
            <a:ext cx="3841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lvl="2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000" dirty="0" err="1">
                <a:latin typeface="Courier New" charset="0"/>
              </a:rPr>
              <a:t>fac</a:t>
            </a:r>
            <a:r>
              <a:rPr lang="en-US" altLang="en-US" sz="2000" dirty="0">
                <a:latin typeface="Courier" charset="0"/>
              </a:rPr>
              <a:t>(2) </a:t>
            </a:r>
            <a:r>
              <a:rPr lang="en-US" altLang="en-US" sz="2000" dirty="0">
                <a:latin typeface="Courier New" charset="0"/>
              </a:rPr>
              <a:t>= 2 * 1 = 2</a:t>
            </a:r>
          </a:p>
          <a:p>
            <a:pPr lvl="2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accent6">
                    <a:lumMod val="75000"/>
                  </a:schemeClr>
                </a:solidFill>
                <a:latin typeface="Courier New" charset="0"/>
              </a:rPr>
              <a:t>return</a:t>
            </a:r>
            <a:r>
              <a:rPr lang="en-US" altLang="en-US" sz="2000" dirty="0">
                <a:latin typeface="Courier New" charset="0"/>
              </a:rPr>
              <a:t> </a:t>
            </a:r>
            <a:r>
              <a:rPr lang="en-US" altLang="en-US" sz="2000" dirty="0" err="1">
                <a:latin typeface="Courier New" charset="0"/>
              </a:rPr>
              <a:t>fac</a:t>
            </a:r>
            <a:r>
              <a:rPr lang="en-US" altLang="en-US" sz="2000" dirty="0">
                <a:latin typeface="Courier" charset="0"/>
              </a:rPr>
              <a:t>(2) 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-146050" y="4953000"/>
            <a:ext cx="3384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lvl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000" dirty="0" err="1">
                <a:latin typeface="Courier New" charset="0"/>
              </a:rPr>
              <a:t>fac</a:t>
            </a:r>
            <a:r>
              <a:rPr lang="en-US" altLang="en-US" sz="2000" dirty="0">
                <a:latin typeface="Courier" charset="0"/>
              </a:rPr>
              <a:t>(3)</a:t>
            </a:r>
            <a:r>
              <a:rPr lang="en-US" altLang="en-US" sz="2000" dirty="0">
                <a:latin typeface="Courier New" charset="0"/>
              </a:rPr>
              <a:t> = 3 * 2 = 6</a:t>
            </a:r>
          </a:p>
          <a:p>
            <a:pPr lvl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accent6">
                    <a:lumMod val="75000"/>
                  </a:schemeClr>
                </a:solidFill>
                <a:latin typeface="Courier New" charset="0"/>
              </a:rPr>
              <a:t>return</a:t>
            </a:r>
            <a:r>
              <a:rPr lang="en-US" altLang="en-US" sz="2000" dirty="0">
                <a:latin typeface="Courier New" charset="0"/>
              </a:rPr>
              <a:t> </a:t>
            </a:r>
            <a:r>
              <a:rPr lang="en-US" altLang="en-US" sz="2000" dirty="0" err="1">
                <a:latin typeface="Courier New" charset="0"/>
              </a:rPr>
              <a:t>fac</a:t>
            </a:r>
            <a:r>
              <a:rPr lang="en-US" altLang="en-US" sz="2000" dirty="0">
                <a:latin typeface="Courier" charset="0"/>
              </a:rPr>
              <a:t>(3) 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311150" y="6172200"/>
            <a:ext cx="3689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20000"/>
              </a:spcBef>
              <a:buFont typeface="Monotype Sorts" charset="2"/>
              <a:buNone/>
            </a:pPr>
            <a:r>
              <a:rPr lang="en-US" altLang="en-US" sz="2000">
                <a:latin typeface="Courier New" charset="0"/>
              </a:rPr>
              <a:t>fac(3)  has the value 6</a:t>
            </a:r>
            <a:endParaRPr lang="en-US" altLang="en-US" sz="1800">
              <a:latin typeface="Courier" charset="0"/>
            </a:endParaRPr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1377950" y="3149600"/>
            <a:ext cx="0" cy="990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539750" y="2235200"/>
            <a:ext cx="0" cy="2667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4572000" y="4292600"/>
            <a:ext cx="1828800" cy="3048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390785" y="2874057"/>
            <a:ext cx="4986991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00050" indent="-400050" algn="just">
              <a:buFont typeface="Monotype Sorts" charset="2"/>
              <a:buAutoNum type="romanLcParenR"/>
            </a:pPr>
            <a:r>
              <a:rPr lang="en-US" altLang="en-US" sz="1400" b="1" dirty="0">
                <a:latin typeface="Courier New" charset="0"/>
              </a:rPr>
              <a:t> </a:t>
            </a:r>
            <a:r>
              <a:rPr lang="en-US" altLang="en-US" sz="1400" b="1" dirty="0">
                <a:solidFill>
                  <a:srgbClr val="FF0000"/>
                </a:solidFill>
                <a:latin typeface="Courier New" charset="0"/>
              </a:rPr>
              <a:t>n! = 1</a:t>
            </a:r>
            <a:r>
              <a:rPr lang="en-US" altLang="en-US" sz="1400" b="1" dirty="0">
                <a:solidFill>
                  <a:srgbClr val="FAFD00"/>
                </a:solidFill>
                <a:latin typeface="Courier New" charset="0"/>
              </a:rPr>
              <a:t>	    </a:t>
            </a:r>
            <a:r>
              <a:rPr lang="en-US" altLang="en-US" sz="1400" b="1" dirty="0">
                <a:solidFill>
                  <a:srgbClr val="7030A0"/>
                </a:solidFill>
                <a:latin typeface="Courier New" charset="0"/>
              </a:rPr>
              <a:t>(if n is equal to 1)</a:t>
            </a:r>
          </a:p>
          <a:p>
            <a:pPr marL="400050" indent="-400050" algn="just">
              <a:buFont typeface="Monotype Sorts" charset="2"/>
              <a:buAutoNum type="romanLcParenR"/>
            </a:pPr>
            <a:r>
              <a:rPr lang="en-US" altLang="en-US" sz="1400" b="1" dirty="0">
                <a:latin typeface="Courier New" charset="0"/>
              </a:rPr>
              <a:t> </a:t>
            </a:r>
            <a:r>
              <a:rPr lang="en-US" altLang="en-US" sz="1400" b="1" dirty="0">
                <a:solidFill>
                  <a:srgbClr val="FF0000"/>
                </a:solidFill>
                <a:latin typeface="Courier New" charset="0"/>
              </a:rPr>
              <a:t>n! = n * (n-1)! </a:t>
            </a:r>
            <a:r>
              <a:rPr lang="en-US" altLang="en-US" sz="1400" b="1" dirty="0">
                <a:solidFill>
                  <a:srgbClr val="7030A0"/>
                </a:solidFill>
                <a:latin typeface="Courier New" charset="0"/>
              </a:rPr>
              <a:t>(if n is larger than 1)</a:t>
            </a:r>
            <a:endParaRPr lang="en-US" sz="1400" dirty="0"/>
          </a:p>
        </p:txBody>
      </p:sp>
      <p:sp>
        <p:nvSpPr>
          <p:cNvPr id="21" name="Down Arrow 20"/>
          <p:cNvSpPr/>
          <p:nvPr/>
        </p:nvSpPr>
        <p:spPr>
          <a:xfrm>
            <a:off x="6400800" y="3403600"/>
            <a:ext cx="1203325" cy="4333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1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0966" y="2774224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17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7694</TotalTime>
  <Words>1697</Words>
  <Application>Microsoft Office PowerPoint</Application>
  <PresentationFormat>On-screen Show (4:3)</PresentationFormat>
  <Paragraphs>419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Office Theme</vt:lpstr>
      <vt:lpstr>Slipstream</vt:lpstr>
      <vt:lpstr>3_Office Theme</vt:lpstr>
      <vt:lpstr>5_Office Theme</vt:lpstr>
      <vt:lpstr>Data Structures  ICT-1211  Information and Communication Technology</vt:lpstr>
      <vt:lpstr> Stacks, Queues, Recursion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Quick Sort Algorithm</vt:lpstr>
      <vt:lpstr>Quick Sort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you……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Dulal Sir</cp:lastModifiedBy>
  <cp:revision>467</cp:revision>
  <dcterms:created xsi:type="dcterms:W3CDTF">2016-12-28T08:52:04Z</dcterms:created>
  <dcterms:modified xsi:type="dcterms:W3CDTF">2025-08-19T04:58:31Z</dcterms:modified>
</cp:coreProperties>
</file>