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9" r:id="rId2"/>
    <p:sldMasterId id="2147483673" r:id="rId3"/>
    <p:sldMasterId id="2147483697" r:id="rId4"/>
    <p:sldMasterId id="2147483917" r:id="rId5"/>
    <p:sldMasterId id="2147483930" r:id="rId6"/>
  </p:sldMasterIdLst>
  <p:notesMasterIdLst>
    <p:notesMasterId r:id="rId33"/>
  </p:notesMasterIdLst>
  <p:handoutMasterIdLst>
    <p:handoutMasterId r:id="rId34"/>
  </p:handoutMasterIdLst>
  <p:sldIdLst>
    <p:sldId id="345" r:id="rId7"/>
    <p:sldId id="487" r:id="rId8"/>
    <p:sldId id="444" r:id="rId9"/>
    <p:sldId id="488" r:id="rId10"/>
    <p:sldId id="489" r:id="rId11"/>
    <p:sldId id="490" r:id="rId12"/>
    <p:sldId id="491" r:id="rId13"/>
    <p:sldId id="492" r:id="rId14"/>
    <p:sldId id="495" r:id="rId15"/>
    <p:sldId id="493" r:id="rId16"/>
    <p:sldId id="494" r:id="rId17"/>
    <p:sldId id="496" r:id="rId18"/>
    <p:sldId id="497" r:id="rId19"/>
    <p:sldId id="498" r:id="rId20"/>
    <p:sldId id="499" r:id="rId21"/>
    <p:sldId id="500" r:id="rId22"/>
    <p:sldId id="501" r:id="rId23"/>
    <p:sldId id="502" r:id="rId24"/>
    <p:sldId id="503" r:id="rId25"/>
    <p:sldId id="526" r:id="rId26"/>
    <p:sldId id="504" r:id="rId27"/>
    <p:sldId id="506" r:id="rId28"/>
    <p:sldId id="507" r:id="rId29"/>
    <p:sldId id="508" r:id="rId30"/>
    <p:sldId id="509" r:id="rId31"/>
    <p:sldId id="435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FA9B9D-EBA2-484A-BEBB-C985D39332FA}">
          <p14:sldIdLst>
            <p14:sldId id="345"/>
            <p14:sldId id="487"/>
            <p14:sldId id="444"/>
            <p14:sldId id="488"/>
            <p14:sldId id="489"/>
            <p14:sldId id="490"/>
            <p14:sldId id="491"/>
            <p14:sldId id="492"/>
            <p14:sldId id="495"/>
            <p14:sldId id="493"/>
            <p14:sldId id="494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26"/>
            <p14:sldId id="504"/>
            <p14:sldId id="506"/>
            <p14:sldId id="507"/>
            <p14:sldId id="508"/>
            <p14:sldId id="509"/>
            <p14:sldId id="435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04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CC"/>
    <a:srgbClr val="CCECFF"/>
    <a:srgbClr val="FFFF66"/>
    <a:srgbClr val="FF5050"/>
    <a:srgbClr val="CCFF33"/>
    <a:srgbClr val="99FF99"/>
    <a:srgbClr val="FF9933"/>
    <a:srgbClr val="E1B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85385" autoAdjust="0"/>
  </p:normalViewPr>
  <p:slideViewPr>
    <p:cSldViewPr>
      <p:cViewPr varScale="1">
        <p:scale>
          <a:sx n="62" d="100"/>
          <a:sy n="62" d="100"/>
        </p:scale>
        <p:origin x="-1362" y="-90"/>
      </p:cViewPr>
      <p:guideLst>
        <p:guide orient="horz" pos="204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5B3E0D0-1152-4589-91DF-203E7BB440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602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2D14C573-AC46-4D06-93FF-47369F34E5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5038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14C573-AC46-4D06-93FF-47369F34E53E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82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42F94-761A-4B1B-B963-538E812BA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36501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4E988-DFC5-4FEC-8838-7F8B84C210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91731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23C8D-3E3D-4A36-9AAB-59652C03E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69931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238F6-0243-49FF-AE47-783FBF2D5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53112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D4513-2C2A-4633-9A8D-4A862FD60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31205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5A9A8-1A92-4E66-B34C-04E835A7E1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28335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CC087-243C-4087-980E-AAEA0E7BE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36552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06260-6C4C-4786-B72E-7A871EAEE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97348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C295B-B928-42B2-BB40-AB19BC45E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94765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1022C-6757-429C-856D-0F3DE0678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60825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C35CF-FF5D-4C47-BC07-14DE2D709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56478"/>
      </p:ext>
    </p:extLst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F3D0C-A43E-49B8-80CE-2479664D5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5530"/>
      </p:ext>
    </p:extLst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A2202-F55D-421F-B21A-E672BD730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5370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F8116-451F-45F8-98EF-A163DB10B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1675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719C9-BA41-4E7F-8A20-8A838622C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59144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2E43F-022D-4C54-BC37-A0ECB85C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12442"/>
      </p:ext>
    </p:extLst>
  </p:cSld>
  <p:clrMapOvr>
    <a:masterClrMapping/>
  </p:clrMapOvr>
  <p:transition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B95BA-5BBC-4564-9076-5E5080EF3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91365"/>
      </p:ext>
    </p:extLst>
  </p:cSld>
  <p:clrMapOvr>
    <a:masterClrMapping/>
  </p:clrMapOvr>
  <p:transition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FC9B2-29AA-4B94-AB49-6847134DD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66111"/>
      </p:ext>
    </p:extLst>
  </p:cSld>
  <p:clrMapOvr>
    <a:masterClrMapping/>
  </p:clrMapOvr>
  <p:transition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60A7C-5636-4F75-BE19-4C9478B1FD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04199"/>
      </p:ext>
    </p:extLst>
  </p:cSld>
  <p:clrMapOvr>
    <a:masterClrMapping/>
  </p:clrMapOvr>
  <p:transition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16398-3C8C-4FA8-A597-B8FF5A9307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58780"/>
      </p:ext>
    </p:extLst>
  </p:cSld>
  <p:clrMapOvr>
    <a:masterClrMapping/>
  </p:clrMapOvr>
  <p:transition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4C004-F925-4C08-8C63-FCB1669604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63563"/>
      </p:ext>
    </p:extLst>
  </p:cSld>
  <p:clrMapOvr>
    <a:masterClrMapping/>
  </p:clrMapOvr>
  <p:transition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60B2A-46B2-4F00-982E-8B26E61716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89641"/>
      </p:ext>
    </p:extLst>
  </p:cSld>
  <p:clrMapOvr>
    <a:masterClrMapping/>
  </p:clrMapOvr>
  <p:transition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14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010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2564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07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9142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3645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123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15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7113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7783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419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20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4268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5508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28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246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1473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6290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72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8701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2714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076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293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201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210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59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520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00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838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907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715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053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66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10/11/2024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129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6381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664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6440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2001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1636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145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3213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6133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5924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383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42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CD0D545F-5054-415D-A4CB-4ECB580E1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22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086D4231-D39F-433C-9620-0AAE50D9C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pPr defTabSz="449263" eaLnBrk="0" hangingPunct="0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1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61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fld id="{8A24BF4C-9CA2-423E-B4F6-7F55918723CE}" type="datetime1">
              <a:rPr lang="fr-FR" smtClean="0">
                <a:ea typeface="ＭＳ Ｐゴシック" charset="-128"/>
                <a:cs typeface="+mn-cs"/>
              </a:rPr>
              <a:pPr defTabSz="457200"/>
              <a:t>10/11/2024</a:t>
            </a:fld>
            <a:endParaRPr lang="en-US">
              <a:ea typeface="ＭＳ Ｐゴシック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endParaRPr lang="en-US">
              <a:ea typeface="ＭＳ Ｐゴシック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fld id="{AE2053D5-6219-41C3-8D16-FE99C84E3D09}" type="slidenum">
              <a:rPr lang="en-US" smtClean="0">
                <a:ea typeface="ＭＳ Ｐゴシック" charset="-128"/>
                <a:cs typeface="+mn-cs"/>
              </a:rPr>
              <a:pPr defTabSz="457200"/>
              <a:t>‹#›</a:t>
            </a:fld>
            <a:endParaRPr lang="en-US"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18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0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Lecture-22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//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550" y="263689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68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Linear List and Trees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Linear lists are useful for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serially ordered </a:t>
            </a:r>
            <a:r>
              <a:rPr lang="en-US" dirty="0">
                <a:cs typeface="Times New Roman" pitchFamily="18" charset="0"/>
              </a:rPr>
              <a:t>data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b="1" dirty="0">
                <a:cs typeface="Times New Roman" pitchFamily="18" charset="0"/>
              </a:rPr>
              <a:t>(e1,e2,e3,…,en)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b="1" dirty="0">
                <a:cs typeface="Times New Roman" pitchFamily="18" charset="0"/>
              </a:rPr>
              <a:t>Days of week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b="1" dirty="0">
                <a:cs typeface="Times New Roman" pitchFamily="18" charset="0"/>
              </a:rPr>
              <a:t>Months in a year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b="1" dirty="0">
                <a:cs typeface="Times New Roman" pitchFamily="18" charset="0"/>
              </a:rPr>
              <a:t>Students in a class  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Trees are useful for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hierarchically ordered </a:t>
            </a:r>
            <a:r>
              <a:rPr lang="en-US" dirty="0">
                <a:cs typeface="Times New Roman" pitchFamily="18" charset="0"/>
              </a:rPr>
              <a:t>data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dirty="0"/>
              <a:t>Corporate structure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dirty="0"/>
              <a:t>Government Subdivisions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dirty="0"/>
              <a:t>Software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6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Real Tree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vs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Tree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570" y="1340710"/>
            <a:ext cx="6264870" cy="535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550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Real Tree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vs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Tree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1196690"/>
            <a:ext cx="8209140" cy="5229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398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Real Tree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vs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 Tree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00" y="1484729"/>
            <a:ext cx="7633060" cy="489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46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Definition of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410" y="1412720"/>
            <a:ext cx="8363390" cy="49686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/>
              <a:t>  is a finite nonempty set of elements.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One of these elements is called the </a:t>
            </a:r>
            <a:r>
              <a:rPr lang="en-US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root.</a:t>
            </a:r>
          </a:p>
          <a:p>
            <a:pPr marL="0" indent="0" algn="just">
              <a:buNone/>
            </a:pPr>
            <a:endParaRPr lang="en-US" b="1" i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dirty="0"/>
              <a:t>The remaining elements, if any, are partitioned into trees which  are called the </a:t>
            </a:r>
            <a:r>
              <a:rPr lang="en-US" b="1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subtrees</a:t>
            </a:r>
            <a:r>
              <a:rPr lang="en-US" dirty="0"/>
              <a:t> of T.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08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Subtrees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0" y="1340710"/>
            <a:ext cx="7993110" cy="4821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30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Subtrees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10" y="980660"/>
            <a:ext cx="8065120" cy="555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17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Tree Terminology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74850" cy="492523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element at the top of the hierarchy is 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Elements next in the hierarchy are 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children</a:t>
            </a:r>
            <a:r>
              <a:rPr lang="en-US" dirty="0"/>
              <a:t> of the root.</a:t>
            </a:r>
          </a:p>
          <a:p>
            <a:pPr algn="just"/>
            <a:r>
              <a:rPr lang="en-US" dirty="0"/>
              <a:t>Elements next in the hierarchy are the 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grandchildren</a:t>
            </a:r>
            <a:r>
              <a:rPr lang="en-US" dirty="0"/>
              <a:t> of the root, and so on.</a:t>
            </a:r>
          </a:p>
          <a:p>
            <a:pPr algn="just"/>
            <a:r>
              <a:rPr lang="en-US" dirty="0"/>
              <a:t>Elements at the lowest level of the hierarchy are 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leaves.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70" y="1484730"/>
            <a:ext cx="3888540" cy="462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31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Other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10730" cy="4525963"/>
          </a:xfrm>
        </p:spPr>
        <p:txBody>
          <a:bodyPr/>
          <a:lstStyle/>
          <a:p>
            <a:r>
              <a:rPr lang="fr-FR" sz="2400" dirty="0" err="1"/>
              <a:t>Leaves</a:t>
            </a:r>
            <a:r>
              <a:rPr lang="fr-FR" sz="2400" dirty="0"/>
              <a:t>, Parent, </a:t>
            </a:r>
            <a:r>
              <a:rPr lang="fr-FR" sz="2400" dirty="0" err="1"/>
              <a:t>Grandparent</a:t>
            </a:r>
            <a:r>
              <a:rPr lang="fr-FR" sz="2400" dirty="0"/>
              <a:t>, Siblings, </a:t>
            </a:r>
            <a:r>
              <a:rPr lang="fr-FR" sz="2400" dirty="0" err="1"/>
              <a:t>Ancestors</a:t>
            </a:r>
            <a:r>
              <a:rPr lang="fr-FR" sz="2400" dirty="0"/>
              <a:t>, </a:t>
            </a:r>
            <a:r>
              <a:rPr lang="fr-FR" sz="2400" dirty="0" err="1"/>
              <a:t>Descendents</a:t>
            </a:r>
            <a:r>
              <a:rPr lang="fr-FR" sz="2400" dirty="0"/>
              <a:t> 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211950" y="1600200"/>
            <a:ext cx="468065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Leaves = {Mike, AI, Sue, Chris}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Parent(Mary) = Joe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Grandparent(Sue) = Mary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Siblings(Mary)={Ann, John}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Ancestors(Mike) = {</a:t>
            </a:r>
            <a:r>
              <a:rPr lang="en-US" sz="2400" b="1" dirty="0" err="1">
                <a:solidFill>
                  <a:srgbClr val="0000CC"/>
                </a:solidFill>
              </a:rPr>
              <a:t>Ann,Joe</a:t>
            </a:r>
            <a:r>
              <a:rPr lang="en-US" sz="2400" b="1" dirty="0">
                <a:solidFill>
                  <a:srgbClr val="0000CC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00CC"/>
                </a:solidFill>
              </a:rPr>
              <a:t>Descendents</a:t>
            </a:r>
            <a:r>
              <a:rPr lang="en-US" sz="2400" b="1" dirty="0">
                <a:solidFill>
                  <a:srgbClr val="0000CC"/>
                </a:solidFill>
              </a:rPr>
              <a:t>(Mary)={</a:t>
            </a:r>
            <a:r>
              <a:rPr lang="en-US" sz="2400" b="1" dirty="0" err="1">
                <a:solidFill>
                  <a:srgbClr val="0000CC"/>
                </a:solidFill>
              </a:rPr>
              <a:t>Mark,Sue</a:t>
            </a:r>
            <a:r>
              <a:rPr lang="en-US" sz="2400" b="1" dirty="0">
                <a:solidFill>
                  <a:srgbClr val="0000CC"/>
                </a:solidFill>
              </a:rPr>
              <a:t>}</a:t>
            </a:r>
            <a:r>
              <a:rPr lang="en-US" sz="2400" dirty="0"/>
              <a:t>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70" y="3068950"/>
            <a:ext cx="3700406" cy="324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522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Levels and Height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Root is at </a:t>
            </a:r>
            <a:r>
              <a:rPr lang="en-US" dirty="0">
                <a:solidFill>
                  <a:srgbClr val="FF0000"/>
                </a:solidFill>
              </a:rPr>
              <a:t>level 0</a:t>
            </a:r>
            <a:r>
              <a:rPr lang="en-US" dirty="0"/>
              <a:t> and its children are at level 1.</a:t>
            </a:r>
          </a:p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Height = depth= maximum level index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80" y="2712720"/>
            <a:ext cx="7591425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771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Node Degree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 degree </a:t>
            </a:r>
            <a:r>
              <a:rPr lang="en-US" dirty="0"/>
              <a:t>is the number of children it has.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750" y="2132820"/>
            <a:ext cx="6392130" cy="44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8164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Tree Degree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Tree degree </a:t>
            </a:r>
            <a:r>
              <a:rPr lang="en-US" dirty="0"/>
              <a:t>is the maximum of node degrees.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60" y="2372510"/>
            <a:ext cx="8096250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598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20"/>
                <a:ext cx="8229600" cy="496869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A binary tree </a:t>
                </a:r>
                <a:r>
                  <a:rPr 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</a:t>
                </a:r>
                <a:r>
                  <a:rPr lang="en-US" dirty="0"/>
                  <a:t> is defined as a finite set of elements, called nodes, such that:</a:t>
                </a:r>
              </a:p>
              <a:p>
                <a:pPr marL="514350" indent="-514350" algn="just">
                  <a:buAutoNum type="alphaLcParenBoth"/>
                </a:pPr>
                <a:r>
                  <a:rPr lang="en-US" dirty="0"/>
                  <a:t>T is empty (called the null tree or empty tree)</a:t>
                </a:r>
              </a:p>
              <a:p>
                <a:pPr marL="514350" indent="-514350" algn="just">
                  <a:buAutoNum type="alphaLcParenBoth"/>
                </a:pPr>
                <a:r>
                  <a:rPr lang="en-US" dirty="0"/>
                  <a:t>T contains a distinguish node </a:t>
                </a:r>
                <a:r>
                  <a:rPr 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</a:t>
                </a:r>
                <a:r>
                  <a:rPr lang="en-US" dirty="0"/>
                  <a:t>, called the root of T, and the remaining nodes of T form an ordered pair of disjoint binary trees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20"/>
                <a:ext cx="8229600" cy="4968690"/>
              </a:xfrm>
              <a:blipFill rotWithShape="1">
                <a:blip r:embed="rId3"/>
                <a:stretch>
                  <a:fillRect l="-1926" t="-1718" r="-3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140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20"/>
                <a:ext cx="8229600" cy="4968690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If T contains a root R, then the two trees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called, respectively, the left and right </a:t>
                </a:r>
                <a:r>
                  <a:rPr lang="en-US" dirty="0" err="1"/>
                  <a:t>subtrees</a:t>
                </a:r>
                <a:r>
                  <a:rPr lang="en-US" dirty="0"/>
                  <a:t> of R. 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 is nonempty, then its root is called the left successor of R; similarly, 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nonempty, then its root is called the right successor of R.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20"/>
                <a:ext cx="8229600" cy="4968690"/>
              </a:xfrm>
              <a:blipFill rotWithShape="1">
                <a:blip r:embed="rId3"/>
                <a:stretch>
                  <a:fillRect l="-1852" t="-2454" r="-3037" b="-4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049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96690"/>
            <a:ext cx="8229600" cy="540075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The following diagram shows a binary tree T as follows: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                              A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           B                                     C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D                         E               G               H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                  F                                   J             K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                                                          L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2483710" y="2204830"/>
            <a:ext cx="1224170" cy="648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23910" y="2204830"/>
            <a:ext cx="1440200" cy="648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1403560" y="3140960"/>
            <a:ext cx="79211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483710" y="3140960"/>
            <a:ext cx="86412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883290" y="3125720"/>
            <a:ext cx="43206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569870" y="3125720"/>
            <a:ext cx="72010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999477" y="3985280"/>
            <a:ext cx="396055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796170" y="3985280"/>
            <a:ext cx="36005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289970" y="3985280"/>
            <a:ext cx="51434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5315350" y="4797190"/>
            <a:ext cx="336800" cy="576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144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363390" cy="4968690"/>
          </a:xfrm>
        </p:spPr>
        <p:txBody>
          <a:bodyPr>
            <a:normAutofit fontScale="85000" lnSpcReduction="10000"/>
          </a:bodyPr>
          <a:lstStyle/>
          <a:p>
            <a:pPr marL="571500" indent="-571500" algn="just">
              <a:buAutoNum type="romanLcParenBoth"/>
            </a:pPr>
            <a:r>
              <a:rPr lang="en-US" dirty="0"/>
              <a:t>T consists of 11 nodes, represented by the letters A through L, excluding I.</a:t>
            </a:r>
          </a:p>
          <a:p>
            <a:pPr marL="571500" indent="-571500" algn="just">
              <a:buAutoNum type="romanLcParenBoth"/>
            </a:pPr>
            <a:r>
              <a:rPr lang="en-US" dirty="0"/>
              <a:t>The root of T is the node A at the top of the  diagram. </a:t>
            </a:r>
          </a:p>
          <a:p>
            <a:pPr marL="571500" indent="-571500" algn="just">
              <a:buAutoNum type="romanLcParenBoth"/>
            </a:pPr>
            <a:r>
              <a:rPr lang="en-US" dirty="0"/>
              <a:t>A   left-downward slanted line from a node N indicates a left successor of N, and a   right-downward slanted line from a node N indicates a right successor of N.</a:t>
            </a:r>
          </a:p>
          <a:p>
            <a:pPr marL="0" indent="0" algn="just">
              <a:buNone/>
            </a:pPr>
            <a:r>
              <a:rPr lang="en-US" dirty="0"/>
              <a:t>Here</a:t>
            </a:r>
          </a:p>
          <a:p>
            <a:pPr marL="514350" indent="-514350" algn="just">
              <a:buAutoNum type="alphaLcParenBoth"/>
            </a:pPr>
            <a:r>
              <a:rPr lang="en-US" dirty="0"/>
              <a:t>B is a left successor and C is a right successor of the node A.</a:t>
            </a:r>
          </a:p>
          <a:p>
            <a:pPr marL="514350" indent="-514350" algn="just">
              <a:buAutoNum type="alphaLcParenBoth"/>
            </a:pPr>
            <a:r>
              <a:rPr lang="en-US" dirty="0"/>
              <a:t>The left </a:t>
            </a:r>
            <a:r>
              <a:rPr lang="en-US" dirty="0" err="1"/>
              <a:t>subtree</a:t>
            </a:r>
            <a:r>
              <a:rPr lang="en-US" dirty="0"/>
              <a:t> of the root A consist of the nodes B, D, E and F, and the right </a:t>
            </a:r>
            <a:r>
              <a:rPr lang="en-US" dirty="0" err="1"/>
              <a:t>subtree</a:t>
            </a:r>
            <a:r>
              <a:rPr lang="en-US" dirty="0"/>
              <a:t> of A consists of the nodes C, G, H, J, K and L.  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659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/>
              <a:t>Any node N in a binary tree T has either 0, 1 or 2 </a:t>
            </a:r>
          </a:p>
          <a:p>
            <a:pPr marL="0" indent="0" algn="just">
              <a:buNone/>
            </a:pPr>
            <a:r>
              <a:rPr lang="en-US" dirty="0"/>
              <a:t>Successors.</a:t>
            </a:r>
          </a:p>
          <a:p>
            <a:pPr algn="just">
              <a:buFont typeface="Wingdings" pitchFamily="2" charset="2"/>
              <a:buChar char="q"/>
            </a:pPr>
            <a:endParaRPr lang="en-US" dirty="0"/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The nodes A, B, C and H have 2 successors.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The nodes E and J have only 1 successor.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The nodes D, F, G, L and K have no successors or 0 successor.</a:t>
            </a:r>
          </a:p>
          <a:p>
            <a:pPr algn="just">
              <a:buFont typeface="Wingdings" pitchFamily="2" charset="2"/>
              <a:buChar char="q"/>
            </a:pPr>
            <a:endParaRPr lang="en-US" dirty="0"/>
          </a:p>
          <a:p>
            <a:pPr algn="just">
              <a:buFont typeface="Wingdings" pitchFamily="2" charset="2"/>
              <a:buChar char="q"/>
            </a:pPr>
            <a:r>
              <a:rPr lang="en-US" dirty="0">
                <a:solidFill>
                  <a:srgbClr val="0000CC"/>
                </a:solidFill>
              </a:rPr>
              <a:t>The nodes with no successors are called terminal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02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0" y="1772770"/>
            <a:ext cx="8252930" cy="388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887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Example:</a:t>
            </a:r>
          </a:p>
          <a:p>
            <a:pPr marL="0" indent="0" algn="just">
              <a:buNone/>
            </a:pPr>
            <a:r>
              <a:rPr lang="en-US" sz="2400" dirty="0"/>
              <a:t>Consider any algebraic expressions E involving only binary operations , such as</a:t>
            </a:r>
          </a:p>
          <a:p>
            <a:pPr marL="0" indent="0" algn="just">
              <a:buNone/>
            </a:pPr>
            <a:r>
              <a:rPr lang="en-US" sz="2400" dirty="0"/>
              <a:t>		E = ( a – b ) / ( ( c * d ) + e ) )</a:t>
            </a:r>
          </a:p>
          <a:p>
            <a:pPr marL="0" indent="0" algn="just">
              <a:buNone/>
            </a:pPr>
            <a:r>
              <a:rPr lang="en-US" sz="2400" dirty="0"/>
              <a:t>Solutions:</a:t>
            </a:r>
          </a:p>
          <a:p>
            <a:pPr marL="0" indent="0" algn="just">
              <a:buNone/>
            </a:pPr>
            <a:r>
              <a:rPr lang="en-US" sz="2400" dirty="0"/>
              <a:t>                                                      /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                     -                                                                +</a:t>
            </a:r>
          </a:p>
          <a:p>
            <a:pPr marL="0" indent="0" algn="just">
              <a:buNone/>
            </a:pPr>
            <a:r>
              <a:rPr lang="en-US" sz="2400" dirty="0"/>
              <a:t>      a                         b                                     *                           e</a:t>
            </a:r>
          </a:p>
          <a:p>
            <a:pPr marL="0" indent="0" algn="just">
              <a:buNone/>
            </a:pPr>
            <a:r>
              <a:rPr lang="en-US" sz="2400" dirty="0"/>
              <a:t>                                                                c               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2123660" y="3933070"/>
            <a:ext cx="2088290" cy="792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55970" y="3933070"/>
            <a:ext cx="2016280" cy="720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115520" y="4941210"/>
            <a:ext cx="720100" cy="28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123660" y="4941210"/>
            <a:ext cx="648090" cy="28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738660" y="4761185"/>
            <a:ext cx="633590" cy="360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660290" y="4761185"/>
            <a:ext cx="796710" cy="4680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076070" y="5229250"/>
            <a:ext cx="432060" cy="28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724160" y="5229250"/>
            <a:ext cx="432060" cy="288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77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540" y="1268700"/>
            <a:ext cx="6336880" cy="5046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8331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Tree: Expression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50" y="1412720"/>
            <a:ext cx="6818853" cy="439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1746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Tree: Expression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660" y="1340710"/>
            <a:ext cx="4968690" cy="5096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4550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Binary Tree: Expression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20" y="1412720"/>
            <a:ext cx="8231262" cy="381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754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9440" y="2492870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534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5131</TotalTime>
  <Words>721</Words>
  <Application>Microsoft Office PowerPoint</Application>
  <PresentationFormat>On-screen Show (4:3)</PresentationFormat>
  <Paragraphs>153</Paragraphs>
  <Slides>26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1_Custom Design</vt:lpstr>
      <vt:lpstr>Custom Design</vt:lpstr>
      <vt:lpstr>Slipstream</vt:lpstr>
      <vt:lpstr>Office Theme</vt:lpstr>
      <vt:lpstr>3_Office Theme</vt:lpstr>
      <vt:lpstr>1_Slipstream</vt:lpstr>
      <vt:lpstr>Data Structures  ICT-1211  Information and Communication Technology</vt:lpstr>
      <vt:lpstr>TREES</vt:lpstr>
      <vt:lpstr>Linear List and Trees</vt:lpstr>
      <vt:lpstr>Real Tree vs Tree Data Structure</vt:lpstr>
      <vt:lpstr>Real Tree vs Tree Data Structure</vt:lpstr>
      <vt:lpstr>Real Tree vs Tree Data Structure</vt:lpstr>
      <vt:lpstr>Definition of Tree</vt:lpstr>
      <vt:lpstr>Subtrees</vt:lpstr>
      <vt:lpstr>Subtrees</vt:lpstr>
      <vt:lpstr>Tree Terminology</vt:lpstr>
      <vt:lpstr>Other Definitions</vt:lpstr>
      <vt:lpstr>Levels and Height </vt:lpstr>
      <vt:lpstr>Node Degree</vt:lpstr>
      <vt:lpstr>Tree Degree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Binary Tree: Example</vt:lpstr>
      <vt:lpstr>Binary Tree: Expression</vt:lpstr>
      <vt:lpstr>Binary Tree: Expression</vt:lpstr>
      <vt:lpstr>Binary Tree: Expression</vt:lpstr>
      <vt:lpstr>Thank you……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Elizabeth Davis</dc:creator>
  <cp:lastModifiedBy>Dulal Sir</cp:lastModifiedBy>
  <cp:revision>716</cp:revision>
  <dcterms:created xsi:type="dcterms:W3CDTF">2006-08-30T10:11:05Z</dcterms:created>
  <dcterms:modified xsi:type="dcterms:W3CDTF">2024-11-10T08:11:11Z</dcterms:modified>
</cp:coreProperties>
</file>