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0"/>
  </p:notesMasterIdLst>
  <p:sldIdLst>
    <p:sldId id="345" r:id="rId4"/>
    <p:sldId id="416" r:id="rId5"/>
    <p:sldId id="393" r:id="rId6"/>
    <p:sldId id="396" r:id="rId7"/>
    <p:sldId id="397" r:id="rId8"/>
    <p:sldId id="398" r:id="rId9"/>
    <p:sldId id="399" r:id="rId10"/>
    <p:sldId id="406" r:id="rId11"/>
    <p:sldId id="411" r:id="rId12"/>
    <p:sldId id="412" r:id="rId13"/>
    <p:sldId id="407" r:id="rId14"/>
    <p:sldId id="408" r:id="rId15"/>
    <p:sldId id="409" r:id="rId16"/>
    <p:sldId id="410" r:id="rId17"/>
    <p:sldId id="413" r:id="rId18"/>
    <p:sldId id="42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92153" autoAdjust="0"/>
  </p:normalViewPr>
  <p:slideViewPr>
    <p:cSldViewPr snapToGrid="0">
      <p:cViewPr varScale="1">
        <p:scale>
          <a:sx n="81" d="100"/>
          <a:sy n="81" d="100"/>
        </p:scale>
        <p:origin x="125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9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89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499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64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95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31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10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87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394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6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54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364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0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31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36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542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221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15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997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277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82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8447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777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11/08/2025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2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9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11/08/2025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Lecture-14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Date: </a:t>
            </a: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170076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1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2800" b="1" dirty="0">
                <a:solidFill>
                  <a:srgbClr val="00B050"/>
                </a:solidFill>
              </a:rPr>
              <a:t>Deleting the node following a Given Node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836781"/>
            <a:ext cx="892684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DEL(INFO, LINK, START, AVAIL, LOC, LOCP)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(it deletes the node N with location LOC, LOCP is the location of the node which precedes N)</a:t>
            </a:r>
          </a:p>
          <a:p>
            <a:pPr algn="just"/>
            <a:r>
              <a:rPr lang="en-US" sz="2400" dirty="0"/>
              <a:t>Step 1. If LOCP=NULL, then:</a:t>
            </a:r>
          </a:p>
          <a:p>
            <a:pPr algn="just"/>
            <a:r>
              <a:rPr lang="en-US" sz="2400" dirty="0"/>
              <a:t>              	Set START:=LINK[START]. [Delete first node.]</a:t>
            </a:r>
          </a:p>
          <a:p>
            <a:pPr algn="just"/>
            <a:r>
              <a:rPr lang="en-US" sz="2400" dirty="0"/>
              <a:t>             Else:</a:t>
            </a:r>
          </a:p>
          <a:p>
            <a:pPr algn="just"/>
            <a:r>
              <a:rPr lang="en-US" sz="2400" dirty="0"/>
              <a:t>		Set LINK[LOCP]:=LINK[LOC]. [Deletes node N.]</a:t>
            </a:r>
          </a:p>
          <a:p>
            <a:pPr algn="just"/>
            <a:r>
              <a:rPr lang="en-US" sz="2400" dirty="0"/>
              <a:t>     	[End of If structure]</a:t>
            </a:r>
          </a:p>
          <a:p>
            <a:pPr algn="just"/>
            <a:r>
              <a:rPr lang="en-US" sz="2400" dirty="0"/>
              <a:t>Step 2. [Return deleted node to the AVAIL list.]</a:t>
            </a:r>
          </a:p>
          <a:p>
            <a:pPr algn="just"/>
            <a:r>
              <a:rPr lang="en-US" sz="2400" dirty="0"/>
              <a:t>	Set LINK[LOC]:=AVAIL and AVAIL:=LOC.</a:t>
            </a:r>
          </a:p>
          <a:p>
            <a:pPr algn="just"/>
            <a:r>
              <a:rPr lang="en-US" sz="2400" dirty="0"/>
              <a:t>Step 3. Exit.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" t="10440" r="3529" b="2817"/>
          <a:stretch/>
        </p:blipFill>
        <p:spPr>
          <a:xfrm>
            <a:off x="1747316" y="4495148"/>
            <a:ext cx="6468036" cy="24280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92"/>
          <a:stretch/>
        </p:blipFill>
        <p:spPr>
          <a:xfrm>
            <a:off x="425409" y="4507270"/>
            <a:ext cx="8075542" cy="22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9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2800" b="1" dirty="0">
                <a:solidFill>
                  <a:srgbClr val="00B050"/>
                </a:solidFill>
              </a:rPr>
              <a:t>Deleting the node with a given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76" y="726141"/>
            <a:ext cx="889994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charset="2"/>
              <a:buChar char="Ø"/>
            </a:pPr>
            <a:r>
              <a:rPr lang="en-US" sz="2400" dirty="0"/>
              <a:t>Let LIST be a linked list in memory.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Suppose we are given an ITEM of Information and we want to delete from the LIST the first node which contain ITEM.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The algorithm has TWO </a:t>
            </a:r>
            <a:r>
              <a:rPr lang="en-US" sz="2400" b="1" dirty="0">
                <a:solidFill>
                  <a:srgbClr val="FF0000"/>
                </a:solidFill>
              </a:rPr>
              <a:t>PARTS</a:t>
            </a:r>
          </a:p>
          <a:p>
            <a:pPr algn="just"/>
            <a:endParaRPr lang="en-US" sz="2400" b="1" dirty="0">
              <a:solidFill>
                <a:srgbClr val="FF0000"/>
              </a:solidFill>
            </a:endParaRPr>
          </a:p>
          <a:p>
            <a:pPr marL="800100" lvl="1" indent="-342900" algn="just">
              <a:buFont typeface="Wingdings" charset="2"/>
              <a:buChar char="Ø"/>
            </a:pPr>
            <a:r>
              <a:rPr lang="en-US" sz="2400" dirty="0"/>
              <a:t>First we give a procedure which finds the location LOC of the node N containing ITEM, and the location LOCP of the node preceding node N.</a:t>
            </a:r>
          </a:p>
          <a:p>
            <a:pPr marL="1714500" lvl="3" indent="-342900" algn="just">
              <a:buFont typeface="Wingdings" charset="2"/>
              <a:buChar char="Ø"/>
            </a:pPr>
            <a:r>
              <a:rPr lang="en-US" sz="2400" dirty="0"/>
              <a:t>If N is the first node with ITEM, we set LOCP=NULL</a:t>
            </a:r>
          </a:p>
          <a:p>
            <a:pPr marL="1714500" lvl="3" indent="-342900" algn="just">
              <a:buFont typeface="Wingdings" charset="2"/>
              <a:buChar char="Ø"/>
            </a:pPr>
            <a:r>
              <a:rPr lang="en-US" sz="2400" dirty="0"/>
              <a:t>If  ITEM does not appear in LIST, we set LOC=NULL</a:t>
            </a:r>
          </a:p>
          <a:p>
            <a:pPr marL="800100" lvl="1" indent="-342900" algn="just">
              <a:buFont typeface="Wingdings" charset="2"/>
              <a:buChar char="Ø"/>
            </a:pPr>
            <a:endParaRPr lang="en-US" sz="2400" dirty="0"/>
          </a:p>
          <a:p>
            <a:pPr marL="800100" lvl="1" indent="-342900" algn="just">
              <a:buFont typeface="Wingdings" charset="2"/>
              <a:buChar char="Ø"/>
            </a:pPr>
            <a:r>
              <a:rPr lang="en-US" sz="2400" dirty="0"/>
              <a:t>Traverse the list, using pointer variable PTR and comparing ITEM with INFO[PTR]at each node.</a:t>
            </a:r>
          </a:p>
          <a:p>
            <a:pPr marL="1714500" lvl="3" indent="-342900" algn="just">
              <a:buFont typeface="Wingdings" charset="2"/>
              <a:buChar char="Ø"/>
            </a:pPr>
            <a:r>
              <a:rPr lang="en-US" sz="2400" dirty="0"/>
              <a:t>While track the location of the preceding node by using a pointer variable SAVE. Thus</a:t>
            </a:r>
          </a:p>
          <a:p>
            <a:pPr lvl="3" algn="ctr"/>
            <a:r>
              <a:rPr lang="en-US" sz="2400" dirty="0"/>
              <a:t>SAVE:= PTR and PTR:= LINK[PTR]</a:t>
            </a:r>
          </a:p>
        </p:txBody>
      </p:sp>
    </p:spTree>
    <p:extLst>
      <p:ext uri="{BB962C8B-B14F-4D97-AF65-F5344CB8AC3E}">
        <p14:creationId xmlns:p14="http://schemas.microsoft.com/office/powerpoint/2010/main" val="25215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2400" b="1" dirty="0">
                <a:solidFill>
                  <a:srgbClr val="00B050"/>
                </a:solidFill>
              </a:rPr>
              <a:t>Find LOC of the 1</a:t>
            </a:r>
            <a:r>
              <a:rPr lang="en-US" sz="2400" b="1" baseline="30000" dirty="0">
                <a:solidFill>
                  <a:srgbClr val="00B050"/>
                </a:solidFill>
              </a:rPr>
              <a:t>st</a:t>
            </a:r>
            <a:r>
              <a:rPr lang="en-US" sz="2400" b="1" dirty="0">
                <a:solidFill>
                  <a:srgbClr val="00B050"/>
                </a:solidFill>
              </a:rPr>
              <a:t> node N which contains ITEM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0682" y="888961"/>
                <a:ext cx="9063318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FINDB (INFO, LINK, START, ITEM, LOC, LOCP)</a:t>
                </a:r>
              </a:p>
              <a:p>
                <a:r>
                  <a:rPr lang="en-US" sz="2400" dirty="0"/>
                  <a:t>Step 1. [List Empty?] If Start=NULL, then:</a:t>
                </a:r>
              </a:p>
              <a:p>
                <a:r>
                  <a:rPr lang="en-US" sz="2400" dirty="0"/>
                  <a:t>		Set LOC:=NULL and LOCP:=NULL, and Return.</a:t>
                </a:r>
              </a:p>
              <a:p>
                <a:r>
                  <a:rPr lang="en-US" sz="2400" dirty="0"/>
                  <a:t>              </a:t>
                </a:r>
                <a:r>
                  <a:rPr lang="en-US" sz="2000" dirty="0"/>
                  <a:t>[End of If Structure]</a:t>
                </a:r>
              </a:p>
              <a:p>
                <a:r>
                  <a:rPr lang="en-US" sz="2400" dirty="0"/>
                  <a:t>Step 2. [ITEM in first node?] If INFO[START]=ITEM, then:</a:t>
                </a:r>
              </a:p>
              <a:p>
                <a:r>
                  <a:rPr lang="en-US" sz="2400" dirty="0"/>
                  <a:t>		Set LOC:=START and LOCP=NULL, and Return.</a:t>
                </a:r>
              </a:p>
              <a:p>
                <a:r>
                  <a:rPr lang="en-US" sz="2400" dirty="0"/>
                  <a:t>	</a:t>
                </a:r>
                <a:r>
                  <a:rPr lang="en-US" sz="2000" dirty="0"/>
                  <a:t>[End of If structure]</a:t>
                </a:r>
              </a:p>
              <a:p>
                <a:r>
                  <a:rPr lang="en-US" sz="2400" dirty="0"/>
                  <a:t>Step 3. Set SAVE:=START </a:t>
                </a:r>
                <a:r>
                  <a:rPr lang="en-US" sz="2400"/>
                  <a:t>and PTR:=</a:t>
                </a:r>
                <a:r>
                  <a:rPr lang="en-US" sz="2400" dirty="0"/>
                  <a:t>LINK[START]. [Initialize pointers]</a:t>
                </a: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Step 4. Repeat Steps 5 and 6 while PTR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NULL.</a:t>
                </a:r>
              </a:p>
              <a:p>
                <a:r>
                  <a:rPr lang="en-US" sz="2400" dirty="0"/>
                  <a:t>Step 5.		If INFO[PTR]=ITEM, then: </a:t>
                </a:r>
              </a:p>
              <a:p>
                <a:r>
                  <a:rPr lang="en-US" sz="2000" dirty="0"/>
                  <a:t>			</a:t>
                </a:r>
                <a:r>
                  <a:rPr lang="en-US" sz="2400" dirty="0"/>
                  <a:t>Set LOC:=PTR and LOCP:=SAVE, and Return.</a:t>
                </a:r>
              </a:p>
              <a:p>
                <a:r>
                  <a:rPr lang="en-US" sz="2400" dirty="0"/>
                  <a:t>		</a:t>
                </a:r>
                <a:r>
                  <a:rPr lang="en-US" sz="2000" dirty="0"/>
                  <a:t>[End of If structure]</a:t>
                </a:r>
              </a:p>
              <a:p>
                <a:r>
                  <a:rPr lang="en-US" sz="2400" dirty="0"/>
                  <a:t>Step 6.              Set SAVE:=PTR and PTR:=LINK[PTR]. [Update pointers]</a:t>
                </a:r>
              </a:p>
              <a:p>
                <a:r>
                  <a:rPr lang="en-US" sz="2000" dirty="0"/>
                  <a:t>                 [End of Step 4 loop]</a:t>
                </a:r>
              </a:p>
              <a:p>
                <a:r>
                  <a:rPr lang="en-US" sz="2400" dirty="0"/>
                  <a:t>STEP 7. Set LOC:=NULL. [Search Unsuccessful.]</a:t>
                </a:r>
              </a:p>
              <a:p>
                <a:r>
                  <a:rPr lang="en-US" sz="2400" dirty="0"/>
                  <a:t>Step 8. Return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2" y="888961"/>
                <a:ext cx="9063318" cy="6001643"/>
              </a:xfrm>
              <a:prstGeom prst="rect">
                <a:avLst/>
              </a:prstGeom>
              <a:blipFill rotWithShape="0">
                <a:blip r:embed="rId3"/>
                <a:stretch>
                  <a:fillRect l="-1345" t="-1016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03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Delete the 1</a:t>
            </a:r>
            <a:r>
              <a:rPr lang="en-US" sz="2000" b="1" baseline="30000" dirty="0">
                <a:solidFill>
                  <a:schemeClr val="accent6">
                    <a:lumMod val="50000"/>
                  </a:schemeClr>
                </a:solidFill>
              </a:rPr>
              <a:t>st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node which contains the given ITEM of Info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682" y="888961"/>
            <a:ext cx="9063318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DELETE (INFO, LINK, START, AVAIL, ITEM)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Step 1. Call </a:t>
            </a:r>
            <a:r>
              <a:rPr lang="en-US" sz="2400" b="1" dirty="0">
                <a:solidFill>
                  <a:srgbClr val="0000CC"/>
                </a:solidFill>
              </a:rPr>
              <a:t>FINDB(INFO, LINK, START, ITEM, LOC, LOCP)</a:t>
            </a:r>
            <a:endParaRPr lang="en-US" sz="2000" b="1" dirty="0">
              <a:solidFill>
                <a:srgbClr val="0000CC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400" dirty="0"/>
              <a:t>Step 2. If LOC=NULL, then: Write: ITEM not in list, and Exit.	</a:t>
            </a: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400" dirty="0"/>
              <a:t>Step 3. [Delete node.]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	If LOCP=NULL, then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		Set Start:=LINK[START]. [Delete fist node]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	Else: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		Set LINK[LOCP]:=LINK[LOC].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	[End of If structure]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Step 4. [Return deleted node to the AVAIL list.]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	Set LINK[LOC]:=AVAIL and AVAIL:=LOC.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Step 5. Exit</a:t>
            </a:r>
          </a:p>
        </p:txBody>
      </p:sp>
    </p:spTree>
    <p:extLst>
      <p:ext uri="{BB962C8B-B14F-4D97-AF65-F5344CB8AC3E}">
        <p14:creationId xmlns:p14="http://schemas.microsoft.com/office/powerpoint/2010/main" val="115110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574" y="836781"/>
            <a:ext cx="4776910" cy="57956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5698298"/>
            <a:ext cx="447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Example 5.17 Teach Yourself</a:t>
            </a:r>
          </a:p>
        </p:txBody>
      </p:sp>
    </p:spTree>
    <p:extLst>
      <p:ext uri="{BB962C8B-B14F-4D97-AF65-F5344CB8AC3E}">
        <p14:creationId xmlns:p14="http://schemas.microsoft.com/office/powerpoint/2010/main" val="2379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312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Header Linked LISTS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557882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header lined list is a linked list which always contains a special node, called the </a:t>
            </a:r>
            <a:r>
              <a:rPr lang="en-US" sz="2400" b="1" i="1" dirty="0"/>
              <a:t>header node</a:t>
            </a:r>
            <a:r>
              <a:rPr lang="en-US" sz="2400" dirty="0"/>
              <a:t>, at the beginning of the list.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following are two kinds of widely used header lists: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 Grounded Header List</a:t>
            </a:r>
            <a:r>
              <a:rPr lang="en-US" sz="2400" dirty="0"/>
              <a:t>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b="1" dirty="0"/>
              <a:t>A Circular List: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7" t="5489" r="2738" b="9492"/>
          <a:stretch/>
        </p:blipFill>
        <p:spPr>
          <a:xfrm>
            <a:off x="481409" y="3297383"/>
            <a:ext cx="7911966" cy="342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2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Header Linked LISTS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557882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400" b="1" dirty="0"/>
              <a:t>Grounded Header List</a:t>
            </a:r>
            <a:r>
              <a:rPr lang="en-US" sz="2400" dirty="0"/>
              <a:t>: is a header list where the last node contains the null pointer.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Observe that, the list pointer START always points to the header node.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Accordingly, LINK[START] =NULL indicates that a grounded header list is empty.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7" t="5489" r="2738" b="59211"/>
          <a:stretch/>
        </p:blipFill>
        <p:spPr>
          <a:xfrm>
            <a:off x="110332" y="4326926"/>
            <a:ext cx="8624236" cy="154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7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Header Linked LISTS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557882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400" b="1" dirty="0"/>
              <a:t>A Circular Header List</a:t>
            </a:r>
            <a:r>
              <a:rPr lang="en-US" sz="2400" dirty="0"/>
              <a:t>: is a header list where the last node points back to the header node.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Observe that, the list pointer START always points to the header node.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LINK[START]=START indicates that a circular header list is empty.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7" t="44023" r="1738" b="20677"/>
          <a:stretch/>
        </p:blipFill>
        <p:spPr>
          <a:xfrm>
            <a:off x="182880" y="4806684"/>
            <a:ext cx="8624236" cy="154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9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Header Linked LISTS: Traversing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7235" y="927846"/>
                <a:ext cx="8967183" cy="26776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Traversing a Circular Header List(INFO, LINK, START)</a:t>
                </a:r>
              </a:p>
              <a:p>
                <a:r>
                  <a:rPr lang="en-US" sz="2400" dirty="0">
                    <a:solidFill>
                      <a:srgbClr val="0000CC"/>
                    </a:solidFill>
                  </a:rPr>
                  <a:t>Step1.	  Set PTR:=LINK[START].[Initialize pointer PTR.]</a:t>
                </a:r>
              </a:p>
              <a:p>
                <a:r>
                  <a:rPr lang="en-US" sz="2400" dirty="0">
                    <a:solidFill>
                      <a:srgbClr val="0000CC"/>
                    </a:solidFill>
                  </a:rPr>
                  <a:t>Step2.	  Repeat Steps 3 and 4 while PTR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CC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i="1" smtClean="0">
                        <a:solidFill>
                          <a:srgbClr val="0000CC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</a:rPr>
                  <a:t> START</a:t>
                </a:r>
              </a:p>
              <a:p>
                <a:r>
                  <a:rPr lang="en-US" sz="2400" dirty="0">
                    <a:solidFill>
                      <a:srgbClr val="0000CC"/>
                    </a:solidFill>
                  </a:rPr>
                  <a:t>Step3.	   	Apply PROCESS to INFO[PTR]</a:t>
                </a:r>
              </a:p>
              <a:p>
                <a:r>
                  <a:rPr lang="en-US" sz="2400" dirty="0">
                    <a:solidFill>
                      <a:srgbClr val="0000CC"/>
                    </a:solidFill>
                  </a:rPr>
                  <a:t>Step4.    	Set PTR:=LINK[PTR]. [PTR now point to the next node.]</a:t>
                </a:r>
              </a:p>
              <a:p>
                <a:r>
                  <a:rPr lang="en-US" sz="2400" dirty="0">
                    <a:solidFill>
                      <a:srgbClr val="0000CC"/>
                    </a:solidFill>
                  </a:rPr>
                  <a:t>	[End of step 2 loop]</a:t>
                </a:r>
              </a:p>
              <a:p>
                <a:r>
                  <a:rPr lang="en-US" sz="2400" dirty="0">
                    <a:solidFill>
                      <a:srgbClr val="0000CC"/>
                    </a:solidFill>
                  </a:rPr>
                  <a:t>Step5.      Exit.  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" y="927846"/>
                <a:ext cx="8967183" cy="2677656"/>
              </a:xfrm>
              <a:prstGeom prst="rect">
                <a:avLst/>
              </a:prstGeom>
              <a:blipFill>
                <a:blip r:embed="rId3"/>
                <a:stretch>
                  <a:fillRect l="-950" t="-1587" b="-40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0682" y="3696567"/>
                <a:ext cx="8967183" cy="267765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>
                    <a:solidFill>
                      <a:srgbClr val="FF0000"/>
                    </a:solidFill>
                  </a:rPr>
                  <a:t>LINKED_LIST_Traversing</a:t>
                </a:r>
                <a:r>
                  <a:rPr lang="en-US" sz="2400" dirty="0">
                    <a:solidFill>
                      <a:srgbClr val="FF0000"/>
                    </a:solidFill>
                  </a:rPr>
                  <a:t>(INFO, LINK, START)</a:t>
                </a:r>
              </a:p>
              <a:p>
                <a:r>
                  <a:rPr lang="en-US" sz="2400" dirty="0"/>
                  <a:t>Step1.	  Set PTR:=START.[Initialize pointer PTR.]</a:t>
                </a:r>
              </a:p>
              <a:p>
                <a:r>
                  <a:rPr lang="en-US" sz="2400" dirty="0"/>
                  <a:t>Step2.	  Repeat Steps 3 and 4 while PTR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/>
                  <a:t> NULL</a:t>
                </a:r>
              </a:p>
              <a:p>
                <a:r>
                  <a:rPr lang="en-US" sz="2400" dirty="0"/>
                  <a:t>Step3.	   	Apply PROCESS to INFO[PTR]</a:t>
                </a:r>
              </a:p>
              <a:p>
                <a:r>
                  <a:rPr lang="en-US" sz="2400" dirty="0"/>
                  <a:t>Step4.    	Set PTR:=LINK[PTR]. [PTR now point to the next node.]</a:t>
                </a:r>
              </a:p>
              <a:p>
                <a:r>
                  <a:rPr lang="en-US" sz="2400" dirty="0"/>
                  <a:t>	[End of step 2 loop]</a:t>
                </a:r>
              </a:p>
              <a:p>
                <a:r>
                  <a:rPr lang="en-US" sz="2400" dirty="0"/>
                  <a:t>Step5.      Exit. 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2" y="3696567"/>
                <a:ext cx="8967183" cy="2677656"/>
              </a:xfrm>
              <a:prstGeom prst="rect">
                <a:avLst/>
              </a:prstGeom>
              <a:blipFill>
                <a:blip r:embed="rId4"/>
                <a:stretch>
                  <a:fillRect l="-950" t="-1584"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6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Header Linked LISTS: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(Suppose LIST is a header linked list in memory, and suppose a specific ITEM of information is given)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887" y="682892"/>
                <a:ext cx="9144000" cy="6278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CC"/>
                    </a:solidFill>
                  </a:rPr>
                  <a:t>SRCHHL(INFO, LINK, START, ITEM, LOC)</a:t>
                </a:r>
              </a:p>
              <a:p>
                <a:r>
                  <a:rPr lang="en-US" dirty="0"/>
                  <a:t>[Finds the location of the first node in LIST which contains ITEM in a circular header list]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Step1. Set PTR</a:t>
                </a:r>
                <a:r>
                  <a:rPr lang="en-US" sz="2400"/>
                  <a:t>:= LINK </a:t>
                </a:r>
                <a:r>
                  <a:rPr lang="en-US" sz="2400" dirty="0"/>
                  <a:t>[START].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Step2. Repeat while </a:t>
                </a:r>
                <a:r>
                  <a:rPr lang="en-US" sz="2400" dirty="0">
                    <a:solidFill>
                      <a:srgbClr val="0000CC"/>
                    </a:solidFill>
                  </a:rPr>
                  <a:t>INFO[PTR]</a:t>
                </a:r>
                <a:r>
                  <a:rPr lang="en-US" sz="2400" dirty="0">
                    <a:solidFill>
                      <a:srgbClr val="0000CC"/>
                    </a:solidFill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CC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</a:rPr>
                  <a:t>ITEM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000CC"/>
                    </a:solidFill>
                  </a:rPr>
                  <a:t>PTR</a:t>
                </a:r>
                <a:r>
                  <a:rPr lang="en-US" sz="2400" dirty="0">
                    <a:solidFill>
                      <a:srgbClr val="0000CC"/>
                    </a:solidFill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CC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</a:rPr>
                  <a:t> START</a:t>
                </a:r>
                <a:r>
                  <a:rPr lang="en-US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Set PRT := LINK [PTR]. [PTR now points to the next node.]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[End of Loop]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Step3. If INFO[PTR]=ITEM, then: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	Set LOC:= PTR.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ELSE: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SET LOC:=NULL.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[End of If structure]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Step4. Exit.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" y="682892"/>
                <a:ext cx="9144000" cy="6278642"/>
              </a:xfrm>
              <a:prstGeom prst="rect">
                <a:avLst/>
              </a:prstGeom>
              <a:blipFill rotWithShape="1">
                <a:blip r:embed="rId2"/>
                <a:stretch>
                  <a:fillRect l="-1000" t="-777" b="-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33499" y="3339966"/>
            <a:ext cx="46105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</a:rPr>
              <a:t>The two test which control the searching loop were not performed at the same time in the ordinary linked lists.</a:t>
            </a:r>
          </a:p>
        </p:txBody>
      </p:sp>
    </p:spTree>
    <p:extLst>
      <p:ext uri="{BB962C8B-B14F-4D97-AF65-F5344CB8AC3E}">
        <p14:creationId xmlns:p14="http://schemas.microsoft.com/office/powerpoint/2010/main" val="195399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8162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Searching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893" y="564777"/>
                <a:ext cx="9251577" cy="6186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SEARCH (INFO, LINK, START, ITEM, LOC)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Step1.   Set PTR:=START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Step2.   Repeat Step 3 while PTR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/>
                  <a:t> NULL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Step3. 	          If ITEM=INFO [PTR], then: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	     Set LOC:=PTR, and Exit.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          Else: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	     Set LOC:=LINK[PTR]. [PTR now points to the next node.]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          [End of If structure.]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[End of Step 2 loop.]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Step4.  [Search is unsuccessful.] Set LOC:=NULL.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Step5.  Exit.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3" y="564777"/>
                <a:ext cx="9251577" cy="6186309"/>
              </a:xfrm>
              <a:prstGeom prst="rect">
                <a:avLst/>
              </a:prstGeom>
              <a:blipFill>
                <a:blip r:embed="rId3"/>
                <a:stretch>
                  <a:fillRect l="-988" r="-329" b="-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147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-26893"/>
            <a:ext cx="906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Circular Header Linked LISTS: Find Location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0682" y="363915"/>
                <a:ext cx="9063318" cy="649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CC"/>
                    </a:solidFill>
                  </a:rPr>
                  <a:t>FINDBHL (INFO, LINK, START, ITEM, LOC, LOCP) </a:t>
                </a:r>
              </a:p>
              <a:p>
                <a:r>
                  <a:rPr lang="en-US" sz="1600" b="1" dirty="0">
                    <a:solidFill>
                      <a:srgbClr val="FF0000"/>
                    </a:solidFill>
                  </a:rPr>
                  <a:t>Finds the location LOC of the first node N which contains </a:t>
                </a:r>
                <a:r>
                  <a:rPr lang="en-US" sz="1600" b="1" dirty="0" err="1">
                    <a:solidFill>
                      <a:srgbClr val="FF0000"/>
                    </a:solidFill>
                  </a:rPr>
                  <a:t>ITEm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 and also the location LOCP of the node preceding N.)</a:t>
                </a:r>
                <a:endParaRPr lang="en-US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Step1.   Set SAVE:=START and PTR:= LINK[START] [Initialize pointers]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Step2. Repeat while </a:t>
                </a:r>
                <a:r>
                  <a:rPr lang="en-US" sz="2400" dirty="0">
                    <a:solidFill>
                      <a:srgbClr val="0000CC"/>
                    </a:solidFill>
                  </a:rPr>
                  <a:t>INFO[PTR]</a:t>
                </a:r>
                <a:r>
                  <a:rPr lang="en-US" sz="2400" dirty="0">
                    <a:solidFill>
                      <a:srgbClr val="0000CC"/>
                    </a:solidFill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CC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</a:rPr>
                  <a:t>ITEM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0000CC"/>
                    </a:solidFill>
                  </a:rPr>
                  <a:t>PTR</a:t>
                </a:r>
                <a:r>
                  <a:rPr lang="en-US" sz="2400" dirty="0">
                    <a:solidFill>
                      <a:srgbClr val="0000CC"/>
                    </a:solidFill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CC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</a:rPr>
                  <a:t> START</a:t>
                </a:r>
                <a:r>
                  <a:rPr lang="en-US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Set SAVE := PTR and PTR:= LINK [PTR]. [Update pointers.]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[End of Loop]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Step3. If INFO[PTR]=ITEM, then: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	Set LOC:= PTR and LOCP:=SAVE.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ELSE: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SET LOC:=NULL and LOCP:=SAVE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[End of If structure]</a:t>
                </a:r>
              </a:p>
              <a:p>
                <a:r>
                  <a:rPr lang="en-US" sz="2400" dirty="0"/>
                  <a:t>Step4. Exit.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2" y="363915"/>
                <a:ext cx="9063318" cy="6494085"/>
              </a:xfrm>
              <a:prstGeom prst="rect">
                <a:avLst/>
              </a:prstGeom>
              <a:blipFill>
                <a:blip r:embed="rId3"/>
                <a:stretch>
                  <a:fillRect l="-1009" t="-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469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682" y="12775"/>
            <a:ext cx="8022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Circular Header Linked LISTS: Delete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2569" y="836781"/>
            <a:ext cx="906331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DELLOCHL (INFO, LINK, START, AVAIL, ITEM)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(Deletes the first nodes N which contains ITEM when LIST is a Circular Header List.</a:t>
            </a:r>
            <a:endParaRPr lang="en-US" sz="28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Step1.   Call </a:t>
            </a:r>
            <a:r>
              <a:rPr lang="en-US" sz="2400" dirty="0">
                <a:solidFill>
                  <a:srgbClr val="0000CC"/>
                </a:solidFill>
              </a:rPr>
              <a:t>FINDBHL (INFO, LINK. START, ITEM, LOC, LOCP)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Step2. If LOC=NULL, then: write: ITEM not in list, and Exit.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Step3. Set LOC[LOCP]:=LINK [LOC] </a:t>
            </a:r>
            <a:r>
              <a:rPr lang="en-US" sz="2000" b="1" dirty="0"/>
              <a:t>[Delete Node.]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dirty="0"/>
              <a:t>Step4. [Return deleted node to the AVAIL list.]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Set LINK[LOC]:=AVAIL and AVAIL:=LOC.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Step5. Exit</a:t>
            </a:r>
          </a:p>
        </p:txBody>
      </p:sp>
    </p:spTree>
    <p:extLst>
      <p:ext uri="{BB962C8B-B14F-4D97-AF65-F5344CB8AC3E}">
        <p14:creationId xmlns:p14="http://schemas.microsoft.com/office/powerpoint/2010/main" val="26260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7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2901</TotalTime>
  <Words>792</Words>
  <Application>Microsoft Office PowerPoint</Application>
  <PresentationFormat>On-screen Show (4:3)</PresentationFormat>
  <Paragraphs>155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ＭＳ Ｐゴシック</vt:lpstr>
      <vt:lpstr>Arial</vt:lpstr>
      <vt:lpstr>Calibri</vt:lpstr>
      <vt:lpstr>Calibri Light</vt:lpstr>
      <vt:lpstr>Cambria Math</vt:lpstr>
      <vt:lpstr>Georgia</vt:lpstr>
      <vt:lpstr>Times New Roman</vt:lpstr>
      <vt:lpstr>Trebuchet MS</vt:lpstr>
      <vt:lpstr>Wingdings</vt:lpstr>
      <vt:lpstr>Office Theme</vt:lpstr>
      <vt:lpstr>Slipstream</vt:lpstr>
      <vt:lpstr>3_Office Theme</vt:lpstr>
      <vt:lpstr>Data Structures  ICT-1211  Information and Communication Technology</vt:lpstr>
      <vt:lpstr>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ICT CHAIRMAN</cp:lastModifiedBy>
  <cp:revision>332</cp:revision>
  <dcterms:created xsi:type="dcterms:W3CDTF">2016-12-28T08:52:04Z</dcterms:created>
  <dcterms:modified xsi:type="dcterms:W3CDTF">2025-08-11T14:21:58Z</dcterms:modified>
</cp:coreProperties>
</file>