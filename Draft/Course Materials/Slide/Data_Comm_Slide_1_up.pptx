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4" r:id="rId7"/>
    <p:sldId id="262" r:id="rId8"/>
    <p:sldId id="263" r:id="rId9"/>
    <p:sldId id="265" r:id="rId10"/>
    <p:sldId id="261" r:id="rId11"/>
    <p:sldId id="275" r:id="rId12"/>
    <p:sldId id="273" r:id="rId13"/>
    <p:sldId id="274" r:id="rId14"/>
    <p:sldId id="266" r:id="rId15"/>
    <p:sldId id="270" r:id="rId16"/>
    <p:sldId id="269" r:id="rId17"/>
    <p:sldId id="271" r:id="rId18"/>
    <p:sldId id="272"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023" autoAdjust="0"/>
  </p:normalViewPr>
  <p:slideViewPr>
    <p:cSldViewPr>
      <p:cViewPr varScale="1">
        <p:scale>
          <a:sx n="78" d="100"/>
          <a:sy n="78" d="100"/>
        </p:scale>
        <p:origin x="159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73A96-39AF-44DA-9F75-7EA39E05AEDA}" type="datetimeFigureOut">
              <a:rPr lang="en-US" smtClean="0"/>
              <a:t>12/5/2022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B37A21-37D5-4CDB-B0EF-3DFB56731369}" type="slidenum">
              <a:rPr lang="en-US" smtClean="0"/>
              <a:t>‹#›</a:t>
            </a:fld>
            <a:endParaRPr lang="en-US"/>
          </a:p>
        </p:txBody>
      </p:sp>
    </p:spTree>
    <p:extLst>
      <p:ext uri="{BB962C8B-B14F-4D97-AF65-F5344CB8AC3E}">
        <p14:creationId xmlns:p14="http://schemas.microsoft.com/office/powerpoint/2010/main" val="1142172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B37A21-37D5-4CDB-B0EF-3DFB56731369}" type="slidenum">
              <a:rPr lang="en-US" smtClean="0"/>
              <a:t>17</a:t>
            </a:fld>
            <a:endParaRPr lang="en-US"/>
          </a:p>
        </p:txBody>
      </p:sp>
    </p:spTree>
    <p:extLst>
      <p:ext uri="{BB962C8B-B14F-4D97-AF65-F5344CB8AC3E}">
        <p14:creationId xmlns:p14="http://schemas.microsoft.com/office/powerpoint/2010/main" val="2548372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2359A4-029B-402D-AC58-B398E8ACF040}"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2359A4-029B-402D-AC58-B398E8ACF040}"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2359A4-029B-402D-AC58-B398E8ACF040}"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2359A4-029B-402D-AC58-B398E8ACF040}" type="datetimeFigureOut">
              <a:rPr lang="en-US" smtClean="0"/>
              <a:pPr/>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2359A4-029B-402D-AC58-B398E8ACF040}" type="datetimeFigureOut">
              <a:rPr lang="en-US" smtClean="0"/>
              <a:pPr/>
              <a:t>12/5/2022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2359A4-029B-402D-AC58-B398E8ACF040}" type="datetimeFigureOut">
              <a:rPr lang="en-US" smtClean="0"/>
              <a:pPr/>
              <a:t>12/5/2022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2359A4-029B-402D-AC58-B398E8ACF040}" type="datetimeFigureOut">
              <a:rPr lang="en-US" smtClean="0"/>
              <a:pPr/>
              <a:t>12/5/2022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2359A4-029B-402D-AC58-B398E8ACF040}" type="datetimeFigureOut">
              <a:rPr lang="en-US" smtClean="0"/>
              <a:pPr/>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2359A4-029B-402D-AC58-B398E8ACF040}" type="datetimeFigureOut">
              <a:rPr lang="en-US" smtClean="0"/>
              <a:pPr/>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2359A4-029B-402D-AC58-B398E8ACF040}"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2359A4-029B-402D-AC58-B398E8ACF040}"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AB47D-4416-4192-AB56-243A944EC89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359A4-029B-402D-AC58-B398E8ACF040}" type="datetimeFigureOut">
              <a:rPr lang="en-US" smtClean="0"/>
              <a:pPr/>
              <a:t>12/5/2022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8AB47D-4416-4192-AB56-243A944EC89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hatis.techtarget.com/definition/character"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4200" y="609600"/>
            <a:ext cx="2556790" cy="369332"/>
          </a:xfrm>
          <a:prstGeom prst="rect">
            <a:avLst/>
          </a:prstGeom>
        </p:spPr>
        <p:txBody>
          <a:bodyPr wrap="none">
            <a:spAutoFit/>
          </a:bodyPr>
          <a:lstStyle/>
          <a:p>
            <a:r>
              <a:rPr lang="en-US" b="1" dirty="0"/>
              <a:t>What is communication?</a:t>
            </a:r>
            <a:endParaRPr lang="en-US" dirty="0"/>
          </a:p>
        </p:txBody>
      </p:sp>
      <p:sp>
        <p:nvSpPr>
          <p:cNvPr id="5" name="Rectangle 4"/>
          <p:cNvSpPr/>
          <p:nvPr/>
        </p:nvSpPr>
        <p:spPr>
          <a:xfrm>
            <a:off x="609600" y="1219200"/>
            <a:ext cx="8077200" cy="646331"/>
          </a:xfrm>
          <a:prstGeom prst="rect">
            <a:avLst/>
          </a:prstGeom>
        </p:spPr>
        <p:txBody>
          <a:bodyPr wrap="square">
            <a:spAutoFit/>
          </a:bodyPr>
          <a:lstStyle/>
          <a:p>
            <a:pPr>
              <a:buFont typeface="Wingdings" pitchFamily="2" charset="2"/>
              <a:buChar char="Ø"/>
            </a:pPr>
            <a:r>
              <a:rPr lang="en-US" dirty="0"/>
              <a:t>It is just exchange of information between two humans.</a:t>
            </a:r>
          </a:p>
          <a:p>
            <a:pPr>
              <a:buFont typeface="Wingdings" pitchFamily="2" charset="2"/>
              <a:buChar char="Ø"/>
            </a:pPr>
            <a:r>
              <a:rPr lang="en-US" dirty="0"/>
              <a:t>Data communication is similarly exchange of information between two computers.</a:t>
            </a:r>
          </a:p>
        </p:txBody>
      </p:sp>
      <p:sp>
        <p:nvSpPr>
          <p:cNvPr id="6" name="Rectangle 5"/>
          <p:cNvSpPr/>
          <p:nvPr/>
        </p:nvSpPr>
        <p:spPr>
          <a:xfrm>
            <a:off x="762000" y="2274838"/>
            <a:ext cx="7772400" cy="1200329"/>
          </a:xfrm>
          <a:prstGeom prst="rect">
            <a:avLst/>
          </a:prstGeom>
        </p:spPr>
        <p:txBody>
          <a:bodyPr wrap="square">
            <a:spAutoFit/>
          </a:bodyPr>
          <a:lstStyle/>
          <a:p>
            <a:pPr algn="ctr"/>
            <a:r>
              <a:rPr lang="en-US" b="1" dirty="0"/>
              <a:t>Basic Communication Model</a:t>
            </a:r>
          </a:p>
          <a:p>
            <a:r>
              <a:rPr lang="en-US" dirty="0"/>
              <a:t>Communication defined more technically can be described as the conveyance of a </a:t>
            </a:r>
            <a:r>
              <a:rPr lang="en-US" b="1" dirty="0"/>
              <a:t>message from one entity, called the source or transmitter, to another, called the destination or receiver, </a:t>
            </a:r>
            <a:r>
              <a:rPr lang="en-US" dirty="0"/>
              <a:t>via a </a:t>
            </a:r>
            <a:r>
              <a:rPr lang="en-US" b="1" dirty="0"/>
              <a:t>channel of some sort.</a:t>
            </a:r>
            <a:endParaRPr lang="en-US" dirty="0"/>
          </a:p>
        </p:txBody>
      </p:sp>
      <p:pic>
        <p:nvPicPr>
          <p:cNvPr id="1026" name="Picture 2"/>
          <p:cNvPicPr>
            <a:picLocks noChangeAspect="1" noChangeArrowheads="1"/>
          </p:cNvPicPr>
          <p:nvPr/>
        </p:nvPicPr>
        <p:blipFill>
          <a:blip r:embed="rId2"/>
          <a:srcRect/>
          <a:stretch>
            <a:fillRect/>
          </a:stretch>
        </p:blipFill>
        <p:spPr bwMode="auto">
          <a:xfrm>
            <a:off x="1600200" y="3505200"/>
            <a:ext cx="6019800" cy="3019049"/>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76600" y="533400"/>
            <a:ext cx="2199833" cy="369332"/>
          </a:xfrm>
          <a:prstGeom prst="rect">
            <a:avLst/>
          </a:prstGeom>
        </p:spPr>
        <p:txBody>
          <a:bodyPr wrap="none">
            <a:spAutoFit/>
          </a:bodyPr>
          <a:lstStyle/>
          <a:p>
            <a:r>
              <a:rPr lang="en-US" b="1" dirty="0"/>
              <a:t>Data Communication</a:t>
            </a:r>
          </a:p>
        </p:txBody>
      </p:sp>
      <p:pic>
        <p:nvPicPr>
          <p:cNvPr id="2050" name="Picture 2"/>
          <p:cNvPicPr>
            <a:picLocks noChangeAspect="1" noChangeArrowheads="1"/>
          </p:cNvPicPr>
          <p:nvPr/>
        </p:nvPicPr>
        <p:blipFill>
          <a:blip r:embed="rId2"/>
          <a:srcRect/>
          <a:stretch>
            <a:fillRect/>
          </a:stretch>
        </p:blipFill>
        <p:spPr bwMode="auto">
          <a:xfrm>
            <a:off x="1371600" y="1066800"/>
            <a:ext cx="6553200" cy="3475612"/>
          </a:xfrm>
          <a:prstGeom prst="rect">
            <a:avLst/>
          </a:prstGeom>
          <a:noFill/>
          <a:ln w="9525">
            <a:noFill/>
            <a:miter lim="800000"/>
            <a:headEnd/>
            <a:tailEnd/>
          </a:ln>
          <a:effectLst/>
        </p:spPr>
      </p:pic>
      <p:sp>
        <p:nvSpPr>
          <p:cNvPr id="6" name="Rectangle 5"/>
          <p:cNvSpPr/>
          <p:nvPr/>
        </p:nvSpPr>
        <p:spPr>
          <a:xfrm>
            <a:off x="2819400" y="4648200"/>
            <a:ext cx="4107856" cy="369332"/>
          </a:xfrm>
          <a:prstGeom prst="rect">
            <a:avLst/>
          </a:prstGeom>
        </p:spPr>
        <p:txBody>
          <a:bodyPr wrap="none">
            <a:spAutoFit/>
          </a:bodyPr>
          <a:lstStyle/>
          <a:p>
            <a:r>
              <a:rPr lang="en-US" dirty="0"/>
              <a:t>Fig. 1: Simple Data Communication model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533400"/>
            <a:ext cx="8001000" cy="677108"/>
          </a:xfrm>
          <a:prstGeom prst="rect">
            <a:avLst/>
          </a:prstGeom>
        </p:spPr>
        <p:txBody>
          <a:bodyPr wrap="square">
            <a:spAutoFit/>
          </a:bodyPr>
          <a:lstStyle/>
          <a:p>
            <a:r>
              <a:rPr lang="en-US" sz="2000" b="1" dirty="0"/>
              <a:t>Source:  </a:t>
            </a:r>
            <a:r>
              <a:rPr lang="en-US" dirty="0"/>
              <a:t>Device that generates the data to be passed on to the Destination device. It could be a user computer trying to make a query to a server computer.</a:t>
            </a:r>
          </a:p>
        </p:txBody>
      </p:sp>
      <p:sp>
        <p:nvSpPr>
          <p:cNvPr id="5" name="Rectangle 4"/>
          <p:cNvSpPr/>
          <p:nvPr/>
        </p:nvSpPr>
        <p:spPr>
          <a:xfrm>
            <a:off x="609600" y="1443841"/>
            <a:ext cx="7696200" cy="2031325"/>
          </a:xfrm>
          <a:prstGeom prst="rect">
            <a:avLst/>
          </a:prstGeom>
        </p:spPr>
        <p:txBody>
          <a:bodyPr wrap="square">
            <a:spAutoFit/>
          </a:bodyPr>
          <a:lstStyle/>
          <a:p>
            <a:pPr algn="just"/>
            <a:r>
              <a:rPr lang="en-US" b="1" dirty="0"/>
              <a:t>Transmitter</a:t>
            </a:r>
            <a:r>
              <a:rPr lang="en-US" dirty="0"/>
              <a:t>: If the data generated by the Source device has to be transmitted through Transmission Channel or Transmission System then it has to be presented in a form that is acceptable to the Transmission system. This job is done by the Transmitter. </a:t>
            </a:r>
          </a:p>
          <a:p>
            <a:pPr algn="just"/>
            <a:r>
              <a:rPr lang="en-US" b="1" dirty="0"/>
              <a:t>For example, </a:t>
            </a:r>
            <a:r>
              <a:rPr lang="en-US" dirty="0"/>
              <a:t>a modem takes a digital bit stream from the attached computer and transforms that stream of bits into an analog signals which can be handled by the telephone network.</a:t>
            </a:r>
          </a:p>
        </p:txBody>
      </p:sp>
      <p:sp>
        <p:nvSpPr>
          <p:cNvPr id="6" name="Rectangle 5"/>
          <p:cNvSpPr/>
          <p:nvPr/>
        </p:nvSpPr>
        <p:spPr>
          <a:xfrm>
            <a:off x="685800" y="3581400"/>
            <a:ext cx="7543800" cy="1200329"/>
          </a:xfrm>
          <a:prstGeom prst="rect">
            <a:avLst/>
          </a:prstGeom>
        </p:spPr>
        <p:txBody>
          <a:bodyPr wrap="square">
            <a:spAutoFit/>
          </a:bodyPr>
          <a:lstStyle/>
          <a:p>
            <a:pPr algn="just"/>
            <a:r>
              <a:rPr lang="en-US" b="1" dirty="0"/>
              <a:t>Receiver:  </a:t>
            </a:r>
            <a:r>
              <a:rPr lang="en-US" dirty="0"/>
              <a:t>This receives the signal from the transmission system and</a:t>
            </a:r>
          </a:p>
          <a:p>
            <a:pPr algn="just"/>
            <a:r>
              <a:rPr lang="en-US" dirty="0"/>
              <a:t>converts it into a form that is suitable to the destination device.</a:t>
            </a:r>
          </a:p>
          <a:p>
            <a:pPr algn="just"/>
            <a:r>
              <a:rPr lang="en-US" b="1" dirty="0"/>
              <a:t>For example, </a:t>
            </a:r>
            <a:r>
              <a:rPr lang="en-US" dirty="0"/>
              <a:t>a modem accepts analog signal from a transmission channel and transforms it into digital bit stream.</a:t>
            </a:r>
          </a:p>
        </p:txBody>
      </p:sp>
      <p:sp>
        <p:nvSpPr>
          <p:cNvPr id="7" name="Rectangle 6"/>
          <p:cNvSpPr/>
          <p:nvPr/>
        </p:nvSpPr>
        <p:spPr>
          <a:xfrm>
            <a:off x="685800" y="4876800"/>
            <a:ext cx="7467600" cy="369332"/>
          </a:xfrm>
          <a:prstGeom prst="rect">
            <a:avLst/>
          </a:prstGeom>
        </p:spPr>
        <p:txBody>
          <a:bodyPr wrap="square">
            <a:spAutoFit/>
          </a:bodyPr>
          <a:lstStyle/>
          <a:p>
            <a:r>
              <a:rPr lang="en-US" b="1" dirty="0"/>
              <a:t>Destination: </a:t>
            </a:r>
            <a:r>
              <a:rPr lang="en-US" dirty="0"/>
              <a:t>Device to which the source device sends data.</a:t>
            </a:r>
          </a:p>
        </p:txBody>
      </p:sp>
      <p:sp>
        <p:nvSpPr>
          <p:cNvPr id="8" name="Rectangle 7"/>
          <p:cNvSpPr/>
          <p:nvPr/>
        </p:nvSpPr>
        <p:spPr>
          <a:xfrm>
            <a:off x="685800" y="5410200"/>
            <a:ext cx="7543800" cy="1200329"/>
          </a:xfrm>
          <a:prstGeom prst="rect">
            <a:avLst/>
          </a:prstGeom>
        </p:spPr>
        <p:txBody>
          <a:bodyPr wrap="square">
            <a:spAutoFit/>
          </a:bodyPr>
          <a:lstStyle/>
          <a:p>
            <a:r>
              <a:rPr lang="en-US" b="1" dirty="0"/>
              <a:t>What is the role of the transmission system?</a:t>
            </a:r>
          </a:p>
          <a:p>
            <a:pPr algn="just"/>
            <a:r>
              <a:rPr lang="en-US" dirty="0"/>
              <a:t>This can be a single transmission </a:t>
            </a:r>
            <a:r>
              <a:rPr lang="en-US" dirty="0">
                <a:solidFill>
                  <a:srgbClr val="FF0000"/>
                </a:solidFill>
              </a:rPr>
              <a:t>line connecting the two systems </a:t>
            </a:r>
            <a:r>
              <a:rPr lang="en-US" dirty="0"/>
              <a:t>communicating or a complex network to which numerous communicating systems are connected.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71800" y="228600"/>
            <a:ext cx="2823850" cy="369332"/>
          </a:xfrm>
          <a:prstGeom prst="rect">
            <a:avLst/>
          </a:prstGeom>
        </p:spPr>
        <p:txBody>
          <a:bodyPr wrap="none">
            <a:spAutoFit/>
          </a:bodyPr>
          <a:lstStyle/>
          <a:p>
            <a:r>
              <a:rPr lang="en-US" dirty="0"/>
              <a:t>Data Communication Model</a:t>
            </a:r>
          </a:p>
        </p:txBody>
      </p:sp>
      <p:pic>
        <p:nvPicPr>
          <p:cNvPr id="3074" name="Picture 2"/>
          <p:cNvPicPr>
            <a:picLocks noChangeAspect="1" noChangeArrowheads="1"/>
          </p:cNvPicPr>
          <p:nvPr/>
        </p:nvPicPr>
        <p:blipFill>
          <a:blip r:embed="rId2"/>
          <a:srcRect/>
          <a:stretch>
            <a:fillRect/>
          </a:stretch>
        </p:blipFill>
        <p:spPr bwMode="auto">
          <a:xfrm>
            <a:off x="1066800" y="685799"/>
            <a:ext cx="7086600" cy="2209801"/>
          </a:xfrm>
          <a:prstGeom prst="rect">
            <a:avLst/>
          </a:prstGeom>
          <a:noFill/>
          <a:ln w="9525">
            <a:noFill/>
            <a:miter lim="800000"/>
            <a:headEnd/>
            <a:tailEnd/>
          </a:ln>
          <a:effectLst/>
        </p:spPr>
      </p:pic>
      <p:sp>
        <p:nvSpPr>
          <p:cNvPr id="6" name="Rectangle 5"/>
          <p:cNvSpPr/>
          <p:nvPr/>
        </p:nvSpPr>
        <p:spPr>
          <a:xfrm>
            <a:off x="762000" y="2895600"/>
            <a:ext cx="7467600" cy="2862322"/>
          </a:xfrm>
          <a:prstGeom prst="rect">
            <a:avLst/>
          </a:prstGeom>
        </p:spPr>
        <p:txBody>
          <a:bodyPr wrap="square">
            <a:spAutoFit/>
          </a:bodyPr>
          <a:lstStyle/>
          <a:p>
            <a:r>
              <a:rPr lang="en-US" b="1" dirty="0"/>
              <a:t>Characteristics Essential to a Data Communication System</a:t>
            </a:r>
          </a:p>
          <a:p>
            <a:pPr algn="just"/>
            <a:r>
              <a:rPr lang="en-US" dirty="0"/>
              <a:t>There are in short three characteristics essential to any data communication system</a:t>
            </a:r>
          </a:p>
          <a:p>
            <a:pPr algn="just"/>
            <a:r>
              <a:rPr lang="en-US" dirty="0"/>
              <a:t>1. </a:t>
            </a:r>
            <a:r>
              <a:rPr lang="en-US" b="1" dirty="0"/>
              <a:t>Correct Delivery: </a:t>
            </a:r>
            <a:r>
              <a:rPr lang="en-US" dirty="0"/>
              <a:t>When a sender transmits data for an intended recipient, the data must reach only the intended recipient and not another.</a:t>
            </a:r>
          </a:p>
          <a:p>
            <a:pPr algn="just"/>
            <a:r>
              <a:rPr lang="en-US" dirty="0"/>
              <a:t>2. </a:t>
            </a:r>
            <a:r>
              <a:rPr lang="en-US" b="1" dirty="0"/>
              <a:t>Accurate delivery: </a:t>
            </a:r>
            <a:r>
              <a:rPr lang="en-US" dirty="0"/>
              <a:t>The </a:t>
            </a:r>
            <a:r>
              <a:rPr lang="en-US" dirty="0">
                <a:solidFill>
                  <a:srgbClr val="FF0000"/>
                </a:solidFill>
              </a:rPr>
              <a:t>data sent must be received in the same form </a:t>
            </a:r>
            <a:r>
              <a:rPr lang="en-US" dirty="0"/>
              <a:t>as the one in which it was sent. There must not be ant sort of alterations to it in transit.</a:t>
            </a:r>
          </a:p>
          <a:p>
            <a:pPr algn="just"/>
            <a:r>
              <a:rPr lang="en-US" dirty="0"/>
              <a:t>3. </a:t>
            </a:r>
            <a:r>
              <a:rPr lang="en-US" b="1" dirty="0"/>
              <a:t>Timely delivery: </a:t>
            </a:r>
            <a:r>
              <a:rPr lang="en-US" dirty="0"/>
              <a:t>The data must travel from the sender to the receiver in a finite amount of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5800" y="457200"/>
            <a:ext cx="7772400" cy="4524315"/>
          </a:xfrm>
          <a:prstGeom prst="rect">
            <a:avLst/>
          </a:prstGeom>
        </p:spPr>
        <p:txBody>
          <a:bodyPr wrap="square">
            <a:spAutoFit/>
          </a:bodyPr>
          <a:lstStyle/>
          <a:p>
            <a:r>
              <a:rPr lang="en-US" b="1" dirty="0"/>
              <a:t>Signals:</a:t>
            </a:r>
          </a:p>
          <a:p>
            <a:r>
              <a:rPr lang="en-US" dirty="0"/>
              <a:t>In signal processing, a signal is a function that conveys information about a phenomenon. In electronics and telecommunications, it refers to any time varying voltage, current, or electromagnetic wave that carries information.</a:t>
            </a:r>
          </a:p>
          <a:p>
            <a:endParaRPr lang="en-US" dirty="0"/>
          </a:p>
          <a:p>
            <a:r>
              <a:rPr lang="en-US" b="1" dirty="0"/>
              <a:t>In data communication</a:t>
            </a:r>
            <a:r>
              <a:rPr lang="en-US" dirty="0"/>
              <a:t>, signal is represented as the electric or electromagnetic </a:t>
            </a:r>
            <a:r>
              <a:rPr lang="en-US" dirty="0">
                <a:solidFill>
                  <a:srgbClr val="FF0000"/>
                </a:solidFill>
              </a:rPr>
              <a:t>encoding of the data.</a:t>
            </a:r>
          </a:p>
          <a:p>
            <a:endParaRPr lang="en-US" dirty="0"/>
          </a:p>
          <a:p>
            <a:r>
              <a:rPr lang="en-US" b="1" dirty="0"/>
              <a:t>Encoding</a:t>
            </a:r>
            <a:r>
              <a:rPr lang="en-US" dirty="0"/>
              <a:t> is the process of putting a sequence of </a:t>
            </a:r>
            <a:r>
              <a:rPr lang="en-US" dirty="0">
                <a:hlinkClick r:id="rId2"/>
              </a:rPr>
              <a:t>characters</a:t>
            </a:r>
            <a:r>
              <a:rPr lang="en-US" dirty="0"/>
              <a:t> (letters, numbers, punctuation, and certain symbols) into a specialized format for efficient transmission or storage. Decoding is the opposite process -- the conversion of an encoded format back into the original sequence of characters.</a:t>
            </a:r>
          </a:p>
          <a:p>
            <a:endParaRPr lang="en-US" dirty="0"/>
          </a:p>
          <a:p>
            <a:endParaRPr lang="en-US" dirty="0"/>
          </a:p>
          <a:p>
            <a:r>
              <a:rPr lang="en-US" dirty="0"/>
              <a:t>At the core of data communications is the concept of signal propagation. Any signal can be classified into one of the two types - </a:t>
            </a:r>
            <a:r>
              <a:rPr lang="en-US" b="1" dirty="0"/>
              <a:t>analog or digital</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1-1 Basics of Data Transmission Our Objective is to understand …  Signals,  bandwidth, data rate concepts  Transmission impairments  Channel  capacity. - ppt downloa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srcRect/>
          <a:stretch>
            <a:fillRect/>
          </a:stretch>
        </p:blipFill>
        <p:spPr bwMode="auto">
          <a:xfrm>
            <a:off x="1471613" y="2286000"/>
            <a:ext cx="6200775" cy="4038599"/>
          </a:xfrm>
          <a:prstGeom prst="rect">
            <a:avLst/>
          </a:prstGeom>
          <a:noFill/>
          <a:ln w="9525">
            <a:noFill/>
            <a:miter lim="800000"/>
            <a:headEnd/>
            <a:tailEnd/>
          </a:ln>
          <a:effectLst/>
        </p:spPr>
      </p:pic>
      <p:sp>
        <p:nvSpPr>
          <p:cNvPr id="4" name="Rectangle 3"/>
          <p:cNvSpPr/>
          <p:nvPr/>
        </p:nvSpPr>
        <p:spPr>
          <a:xfrm>
            <a:off x="381000" y="228600"/>
            <a:ext cx="8458200" cy="2031325"/>
          </a:xfrm>
          <a:prstGeom prst="rect">
            <a:avLst/>
          </a:prstGeom>
        </p:spPr>
        <p:txBody>
          <a:bodyPr wrap="square">
            <a:spAutoFit/>
          </a:bodyPr>
          <a:lstStyle/>
          <a:p>
            <a:r>
              <a:rPr lang="en-US" b="1" dirty="0"/>
              <a:t>An analog signal </a:t>
            </a:r>
            <a:r>
              <a:rPr lang="en-US" dirty="0"/>
              <a:t>is a continuously varying signal, similar to a sinusoidal waveform.</a:t>
            </a:r>
          </a:p>
          <a:p>
            <a:r>
              <a:rPr lang="en-US" b="1" dirty="0"/>
              <a:t>For e.g.: </a:t>
            </a:r>
            <a:r>
              <a:rPr lang="en-US" dirty="0"/>
              <a:t>if we measure the room temperature continuously and plot its graph with time on the X axis and temperature on the Y-axis, we would get a continues waveform. This is an example of an analog signal.</a:t>
            </a:r>
          </a:p>
          <a:p>
            <a:endParaRPr lang="en-US" dirty="0"/>
          </a:p>
          <a:p>
            <a:r>
              <a:rPr lang="en-US" dirty="0"/>
              <a:t>Therefore an analog signal is smooth and continuous whereas a digital signal represents a sudden jump from one value to another.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533400"/>
            <a:ext cx="7499678" cy="923330"/>
          </a:xfrm>
          <a:prstGeom prst="rect">
            <a:avLst/>
          </a:prstGeom>
          <a:noFill/>
        </p:spPr>
        <p:txBody>
          <a:bodyPr wrap="square" rtlCol="0">
            <a:spAutoFit/>
          </a:bodyPr>
          <a:lstStyle/>
          <a:p>
            <a:pPr algn="just"/>
            <a:r>
              <a:rPr lang="en-US" b="1" dirty="0"/>
              <a:t>A Digital Signal </a:t>
            </a:r>
            <a:r>
              <a:rPr lang="en-US" dirty="0"/>
              <a:t>is one that oscillates between two discrete values over time, never holding an interim value. Typically, a digital signal varies between zero voltage and a positive or negative voltage value </a:t>
            </a:r>
          </a:p>
        </p:txBody>
      </p:sp>
      <p:sp>
        <p:nvSpPr>
          <p:cNvPr id="3" name="Rectangle 2"/>
          <p:cNvSpPr/>
          <p:nvPr/>
        </p:nvSpPr>
        <p:spPr>
          <a:xfrm>
            <a:off x="914400" y="1676400"/>
            <a:ext cx="7162800" cy="923330"/>
          </a:xfrm>
          <a:prstGeom prst="rect">
            <a:avLst/>
          </a:prstGeom>
        </p:spPr>
        <p:txBody>
          <a:bodyPr wrap="square">
            <a:spAutoFit/>
          </a:bodyPr>
          <a:lstStyle/>
          <a:p>
            <a:pPr algn="just"/>
            <a:r>
              <a:rPr lang="en-US" dirty="0">
                <a:solidFill>
                  <a:srgbClr val="FF0000"/>
                </a:solidFill>
              </a:rPr>
              <a:t>such as </a:t>
            </a:r>
            <a:r>
              <a:rPr lang="en-US" dirty="0"/>
              <a:t>pressure and temperature, many instruments provide an output that has one of two states: </a:t>
            </a:r>
            <a:r>
              <a:rPr lang="en-US" dirty="0">
                <a:solidFill>
                  <a:srgbClr val="FF0000"/>
                </a:solidFill>
              </a:rPr>
              <a:t>high or low, open or closed</a:t>
            </a:r>
            <a:r>
              <a:rPr lang="en-US" dirty="0"/>
              <a:t>. A pressure might be too high or a temperature too low, triggering closure of a switch.</a:t>
            </a:r>
          </a:p>
        </p:txBody>
      </p:sp>
      <p:pic>
        <p:nvPicPr>
          <p:cNvPr id="3074" name="Picture 2" descr="Analog vs. Digital Signals: Uses, Advantages and Disadvantages | Article |  MPS"/>
          <p:cNvPicPr>
            <a:picLocks noChangeAspect="1" noChangeArrowheads="1"/>
          </p:cNvPicPr>
          <p:nvPr/>
        </p:nvPicPr>
        <p:blipFill>
          <a:blip r:embed="rId2"/>
          <a:srcRect/>
          <a:stretch>
            <a:fillRect/>
          </a:stretch>
        </p:blipFill>
        <p:spPr bwMode="auto">
          <a:xfrm>
            <a:off x="685800" y="3124200"/>
            <a:ext cx="7284402" cy="269557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304800"/>
            <a:ext cx="5638800" cy="461665"/>
          </a:xfrm>
          <a:prstGeom prst="rect">
            <a:avLst/>
          </a:prstGeom>
        </p:spPr>
        <p:txBody>
          <a:bodyPr wrap="square">
            <a:spAutoFit/>
          </a:bodyPr>
          <a:lstStyle/>
          <a:p>
            <a:r>
              <a:rPr lang="en-US" sz="2400" b="1" dirty="0"/>
              <a:t>Why Digital Communication?</a:t>
            </a:r>
          </a:p>
        </p:txBody>
      </p:sp>
      <p:sp>
        <p:nvSpPr>
          <p:cNvPr id="4" name="Rectangle 3"/>
          <p:cNvSpPr/>
          <p:nvPr/>
        </p:nvSpPr>
        <p:spPr>
          <a:xfrm>
            <a:off x="685800" y="766465"/>
            <a:ext cx="8153400" cy="5262979"/>
          </a:xfrm>
          <a:prstGeom prst="rect">
            <a:avLst/>
          </a:prstGeom>
        </p:spPr>
        <p:txBody>
          <a:bodyPr wrap="square">
            <a:spAutoFit/>
          </a:bodyPr>
          <a:lstStyle/>
          <a:p>
            <a:pPr algn="just"/>
            <a:r>
              <a:rPr lang="en-US" sz="1600" dirty="0">
                <a:solidFill>
                  <a:srgbClr val="333333"/>
                </a:solidFill>
                <a:latin typeface="Source Sans Pro"/>
              </a:rPr>
              <a:t>There are many advantages of using Digital Communication over Analog Communication. Some of them are listed as below:</a:t>
            </a:r>
          </a:p>
          <a:p>
            <a:pPr algn="just">
              <a:buFont typeface="Arial" panose="020B0604020202020204" pitchFamily="34" charset="0"/>
              <a:buChar char="•"/>
            </a:pPr>
            <a:r>
              <a:rPr lang="en-US" sz="1600" dirty="0">
                <a:solidFill>
                  <a:srgbClr val="333333"/>
                </a:solidFill>
                <a:latin typeface="Source Sans Pro"/>
              </a:rPr>
              <a:t>The digital communication has mostly common structure of encoding a signal so devices used are mostly similar.</a:t>
            </a:r>
          </a:p>
          <a:p>
            <a:pPr algn="just">
              <a:buFont typeface="Arial" panose="020B0604020202020204" pitchFamily="34" charset="0"/>
              <a:buChar char="•"/>
            </a:pPr>
            <a:endParaRPr lang="en-US" sz="1600" dirty="0">
              <a:solidFill>
                <a:srgbClr val="333333"/>
              </a:solidFill>
              <a:latin typeface="Source Sans Pro"/>
            </a:endParaRPr>
          </a:p>
          <a:p>
            <a:pPr algn="just">
              <a:buFont typeface="Arial" panose="020B0604020202020204" pitchFamily="34" charset="0"/>
              <a:buChar char="•"/>
            </a:pPr>
            <a:r>
              <a:rPr lang="en-US" sz="1600" dirty="0">
                <a:solidFill>
                  <a:srgbClr val="333333"/>
                </a:solidFill>
                <a:latin typeface="Source Sans Pro"/>
              </a:rPr>
              <a:t>The Digital Communication's main advantage is that it provides us added security to our information signal.</a:t>
            </a:r>
          </a:p>
          <a:p>
            <a:pPr algn="just">
              <a:buFont typeface="Arial" panose="020B0604020202020204" pitchFamily="34" charset="0"/>
              <a:buChar char="•"/>
            </a:pPr>
            <a:endParaRPr lang="en-US" sz="1600" dirty="0">
              <a:solidFill>
                <a:srgbClr val="333333"/>
              </a:solidFill>
              <a:latin typeface="Source Sans Pro"/>
            </a:endParaRPr>
          </a:p>
          <a:p>
            <a:pPr algn="just">
              <a:buFont typeface="Arial" panose="020B0604020202020204" pitchFamily="34" charset="0"/>
              <a:buChar char="•"/>
            </a:pPr>
            <a:r>
              <a:rPr lang="en-US" sz="1600" dirty="0">
                <a:solidFill>
                  <a:srgbClr val="333333"/>
                </a:solidFill>
                <a:latin typeface="Source Sans Pro"/>
              </a:rPr>
              <a:t>The digital Communication system has more immunity to noise and external interference.</a:t>
            </a:r>
          </a:p>
          <a:p>
            <a:pPr algn="just">
              <a:buFont typeface="Arial" panose="020B0604020202020204" pitchFamily="34" charset="0"/>
              <a:buChar char="•"/>
            </a:pPr>
            <a:endParaRPr lang="en-US" sz="1600" dirty="0">
              <a:solidFill>
                <a:srgbClr val="333333"/>
              </a:solidFill>
              <a:latin typeface="Source Sans Pro"/>
            </a:endParaRPr>
          </a:p>
          <a:p>
            <a:pPr algn="just">
              <a:buFont typeface="Arial" panose="020B0604020202020204" pitchFamily="34" charset="0"/>
              <a:buChar char="•"/>
            </a:pPr>
            <a:r>
              <a:rPr lang="en-US" sz="1600" dirty="0">
                <a:solidFill>
                  <a:srgbClr val="333333"/>
                </a:solidFill>
                <a:latin typeface="Source Sans Pro"/>
              </a:rPr>
              <a:t>Digital information can be saved and retrieved when necessary while it is not possible in analog.</a:t>
            </a:r>
          </a:p>
          <a:p>
            <a:pPr algn="just">
              <a:buFont typeface="Arial" panose="020B0604020202020204" pitchFamily="34" charset="0"/>
              <a:buChar char="•"/>
            </a:pPr>
            <a:endParaRPr lang="en-US" sz="1600" dirty="0">
              <a:solidFill>
                <a:srgbClr val="333333"/>
              </a:solidFill>
              <a:latin typeface="Source Sans Pro"/>
            </a:endParaRPr>
          </a:p>
          <a:p>
            <a:pPr algn="just">
              <a:buFont typeface="Arial" panose="020B0604020202020204" pitchFamily="34" charset="0"/>
              <a:buChar char="•"/>
            </a:pPr>
            <a:r>
              <a:rPr lang="en-US" sz="1600" dirty="0">
                <a:solidFill>
                  <a:srgbClr val="333333"/>
                </a:solidFill>
                <a:latin typeface="Source Sans Pro"/>
              </a:rPr>
              <a:t>Digital Communication is cheaper than Analog Communication.</a:t>
            </a:r>
          </a:p>
          <a:p>
            <a:pPr algn="just">
              <a:buFont typeface="Arial" panose="020B0604020202020204" pitchFamily="34" charset="0"/>
              <a:buChar char="•"/>
            </a:pPr>
            <a:endParaRPr lang="en-US" sz="1600" dirty="0">
              <a:solidFill>
                <a:srgbClr val="333333"/>
              </a:solidFill>
              <a:latin typeface="Source Sans Pro"/>
            </a:endParaRPr>
          </a:p>
          <a:p>
            <a:pPr algn="just">
              <a:buFont typeface="Arial" panose="020B0604020202020204" pitchFamily="34" charset="0"/>
              <a:buChar char="•"/>
            </a:pPr>
            <a:r>
              <a:rPr lang="en-US" sz="1600" dirty="0">
                <a:solidFill>
                  <a:srgbClr val="333333"/>
                </a:solidFill>
                <a:latin typeface="Source Sans Pro"/>
              </a:rPr>
              <a:t>The configuring process of digital communication system is simple as compared to analog communication system. Although, they are complex.</a:t>
            </a:r>
          </a:p>
          <a:p>
            <a:pPr algn="just">
              <a:buFont typeface="Arial" panose="020B0604020202020204" pitchFamily="34" charset="0"/>
              <a:buChar char="•"/>
            </a:pPr>
            <a:endParaRPr lang="en-US" sz="1600" dirty="0">
              <a:solidFill>
                <a:srgbClr val="333333"/>
              </a:solidFill>
              <a:latin typeface="Source Sans Pro"/>
            </a:endParaRPr>
          </a:p>
          <a:p>
            <a:pPr algn="just">
              <a:buFont typeface="Arial" panose="020B0604020202020204" pitchFamily="34" charset="0"/>
              <a:buChar char="•"/>
            </a:pPr>
            <a:r>
              <a:rPr lang="en-US" sz="1600" dirty="0">
                <a:solidFill>
                  <a:srgbClr val="333333"/>
                </a:solidFill>
                <a:latin typeface="Source Sans Pro"/>
              </a:rPr>
              <a:t>In Digital Communication System, the error correction and detection techniques can be implemented easily.</a:t>
            </a:r>
            <a:endParaRPr lang="en-US" sz="1600" b="0" i="0" dirty="0">
              <a:solidFill>
                <a:srgbClr val="333333"/>
              </a:solidFill>
              <a:effectLst/>
              <a:latin typeface="Source Sans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304800"/>
            <a:ext cx="5638800" cy="461665"/>
          </a:xfrm>
          <a:prstGeom prst="rect">
            <a:avLst/>
          </a:prstGeom>
        </p:spPr>
        <p:txBody>
          <a:bodyPr wrap="square">
            <a:spAutoFit/>
          </a:bodyPr>
          <a:lstStyle/>
          <a:p>
            <a:r>
              <a:rPr lang="en-US" sz="2400" b="1" dirty="0"/>
              <a:t>Why Digital Communication?</a:t>
            </a:r>
          </a:p>
        </p:txBody>
      </p:sp>
      <p:sp>
        <p:nvSpPr>
          <p:cNvPr id="3" name="Rectangle 2"/>
          <p:cNvSpPr/>
          <p:nvPr/>
        </p:nvSpPr>
        <p:spPr>
          <a:xfrm>
            <a:off x="381000" y="4191000"/>
            <a:ext cx="8229600" cy="2308324"/>
          </a:xfrm>
          <a:prstGeom prst="rect">
            <a:avLst/>
          </a:prstGeom>
        </p:spPr>
        <p:txBody>
          <a:bodyPr wrap="square">
            <a:spAutoFit/>
          </a:bodyPr>
          <a:lstStyle/>
          <a:p>
            <a:pPr algn="just"/>
            <a:r>
              <a:rPr lang="en-US" b="1" dirty="0"/>
              <a:t>In analog communication </a:t>
            </a:r>
            <a:r>
              <a:rPr lang="en-US" dirty="0"/>
              <a:t>the objective is to transmit a signal waveform, which is a function that varies continuously with time, as shown in Figure 3.3a. </a:t>
            </a:r>
          </a:p>
          <a:p>
            <a:pPr algn="just"/>
            <a:endParaRPr lang="en-US" dirty="0"/>
          </a:p>
          <a:p>
            <a:pPr algn="just"/>
            <a:r>
              <a:rPr lang="en-US" b="1" dirty="0"/>
              <a:t>For example, </a:t>
            </a:r>
            <a:r>
              <a:rPr lang="en-US" dirty="0"/>
              <a:t>the electrical signal coming out of a microphone corresponds to the variation in air pressure corresponding to sound. This function of time must be reproduced exactly at the receiver output of the analog communication system. In</a:t>
            </a:r>
          </a:p>
          <a:p>
            <a:pPr algn="just"/>
            <a:r>
              <a:rPr lang="en-US" dirty="0"/>
              <a:t>practice, communications channels do not satisfy this condition, so some degree of </a:t>
            </a:r>
            <a:r>
              <a:rPr lang="en-US" b="1" dirty="0">
                <a:solidFill>
                  <a:srgbClr val="FF0000"/>
                </a:solidFill>
              </a:rPr>
              <a:t>distortion is unavoidable</a:t>
            </a:r>
            <a:r>
              <a:rPr lang="en-US" dirty="0"/>
              <a:t>.</a:t>
            </a:r>
          </a:p>
        </p:txBody>
      </p:sp>
      <p:pic>
        <p:nvPicPr>
          <p:cNvPr id="2049" name="Picture 1"/>
          <p:cNvPicPr>
            <a:picLocks noChangeAspect="1" noChangeArrowheads="1"/>
          </p:cNvPicPr>
          <p:nvPr/>
        </p:nvPicPr>
        <p:blipFill>
          <a:blip r:embed="rId2"/>
          <a:srcRect/>
          <a:stretch>
            <a:fillRect/>
          </a:stretch>
        </p:blipFill>
        <p:spPr bwMode="auto">
          <a:xfrm>
            <a:off x="1447800" y="838200"/>
            <a:ext cx="5724525" cy="3276601"/>
          </a:xfrm>
          <a:prstGeom prst="rect">
            <a:avLst/>
          </a:prstGeom>
          <a:noFill/>
          <a:ln w="9525">
            <a:noFill/>
            <a:miter lim="800000"/>
            <a:headEnd/>
            <a:tailEnd/>
          </a:ln>
          <a:effectLst/>
        </p:spPr>
      </p:pic>
    </p:spTree>
    <p:extLst>
      <p:ext uri="{BB962C8B-B14F-4D97-AF65-F5344CB8AC3E}">
        <p14:creationId xmlns:p14="http://schemas.microsoft.com/office/powerpoint/2010/main" val="1665970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751344"/>
            <a:ext cx="7924800" cy="4154984"/>
          </a:xfrm>
          <a:prstGeom prst="rect">
            <a:avLst/>
          </a:prstGeom>
        </p:spPr>
        <p:txBody>
          <a:bodyPr wrap="square">
            <a:spAutoFit/>
          </a:bodyPr>
          <a:lstStyle/>
          <a:p>
            <a:pPr algn="just"/>
            <a:r>
              <a:rPr lang="en-US" sz="2400" b="1" dirty="0"/>
              <a:t>In digital transmission </a:t>
            </a:r>
            <a:r>
              <a:rPr lang="en-US" sz="2400" dirty="0"/>
              <a:t>the objective is to transmit a given symbol that is selected from some finite set of possibilities. </a:t>
            </a:r>
          </a:p>
          <a:p>
            <a:pPr algn="just"/>
            <a:endParaRPr lang="en-US" sz="2400" dirty="0"/>
          </a:p>
          <a:p>
            <a:pPr algn="just"/>
            <a:r>
              <a:rPr lang="en-US" sz="2400" b="1" dirty="0"/>
              <a:t>For example, </a:t>
            </a:r>
            <a:r>
              <a:rPr lang="en-US" sz="2400" dirty="0"/>
              <a:t>in binary digital transmission the objective is to transmit either a 0 or a 1. This can be done, for instance, by transmitting positive voltage for a certain period of time to convey a 1 or a negative voltage to convey a 0, as shown in Figure 3.3b. The task of the receiver is to determine the input symbol with high probability. The positive or negative pulses that were transmitted for the given symbols can undergo </a:t>
            </a:r>
            <a:r>
              <a:rPr lang="en-US" sz="2400" b="1" dirty="0"/>
              <a:t>a great degree of distortion</a:t>
            </a:r>
            <a:r>
              <a:rPr lang="en-US" sz="24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762000"/>
            <a:ext cx="8534401" cy="5262979"/>
          </a:xfrm>
          <a:prstGeom prst="rect">
            <a:avLst/>
          </a:prstGeom>
          <a:noFill/>
        </p:spPr>
        <p:txBody>
          <a:bodyPr wrap="square" rtlCol="0">
            <a:spAutoFit/>
          </a:bodyPr>
          <a:lstStyle/>
          <a:p>
            <a:pPr algn="ctr"/>
            <a:r>
              <a:rPr lang="en-US" sz="2800" b="1" dirty="0"/>
              <a:t>Line Coding</a:t>
            </a:r>
          </a:p>
          <a:p>
            <a:pPr algn="just"/>
            <a:r>
              <a:rPr lang="en-US" sz="2800" dirty="0"/>
              <a:t>Line coding is the process of converting digital data a sequence of bits to a digital signal.</a:t>
            </a:r>
          </a:p>
          <a:p>
            <a:pPr algn="just"/>
            <a:endParaRPr lang="en-US" sz="2800" dirty="0"/>
          </a:p>
          <a:p>
            <a:pPr marL="285750" indent="-285750" algn="just">
              <a:buFont typeface="Wingdings" panose="05000000000000000000" pitchFamily="2" charset="2"/>
              <a:buChar char="Ø"/>
            </a:pPr>
            <a:r>
              <a:rPr lang="en-US" sz="2800" dirty="0"/>
              <a:t>Data in the form of text, numbers, graphical images, audio or video are stored in computer memory  as sequence of bits.</a:t>
            </a:r>
          </a:p>
          <a:p>
            <a:pPr marL="285750" indent="-285750" algn="just">
              <a:buFont typeface="Wingdings" panose="05000000000000000000" pitchFamily="2" charset="2"/>
              <a:buChar char="Ø"/>
            </a:pPr>
            <a:endParaRPr lang="en-US" sz="2800" dirty="0"/>
          </a:p>
          <a:p>
            <a:pPr marL="285750" indent="-285750" algn="just">
              <a:buFont typeface="Wingdings" panose="05000000000000000000" pitchFamily="2" charset="2"/>
              <a:buChar char="Ø"/>
            </a:pPr>
            <a:r>
              <a:rPr lang="en-US" sz="2800" dirty="0"/>
              <a:t>Line coding converts a sequence of bits to a digital signal. At the sender, digital data are encoded into a digital signal. At the receiver, the digital data are recreated by decoding.</a:t>
            </a:r>
          </a:p>
        </p:txBody>
      </p:sp>
    </p:spTree>
    <p:extLst>
      <p:ext uri="{BB962C8B-B14F-4D97-AF65-F5344CB8AC3E}">
        <p14:creationId xmlns:p14="http://schemas.microsoft.com/office/powerpoint/2010/main" val="2198910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8600" y="609600"/>
            <a:ext cx="8612188" cy="5257800"/>
          </a:xfrm>
          <a:prstGeom prst="rect">
            <a:avLst/>
          </a:prstGeom>
        </p:spPr>
      </p:pic>
    </p:spTree>
    <p:extLst>
      <p:ext uri="{BB962C8B-B14F-4D97-AF65-F5344CB8AC3E}">
        <p14:creationId xmlns:p14="http://schemas.microsoft.com/office/powerpoint/2010/main" val="2371035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7200" y="838200"/>
            <a:ext cx="8382000" cy="5084719"/>
          </a:xfrm>
          <a:prstGeom prst="rect">
            <a:avLst/>
          </a:prstGeom>
        </p:spPr>
      </p:pic>
    </p:spTree>
    <p:extLst>
      <p:ext uri="{BB962C8B-B14F-4D97-AF65-F5344CB8AC3E}">
        <p14:creationId xmlns:p14="http://schemas.microsoft.com/office/powerpoint/2010/main" val="4068665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8600" y="152400"/>
            <a:ext cx="8686800" cy="6553200"/>
          </a:xfrm>
          <a:prstGeom prst="rect">
            <a:avLst/>
          </a:prstGeom>
        </p:spPr>
      </p:pic>
    </p:spTree>
    <p:extLst>
      <p:ext uri="{BB962C8B-B14F-4D97-AF65-F5344CB8AC3E}">
        <p14:creationId xmlns:p14="http://schemas.microsoft.com/office/powerpoint/2010/main" val="4155061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152400"/>
            <a:ext cx="8686800" cy="6584430"/>
          </a:xfrm>
          <a:prstGeom prst="rect">
            <a:avLst/>
          </a:prstGeom>
        </p:spPr>
      </p:pic>
    </p:spTree>
    <p:extLst>
      <p:ext uri="{BB962C8B-B14F-4D97-AF65-F5344CB8AC3E}">
        <p14:creationId xmlns:p14="http://schemas.microsoft.com/office/powerpoint/2010/main" val="2585241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 y="152400"/>
            <a:ext cx="8763000" cy="6553200"/>
          </a:xfrm>
          <a:prstGeom prst="rect">
            <a:avLst/>
          </a:prstGeom>
        </p:spPr>
      </p:pic>
    </p:spTree>
    <p:extLst>
      <p:ext uri="{BB962C8B-B14F-4D97-AF65-F5344CB8AC3E}">
        <p14:creationId xmlns:p14="http://schemas.microsoft.com/office/powerpoint/2010/main" val="3037196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1284672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2400" y="228600"/>
            <a:ext cx="8839200" cy="6400800"/>
          </a:xfrm>
          <a:prstGeom prst="rect">
            <a:avLst/>
          </a:prstGeom>
        </p:spPr>
      </p:pic>
    </p:spTree>
    <p:extLst>
      <p:ext uri="{BB962C8B-B14F-4D97-AF65-F5344CB8AC3E}">
        <p14:creationId xmlns:p14="http://schemas.microsoft.com/office/powerpoint/2010/main" val="1181675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2664</TotalTime>
  <Words>1101</Words>
  <Application>Microsoft Office PowerPoint</Application>
  <PresentationFormat>On-screen Show (4:3)</PresentationFormat>
  <Paragraphs>67</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Source Sans Pro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chairmanict123@gmail.com</cp:lastModifiedBy>
  <cp:revision>74</cp:revision>
  <dcterms:created xsi:type="dcterms:W3CDTF">2021-11-10T04:02:32Z</dcterms:created>
  <dcterms:modified xsi:type="dcterms:W3CDTF">2022-12-05T03:44:33Z</dcterms:modified>
</cp:coreProperties>
</file>