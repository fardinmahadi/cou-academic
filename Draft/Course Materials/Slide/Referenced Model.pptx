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59" r:id="rId5"/>
    <p:sldId id="263" r:id="rId6"/>
    <p:sldId id="265" r:id="rId7"/>
    <p:sldId id="264" r:id="rId8"/>
    <p:sldId id="262" r:id="rId9"/>
    <p:sldId id="269" r:id="rId10"/>
    <p:sldId id="267" r:id="rId11"/>
    <p:sldId id="268" r:id="rId12"/>
    <p:sldId id="260" r:id="rId13"/>
    <p:sldId id="270"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74" d="100"/>
          <a:sy n="74" d="100"/>
        </p:scale>
        <p:origin x="4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2098544-1403-4AEF-8F20-428F7D0FD53F}" type="datetimeFigureOut">
              <a:rPr lang="en-US" smtClean="0"/>
              <a:t>3/21/2022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3E7A82-5C31-4AD3-A3AA-3EC4BF0496E1}" type="slidenum">
              <a:rPr lang="en-US" smtClean="0"/>
              <a:t>‹#›</a:t>
            </a:fld>
            <a:endParaRPr lang="en-US"/>
          </a:p>
        </p:txBody>
      </p:sp>
    </p:spTree>
    <p:extLst>
      <p:ext uri="{BB962C8B-B14F-4D97-AF65-F5344CB8AC3E}">
        <p14:creationId xmlns:p14="http://schemas.microsoft.com/office/powerpoint/2010/main" val="876710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098544-1403-4AEF-8F20-428F7D0FD53F}" type="datetimeFigureOut">
              <a:rPr lang="en-US" smtClean="0"/>
              <a:t>3/21/2022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3E7A82-5C31-4AD3-A3AA-3EC4BF0496E1}" type="slidenum">
              <a:rPr lang="en-US" smtClean="0"/>
              <a:t>‹#›</a:t>
            </a:fld>
            <a:endParaRPr lang="en-US"/>
          </a:p>
        </p:txBody>
      </p:sp>
    </p:spTree>
    <p:extLst>
      <p:ext uri="{BB962C8B-B14F-4D97-AF65-F5344CB8AC3E}">
        <p14:creationId xmlns:p14="http://schemas.microsoft.com/office/powerpoint/2010/main" val="3457807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2098544-1403-4AEF-8F20-428F7D0FD53F}" type="datetimeFigureOut">
              <a:rPr lang="en-US" smtClean="0"/>
              <a:t>3/21/2022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3E7A82-5C31-4AD3-A3AA-3EC4BF0496E1}" type="slidenum">
              <a:rPr lang="en-US" smtClean="0"/>
              <a:t>‹#›</a:t>
            </a:fld>
            <a:endParaRPr lang="en-US"/>
          </a:p>
        </p:txBody>
      </p:sp>
    </p:spTree>
    <p:extLst>
      <p:ext uri="{BB962C8B-B14F-4D97-AF65-F5344CB8AC3E}">
        <p14:creationId xmlns:p14="http://schemas.microsoft.com/office/powerpoint/2010/main" val="3872578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2098544-1403-4AEF-8F20-428F7D0FD53F}" type="datetimeFigureOut">
              <a:rPr lang="en-US" smtClean="0"/>
              <a:t>3/21/2022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3E7A82-5C31-4AD3-A3AA-3EC4BF0496E1}" type="slidenum">
              <a:rPr lang="en-US" smtClean="0"/>
              <a:t>‹#›</a:t>
            </a:fld>
            <a:endParaRPr lang="en-US"/>
          </a:p>
        </p:txBody>
      </p:sp>
    </p:spTree>
    <p:extLst>
      <p:ext uri="{BB962C8B-B14F-4D97-AF65-F5344CB8AC3E}">
        <p14:creationId xmlns:p14="http://schemas.microsoft.com/office/powerpoint/2010/main" val="1007114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2098544-1403-4AEF-8F20-428F7D0FD53F}" type="datetimeFigureOut">
              <a:rPr lang="en-US" smtClean="0"/>
              <a:t>3/21/2022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3E7A82-5C31-4AD3-A3AA-3EC4BF0496E1}" type="slidenum">
              <a:rPr lang="en-US" smtClean="0"/>
              <a:t>‹#›</a:t>
            </a:fld>
            <a:endParaRPr lang="en-US"/>
          </a:p>
        </p:txBody>
      </p:sp>
    </p:spTree>
    <p:extLst>
      <p:ext uri="{BB962C8B-B14F-4D97-AF65-F5344CB8AC3E}">
        <p14:creationId xmlns:p14="http://schemas.microsoft.com/office/powerpoint/2010/main" val="3466071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2098544-1403-4AEF-8F20-428F7D0FD53F}" type="datetimeFigureOut">
              <a:rPr lang="en-US" smtClean="0"/>
              <a:t>3/21/2022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3E7A82-5C31-4AD3-A3AA-3EC4BF0496E1}" type="slidenum">
              <a:rPr lang="en-US" smtClean="0"/>
              <a:t>‹#›</a:t>
            </a:fld>
            <a:endParaRPr lang="en-US"/>
          </a:p>
        </p:txBody>
      </p:sp>
    </p:spTree>
    <p:extLst>
      <p:ext uri="{BB962C8B-B14F-4D97-AF65-F5344CB8AC3E}">
        <p14:creationId xmlns:p14="http://schemas.microsoft.com/office/powerpoint/2010/main" val="4201477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098544-1403-4AEF-8F20-428F7D0FD53F}" type="datetimeFigureOut">
              <a:rPr lang="en-US" smtClean="0"/>
              <a:t>3/21/2022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3E7A82-5C31-4AD3-A3AA-3EC4BF0496E1}" type="slidenum">
              <a:rPr lang="en-US" smtClean="0"/>
              <a:t>‹#›</a:t>
            </a:fld>
            <a:endParaRPr lang="en-US"/>
          </a:p>
        </p:txBody>
      </p:sp>
    </p:spTree>
    <p:extLst>
      <p:ext uri="{BB962C8B-B14F-4D97-AF65-F5344CB8AC3E}">
        <p14:creationId xmlns:p14="http://schemas.microsoft.com/office/powerpoint/2010/main" val="3408994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098544-1403-4AEF-8F20-428F7D0FD53F}" type="datetimeFigureOut">
              <a:rPr lang="en-US" smtClean="0"/>
              <a:t>3/21/2022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3E7A82-5C31-4AD3-A3AA-3EC4BF0496E1}" type="slidenum">
              <a:rPr lang="en-US" smtClean="0"/>
              <a:t>‹#›</a:t>
            </a:fld>
            <a:endParaRPr lang="en-US"/>
          </a:p>
        </p:txBody>
      </p:sp>
    </p:spTree>
    <p:extLst>
      <p:ext uri="{BB962C8B-B14F-4D97-AF65-F5344CB8AC3E}">
        <p14:creationId xmlns:p14="http://schemas.microsoft.com/office/powerpoint/2010/main" val="4200031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098544-1403-4AEF-8F20-428F7D0FD53F}" type="datetimeFigureOut">
              <a:rPr lang="en-US" smtClean="0"/>
              <a:t>3/21/2022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3E7A82-5C31-4AD3-A3AA-3EC4BF0496E1}" type="slidenum">
              <a:rPr lang="en-US" smtClean="0"/>
              <a:t>‹#›</a:t>
            </a:fld>
            <a:endParaRPr lang="en-US"/>
          </a:p>
        </p:txBody>
      </p:sp>
    </p:spTree>
    <p:extLst>
      <p:ext uri="{BB962C8B-B14F-4D97-AF65-F5344CB8AC3E}">
        <p14:creationId xmlns:p14="http://schemas.microsoft.com/office/powerpoint/2010/main" val="632146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098544-1403-4AEF-8F20-428F7D0FD53F}" type="datetimeFigureOut">
              <a:rPr lang="en-US" smtClean="0"/>
              <a:t>3/21/2022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3E7A82-5C31-4AD3-A3AA-3EC4BF0496E1}" type="slidenum">
              <a:rPr lang="en-US" smtClean="0"/>
              <a:t>‹#›</a:t>
            </a:fld>
            <a:endParaRPr lang="en-US"/>
          </a:p>
        </p:txBody>
      </p:sp>
    </p:spTree>
    <p:extLst>
      <p:ext uri="{BB962C8B-B14F-4D97-AF65-F5344CB8AC3E}">
        <p14:creationId xmlns:p14="http://schemas.microsoft.com/office/powerpoint/2010/main" val="3273062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098544-1403-4AEF-8F20-428F7D0FD53F}" type="datetimeFigureOut">
              <a:rPr lang="en-US" smtClean="0"/>
              <a:t>3/21/2022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3E7A82-5C31-4AD3-A3AA-3EC4BF0496E1}" type="slidenum">
              <a:rPr lang="en-US" smtClean="0"/>
              <a:t>‹#›</a:t>
            </a:fld>
            <a:endParaRPr lang="en-US"/>
          </a:p>
        </p:txBody>
      </p:sp>
    </p:spTree>
    <p:extLst>
      <p:ext uri="{BB962C8B-B14F-4D97-AF65-F5344CB8AC3E}">
        <p14:creationId xmlns:p14="http://schemas.microsoft.com/office/powerpoint/2010/main" val="3182969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098544-1403-4AEF-8F20-428F7D0FD53F}" type="datetimeFigureOut">
              <a:rPr lang="en-US" smtClean="0"/>
              <a:t>3/21/2022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3E7A82-5C31-4AD3-A3AA-3EC4BF0496E1}" type="slidenum">
              <a:rPr lang="en-US" smtClean="0"/>
              <a:t>‹#›</a:t>
            </a:fld>
            <a:endParaRPr lang="en-US"/>
          </a:p>
        </p:txBody>
      </p:sp>
    </p:spTree>
    <p:extLst>
      <p:ext uri="{BB962C8B-B14F-4D97-AF65-F5344CB8AC3E}">
        <p14:creationId xmlns:p14="http://schemas.microsoft.com/office/powerpoint/2010/main" val="1423453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72732" y="860917"/>
            <a:ext cx="10238706" cy="5293757"/>
          </a:xfrm>
          <a:prstGeom prst="rect">
            <a:avLst/>
          </a:prstGeom>
        </p:spPr>
        <p:txBody>
          <a:bodyPr wrap="square">
            <a:spAutoFit/>
          </a:bodyPr>
          <a:lstStyle/>
          <a:p>
            <a:pPr marL="342900" indent="-342900" algn="just">
              <a:buFont typeface="Wingdings" panose="05000000000000000000" pitchFamily="2" charset="2"/>
              <a:buChar char="q"/>
            </a:pPr>
            <a:r>
              <a:rPr lang="en-US" sz="2600" dirty="0" smtClean="0"/>
              <a:t>When networks first came into being, computers could typically communicate only with computers from the same manufacturer.</a:t>
            </a:r>
          </a:p>
          <a:p>
            <a:pPr marL="342900" indent="-342900" algn="just">
              <a:buFont typeface="Wingdings" panose="05000000000000000000" pitchFamily="2" charset="2"/>
              <a:buChar char="q"/>
            </a:pPr>
            <a:endParaRPr lang="en-US" sz="2600" dirty="0" smtClean="0"/>
          </a:p>
          <a:p>
            <a:pPr marL="800100" lvl="1" indent="-342900" algn="just">
              <a:buFont typeface="Wingdings" panose="05000000000000000000" pitchFamily="2" charset="2"/>
              <a:buChar char="Ø"/>
            </a:pPr>
            <a:r>
              <a:rPr lang="en-US" sz="2600" dirty="0" smtClean="0"/>
              <a:t>For example, companies ran either a complete DECnet solution or an IBM solution—not both together.</a:t>
            </a:r>
          </a:p>
          <a:p>
            <a:pPr algn="just"/>
            <a:endParaRPr lang="en-US" sz="2600" dirty="0"/>
          </a:p>
          <a:p>
            <a:pPr marL="342900" indent="-342900" algn="just">
              <a:buFont typeface="Wingdings" panose="05000000000000000000" pitchFamily="2" charset="2"/>
              <a:buChar char="q"/>
            </a:pPr>
            <a:r>
              <a:rPr lang="en-US" sz="2600" dirty="0" smtClean="0"/>
              <a:t>In the late 1970s, the Open Systems Interconnection (OSI) reference model was created by the International Organization for Standardization (ISO) </a:t>
            </a:r>
            <a:r>
              <a:rPr lang="en-US" sz="2600" dirty="0" smtClean="0">
                <a:solidFill>
                  <a:srgbClr val="FF0000"/>
                </a:solidFill>
              </a:rPr>
              <a:t>to break this barrier</a:t>
            </a:r>
            <a:r>
              <a:rPr lang="en-US" sz="2600" dirty="0" smtClean="0"/>
              <a:t>. </a:t>
            </a:r>
          </a:p>
          <a:p>
            <a:pPr algn="just"/>
            <a:endParaRPr lang="en-US" sz="2600" dirty="0" smtClean="0"/>
          </a:p>
          <a:p>
            <a:pPr marL="342900" indent="-342900" algn="just">
              <a:buFont typeface="Wingdings" panose="05000000000000000000" pitchFamily="2" charset="2"/>
              <a:buChar char="q"/>
            </a:pPr>
            <a:r>
              <a:rPr lang="en-US" sz="2600" dirty="0" smtClean="0"/>
              <a:t>The OSI model was meant to help vendors create </a:t>
            </a:r>
            <a:r>
              <a:rPr lang="en-US" sz="2600" dirty="0" smtClean="0">
                <a:solidFill>
                  <a:srgbClr val="FF0000"/>
                </a:solidFill>
              </a:rPr>
              <a:t>interoperable network devices and software in the form of protocols</a:t>
            </a:r>
            <a:r>
              <a:rPr lang="en-US" sz="2600" dirty="0" smtClean="0"/>
              <a:t> so that different vendor networks could work with each other.</a:t>
            </a:r>
          </a:p>
        </p:txBody>
      </p:sp>
      <p:sp>
        <p:nvSpPr>
          <p:cNvPr id="5" name="Rectangle 4"/>
          <p:cNvSpPr/>
          <p:nvPr/>
        </p:nvSpPr>
        <p:spPr>
          <a:xfrm>
            <a:off x="3343706" y="153031"/>
            <a:ext cx="5328575" cy="707886"/>
          </a:xfrm>
          <a:prstGeom prst="rect">
            <a:avLst/>
          </a:prstGeom>
        </p:spPr>
        <p:txBody>
          <a:bodyPr wrap="none">
            <a:spAutoFit/>
          </a:bodyPr>
          <a:lstStyle/>
          <a:p>
            <a:r>
              <a:rPr lang="en-US" sz="4000" dirty="0" smtClean="0"/>
              <a:t>Internetworking Models </a:t>
            </a:r>
          </a:p>
        </p:txBody>
      </p:sp>
    </p:spTree>
    <p:extLst>
      <p:ext uri="{BB962C8B-B14F-4D97-AF65-F5344CB8AC3E}">
        <p14:creationId xmlns:p14="http://schemas.microsoft.com/office/powerpoint/2010/main" val="3605395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2274" y="1144253"/>
            <a:ext cx="11011437" cy="2893100"/>
          </a:xfrm>
          <a:prstGeom prst="rect">
            <a:avLst/>
          </a:prstGeom>
        </p:spPr>
        <p:txBody>
          <a:bodyPr wrap="square">
            <a:spAutoFit/>
          </a:bodyPr>
          <a:lstStyle/>
          <a:p>
            <a:pPr marL="342900" indent="-342900" algn="just">
              <a:buFont typeface="Wingdings" panose="05000000000000000000" pitchFamily="2" charset="2"/>
              <a:buChar char="q"/>
            </a:pPr>
            <a:r>
              <a:rPr lang="en-US" sz="2600" dirty="0" smtClean="0"/>
              <a:t>The OSI model is the primary </a:t>
            </a:r>
            <a:r>
              <a:rPr lang="en-US" sz="2600" dirty="0" smtClean="0">
                <a:solidFill>
                  <a:srgbClr val="FF0000"/>
                </a:solidFill>
              </a:rPr>
              <a:t>architectural model for networks</a:t>
            </a:r>
            <a:r>
              <a:rPr lang="en-US" sz="2600" dirty="0" smtClean="0"/>
              <a:t>. </a:t>
            </a:r>
          </a:p>
          <a:p>
            <a:pPr marL="342900" indent="-342900" algn="just">
              <a:buFont typeface="Wingdings" panose="05000000000000000000" pitchFamily="2" charset="2"/>
              <a:buChar char="q"/>
            </a:pPr>
            <a:endParaRPr lang="en-US" sz="2600" dirty="0" smtClean="0"/>
          </a:p>
          <a:p>
            <a:pPr marL="342900" indent="-342900" algn="just">
              <a:buFont typeface="Wingdings" panose="05000000000000000000" pitchFamily="2" charset="2"/>
              <a:buChar char="q"/>
            </a:pPr>
            <a:r>
              <a:rPr lang="en-US" sz="2600" dirty="0" smtClean="0"/>
              <a:t>It describes </a:t>
            </a:r>
            <a:r>
              <a:rPr lang="en-US" sz="2600" dirty="0" smtClean="0">
                <a:solidFill>
                  <a:srgbClr val="FF0000"/>
                </a:solidFill>
              </a:rPr>
              <a:t>how data and network information are communicated from an application on one computer through the network media </a:t>
            </a:r>
            <a:r>
              <a:rPr lang="en-US" sz="2600" dirty="0" smtClean="0"/>
              <a:t>to an application on another computer. </a:t>
            </a:r>
          </a:p>
          <a:p>
            <a:pPr marL="342900" indent="-342900" algn="just">
              <a:buFont typeface="Wingdings" panose="05000000000000000000" pitchFamily="2" charset="2"/>
              <a:buChar char="q"/>
            </a:pPr>
            <a:endParaRPr lang="en-US" sz="2600" dirty="0" smtClean="0"/>
          </a:p>
          <a:p>
            <a:pPr marL="342900" indent="-342900" algn="just">
              <a:buFont typeface="Wingdings" panose="05000000000000000000" pitchFamily="2" charset="2"/>
              <a:buChar char="q"/>
            </a:pPr>
            <a:r>
              <a:rPr lang="en-US" sz="2600" dirty="0" smtClean="0"/>
              <a:t>The OSI reference model breaks this approach into </a:t>
            </a:r>
            <a:r>
              <a:rPr lang="en-US" sz="2600" dirty="0" smtClean="0">
                <a:solidFill>
                  <a:srgbClr val="FF0000"/>
                </a:solidFill>
              </a:rPr>
              <a:t>layers</a:t>
            </a:r>
            <a:r>
              <a:rPr lang="en-US" sz="2600" dirty="0" smtClean="0"/>
              <a:t>. </a:t>
            </a:r>
            <a:endParaRPr lang="en-US" sz="2600" dirty="0"/>
          </a:p>
        </p:txBody>
      </p:sp>
      <p:sp>
        <p:nvSpPr>
          <p:cNvPr id="5" name="Rectangle 4"/>
          <p:cNvSpPr/>
          <p:nvPr/>
        </p:nvSpPr>
        <p:spPr>
          <a:xfrm>
            <a:off x="3343704" y="217426"/>
            <a:ext cx="5328575" cy="707886"/>
          </a:xfrm>
          <a:prstGeom prst="rect">
            <a:avLst/>
          </a:prstGeom>
        </p:spPr>
        <p:txBody>
          <a:bodyPr wrap="none">
            <a:spAutoFit/>
          </a:bodyPr>
          <a:lstStyle/>
          <a:p>
            <a:r>
              <a:rPr lang="en-US" sz="4000" dirty="0" smtClean="0"/>
              <a:t>Internetworking Models </a:t>
            </a:r>
          </a:p>
        </p:txBody>
      </p:sp>
    </p:spTree>
    <p:extLst>
      <p:ext uri="{BB962C8B-B14F-4D97-AF65-F5344CB8AC3E}">
        <p14:creationId xmlns:p14="http://schemas.microsoft.com/office/powerpoint/2010/main" val="1008794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8946" y="1073523"/>
            <a:ext cx="10058400" cy="5847755"/>
          </a:xfrm>
          <a:prstGeom prst="rect">
            <a:avLst/>
          </a:prstGeom>
        </p:spPr>
        <p:txBody>
          <a:bodyPr wrap="square">
            <a:spAutoFit/>
          </a:bodyPr>
          <a:lstStyle/>
          <a:p>
            <a:pPr algn="just"/>
            <a:r>
              <a:rPr lang="en-US" sz="2600" dirty="0" smtClean="0">
                <a:solidFill>
                  <a:srgbClr val="FF0000"/>
                </a:solidFill>
              </a:rPr>
              <a:t>A reference model </a:t>
            </a:r>
            <a:r>
              <a:rPr lang="en-US" sz="2600" dirty="0" smtClean="0"/>
              <a:t>is a conceptual </a:t>
            </a:r>
            <a:r>
              <a:rPr lang="en-US" sz="2600" dirty="0" smtClean="0">
                <a:solidFill>
                  <a:srgbClr val="002060"/>
                </a:solidFill>
              </a:rPr>
              <a:t>blueprint of how communications should take place. </a:t>
            </a:r>
          </a:p>
          <a:p>
            <a:pPr marL="457200" indent="-457200" algn="just">
              <a:buFont typeface="Wingdings" panose="05000000000000000000" pitchFamily="2" charset="2"/>
              <a:buChar char="Ø"/>
            </a:pPr>
            <a:r>
              <a:rPr lang="en-US" sz="2600" dirty="0" smtClean="0"/>
              <a:t>It addresses all the processes required for effective communication and divides these processes into logical groupings called layers. </a:t>
            </a:r>
          </a:p>
          <a:p>
            <a:pPr marL="457200" indent="-457200" algn="just">
              <a:buFont typeface="Wingdings" panose="05000000000000000000" pitchFamily="2" charset="2"/>
              <a:buChar char="Ø"/>
            </a:pPr>
            <a:r>
              <a:rPr lang="en-US" sz="2600" dirty="0" smtClean="0"/>
              <a:t>When a communication system is designed in this manner, it’s known as layered architecture. </a:t>
            </a:r>
          </a:p>
          <a:p>
            <a:endParaRPr lang="en-US" sz="2600" dirty="0"/>
          </a:p>
          <a:p>
            <a:pPr algn="just"/>
            <a:r>
              <a:rPr lang="en-US" sz="2400" dirty="0" smtClean="0">
                <a:solidFill>
                  <a:srgbClr val="FF0000"/>
                </a:solidFill>
              </a:rPr>
              <a:t>Think of it like this: </a:t>
            </a:r>
            <a:r>
              <a:rPr lang="en-US" sz="2400" dirty="0" smtClean="0"/>
              <a:t>You and some friends want to </a:t>
            </a:r>
            <a:r>
              <a:rPr lang="en-US" sz="2400" dirty="0" smtClean="0">
                <a:solidFill>
                  <a:srgbClr val="FF0000"/>
                </a:solidFill>
              </a:rPr>
              <a:t>start a company</a:t>
            </a:r>
            <a:r>
              <a:rPr lang="en-US" sz="2400" dirty="0" smtClean="0"/>
              <a:t>. One of the first things you’ll do is sit down and think through what tasks must be done, who will do them, the order in which they will be done, and how they relate to each other. Ultimately, you might group these tasks into departments. Let’s say you decide to have an order-taking department, an inventory department, and a shipping department. Each of your departments has its own unique tasks, keeping its staff members busy and requiring them to focus on only their own duties. </a:t>
            </a:r>
            <a:endParaRPr lang="en-US" sz="2400" dirty="0"/>
          </a:p>
        </p:txBody>
      </p:sp>
      <p:sp>
        <p:nvSpPr>
          <p:cNvPr id="3" name="Rectangle 2"/>
          <p:cNvSpPr/>
          <p:nvPr/>
        </p:nvSpPr>
        <p:spPr>
          <a:xfrm>
            <a:off x="4333592" y="243557"/>
            <a:ext cx="3529108" cy="646331"/>
          </a:xfrm>
          <a:prstGeom prst="rect">
            <a:avLst/>
          </a:prstGeom>
        </p:spPr>
        <p:txBody>
          <a:bodyPr wrap="none">
            <a:spAutoFit/>
          </a:bodyPr>
          <a:lstStyle/>
          <a:p>
            <a:r>
              <a:rPr lang="en-US" sz="3600" b="1" dirty="0" smtClean="0"/>
              <a:t>Reference model </a:t>
            </a:r>
            <a:endParaRPr lang="en-US" sz="3600" b="1" dirty="0"/>
          </a:p>
        </p:txBody>
      </p:sp>
    </p:spTree>
    <p:extLst>
      <p:ext uri="{BB962C8B-B14F-4D97-AF65-F5344CB8AC3E}">
        <p14:creationId xmlns:p14="http://schemas.microsoft.com/office/powerpoint/2010/main" val="1649509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5617" y="1326524"/>
            <a:ext cx="9324304" cy="4401205"/>
          </a:xfrm>
          <a:prstGeom prst="rect">
            <a:avLst/>
          </a:prstGeom>
        </p:spPr>
        <p:txBody>
          <a:bodyPr wrap="square">
            <a:spAutoFit/>
          </a:bodyPr>
          <a:lstStyle/>
          <a:p>
            <a:r>
              <a:rPr lang="en-US" sz="2000" dirty="0" smtClean="0"/>
              <a:t>The OSI model is hierarchical, and the same benefits and advantages can apply to any layered model. The primary purpose of all such models, especially the OSI model, is to allow different vendors’ networks to interoperate.</a:t>
            </a:r>
          </a:p>
          <a:p>
            <a:endParaRPr lang="en-US" sz="2000" dirty="0"/>
          </a:p>
          <a:p>
            <a:r>
              <a:rPr lang="en-US" sz="2000" dirty="0" smtClean="0"/>
              <a:t>Advantages of using the OSI layered model include, but are not limited to, the following: </a:t>
            </a:r>
          </a:p>
          <a:p>
            <a:pPr marL="285750" indent="-285750">
              <a:buFont typeface="Wingdings" panose="05000000000000000000" pitchFamily="2" charset="2"/>
              <a:buChar char="Ø"/>
            </a:pPr>
            <a:r>
              <a:rPr lang="en-US" sz="2000" dirty="0" smtClean="0"/>
              <a:t>It divides the network communication process into smaller and simpler components, thus aiding component development, design, and troubleshooting. </a:t>
            </a:r>
          </a:p>
          <a:p>
            <a:pPr marL="285750" indent="-285750">
              <a:buFont typeface="Wingdings" panose="05000000000000000000" pitchFamily="2" charset="2"/>
              <a:buChar char="Ø"/>
            </a:pPr>
            <a:r>
              <a:rPr lang="en-US" sz="2000" dirty="0" smtClean="0"/>
              <a:t>It allows multiple-vendor development through standardization of network components. </a:t>
            </a:r>
          </a:p>
          <a:p>
            <a:pPr marL="285750" indent="-285750">
              <a:buFont typeface="Wingdings" panose="05000000000000000000" pitchFamily="2" charset="2"/>
              <a:buChar char="Ø"/>
            </a:pPr>
            <a:r>
              <a:rPr lang="en-US" sz="2000" dirty="0" smtClean="0"/>
              <a:t>It encourages industry standardization by defining what functions occur at each layer of the model. </a:t>
            </a:r>
          </a:p>
          <a:p>
            <a:pPr marL="285750" indent="-285750">
              <a:buFont typeface="Wingdings" panose="05000000000000000000" pitchFamily="2" charset="2"/>
              <a:buChar char="Ø"/>
            </a:pPr>
            <a:r>
              <a:rPr lang="en-US" sz="2000" dirty="0" smtClean="0"/>
              <a:t>It allows various types of network hardware and software to communicate.</a:t>
            </a:r>
          </a:p>
          <a:p>
            <a:pPr marL="285750" indent="-285750">
              <a:buFont typeface="Wingdings" panose="05000000000000000000" pitchFamily="2" charset="2"/>
              <a:buChar char="Ø"/>
            </a:pPr>
            <a:r>
              <a:rPr lang="en-US" sz="2000" dirty="0" smtClean="0"/>
              <a:t> It prevents changes in one layer from affecting other layers, so it does not hamper development. </a:t>
            </a:r>
            <a:endParaRPr lang="en-US" sz="2000" dirty="0"/>
          </a:p>
        </p:txBody>
      </p:sp>
      <p:sp>
        <p:nvSpPr>
          <p:cNvPr id="3" name="Rectangle 2"/>
          <p:cNvSpPr/>
          <p:nvPr/>
        </p:nvSpPr>
        <p:spPr>
          <a:xfrm>
            <a:off x="3086280" y="295072"/>
            <a:ext cx="6422977" cy="646331"/>
          </a:xfrm>
          <a:prstGeom prst="rect">
            <a:avLst/>
          </a:prstGeom>
        </p:spPr>
        <p:txBody>
          <a:bodyPr wrap="none">
            <a:spAutoFit/>
          </a:bodyPr>
          <a:lstStyle/>
          <a:p>
            <a:r>
              <a:rPr lang="en-US" sz="3600" dirty="0" smtClean="0"/>
              <a:t>Advantages of Reference Models </a:t>
            </a:r>
            <a:endParaRPr lang="en-US" sz="3600" dirty="0"/>
          </a:p>
        </p:txBody>
      </p:sp>
    </p:spTree>
    <p:extLst>
      <p:ext uri="{BB962C8B-B14F-4D97-AF65-F5344CB8AC3E}">
        <p14:creationId xmlns:p14="http://schemas.microsoft.com/office/powerpoint/2010/main" val="3912817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4856" y="782496"/>
            <a:ext cx="9697792" cy="2677656"/>
          </a:xfrm>
          <a:prstGeom prst="rect">
            <a:avLst/>
          </a:prstGeom>
        </p:spPr>
        <p:txBody>
          <a:bodyPr wrap="square">
            <a:spAutoFit/>
          </a:bodyPr>
          <a:lstStyle/>
          <a:p>
            <a:pPr algn="just"/>
            <a:r>
              <a:rPr lang="en-US" sz="2800" dirty="0" smtClean="0"/>
              <a:t>One of the greatest functions of the OSI specifications is to assist in data transfer between disparate hosts—</a:t>
            </a:r>
          </a:p>
          <a:p>
            <a:pPr algn="just"/>
            <a:endParaRPr lang="en-US" sz="2800" dirty="0" smtClean="0"/>
          </a:p>
          <a:p>
            <a:pPr marL="457200" indent="-457200" algn="just">
              <a:buFont typeface="Wingdings" panose="05000000000000000000" pitchFamily="2" charset="2"/>
              <a:buChar char="Ø"/>
            </a:pPr>
            <a:r>
              <a:rPr lang="en-US" sz="2800" dirty="0" smtClean="0"/>
              <a:t>meaning, for example, that they </a:t>
            </a:r>
            <a:r>
              <a:rPr lang="en-US" sz="2800" dirty="0" smtClean="0">
                <a:solidFill>
                  <a:srgbClr val="FF0000"/>
                </a:solidFill>
              </a:rPr>
              <a:t>enable us to transfer data between a Unix host and a PC or a Mac</a:t>
            </a:r>
          </a:p>
          <a:p>
            <a:pPr marL="457200" indent="-457200" algn="just">
              <a:buFont typeface="Wingdings" panose="05000000000000000000" pitchFamily="2" charset="2"/>
              <a:buChar char="Ø"/>
            </a:pPr>
            <a:endParaRPr lang="en-US" sz="2800" dirty="0">
              <a:solidFill>
                <a:srgbClr val="FF0000"/>
              </a:solidFill>
            </a:endParaRPr>
          </a:p>
        </p:txBody>
      </p:sp>
      <p:sp>
        <p:nvSpPr>
          <p:cNvPr id="3" name="Rectangle 2"/>
          <p:cNvSpPr/>
          <p:nvPr/>
        </p:nvSpPr>
        <p:spPr>
          <a:xfrm>
            <a:off x="4055521" y="86348"/>
            <a:ext cx="4675319" cy="707886"/>
          </a:xfrm>
          <a:prstGeom prst="rect">
            <a:avLst/>
          </a:prstGeom>
        </p:spPr>
        <p:txBody>
          <a:bodyPr wrap="none">
            <a:spAutoFit/>
          </a:bodyPr>
          <a:lstStyle/>
          <a:p>
            <a:r>
              <a:rPr lang="en-US" sz="4000" dirty="0" smtClean="0"/>
              <a:t>OSI Reference Model </a:t>
            </a:r>
            <a:endParaRPr lang="en-US" sz="4000" dirty="0"/>
          </a:p>
        </p:txBody>
      </p:sp>
      <p:sp>
        <p:nvSpPr>
          <p:cNvPr id="4" name="Rectangle 3"/>
          <p:cNvSpPr/>
          <p:nvPr/>
        </p:nvSpPr>
        <p:spPr>
          <a:xfrm>
            <a:off x="1184856" y="3562319"/>
            <a:ext cx="9427336" cy="2677656"/>
          </a:xfrm>
          <a:prstGeom prst="rect">
            <a:avLst/>
          </a:prstGeom>
        </p:spPr>
        <p:txBody>
          <a:bodyPr wrap="square">
            <a:spAutoFit/>
          </a:bodyPr>
          <a:lstStyle/>
          <a:p>
            <a:pPr algn="just"/>
            <a:r>
              <a:rPr lang="en-US" sz="2800" dirty="0" smtClean="0"/>
              <a:t>OSI has seven different layers, </a:t>
            </a:r>
            <a:r>
              <a:rPr lang="en-US" sz="2800" dirty="0" smtClean="0">
                <a:solidFill>
                  <a:srgbClr val="FF0000"/>
                </a:solidFill>
              </a:rPr>
              <a:t>divided into two groups</a:t>
            </a:r>
            <a:r>
              <a:rPr lang="en-US" sz="2800" dirty="0" smtClean="0"/>
              <a:t>. </a:t>
            </a:r>
          </a:p>
          <a:p>
            <a:pPr marL="457200" indent="-457200" algn="just">
              <a:buFont typeface="Wingdings" panose="05000000000000000000" pitchFamily="2" charset="2"/>
              <a:buChar char="Ø"/>
            </a:pPr>
            <a:r>
              <a:rPr lang="en-US" sz="2800" dirty="0" smtClean="0"/>
              <a:t>The top three layers define how the applications within the end stations will communicate with each other and with users. </a:t>
            </a:r>
          </a:p>
          <a:p>
            <a:pPr marL="457200" indent="-457200" algn="just">
              <a:buFont typeface="Wingdings" panose="05000000000000000000" pitchFamily="2" charset="2"/>
              <a:buChar char="Ø"/>
            </a:pPr>
            <a:r>
              <a:rPr lang="en-US" sz="2800" dirty="0" smtClean="0"/>
              <a:t>The bottom four layers define how data is transmitted end to end.</a:t>
            </a:r>
            <a:endParaRPr lang="en-US" sz="2800" dirty="0"/>
          </a:p>
        </p:txBody>
      </p:sp>
    </p:spTree>
    <p:extLst>
      <p:ext uri="{BB962C8B-B14F-4D97-AF65-F5344CB8AC3E}">
        <p14:creationId xmlns:p14="http://schemas.microsoft.com/office/powerpoint/2010/main" val="2731297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700683" y="231820"/>
            <a:ext cx="5993334" cy="6030933"/>
          </a:xfrm>
          <a:prstGeom prst="rect">
            <a:avLst/>
          </a:prstGeom>
        </p:spPr>
      </p:pic>
      <p:pic>
        <p:nvPicPr>
          <p:cNvPr id="3" name="Picture 2"/>
          <p:cNvPicPr>
            <a:picLocks noChangeAspect="1"/>
          </p:cNvPicPr>
          <p:nvPr/>
        </p:nvPicPr>
        <p:blipFill>
          <a:blip r:embed="rId3"/>
          <a:stretch>
            <a:fillRect/>
          </a:stretch>
        </p:blipFill>
        <p:spPr>
          <a:xfrm>
            <a:off x="511398" y="231820"/>
            <a:ext cx="5090911" cy="6030933"/>
          </a:xfrm>
          <a:prstGeom prst="rect">
            <a:avLst/>
          </a:prstGeom>
        </p:spPr>
      </p:pic>
    </p:spTree>
    <p:extLst>
      <p:ext uri="{BB962C8B-B14F-4D97-AF65-F5344CB8AC3E}">
        <p14:creationId xmlns:p14="http://schemas.microsoft.com/office/powerpoint/2010/main" val="3872811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20256" y="822437"/>
            <a:ext cx="8476781" cy="4841448"/>
          </a:xfrm>
          <a:prstGeom prst="rect">
            <a:avLst/>
          </a:prstGeom>
        </p:spPr>
      </p:pic>
    </p:spTree>
    <p:extLst>
      <p:ext uri="{BB962C8B-B14F-4D97-AF65-F5344CB8AC3E}">
        <p14:creationId xmlns:p14="http://schemas.microsoft.com/office/powerpoint/2010/main" val="512835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06828" y="180304"/>
            <a:ext cx="9530366" cy="3284783"/>
          </a:xfrm>
          <a:prstGeom prst="rect">
            <a:avLst/>
          </a:prstGeom>
        </p:spPr>
      </p:pic>
      <p:pic>
        <p:nvPicPr>
          <p:cNvPr id="4" name="Picture 3"/>
          <p:cNvPicPr>
            <a:picLocks noChangeAspect="1"/>
          </p:cNvPicPr>
          <p:nvPr/>
        </p:nvPicPr>
        <p:blipFill>
          <a:blip r:embed="rId3"/>
          <a:stretch>
            <a:fillRect/>
          </a:stretch>
        </p:blipFill>
        <p:spPr>
          <a:xfrm>
            <a:off x="1506828" y="3683358"/>
            <a:ext cx="9530366" cy="2756079"/>
          </a:xfrm>
          <a:prstGeom prst="rect">
            <a:avLst/>
          </a:prstGeom>
        </p:spPr>
      </p:pic>
    </p:spTree>
    <p:extLst>
      <p:ext uri="{BB962C8B-B14F-4D97-AF65-F5344CB8AC3E}">
        <p14:creationId xmlns:p14="http://schemas.microsoft.com/office/powerpoint/2010/main" val="2323393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1278" y="368121"/>
            <a:ext cx="5725933" cy="3122054"/>
          </a:xfrm>
          <a:prstGeom prst="rect">
            <a:avLst/>
          </a:prstGeom>
        </p:spPr>
      </p:pic>
      <p:pic>
        <p:nvPicPr>
          <p:cNvPr id="3" name="Picture 2"/>
          <p:cNvPicPr>
            <a:picLocks noChangeAspect="1"/>
          </p:cNvPicPr>
          <p:nvPr/>
        </p:nvPicPr>
        <p:blipFill>
          <a:blip r:embed="rId3"/>
          <a:stretch>
            <a:fillRect/>
          </a:stretch>
        </p:blipFill>
        <p:spPr>
          <a:xfrm>
            <a:off x="386366" y="4134118"/>
            <a:ext cx="5676363" cy="2723882"/>
          </a:xfrm>
          <a:prstGeom prst="rect">
            <a:avLst/>
          </a:prstGeom>
        </p:spPr>
      </p:pic>
      <p:pic>
        <p:nvPicPr>
          <p:cNvPr id="4" name="Picture 3"/>
          <p:cNvPicPr>
            <a:picLocks noChangeAspect="1"/>
          </p:cNvPicPr>
          <p:nvPr/>
        </p:nvPicPr>
        <p:blipFill>
          <a:blip r:embed="rId4"/>
          <a:stretch>
            <a:fillRect/>
          </a:stretch>
        </p:blipFill>
        <p:spPr>
          <a:xfrm>
            <a:off x="6606863" y="1486310"/>
            <a:ext cx="4898466" cy="4034031"/>
          </a:xfrm>
          <a:prstGeom prst="rect">
            <a:avLst/>
          </a:prstGeom>
        </p:spPr>
      </p:pic>
    </p:spTree>
    <p:extLst>
      <p:ext uri="{BB962C8B-B14F-4D97-AF65-F5344CB8AC3E}">
        <p14:creationId xmlns:p14="http://schemas.microsoft.com/office/powerpoint/2010/main" val="1418339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53041" y="454449"/>
            <a:ext cx="4743450" cy="5173619"/>
          </a:xfrm>
          <a:prstGeom prst="rect">
            <a:avLst/>
          </a:prstGeom>
        </p:spPr>
      </p:pic>
      <p:pic>
        <p:nvPicPr>
          <p:cNvPr id="3" name="Picture 2"/>
          <p:cNvPicPr>
            <a:picLocks noChangeAspect="1"/>
          </p:cNvPicPr>
          <p:nvPr/>
        </p:nvPicPr>
        <p:blipFill>
          <a:blip r:embed="rId3"/>
          <a:stretch>
            <a:fillRect/>
          </a:stretch>
        </p:blipFill>
        <p:spPr>
          <a:xfrm>
            <a:off x="5512158" y="746975"/>
            <a:ext cx="5808505" cy="5083867"/>
          </a:xfrm>
          <a:prstGeom prst="rect">
            <a:avLst/>
          </a:prstGeom>
        </p:spPr>
      </p:pic>
    </p:spTree>
    <p:extLst>
      <p:ext uri="{BB962C8B-B14F-4D97-AF65-F5344CB8AC3E}">
        <p14:creationId xmlns:p14="http://schemas.microsoft.com/office/powerpoint/2010/main" val="843280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1464" y="267237"/>
            <a:ext cx="4953268" cy="5162550"/>
          </a:xfrm>
          <a:prstGeom prst="rect">
            <a:avLst/>
          </a:prstGeom>
        </p:spPr>
      </p:pic>
      <p:pic>
        <p:nvPicPr>
          <p:cNvPr id="3" name="Picture 2"/>
          <p:cNvPicPr>
            <a:picLocks noChangeAspect="1"/>
          </p:cNvPicPr>
          <p:nvPr/>
        </p:nvPicPr>
        <p:blipFill>
          <a:blip r:embed="rId3"/>
          <a:stretch>
            <a:fillRect/>
          </a:stretch>
        </p:blipFill>
        <p:spPr>
          <a:xfrm>
            <a:off x="5537915" y="888642"/>
            <a:ext cx="5427439" cy="4541145"/>
          </a:xfrm>
          <a:prstGeom prst="rect">
            <a:avLst/>
          </a:prstGeom>
        </p:spPr>
      </p:pic>
    </p:spTree>
    <p:extLst>
      <p:ext uri="{BB962C8B-B14F-4D97-AF65-F5344CB8AC3E}">
        <p14:creationId xmlns:p14="http://schemas.microsoft.com/office/powerpoint/2010/main" val="2804392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7730" y="367651"/>
            <a:ext cx="5434884" cy="5234659"/>
          </a:xfrm>
          <a:prstGeom prst="rect">
            <a:avLst/>
          </a:prstGeom>
        </p:spPr>
      </p:pic>
      <p:pic>
        <p:nvPicPr>
          <p:cNvPr id="3" name="Picture 2"/>
          <p:cNvPicPr>
            <a:picLocks noChangeAspect="1"/>
          </p:cNvPicPr>
          <p:nvPr/>
        </p:nvPicPr>
        <p:blipFill>
          <a:blip r:embed="rId3"/>
          <a:stretch>
            <a:fillRect/>
          </a:stretch>
        </p:blipFill>
        <p:spPr>
          <a:xfrm>
            <a:off x="6181657" y="367651"/>
            <a:ext cx="5035842" cy="2967977"/>
          </a:xfrm>
          <a:prstGeom prst="rect">
            <a:avLst/>
          </a:prstGeom>
        </p:spPr>
      </p:pic>
      <p:pic>
        <p:nvPicPr>
          <p:cNvPr id="4" name="Picture 3"/>
          <p:cNvPicPr>
            <a:picLocks noChangeAspect="1"/>
          </p:cNvPicPr>
          <p:nvPr/>
        </p:nvPicPr>
        <p:blipFill>
          <a:blip r:embed="rId4"/>
          <a:stretch>
            <a:fillRect/>
          </a:stretch>
        </p:blipFill>
        <p:spPr>
          <a:xfrm>
            <a:off x="6181657" y="3555240"/>
            <a:ext cx="5035842" cy="2838450"/>
          </a:xfrm>
          <a:prstGeom prst="rect">
            <a:avLst/>
          </a:prstGeom>
        </p:spPr>
      </p:pic>
    </p:spTree>
    <p:extLst>
      <p:ext uri="{BB962C8B-B14F-4D97-AF65-F5344CB8AC3E}">
        <p14:creationId xmlns:p14="http://schemas.microsoft.com/office/powerpoint/2010/main" val="1088403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80841" y="540913"/>
            <a:ext cx="4953000" cy="5135451"/>
          </a:xfrm>
          <a:prstGeom prst="rect">
            <a:avLst/>
          </a:prstGeom>
        </p:spPr>
      </p:pic>
      <p:pic>
        <p:nvPicPr>
          <p:cNvPr id="4" name="Picture 3"/>
          <p:cNvPicPr>
            <a:picLocks noChangeAspect="1"/>
          </p:cNvPicPr>
          <p:nvPr/>
        </p:nvPicPr>
        <p:blipFill>
          <a:blip r:embed="rId3"/>
          <a:stretch>
            <a:fillRect/>
          </a:stretch>
        </p:blipFill>
        <p:spPr>
          <a:xfrm>
            <a:off x="6120617" y="540912"/>
            <a:ext cx="4638675" cy="5135451"/>
          </a:xfrm>
          <a:prstGeom prst="rect">
            <a:avLst/>
          </a:prstGeom>
        </p:spPr>
      </p:pic>
    </p:spTree>
    <p:extLst>
      <p:ext uri="{BB962C8B-B14F-4D97-AF65-F5344CB8AC3E}">
        <p14:creationId xmlns:p14="http://schemas.microsoft.com/office/powerpoint/2010/main" val="3644945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58353" y="579549"/>
            <a:ext cx="4610100" cy="5422005"/>
          </a:xfrm>
          <a:prstGeom prst="rect">
            <a:avLst/>
          </a:prstGeom>
        </p:spPr>
      </p:pic>
      <p:pic>
        <p:nvPicPr>
          <p:cNvPr id="4" name="Picture 3"/>
          <p:cNvPicPr>
            <a:picLocks noChangeAspect="1"/>
          </p:cNvPicPr>
          <p:nvPr/>
        </p:nvPicPr>
        <p:blipFill>
          <a:blip r:embed="rId3"/>
          <a:stretch>
            <a:fillRect/>
          </a:stretch>
        </p:blipFill>
        <p:spPr>
          <a:xfrm>
            <a:off x="6143557" y="579549"/>
            <a:ext cx="4695825" cy="5422004"/>
          </a:xfrm>
          <a:prstGeom prst="rect">
            <a:avLst/>
          </a:prstGeom>
        </p:spPr>
      </p:pic>
    </p:spTree>
    <p:extLst>
      <p:ext uri="{BB962C8B-B14F-4D97-AF65-F5344CB8AC3E}">
        <p14:creationId xmlns:p14="http://schemas.microsoft.com/office/powerpoint/2010/main" val="3674718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72853" y="248924"/>
            <a:ext cx="4638675" cy="5997330"/>
          </a:xfrm>
          <a:prstGeom prst="rect">
            <a:avLst/>
          </a:prstGeom>
        </p:spPr>
      </p:pic>
      <p:pic>
        <p:nvPicPr>
          <p:cNvPr id="3" name="Picture 2"/>
          <p:cNvPicPr>
            <a:picLocks noChangeAspect="1"/>
          </p:cNvPicPr>
          <p:nvPr/>
        </p:nvPicPr>
        <p:blipFill>
          <a:blip r:embed="rId3"/>
          <a:stretch>
            <a:fillRect/>
          </a:stretch>
        </p:blipFill>
        <p:spPr>
          <a:xfrm>
            <a:off x="6626246" y="248924"/>
            <a:ext cx="4657725" cy="5997330"/>
          </a:xfrm>
          <a:prstGeom prst="rect">
            <a:avLst/>
          </a:prstGeom>
        </p:spPr>
      </p:pic>
    </p:spTree>
    <p:extLst>
      <p:ext uri="{BB962C8B-B14F-4D97-AF65-F5344CB8AC3E}">
        <p14:creationId xmlns:p14="http://schemas.microsoft.com/office/powerpoint/2010/main" val="294978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TotalTime>
  <Words>542</Words>
  <Application>Microsoft Office PowerPoint</Application>
  <PresentationFormat>Widescreen</PresentationFormat>
  <Paragraphs>36</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Wania</dc:creator>
  <cp:lastModifiedBy>Wania</cp:lastModifiedBy>
  <cp:revision>55</cp:revision>
  <dcterms:created xsi:type="dcterms:W3CDTF">2022-03-15T08:15:26Z</dcterms:created>
  <dcterms:modified xsi:type="dcterms:W3CDTF">2022-03-21T06:14:53Z</dcterms:modified>
</cp:coreProperties>
</file>