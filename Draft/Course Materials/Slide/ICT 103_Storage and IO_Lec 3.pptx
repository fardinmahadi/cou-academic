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256" r:id="rId2"/>
    <p:sldId id="319" r:id="rId3"/>
    <p:sldId id="258" r:id="rId4"/>
    <p:sldId id="290" r:id="rId5"/>
    <p:sldId id="291" r:id="rId6"/>
    <p:sldId id="293" r:id="rId7"/>
    <p:sldId id="292" r:id="rId8"/>
    <p:sldId id="259" r:id="rId9"/>
    <p:sldId id="294" r:id="rId10"/>
    <p:sldId id="295" r:id="rId11"/>
    <p:sldId id="264" r:id="rId12"/>
    <p:sldId id="265" r:id="rId13"/>
    <p:sldId id="267" r:id="rId14"/>
    <p:sldId id="268" r:id="rId15"/>
    <p:sldId id="271" r:id="rId16"/>
    <p:sldId id="288" r:id="rId17"/>
    <p:sldId id="273" r:id="rId18"/>
    <p:sldId id="275" r:id="rId19"/>
    <p:sldId id="276" r:id="rId20"/>
    <p:sldId id="297" r:id="rId21"/>
    <p:sldId id="298" r:id="rId22"/>
    <p:sldId id="301" r:id="rId23"/>
    <p:sldId id="302" r:id="rId24"/>
    <p:sldId id="274" r:id="rId25"/>
    <p:sldId id="303" r:id="rId26"/>
    <p:sldId id="304" r:id="rId27"/>
    <p:sldId id="305" r:id="rId28"/>
    <p:sldId id="306" r:id="rId29"/>
    <p:sldId id="307" r:id="rId30"/>
    <p:sldId id="308" r:id="rId31"/>
    <p:sldId id="309" r:id="rId32"/>
    <p:sldId id="310" r:id="rId33"/>
    <p:sldId id="311" r:id="rId34"/>
    <p:sldId id="312" r:id="rId35"/>
    <p:sldId id="313" r:id="rId36"/>
    <p:sldId id="299" r:id="rId37"/>
    <p:sldId id="314" r:id="rId38"/>
    <p:sldId id="315" r:id="rId39"/>
    <p:sldId id="277" r:id="rId40"/>
    <p:sldId id="278" r:id="rId41"/>
    <p:sldId id="279" r:id="rId42"/>
    <p:sldId id="300" r:id="rId43"/>
    <p:sldId id="280" r:id="rId44"/>
    <p:sldId id="281" r:id="rId45"/>
    <p:sldId id="282" r:id="rId46"/>
    <p:sldId id="283" r:id="rId47"/>
    <p:sldId id="316" r:id="rId48"/>
    <p:sldId id="317" r:id="rId49"/>
    <p:sldId id="318" r:id="rId50"/>
    <p:sldId id="289"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52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D1E853-ADD6-4A1A-AD4F-D287B149C60E}" type="datetimeFigureOut">
              <a:rPr lang="en-US" smtClean="0"/>
              <a:t>1/15/2024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E4D84-FBF3-4A35-AC2D-37683BC62E7A}" type="slidenum">
              <a:rPr lang="en-US" smtClean="0"/>
              <a:t>‹#›</a:t>
            </a:fld>
            <a:endParaRPr lang="en-US"/>
          </a:p>
        </p:txBody>
      </p:sp>
    </p:spTree>
    <p:extLst>
      <p:ext uri="{BB962C8B-B14F-4D97-AF65-F5344CB8AC3E}">
        <p14:creationId xmlns:p14="http://schemas.microsoft.com/office/powerpoint/2010/main" val="1538544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E4D84-FBF3-4A35-AC2D-37683BC62E7A}" type="slidenum">
              <a:rPr lang="en-US" smtClean="0"/>
              <a:t>6</a:t>
            </a:fld>
            <a:endParaRPr lang="en-US"/>
          </a:p>
        </p:txBody>
      </p:sp>
    </p:spTree>
    <p:extLst>
      <p:ext uri="{BB962C8B-B14F-4D97-AF65-F5344CB8AC3E}">
        <p14:creationId xmlns:p14="http://schemas.microsoft.com/office/powerpoint/2010/main" val="853307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E4D84-FBF3-4A35-AC2D-37683BC62E7A}" type="slidenum">
              <a:rPr lang="en-US" smtClean="0"/>
              <a:t>12</a:t>
            </a:fld>
            <a:endParaRPr lang="en-US"/>
          </a:p>
        </p:txBody>
      </p:sp>
    </p:spTree>
    <p:extLst>
      <p:ext uri="{BB962C8B-B14F-4D97-AF65-F5344CB8AC3E}">
        <p14:creationId xmlns:p14="http://schemas.microsoft.com/office/powerpoint/2010/main" val="586630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E4D84-FBF3-4A35-AC2D-37683BC62E7A}" type="slidenum">
              <a:rPr lang="en-US" smtClean="0"/>
              <a:t>37</a:t>
            </a:fld>
            <a:endParaRPr lang="en-US"/>
          </a:p>
        </p:txBody>
      </p:sp>
    </p:spTree>
    <p:extLst>
      <p:ext uri="{BB962C8B-B14F-4D97-AF65-F5344CB8AC3E}">
        <p14:creationId xmlns:p14="http://schemas.microsoft.com/office/powerpoint/2010/main" val="32125404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4E4D84-FBF3-4A35-AC2D-37683BC62E7A}" type="slidenum">
              <a:rPr lang="en-US" smtClean="0"/>
              <a:t>38</a:t>
            </a:fld>
            <a:endParaRPr lang="en-US"/>
          </a:p>
        </p:txBody>
      </p:sp>
    </p:spTree>
    <p:extLst>
      <p:ext uri="{BB962C8B-B14F-4D97-AF65-F5344CB8AC3E}">
        <p14:creationId xmlns:p14="http://schemas.microsoft.com/office/powerpoint/2010/main" val="1232118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F2F0AABC-647A-4F22-B4A1-D9A9F44F3650}" type="datetimeFigureOut">
              <a:rPr lang="en-US" smtClean="0"/>
              <a:pPr/>
              <a:t>1/15/2024</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A698A39-D0DF-4A93-A49C-1497B808C7BA}"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F2F0AABC-647A-4F22-B4A1-D9A9F44F3650}" type="datetimeFigureOut">
              <a:rPr lang="en-US" smtClean="0"/>
              <a:pPr/>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3A698A39-D0DF-4A93-A49C-1497B808C7BA}"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F2F0AABC-647A-4F22-B4A1-D9A9F44F3650}" type="datetimeFigureOut">
              <a:rPr lang="en-US" smtClean="0"/>
              <a:pPr/>
              <a:t>1/15/2024</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A698A39-D0DF-4A93-A49C-1497B808C7BA}"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fld id="{F2F0AABC-647A-4F22-B4A1-D9A9F44F3650}" type="datetimeFigureOut">
              <a:rPr lang="en-US" smtClean="0"/>
              <a:pPr/>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698A39-D0DF-4A93-A49C-1497B808C7BA}"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F2F0AABC-647A-4F22-B4A1-D9A9F44F3650}" type="datetimeFigureOut">
              <a:rPr lang="en-US" smtClean="0"/>
              <a:pPr/>
              <a:t>1/15/2024</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3A698A39-D0DF-4A93-A49C-1497B808C7BA}"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F2F0AABC-647A-4F22-B4A1-D9A9F44F3650}" type="datetimeFigureOut">
              <a:rPr lang="en-US" smtClean="0"/>
              <a:pPr/>
              <a:t>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3A698A39-D0DF-4A93-A49C-1497B808C7B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F2F0AABC-647A-4F22-B4A1-D9A9F44F3650}" type="datetimeFigureOut">
              <a:rPr lang="en-US" smtClean="0"/>
              <a:pPr/>
              <a:t>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A698A39-D0DF-4A93-A49C-1497B808C7B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A698A39-D0DF-4A93-A49C-1497B808C7BA}"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F2F0AABC-647A-4F22-B4A1-D9A9F44F3650}" type="datetimeFigureOut">
              <a:rPr lang="en-US" smtClean="0"/>
              <a:pPr/>
              <a:t>1/15/2024</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3A698A39-D0DF-4A93-A49C-1497B808C7BA}"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F2F0AABC-647A-4F22-B4A1-D9A9F44F3650}" type="datetimeFigureOut">
              <a:rPr lang="en-US" smtClean="0"/>
              <a:pPr/>
              <a:t>1/15/2024</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2F0AABC-647A-4F22-B4A1-D9A9F44F3650}" type="datetimeFigureOut">
              <a:rPr lang="en-US" smtClean="0"/>
              <a:pPr/>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98A39-D0DF-4A93-A49C-1497B808C7BA}"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3A698A39-D0DF-4A93-A49C-1497B808C7BA}"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F2F0AABC-647A-4F22-B4A1-D9A9F44F3650}" type="datetimeFigureOut">
              <a:rPr lang="en-US" smtClean="0"/>
              <a:pPr/>
              <a:t>1/15/2024</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F2F0AABC-647A-4F22-B4A1-D9A9F44F3650}" type="datetimeFigureOut">
              <a:rPr lang="en-US" smtClean="0"/>
              <a:pPr/>
              <a:t>1/15/2024</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A698A39-D0DF-4A93-A49C-1497B808C7BA}"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solidFill>
                  <a:srgbClr val="00B0F0"/>
                </a:solidFill>
              </a:rPr>
              <a:t>ICT </a:t>
            </a:r>
            <a:r>
              <a:rPr lang="en-US" sz="2000" dirty="0">
                <a:solidFill>
                  <a:srgbClr val="00B0F0"/>
                </a:solidFill>
              </a:rPr>
              <a:t>103</a:t>
            </a:r>
            <a:endParaRPr lang="en-US" dirty="0">
              <a:solidFill>
                <a:srgbClr val="00B0F0"/>
              </a:solidFill>
            </a:endParaRPr>
          </a:p>
          <a:p>
            <a:r>
              <a:rPr lang="en-US" dirty="0">
                <a:solidFill>
                  <a:srgbClr val="00B0F0"/>
                </a:solidFill>
              </a:rPr>
              <a:t>Lecture </a:t>
            </a:r>
            <a:r>
              <a:rPr lang="en-US" sz="2000" dirty="0">
                <a:solidFill>
                  <a:srgbClr val="00B0F0"/>
                </a:solidFill>
              </a:rPr>
              <a:t>3</a:t>
            </a:r>
          </a:p>
        </p:txBody>
      </p:sp>
      <p:sp>
        <p:nvSpPr>
          <p:cNvPr id="2" name="Title 1"/>
          <p:cNvSpPr>
            <a:spLocks noGrp="1"/>
          </p:cNvSpPr>
          <p:nvPr>
            <p:ph type="ctrTitle"/>
          </p:nvPr>
        </p:nvSpPr>
        <p:spPr/>
        <p:txBody>
          <a:bodyPr/>
          <a:lstStyle/>
          <a:p>
            <a:r>
              <a:rPr lang="en-US" dirty="0">
                <a:solidFill>
                  <a:schemeClr val="accent3">
                    <a:lumMod val="75000"/>
                  </a:schemeClr>
                </a:solidFill>
              </a:rPr>
              <a:t>Storage and I/O devices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solidFill>
                  <a:srgbClr val="00B0F0"/>
                </a:solidFill>
              </a:rPr>
              <a:t>ICT </a:t>
            </a:r>
            <a:r>
              <a:rPr lang="en-US" sz="2000" dirty="0">
                <a:solidFill>
                  <a:srgbClr val="00B0F0"/>
                </a:solidFill>
              </a:rPr>
              <a:t>103</a:t>
            </a:r>
            <a:endParaRPr lang="en-US" dirty="0">
              <a:solidFill>
                <a:srgbClr val="00B0F0"/>
              </a:solidFill>
            </a:endParaRPr>
          </a:p>
          <a:p>
            <a:r>
              <a:rPr lang="en-US" dirty="0">
                <a:solidFill>
                  <a:srgbClr val="00B0F0"/>
                </a:solidFill>
              </a:rPr>
              <a:t>Lecture </a:t>
            </a:r>
            <a:r>
              <a:rPr lang="en-US" sz="2000" dirty="0">
                <a:solidFill>
                  <a:srgbClr val="00B0F0"/>
                </a:solidFill>
              </a:rPr>
              <a:t>3</a:t>
            </a:r>
          </a:p>
        </p:txBody>
      </p:sp>
      <p:sp>
        <p:nvSpPr>
          <p:cNvPr id="2" name="Title 1"/>
          <p:cNvSpPr>
            <a:spLocks noGrp="1"/>
          </p:cNvSpPr>
          <p:nvPr>
            <p:ph type="ctrTitle"/>
          </p:nvPr>
        </p:nvSpPr>
        <p:spPr/>
        <p:txBody>
          <a:bodyPr/>
          <a:lstStyle/>
          <a:p>
            <a:r>
              <a:rPr lang="en-US" dirty="0">
                <a:solidFill>
                  <a:schemeClr val="accent3">
                    <a:lumMod val="75000"/>
                  </a:schemeClr>
                </a:solidFill>
              </a:rPr>
              <a:t>Storage and I/O devices</a:t>
            </a:r>
          </a:p>
        </p:txBody>
      </p:sp>
    </p:spTree>
    <p:extLst>
      <p:ext uri="{BB962C8B-B14F-4D97-AF65-F5344CB8AC3E}">
        <p14:creationId xmlns:p14="http://schemas.microsoft.com/office/powerpoint/2010/main" val="23535008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990600" y="533400"/>
            <a:ext cx="8001000" cy="1143000"/>
          </a:xfrm>
          <a:prstGeom prst="rect">
            <a:avLst/>
          </a:prstGeom>
          <a:noFill/>
          <a:ln w="9525">
            <a:noFill/>
            <a:miter lim="800000"/>
            <a:headEnd/>
            <a:tailEnd/>
          </a:ln>
          <a:effectLst/>
        </p:spPr>
        <p:txBody>
          <a:bodyPr lIns="92075" tIns="46038" rIns="92075" bIns="46038" anchor="ctr"/>
          <a:lstStyle/>
          <a:p>
            <a:r>
              <a:rPr lang="en-US" sz="5400" b="1" dirty="0">
                <a:solidFill>
                  <a:schemeClr val="tx2">
                    <a:lumMod val="60000"/>
                    <a:lumOff val="40000"/>
                  </a:schemeClr>
                </a:solidFill>
              </a:rPr>
              <a:t>Types of Storage:</a:t>
            </a:r>
          </a:p>
        </p:txBody>
      </p:sp>
      <p:sp>
        <p:nvSpPr>
          <p:cNvPr id="7171" name="Rectangle 3"/>
          <p:cNvSpPr>
            <a:spLocks noChangeArrowheads="1"/>
          </p:cNvSpPr>
          <p:nvPr/>
        </p:nvSpPr>
        <p:spPr bwMode="auto">
          <a:xfrm>
            <a:off x="685800" y="1905000"/>
            <a:ext cx="7772400" cy="3505200"/>
          </a:xfrm>
          <a:prstGeom prst="rect">
            <a:avLst/>
          </a:prstGeom>
          <a:noFill/>
          <a:ln w="9525">
            <a:noFill/>
            <a:miter lim="800000"/>
            <a:headEnd/>
            <a:tailEnd/>
          </a:ln>
          <a:effectLst/>
        </p:spPr>
        <p:txBody>
          <a:bodyPr lIns="92075" tIns="46038" rIns="92075" bIns="46038"/>
          <a:lstStyle/>
          <a:p>
            <a:pPr algn="just">
              <a:lnSpc>
                <a:spcPct val="90000"/>
              </a:lnSpc>
            </a:pPr>
            <a:r>
              <a:rPr lang="en-US" altLang="zh-CN" sz="2800" dirty="0"/>
              <a:t>Storage systems are the devices used for data storage. </a:t>
            </a:r>
            <a:r>
              <a:rPr lang="en-US" altLang="zh-CN" sz="2800" dirty="0">
                <a:solidFill>
                  <a:srgbClr val="FF0000"/>
                </a:solidFill>
              </a:rPr>
              <a:t>The main objective of the storage system is to permanently store data.</a:t>
            </a:r>
            <a:r>
              <a:rPr lang="en-US" altLang="zh-CN" sz="2800" dirty="0"/>
              <a:t> The storage systems can be classified as follows:</a:t>
            </a:r>
          </a:p>
          <a:p>
            <a:pPr>
              <a:lnSpc>
                <a:spcPct val="90000"/>
              </a:lnSpc>
            </a:pPr>
            <a:endParaRPr lang="en-US" altLang="zh-CN" sz="2800" dirty="0"/>
          </a:p>
          <a:p>
            <a:pPr>
              <a:lnSpc>
                <a:spcPct val="90000"/>
              </a:lnSpc>
            </a:pPr>
            <a:r>
              <a:rPr lang="en-US" altLang="zh-CN" sz="2800" dirty="0"/>
              <a:t>(1) Magnetic</a:t>
            </a:r>
          </a:p>
          <a:p>
            <a:pPr>
              <a:lnSpc>
                <a:spcPct val="90000"/>
              </a:lnSpc>
            </a:pPr>
            <a:r>
              <a:rPr lang="en-US" altLang="zh-CN" sz="2800" dirty="0"/>
              <a:t>(2) Optical</a:t>
            </a:r>
          </a:p>
          <a:p>
            <a:pPr>
              <a:lnSpc>
                <a:spcPct val="90000"/>
              </a:lnSpc>
            </a:pPr>
            <a:r>
              <a:rPr lang="en-US" altLang="zh-CN" sz="2800" dirty="0"/>
              <a:t>(3) Solid state</a:t>
            </a:r>
          </a:p>
          <a:p>
            <a:pPr>
              <a:lnSpc>
                <a:spcPct val="90000"/>
              </a:lnSpc>
            </a:pPr>
            <a:r>
              <a:rPr lang="en-US" altLang="zh-CN" sz="2800" dirty="0"/>
              <a:t>(4) Magneto Optical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651164" y="228600"/>
            <a:ext cx="7772400" cy="1143000"/>
          </a:xfrm>
          <a:prstGeom prst="rect">
            <a:avLst/>
          </a:prstGeom>
          <a:noFill/>
          <a:ln w="9525">
            <a:noFill/>
            <a:miter lim="800000"/>
            <a:headEnd/>
            <a:tailEnd/>
          </a:ln>
          <a:effectLst/>
        </p:spPr>
        <p:txBody>
          <a:bodyPr lIns="92075" tIns="46038" rIns="92075" bIns="46038" anchor="ctr"/>
          <a:lstStyle/>
          <a:p>
            <a:pPr algn="ctr"/>
            <a:r>
              <a:rPr lang="en-US" altLang="zh-CN" sz="4800" dirty="0">
                <a:solidFill>
                  <a:schemeClr val="accent1"/>
                </a:solidFill>
              </a:rPr>
              <a:t>Magnetic Storage Devices</a:t>
            </a:r>
            <a:endParaRPr lang="en-US" sz="4800" b="1" dirty="0">
              <a:solidFill>
                <a:schemeClr val="accent1"/>
              </a:solidFill>
            </a:endParaRPr>
          </a:p>
        </p:txBody>
      </p:sp>
      <p:sp>
        <p:nvSpPr>
          <p:cNvPr id="7171" name="Rectangle 3"/>
          <p:cNvSpPr>
            <a:spLocks noChangeArrowheads="1"/>
          </p:cNvSpPr>
          <p:nvPr/>
        </p:nvSpPr>
        <p:spPr bwMode="auto">
          <a:xfrm>
            <a:off x="457200" y="1371600"/>
            <a:ext cx="8229600" cy="3886200"/>
          </a:xfrm>
          <a:prstGeom prst="rect">
            <a:avLst/>
          </a:prstGeom>
          <a:noFill/>
          <a:ln w="9525">
            <a:noFill/>
            <a:miter lim="800000"/>
            <a:headEnd/>
            <a:tailEnd/>
          </a:ln>
          <a:effectLst/>
        </p:spPr>
        <p:txBody>
          <a:bodyPr lIns="92075" tIns="46038" rIns="92075" bIns="46038"/>
          <a:lstStyle/>
          <a:p>
            <a:pPr marL="342900" indent="-342900" algn="just">
              <a:buFont typeface="Arial" panose="020B0604020202020204" pitchFamily="34" charset="0"/>
              <a:buChar char="•"/>
            </a:pPr>
            <a:r>
              <a:rPr lang="en-US" altLang="zh-CN" sz="2800" dirty="0"/>
              <a:t>Magnetic storage systems can be defined as the storage systems that </a:t>
            </a:r>
            <a:r>
              <a:rPr lang="en-US" altLang="zh-CN" sz="2800" dirty="0">
                <a:solidFill>
                  <a:srgbClr val="FF0000"/>
                </a:solidFill>
              </a:rPr>
              <a:t>store the data on a magnetised medium, with the help of magnetised particles. </a:t>
            </a:r>
          </a:p>
          <a:p>
            <a:pPr marL="342900" indent="-342900" algn="just">
              <a:buFont typeface="Arial" panose="020B0604020202020204" pitchFamily="34" charset="0"/>
              <a:buChar char="•"/>
            </a:pPr>
            <a:endParaRPr lang="en-US" altLang="zh-CN" sz="2800" dirty="0"/>
          </a:p>
          <a:p>
            <a:pPr marL="342900" indent="-342900" algn="just">
              <a:buFont typeface="Arial" panose="020B0604020202020204" pitchFamily="34" charset="0"/>
              <a:buChar char="•"/>
            </a:pPr>
            <a:r>
              <a:rPr lang="en-US" altLang="zh-CN" sz="2800" dirty="0"/>
              <a:t>Magnetic tapes, magnetic disks, hard disks, floppy disks are examples of magnetic storage systems.</a:t>
            </a:r>
          </a:p>
          <a:p>
            <a:pPr marL="342900" indent="-342900" algn="just">
              <a:buFont typeface="Arial" panose="020B0604020202020204" pitchFamily="34" charset="0"/>
              <a:buChar char="•"/>
            </a:pPr>
            <a:endParaRPr lang="en-US" altLang="zh-CN" sz="2800" dirty="0"/>
          </a:p>
          <a:p>
            <a:pPr marL="342900" indent="-342900" algn="just">
              <a:buFont typeface="Arial" panose="020B0604020202020204" pitchFamily="34" charset="0"/>
              <a:buChar char="•"/>
            </a:pPr>
            <a:r>
              <a:rPr lang="en-US" altLang="zh-CN" sz="2800" dirty="0"/>
              <a:t>Can store any type of data, such as text, audio, video, image</a:t>
            </a:r>
          </a:p>
        </p:txBody>
      </p:sp>
    </p:spTree>
    <p:extLst>
      <p:ext uri="{BB962C8B-B14F-4D97-AF65-F5344CB8AC3E}">
        <p14:creationId xmlns:p14="http://schemas.microsoft.com/office/powerpoint/2010/main" val="21983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685800" y="209550"/>
            <a:ext cx="7772400" cy="1143000"/>
          </a:xfrm>
          <a:prstGeom prst="rect">
            <a:avLst/>
          </a:prstGeom>
          <a:noFill/>
          <a:ln w="9525">
            <a:noFill/>
            <a:miter lim="800000"/>
            <a:headEnd/>
            <a:tailEnd/>
          </a:ln>
          <a:effectLst/>
        </p:spPr>
        <p:txBody>
          <a:bodyPr lIns="92075" tIns="46038" rIns="92075" bIns="46038" anchor="ctr"/>
          <a:lstStyle/>
          <a:p>
            <a:pPr algn="ctr"/>
            <a:r>
              <a:rPr lang="en-US" altLang="zh-CN" sz="4800" dirty="0">
                <a:solidFill>
                  <a:schemeClr val="accent1"/>
                </a:solidFill>
              </a:rPr>
              <a:t>Magnetic Storage Devices</a:t>
            </a:r>
            <a:endParaRPr lang="en-US" sz="4800" b="1" dirty="0">
              <a:solidFill>
                <a:schemeClr val="accent1"/>
              </a:solidFill>
            </a:endParaRPr>
          </a:p>
        </p:txBody>
      </p:sp>
      <p:sp>
        <p:nvSpPr>
          <p:cNvPr id="7171" name="Rectangle 3"/>
          <p:cNvSpPr>
            <a:spLocks noChangeArrowheads="1"/>
          </p:cNvSpPr>
          <p:nvPr/>
        </p:nvSpPr>
        <p:spPr bwMode="auto">
          <a:xfrm>
            <a:off x="571500" y="1524000"/>
            <a:ext cx="8001000" cy="4191000"/>
          </a:xfrm>
          <a:prstGeom prst="rect">
            <a:avLst/>
          </a:prstGeom>
          <a:noFill/>
          <a:ln w="9525">
            <a:noFill/>
            <a:miter lim="800000"/>
            <a:headEnd/>
            <a:tailEnd/>
          </a:ln>
          <a:effectLst/>
        </p:spPr>
        <p:txBody>
          <a:bodyPr lIns="92075" tIns="46038" rIns="92075" bIns="46038"/>
          <a:lstStyle/>
          <a:p>
            <a:pPr algn="just"/>
            <a:r>
              <a:rPr lang="en-US" altLang="zh-CN" sz="2400" b="1" dirty="0"/>
              <a:t>Magnetic Disks</a:t>
            </a:r>
            <a:r>
              <a:rPr lang="en-US" altLang="zh-CN" sz="2400" dirty="0"/>
              <a:t>: </a:t>
            </a:r>
          </a:p>
          <a:p>
            <a:pPr marL="342900" indent="-342900" algn="just">
              <a:buFont typeface="Wingdings" panose="05000000000000000000" pitchFamily="2" charset="2"/>
              <a:buChar char="Ø"/>
            </a:pPr>
            <a:r>
              <a:rPr lang="en-US" altLang="zh-CN" sz="2400" dirty="0"/>
              <a:t>A flat disk that is covered with magnetic coating for holding information. </a:t>
            </a:r>
          </a:p>
          <a:p>
            <a:pPr marL="342900" indent="-342900" algn="just">
              <a:buFont typeface="Wingdings" panose="05000000000000000000" pitchFamily="2" charset="2"/>
              <a:buChar char="Ø"/>
            </a:pPr>
            <a:r>
              <a:rPr lang="en-US" altLang="zh-CN" sz="2400" dirty="0"/>
              <a:t>It is used to store digital information in the form of small and magnetised needles. </a:t>
            </a:r>
          </a:p>
          <a:p>
            <a:pPr marL="342900" indent="-342900" algn="just">
              <a:buFont typeface="Wingdings" panose="05000000000000000000" pitchFamily="2" charset="2"/>
              <a:buChar char="Ø"/>
            </a:pPr>
            <a:r>
              <a:rPr lang="en-US" altLang="zh-CN" sz="2400" dirty="0"/>
              <a:t>These needles help in encoding a single bit of information by getting polarized in one direction represented by 1, and opposite direction represented by 0. </a:t>
            </a:r>
          </a:p>
          <a:p>
            <a:pPr marL="342900" indent="-342900" algn="just">
              <a:buFont typeface="Wingdings" panose="05000000000000000000" pitchFamily="2" charset="2"/>
              <a:buChar char="Ø"/>
            </a:pPr>
            <a:r>
              <a:rPr lang="en-US" altLang="zh-CN" sz="2400" dirty="0"/>
              <a:t>It allows the random access of data and provides the facility of erasing and re-recording the data as many times as required. </a:t>
            </a:r>
          </a:p>
        </p:txBody>
      </p:sp>
    </p:spTree>
    <p:extLst>
      <p:ext uri="{BB962C8B-B14F-4D97-AF65-F5344CB8AC3E}">
        <p14:creationId xmlns:p14="http://schemas.microsoft.com/office/powerpoint/2010/main" val="3363430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685800" y="609600"/>
            <a:ext cx="7772400" cy="1143000"/>
          </a:xfrm>
          <a:prstGeom prst="rect">
            <a:avLst/>
          </a:prstGeom>
          <a:noFill/>
          <a:ln w="9525">
            <a:noFill/>
            <a:miter lim="800000"/>
            <a:headEnd/>
            <a:tailEnd/>
          </a:ln>
          <a:effectLst/>
        </p:spPr>
        <p:txBody>
          <a:bodyPr lIns="92075" tIns="46038" rIns="92075" bIns="46038" anchor="ctr"/>
          <a:lstStyle/>
          <a:p>
            <a:pPr algn="ctr"/>
            <a:r>
              <a:rPr lang="en-US" altLang="zh-CN" sz="4800" dirty="0">
                <a:solidFill>
                  <a:schemeClr val="accent1"/>
                </a:solidFill>
              </a:rPr>
              <a:t>Magnetic Storage Devices</a:t>
            </a:r>
            <a:endParaRPr lang="en-US" sz="4800" b="1" dirty="0">
              <a:solidFill>
                <a:schemeClr val="accent1"/>
              </a:solidFill>
            </a:endParaRPr>
          </a:p>
        </p:txBody>
      </p:sp>
      <p:sp>
        <p:nvSpPr>
          <p:cNvPr id="7171" name="Rectangle 3"/>
          <p:cNvSpPr>
            <a:spLocks noChangeArrowheads="1"/>
          </p:cNvSpPr>
          <p:nvPr/>
        </p:nvSpPr>
        <p:spPr bwMode="auto">
          <a:xfrm>
            <a:off x="571500" y="1785257"/>
            <a:ext cx="8001000" cy="4495800"/>
          </a:xfrm>
          <a:prstGeom prst="rect">
            <a:avLst/>
          </a:prstGeom>
          <a:noFill/>
          <a:ln w="9525">
            <a:noFill/>
            <a:miter lim="800000"/>
            <a:headEnd/>
            <a:tailEnd/>
          </a:ln>
          <a:effectLst/>
        </p:spPr>
        <p:txBody>
          <a:bodyPr lIns="92075" tIns="46038" rIns="92075" bIns="46038"/>
          <a:lstStyle/>
          <a:p>
            <a:pPr>
              <a:lnSpc>
                <a:spcPct val="130000"/>
              </a:lnSpc>
            </a:pPr>
            <a:r>
              <a:rPr lang="en-US" sz="2400" dirty="0"/>
              <a:t>Examples are: Hard disks, Removable hard disks</a:t>
            </a:r>
          </a:p>
          <a:p>
            <a:pPr>
              <a:lnSpc>
                <a:spcPct val="130000"/>
              </a:lnSpc>
            </a:pPr>
            <a:r>
              <a:rPr lang="en-US" sz="2400" dirty="0"/>
              <a:t>Magnetic tape.</a:t>
            </a:r>
          </a:p>
        </p:txBody>
      </p:sp>
      <p:pic>
        <p:nvPicPr>
          <p:cNvPr id="5" name="Picture 4"/>
          <p:cNvPicPr>
            <a:picLocks noChangeAspect="1" noChangeArrowheads="1"/>
          </p:cNvPicPr>
          <p:nvPr/>
        </p:nvPicPr>
        <p:blipFill>
          <a:blip r:embed="rId3"/>
          <a:srcRect l="73438" t="18776" r="6250" b="60767"/>
          <a:stretch>
            <a:fillRect/>
          </a:stretch>
        </p:blipFill>
        <p:spPr bwMode="auto">
          <a:xfrm>
            <a:off x="539281" y="3565698"/>
            <a:ext cx="1981200" cy="1996901"/>
          </a:xfrm>
          <a:prstGeom prst="rect">
            <a:avLst/>
          </a:prstGeom>
          <a:noFill/>
          <a:ln w="12700">
            <a:noFill/>
            <a:miter lim="800000"/>
            <a:headEnd type="none" w="sm" len="sm"/>
            <a:tailEnd type="none" w="sm" len="sm"/>
          </a:ln>
          <a:effectLst/>
        </p:spPr>
      </p:pic>
      <p:sp>
        <p:nvSpPr>
          <p:cNvPr id="4" name="TextBox 3"/>
          <p:cNvSpPr txBox="1"/>
          <p:nvPr/>
        </p:nvSpPr>
        <p:spPr>
          <a:xfrm>
            <a:off x="809171" y="3093763"/>
            <a:ext cx="1441420" cy="646331"/>
          </a:xfrm>
          <a:prstGeom prst="rect">
            <a:avLst/>
          </a:prstGeom>
          <a:noFill/>
        </p:spPr>
        <p:txBody>
          <a:bodyPr wrap="none" rtlCol="0">
            <a:spAutoFit/>
          </a:bodyPr>
          <a:lstStyle/>
          <a:p>
            <a:r>
              <a:rPr lang="en-US" b="1" dirty="0">
                <a:solidFill>
                  <a:schemeClr val="accent2"/>
                </a:solidFill>
              </a:rPr>
              <a:t>Tape drive</a:t>
            </a:r>
          </a:p>
          <a:p>
            <a:endParaRPr lang="en-US" dirty="0"/>
          </a:p>
        </p:txBody>
      </p:sp>
      <p:pic>
        <p:nvPicPr>
          <p:cNvPr id="9" name="Picture 3"/>
          <p:cNvPicPr>
            <a:picLocks noChangeAspect="1" noChangeArrowheads="1"/>
          </p:cNvPicPr>
          <p:nvPr/>
        </p:nvPicPr>
        <p:blipFill>
          <a:blip r:embed="rId4">
            <a:lum contrast="6000"/>
          </a:blip>
          <a:srcRect l="20313" t="53230" r="48438" b="19852"/>
          <a:stretch>
            <a:fillRect/>
          </a:stretch>
        </p:blipFill>
        <p:spPr bwMode="auto">
          <a:xfrm>
            <a:off x="3048000" y="3565698"/>
            <a:ext cx="2590800" cy="2149301"/>
          </a:xfrm>
          <a:prstGeom prst="rect">
            <a:avLst/>
          </a:prstGeom>
          <a:noFill/>
          <a:ln w="12700">
            <a:noFill/>
            <a:miter lim="800000"/>
            <a:headEnd type="none" w="sm" len="sm"/>
            <a:tailEnd type="none" w="sm" len="sm"/>
          </a:ln>
          <a:effectLst/>
        </p:spPr>
      </p:pic>
      <p:sp>
        <p:nvSpPr>
          <p:cNvPr id="7" name="TextBox 6"/>
          <p:cNvSpPr txBox="1"/>
          <p:nvPr/>
        </p:nvSpPr>
        <p:spPr>
          <a:xfrm>
            <a:off x="3200400" y="3093763"/>
            <a:ext cx="1526691" cy="369332"/>
          </a:xfrm>
          <a:prstGeom prst="rect">
            <a:avLst/>
          </a:prstGeom>
          <a:noFill/>
        </p:spPr>
        <p:txBody>
          <a:bodyPr wrap="square" rtlCol="0">
            <a:spAutoFit/>
          </a:bodyPr>
          <a:lstStyle/>
          <a:p>
            <a:r>
              <a:rPr lang="en-US" b="1" dirty="0">
                <a:solidFill>
                  <a:schemeClr val="accent2">
                    <a:lumMod val="75000"/>
                  </a:schemeClr>
                </a:solidFill>
              </a:rPr>
              <a:t>Hard Drive</a:t>
            </a:r>
          </a:p>
        </p:txBody>
      </p:sp>
      <p:pic>
        <p:nvPicPr>
          <p:cNvPr id="12" name="Picture 2"/>
          <p:cNvPicPr>
            <a:picLocks noChangeAspect="1" noChangeArrowheads="1"/>
          </p:cNvPicPr>
          <p:nvPr/>
        </p:nvPicPr>
        <p:blipFill>
          <a:blip r:embed="rId5"/>
          <a:srcRect l="63281" t="14468" r="4688" b="51077"/>
          <a:stretch>
            <a:fillRect/>
          </a:stretch>
        </p:blipFill>
        <p:spPr bwMode="auto">
          <a:xfrm>
            <a:off x="5943600" y="3565698"/>
            <a:ext cx="2438400" cy="1874750"/>
          </a:xfrm>
          <a:prstGeom prst="rect">
            <a:avLst/>
          </a:prstGeom>
          <a:noFill/>
          <a:ln w="12700">
            <a:noFill/>
            <a:miter lim="800000"/>
            <a:headEnd type="none" w="sm" len="sm"/>
            <a:tailEnd type="none" w="sm" len="sm"/>
          </a:ln>
          <a:effectLst/>
        </p:spPr>
      </p:pic>
      <p:sp>
        <p:nvSpPr>
          <p:cNvPr id="10" name="TextBox 9"/>
          <p:cNvSpPr txBox="1"/>
          <p:nvPr/>
        </p:nvSpPr>
        <p:spPr>
          <a:xfrm>
            <a:off x="5958114" y="3076625"/>
            <a:ext cx="1718740" cy="369332"/>
          </a:xfrm>
          <a:prstGeom prst="rect">
            <a:avLst/>
          </a:prstGeom>
          <a:noFill/>
        </p:spPr>
        <p:txBody>
          <a:bodyPr wrap="none" rtlCol="0">
            <a:spAutoFit/>
          </a:bodyPr>
          <a:lstStyle/>
          <a:p>
            <a:r>
              <a:rPr lang="en-US" b="1" dirty="0">
                <a:solidFill>
                  <a:schemeClr val="accent2"/>
                </a:solidFill>
              </a:rPr>
              <a:t>Floppy Drive</a:t>
            </a:r>
          </a:p>
        </p:txBody>
      </p:sp>
    </p:spTree>
    <p:extLst>
      <p:ext uri="{BB962C8B-B14F-4D97-AF65-F5344CB8AC3E}">
        <p14:creationId xmlns:p14="http://schemas.microsoft.com/office/powerpoint/2010/main" val="174840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685800" y="609600"/>
            <a:ext cx="7772400" cy="1143000"/>
          </a:xfrm>
          <a:prstGeom prst="rect">
            <a:avLst/>
          </a:prstGeom>
          <a:noFill/>
          <a:ln w="9525">
            <a:noFill/>
            <a:miter lim="800000"/>
            <a:headEnd/>
            <a:tailEnd/>
          </a:ln>
          <a:effectLst/>
        </p:spPr>
        <p:txBody>
          <a:bodyPr lIns="92075" tIns="46038" rIns="92075" bIns="46038" anchor="ctr"/>
          <a:lstStyle/>
          <a:p>
            <a:r>
              <a:rPr lang="en-US" altLang="zh-CN" sz="4800" dirty="0">
                <a:solidFill>
                  <a:schemeClr val="accent1"/>
                </a:solidFill>
              </a:rPr>
              <a:t>Optical Storage Devices</a:t>
            </a:r>
            <a:endParaRPr lang="en-US" sz="4800" b="1" dirty="0">
              <a:solidFill>
                <a:schemeClr val="accent1"/>
              </a:solidFill>
            </a:endParaRPr>
          </a:p>
        </p:txBody>
      </p:sp>
      <p:sp>
        <p:nvSpPr>
          <p:cNvPr id="7171" name="Rectangle 3"/>
          <p:cNvSpPr>
            <a:spLocks noChangeArrowheads="1"/>
          </p:cNvSpPr>
          <p:nvPr/>
        </p:nvSpPr>
        <p:spPr bwMode="auto">
          <a:xfrm>
            <a:off x="571500" y="2057400"/>
            <a:ext cx="8001000" cy="4191000"/>
          </a:xfrm>
          <a:prstGeom prst="rect">
            <a:avLst/>
          </a:prstGeom>
          <a:noFill/>
          <a:ln w="9525">
            <a:noFill/>
            <a:miter lim="800000"/>
            <a:headEnd/>
            <a:tailEnd/>
          </a:ln>
          <a:effectLst/>
        </p:spPr>
        <p:txBody>
          <a:bodyPr lIns="92075" tIns="46038" rIns="92075" bIns="46038"/>
          <a:lstStyle/>
          <a:p>
            <a:pPr marL="342900" indent="-342900" algn="just">
              <a:buFont typeface="Arial" panose="020B0604020202020204" pitchFamily="34" charset="0"/>
              <a:buChar char="•"/>
            </a:pPr>
            <a:r>
              <a:rPr lang="en-US" altLang="zh-CN" sz="2400" dirty="0"/>
              <a:t>The optical storage systems use the </a:t>
            </a:r>
            <a:r>
              <a:rPr lang="en-US" altLang="zh-CN" sz="2400" dirty="0">
                <a:solidFill>
                  <a:srgbClr val="FF0000"/>
                </a:solidFill>
              </a:rPr>
              <a:t>laser light as the optical medium to retrieve as well as record data</a:t>
            </a:r>
            <a:r>
              <a:rPr lang="en-US" altLang="zh-CN" sz="2400" dirty="0"/>
              <a:t>.</a:t>
            </a:r>
          </a:p>
          <a:p>
            <a:pPr marL="342900" indent="-342900" algn="just">
              <a:buFont typeface="Arial" panose="020B0604020202020204" pitchFamily="34" charset="0"/>
              <a:buChar char="•"/>
            </a:pPr>
            <a:endParaRPr lang="en-US" altLang="zh-CN" sz="2400" dirty="0"/>
          </a:p>
          <a:p>
            <a:pPr marL="342900" indent="-342900" algn="just">
              <a:buFont typeface="Arial" panose="020B0604020202020204" pitchFamily="34" charset="0"/>
              <a:buChar char="•"/>
            </a:pPr>
            <a:r>
              <a:rPr lang="en-US" altLang="zh-CN" sz="2400" dirty="0"/>
              <a:t>The optical storage devices are </a:t>
            </a:r>
            <a:r>
              <a:rPr lang="en-US" altLang="zh-CN" sz="2400" dirty="0">
                <a:solidFill>
                  <a:srgbClr val="FF0000"/>
                </a:solidFill>
              </a:rPr>
              <a:t>either read-only or writable. </a:t>
            </a:r>
          </a:p>
          <a:p>
            <a:pPr algn="just">
              <a:lnSpc>
                <a:spcPct val="120000"/>
              </a:lnSpc>
              <a:spcBef>
                <a:spcPct val="20000"/>
              </a:spcBef>
            </a:pPr>
            <a:r>
              <a:rPr lang="en-US" sz="2400" dirty="0"/>
              <a:t>Examples are Compact Disk Read-Only Memory (CD-ROM),Rewritable disks, DVD-ROM.</a:t>
            </a:r>
          </a:p>
          <a:p>
            <a:pPr marL="342900" indent="-342900">
              <a:buFont typeface="Arial" panose="020B0604020202020204" pitchFamily="34" charset="0"/>
              <a:buChar char="•"/>
            </a:pPr>
            <a:endParaRPr lang="en-US" altLang="zh-CN" sz="2400" dirty="0"/>
          </a:p>
        </p:txBody>
      </p:sp>
    </p:spTree>
    <p:extLst>
      <p:ext uri="{BB962C8B-B14F-4D97-AF65-F5344CB8AC3E}">
        <p14:creationId xmlns:p14="http://schemas.microsoft.com/office/powerpoint/2010/main" val="36174972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a:lum contrast="12000"/>
          </a:blip>
          <a:srcRect l="40625" t="34926" r="26563" b="40309"/>
          <a:stretch>
            <a:fillRect/>
          </a:stretch>
        </p:blipFill>
        <p:spPr bwMode="auto">
          <a:xfrm>
            <a:off x="503237" y="838200"/>
            <a:ext cx="3962400" cy="2170113"/>
          </a:xfrm>
          <a:prstGeom prst="rect">
            <a:avLst/>
          </a:prstGeom>
          <a:noFill/>
          <a:ln w="12700">
            <a:noFill/>
            <a:miter lim="800000"/>
            <a:headEnd type="none" w="sm" len="sm"/>
            <a:tailEnd type="none" w="sm" len="sm"/>
          </a:ln>
          <a:effectLst/>
        </p:spPr>
      </p:pic>
      <p:pic>
        <p:nvPicPr>
          <p:cNvPr id="23555" name="Picture 3"/>
          <p:cNvPicPr>
            <a:picLocks noChangeAspect="1" noChangeArrowheads="1"/>
          </p:cNvPicPr>
          <p:nvPr/>
        </p:nvPicPr>
        <p:blipFill>
          <a:blip r:embed="rId3">
            <a:lum contrast="6000"/>
          </a:blip>
          <a:srcRect l="18750" t="26312" r="64063" b="43539"/>
          <a:stretch>
            <a:fillRect/>
          </a:stretch>
        </p:blipFill>
        <p:spPr bwMode="auto">
          <a:xfrm>
            <a:off x="5715000" y="1522413"/>
            <a:ext cx="2335213" cy="2971800"/>
          </a:xfrm>
          <a:prstGeom prst="rect">
            <a:avLst/>
          </a:prstGeom>
          <a:noFill/>
          <a:ln w="12700">
            <a:noFill/>
            <a:miter lim="800000"/>
            <a:headEnd type="none" w="sm" len="sm"/>
            <a:tailEnd type="none" w="sm" len="sm"/>
          </a:ln>
          <a:effectLst/>
        </p:spPr>
      </p:pic>
      <p:sp>
        <p:nvSpPr>
          <p:cNvPr id="23556" name="Text Box 4"/>
          <p:cNvSpPr txBox="1">
            <a:spLocks noChangeArrowheads="1"/>
          </p:cNvSpPr>
          <p:nvPr/>
        </p:nvSpPr>
        <p:spPr bwMode="auto">
          <a:xfrm>
            <a:off x="1185188" y="3254375"/>
            <a:ext cx="2076209" cy="738664"/>
          </a:xfrm>
          <a:prstGeom prst="rect">
            <a:avLst/>
          </a:prstGeom>
          <a:noFill/>
          <a:ln w="12700">
            <a:noFill/>
            <a:miter lim="800000"/>
            <a:headEnd type="none" w="sm" len="sm"/>
            <a:tailEnd type="none" w="sm" len="sm"/>
          </a:ln>
          <a:effectLst/>
        </p:spPr>
        <p:txBody>
          <a:bodyPr wrap="none">
            <a:spAutoFit/>
          </a:bodyPr>
          <a:lstStyle/>
          <a:p>
            <a:pPr algn="ctr"/>
            <a:r>
              <a:rPr lang="en-US" sz="1400" b="1" dirty="0">
                <a:solidFill>
                  <a:schemeClr val="accent2"/>
                </a:solidFill>
              </a:rPr>
              <a:t>Magnetic:  the bits</a:t>
            </a:r>
          </a:p>
          <a:p>
            <a:pPr algn="ctr"/>
            <a:r>
              <a:rPr lang="en-US" sz="1400" b="1" dirty="0">
                <a:solidFill>
                  <a:schemeClr val="accent2"/>
                </a:solidFill>
              </a:rPr>
              <a:t>are written and read</a:t>
            </a:r>
          </a:p>
          <a:p>
            <a:pPr algn="ctr"/>
            <a:r>
              <a:rPr lang="en-US" sz="1400" b="1" dirty="0">
                <a:solidFill>
                  <a:schemeClr val="accent2"/>
                </a:solidFill>
              </a:rPr>
              <a:t>using magnetism.</a:t>
            </a:r>
            <a:endParaRPr lang="en-US" b="1" dirty="0">
              <a:solidFill>
                <a:schemeClr val="accent2"/>
              </a:solidFill>
            </a:endParaRPr>
          </a:p>
        </p:txBody>
      </p:sp>
      <p:sp>
        <p:nvSpPr>
          <p:cNvPr id="23557" name="Text Box 5"/>
          <p:cNvSpPr txBox="1">
            <a:spLocks noChangeArrowheads="1"/>
          </p:cNvSpPr>
          <p:nvPr/>
        </p:nvSpPr>
        <p:spPr bwMode="auto">
          <a:xfrm>
            <a:off x="6047966" y="533400"/>
            <a:ext cx="1693092" cy="738664"/>
          </a:xfrm>
          <a:prstGeom prst="rect">
            <a:avLst/>
          </a:prstGeom>
          <a:noFill/>
          <a:ln w="12700">
            <a:noFill/>
            <a:miter lim="800000"/>
            <a:headEnd type="none" w="sm" len="sm"/>
            <a:tailEnd type="none" w="sm" len="sm"/>
          </a:ln>
          <a:effectLst/>
        </p:spPr>
        <p:txBody>
          <a:bodyPr wrap="none">
            <a:spAutoFit/>
          </a:bodyPr>
          <a:lstStyle/>
          <a:p>
            <a:pPr algn="ctr"/>
            <a:r>
              <a:rPr lang="en-US" sz="1400" b="1" dirty="0">
                <a:solidFill>
                  <a:schemeClr val="accent2"/>
                </a:solidFill>
              </a:rPr>
              <a:t>Optical:  the bits</a:t>
            </a:r>
          </a:p>
          <a:p>
            <a:pPr algn="ctr"/>
            <a:r>
              <a:rPr lang="en-US" sz="1400" b="1" dirty="0">
                <a:solidFill>
                  <a:schemeClr val="accent2"/>
                </a:solidFill>
              </a:rPr>
              <a:t>are read</a:t>
            </a:r>
          </a:p>
          <a:p>
            <a:pPr algn="ctr"/>
            <a:r>
              <a:rPr lang="en-US" sz="1400" b="1" dirty="0">
                <a:solidFill>
                  <a:schemeClr val="accent2"/>
                </a:solidFill>
              </a:rPr>
              <a:t>using light.</a:t>
            </a:r>
          </a:p>
        </p:txBody>
      </p:sp>
      <p:pic>
        <p:nvPicPr>
          <p:cNvPr id="7" name="Picture 2"/>
          <p:cNvPicPr>
            <a:picLocks noChangeAspect="1" noChangeArrowheads="1"/>
          </p:cNvPicPr>
          <p:nvPr/>
        </p:nvPicPr>
        <p:blipFill>
          <a:blip r:embed="rId4"/>
          <a:srcRect l="18750" t="26312" r="53125" b="47847"/>
          <a:stretch>
            <a:fillRect/>
          </a:stretch>
        </p:blipFill>
        <p:spPr bwMode="auto">
          <a:xfrm>
            <a:off x="3429000" y="3993038"/>
            <a:ext cx="2743200" cy="2048987"/>
          </a:xfrm>
          <a:prstGeom prst="rect">
            <a:avLst/>
          </a:prstGeom>
          <a:noFill/>
          <a:ln w="12700">
            <a:noFill/>
            <a:miter lim="800000"/>
            <a:headEnd type="none" w="sm" len="sm"/>
            <a:tailEnd type="none" w="sm" len="sm"/>
          </a:ln>
          <a:effectLst/>
        </p:spPr>
      </p:pic>
      <p:sp>
        <p:nvSpPr>
          <p:cNvPr id="3" name="TextBox 2"/>
          <p:cNvSpPr txBox="1"/>
          <p:nvPr/>
        </p:nvSpPr>
        <p:spPr>
          <a:xfrm>
            <a:off x="4257881" y="3439041"/>
            <a:ext cx="1289516" cy="369332"/>
          </a:xfrm>
          <a:prstGeom prst="rect">
            <a:avLst/>
          </a:prstGeom>
          <a:noFill/>
        </p:spPr>
        <p:txBody>
          <a:bodyPr wrap="square" rtlCol="0">
            <a:spAutoFit/>
          </a:bodyPr>
          <a:lstStyle/>
          <a:p>
            <a:r>
              <a:rPr lang="en-US" dirty="0">
                <a:solidFill>
                  <a:schemeClr val="accent2"/>
                </a:solidFill>
              </a:rPr>
              <a:t>CD-ROM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1000"/>
                                  </p:stCondLst>
                                  <p:childTnLst>
                                    <p:set>
                                      <p:cBhvr>
                                        <p:cTn id="6" dur="1" fill="hold">
                                          <p:stCondLst>
                                            <p:cond delay="0"/>
                                          </p:stCondLst>
                                        </p:cTn>
                                        <p:tgtEl>
                                          <p:spTgt spid="23557"/>
                                        </p:tgtEl>
                                        <p:attrNameLst>
                                          <p:attrName>style.visibility</p:attrName>
                                        </p:attrNameLst>
                                      </p:cBhvr>
                                      <p:to>
                                        <p:strVal val="visible"/>
                                      </p:to>
                                    </p:set>
                                    <p:animEffect transition="in" filter="dissolve">
                                      <p:cBhvr>
                                        <p:cTn id="7" dur="500"/>
                                        <p:tgtEl>
                                          <p:spTgt spid="23557"/>
                                        </p:tgtEl>
                                      </p:cBhvr>
                                    </p:animEffect>
                                  </p:childTnLst>
                                </p:cTn>
                              </p:par>
                            </p:childTnLst>
                          </p:cTn>
                        </p:par>
                        <p:par>
                          <p:cTn id="8" fill="hold">
                            <p:stCondLst>
                              <p:cond delay="1500"/>
                            </p:stCondLst>
                            <p:childTnLst>
                              <p:par>
                                <p:cTn id="9" presetID="2" presetClass="entr" presetSubtype="1" fill="hold" nodeType="afterEffect">
                                  <p:stCondLst>
                                    <p:cond delay="0"/>
                                  </p:stCondLst>
                                  <p:childTnLst>
                                    <p:set>
                                      <p:cBhvr>
                                        <p:cTn id="10" dur="1" fill="hold">
                                          <p:stCondLst>
                                            <p:cond delay="0"/>
                                          </p:stCondLst>
                                        </p:cTn>
                                        <p:tgtEl>
                                          <p:spTgt spid="23555"/>
                                        </p:tgtEl>
                                        <p:attrNameLst>
                                          <p:attrName>style.visibility</p:attrName>
                                        </p:attrNameLst>
                                      </p:cBhvr>
                                      <p:to>
                                        <p:strVal val="visible"/>
                                      </p:to>
                                    </p:set>
                                    <p:anim calcmode="lin" valueType="num">
                                      <p:cBhvr additive="base">
                                        <p:cTn id="11" dur="500" fill="hold"/>
                                        <p:tgtEl>
                                          <p:spTgt spid="23555"/>
                                        </p:tgtEl>
                                        <p:attrNameLst>
                                          <p:attrName>ppt_x</p:attrName>
                                        </p:attrNameLst>
                                      </p:cBhvr>
                                      <p:tavLst>
                                        <p:tav tm="0">
                                          <p:val>
                                            <p:strVal val="#ppt_x"/>
                                          </p:val>
                                        </p:tav>
                                        <p:tav tm="100000">
                                          <p:val>
                                            <p:strVal val="#ppt_x"/>
                                          </p:val>
                                        </p:tav>
                                      </p:tavLst>
                                    </p:anim>
                                    <p:anim calcmode="lin" valueType="num">
                                      <p:cBhvr additive="base">
                                        <p:cTn id="12" dur="500" fill="hold"/>
                                        <p:tgtEl>
                                          <p:spTgt spid="23555"/>
                                        </p:tgtEl>
                                        <p:attrNameLst>
                                          <p:attrName>ppt_y</p:attrName>
                                        </p:attrNameLst>
                                      </p:cBhvr>
                                      <p:tavLst>
                                        <p:tav tm="0">
                                          <p:val>
                                            <p:strVal val="0-#ppt_h/2"/>
                                          </p:val>
                                        </p:tav>
                                        <p:tav tm="100000">
                                          <p:val>
                                            <p:strVal val="#ppt_y"/>
                                          </p:val>
                                        </p:tav>
                                      </p:tavLst>
                                    </p:anim>
                                  </p:childTnLst>
                                </p:cTn>
                              </p:par>
                            </p:childTnLst>
                          </p:cTn>
                        </p:par>
                        <p:par>
                          <p:cTn id="13" fill="hold">
                            <p:stCondLst>
                              <p:cond delay="2000"/>
                            </p:stCondLst>
                            <p:childTnLst>
                              <p:par>
                                <p:cTn id="14" presetID="23" presetClass="entr" presetSubtype="52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 calcmode="lin" valueType="num">
                                      <p:cBhvr>
                                        <p:cTn id="18" dur="500" fill="hold"/>
                                        <p:tgtEl>
                                          <p:spTgt spid="7"/>
                                        </p:tgtEl>
                                        <p:attrNameLst>
                                          <p:attrName>ppt_x</p:attrName>
                                        </p:attrNameLst>
                                      </p:cBhvr>
                                      <p:tavLst>
                                        <p:tav tm="0">
                                          <p:val>
                                            <p:fltVal val="0.5"/>
                                          </p:val>
                                        </p:tav>
                                        <p:tav tm="100000">
                                          <p:val>
                                            <p:strVal val="#ppt_x"/>
                                          </p:val>
                                        </p:tav>
                                      </p:tavLst>
                                    </p:anim>
                                    <p:anim calcmode="lin" valueType="num">
                                      <p:cBhvr>
                                        <p:cTn id="19" dur="500" fill="hold"/>
                                        <p:tgtEl>
                                          <p:spTgt spid="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04800"/>
            <a:ext cx="6391493" cy="707886"/>
          </a:xfrm>
          <a:prstGeom prst="rect">
            <a:avLst/>
          </a:prstGeom>
          <a:noFill/>
        </p:spPr>
        <p:txBody>
          <a:bodyPr wrap="none" rtlCol="0">
            <a:spAutoFit/>
          </a:bodyPr>
          <a:lstStyle/>
          <a:p>
            <a:r>
              <a:rPr lang="en-US" altLang="zh-CN" sz="4000" dirty="0">
                <a:solidFill>
                  <a:schemeClr val="tx2"/>
                </a:solidFill>
              </a:rPr>
              <a:t>Solid-State Storage Devices</a:t>
            </a:r>
            <a:endParaRPr lang="en-US" sz="4000" dirty="0">
              <a:solidFill>
                <a:schemeClr val="tx2"/>
              </a:solidFill>
            </a:endParaRPr>
          </a:p>
        </p:txBody>
      </p:sp>
      <p:sp>
        <p:nvSpPr>
          <p:cNvPr id="4" name="TextBox 3"/>
          <p:cNvSpPr txBox="1"/>
          <p:nvPr/>
        </p:nvSpPr>
        <p:spPr>
          <a:xfrm>
            <a:off x="304800" y="1295400"/>
            <a:ext cx="8077200" cy="4850559"/>
          </a:xfrm>
          <a:prstGeom prst="rect">
            <a:avLst/>
          </a:prstGeom>
          <a:noFill/>
        </p:spPr>
        <p:txBody>
          <a:bodyPr wrap="square" rtlCol="0">
            <a:spAutoFit/>
          </a:bodyPr>
          <a:lstStyle/>
          <a:p>
            <a:pPr marL="457200" indent="-457200" algn="just">
              <a:lnSpc>
                <a:spcPct val="80000"/>
              </a:lnSpc>
              <a:buFont typeface="Arial" panose="020B0604020202020204" pitchFamily="34" charset="0"/>
              <a:buChar char="•"/>
            </a:pPr>
            <a:r>
              <a:rPr lang="en-US" altLang="zh-CN" sz="2800" dirty="0"/>
              <a:t>Solid-state Storage Devices were developed in 1978 by Storage Tek Company. </a:t>
            </a:r>
          </a:p>
          <a:p>
            <a:pPr marL="457200" indent="-457200" algn="just">
              <a:lnSpc>
                <a:spcPct val="80000"/>
              </a:lnSpc>
              <a:buFont typeface="Arial" panose="020B0604020202020204" pitchFamily="34" charset="0"/>
              <a:buChar char="•"/>
            </a:pPr>
            <a:endParaRPr lang="en-US" altLang="zh-CN" sz="2800" dirty="0"/>
          </a:p>
          <a:p>
            <a:pPr marL="457200" indent="-457200" algn="just">
              <a:lnSpc>
                <a:spcPct val="80000"/>
              </a:lnSpc>
              <a:buFont typeface="Arial" panose="020B0604020202020204" pitchFamily="34" charset="0"/>
              <a:buChar char="•"/>
            </a:pPr>
            <a:r>
              <a:rPr lang="en-US" altLang="zh-CN" sz="2800" dirty="0">
                <a:solidFill>
                  <a:srgbClr val="FF0000"/>
                </a:solidFill>
              </a:rPr>
              <a:t>Do not use magnetic and optical medium</a:t>
            </a:r>
            <a:r>
              <a:rPr lang="en-US" altLang="zh-CN" sz="2800" dirty="0"/>
              <a:t> to store data. </a:t>
            </a:r>
            <a:r>
              <a:rPr lang="en-US" altLang="zh-CN" sz="2800" dirty="0">
                <a:solidFill>
                  <a:srgbClr val="00B0F0"/>
                </a:solidFill>
              </a:rPr>
              <a:t>Instead</a:t>
            </a:r>
            <a:r>
              <a:rPr lang="en-US" altLang="zh-CN" sz="2800" dirty="0"/>
              <a:t>, </a:t>
            </a:r>
            <a:r>
              <a:rPr lang="en-US" altLang="zh-CN" sz="2800" dirty="0">
                <a:solidFill>
                  <a:schemeClr val="accent2"/>
                </a:solidFill>
              </a:rPr>
              <a:t>use the semiconductor devices.</a:t>
            </a:r>
          </a:p>
          <a:p>
            <a:pPr marL="457200" indent="-457200" algn="just">
              <a:lnSpc>
                <a:spcPct val="80000"/>
              </a:lnSpc>
              <a:buFont typeface="Arial" panose="020B0604020202020204" pitchFamily="34" charset="0"/>
              <a:buChar char="•"/>
            </a:pPr>
            <a:endParaRPr lang="en-US" altLang="zh-CN" sz="2800" dirty="0"/>
          </a:p>
          <a:p>
            <a:pPr marL="457200" indent="-457200" algn="just">
              <a:lnSpc>
                <a:spcPct val="80000"/>
              </a:lnSpc>
              <a:buFont typeface="Arial" panose="020B0604020202020204" pitchFamily="34" charset="0"/>
              <a:buChar char="•"/>
            </a:pPr>
            <a:r>
              <a:rPr lang="en-US" altLang="zh-CN" sz="2800" dirty="0"/>
              <a:t>Contains all the properties of hard disk drives to store the data and use solid-state memory, which has no moving parts. </a:t>
            </a:r>
          </a:p>
          <a:p>
            <a:pPr algn="just">
              <a:lnSpc>
                <a:spcPct val="80000"/>
              </a:lnSpc>
            </a:pPr>
            <a:endParaRPr lang="en-US" altLang="zh-CN" sz="2800" dirty="0"/>
          </a:p>
          <a:p>
            <a:pPr marL="457200" indent="-457200" algn="just">
              <a:lnSpc>
                <a:spcPct val="80000"/>
              </a:lnSpc>
              <a:buFont typeface="Arial" panose="020B0604020202020204" pitchFamily="34" charset="0"/>
              <a:buChar char="•"/>
            </a:pPr>
            <a:r>
              <a:rPr lang="en-US" altLang="zh-CN" sz="2800" dirty="0"/>
              <a:t>The examples of </a:t>
            </a:r>
            <a:r>
              <a:rPr lang="en-US" altLang="zh-CN" sz="2800" dirty="0">
                <a:solidFill>
                  <a:schemeClr val="accent2"/>
                </a:solidFill>
              </a:rPr>
              <a:t>SSD are flash memory cards and Universal Serial Bus (USB) </a:t>
            </a:r>
            <a:r>
              <a:rPr lang="en-US" altLang="zh-CN" sz="2800" dirty="0"/>
              <a:t>devices.</a:t>
            </a:r>
          </a:p>
          <a:p>
            <a:endParaRPr lang="en-US" dirty="0"/>
          </a:p>
        </p:txBody>
      </p:sp>
    </p:spTree>
    <p:extLst>
      <p:ext uri="{BB962C8B-B14F-4D97-AF65-F5344CB8AC3E}">
        <p14:creationId xmlns:p14="http://schemas.microsoft.com/office/powerpoint/2010/main" val="1368583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
            <a:ext cx="6500497" cy="707886"/>
          </a:xfrm>
          <a:prstGeom prst="rect">
            <a:avLst/>
          </a:prstGeom>
          <a:noFill/>
        </p:spPr>
        <p:txBody>
          <a:bodyPr wrap="none" rtlCol="0">
            <a:spAutoFit/>
          </a:bodyPr>
          <a:lstStyle/>
          <a:p>
            <a:r>
              <a:rPr lang="en-US" altLang="zh-CN" sz="4000" dirty="0">
                <a:solidFill>
                  <a:schemeClr val="tx2"/>
                </a:solidFill>
              </a:rPr>
              <a:t>Storage Evaluation Criteria:</a:t>
            </a:r>
            <a:endParaRPr lang="en-US" sz="4000" dirty="0">
              <a:solidFill>
                <a:schemeClr val="tx2"/>
              </a:solidFill>
            </a:endParaRPr>
          </a:p>
        </p:txBody>
      </p:sp>
      <p:sp>
        <p:nvSpPr>
          <p:cNvPr id="4" name="TextBox 3"/>
          <p:cNvSpPr txBox="1"/>
          <p:nvPr/>
        </p:nvSpPr>
        <p:spPr>
          <a:xfrm>
            <a:off x="304800" y="1066800"/>
            <a:ext cx="8458200" cy="5133713"/>
          </a:xfrm>
          <a:prstGeom prst="rect">
            <a:avLst/>
          </a:prstGeom>
          <a:noFill/>
        </p:spPr>
        <p:txBody>
          <a:bodyPr wrap="square" rtlCol="0">
            <a:spAutoFit/>
          </a:bodyPr>
          <a:lstStyle/>
          <a:p>
            <a:pPr marL="457200" indent="-457200" algn="just">
              <a:lnSpc>
                <a:spcPct val="90000"/>
              </a:lnSpc>
              <a:buFont typeface="Arial" panose="020B0604020202020204" pitchFamily="34" charset="0"/>
              <a:buChar char="•"/>
            </a:pPr>
            <a:r>
              <a:rPr lang="en-US" altLang="zh-CN" sz="2600" b="1" dirty="0"/>
              <a:t>Access Mode</a:t>
            </a:r>
            <a:r>
              <a:rPr lang="en-US" altLang="zh-CN" sz="2600" dirty="0"/>
              <a:t>: random access mode, sequential access mode, direct access mode.</a:t>
            </a:r>
          </a:p>
          <a:p>
            <a:pPr marL="457200" indent="-457200" algn="just">
              <a:lnSpc>
                <a:spcPct val="90000"/>
              </a:lnSpc>
              <a:buFont typeface="Arial" panose="020B0604020202020204" pitchFamily="34" charset="0"/>
              <a:buChar char="•"/>
            </a:pPr>
            <a:endParaRPr lang="en-US" altLang="zh-CN" sz="2600" dirty="0"/>
          </a:p>
          <a:p>
            <a:pPr marL="457200" indent="-457200" algn="just">
              <a:lnSpc>
                <a:spcPct val="90000"/>
              </a:lnSpc>
              <a:buFont typeface="Arial" panose="020B0604020202020204" pitchFamily="34" charset="0"/>
              <a:buChar char="•"/>
            </a:pPr>
            <a:r>
              <a:rPr lang="en-US" altLang="zh-CN" sz="2600" b="1" dirty="0"/>
              <a:t>Access Time</a:t>
            </a:r>
            <a:r>
              <a:rPr lang="en-US" altLang="zh-CN" sz="2600" dirty="0"/>
              <a:t>: the time taken by the processor in completing the requests made by the user for performing the read and write operations.</a:t>
            </a:r>
          </a:p>
          <a:p>
            <a:pPr marL="457200" indent="-457200" algn="just">
              <a:lnSpc>
                <a:spcPct val="90000"/>
              </a:lnSpc>
              <a:buFont typeface="Arial" panose="020B0604020202020204" pitchFamily="34" charset="0"/>
              <a:buChar char="•"/>
            </a:pPr>
            <a:endParaRPr lang="en-US" altLang="zh-CN" sz="2600" dirty="0"/>
          </a:p>
          <a:p>
            <a:pPr marL="457200" indent="-457200" algn="just">
              <a:lnSpc>
                <a:spcPct val="90000"/>
              </a:lnSpc>
              <a:buFont typeface="Arial" panose="020B0604020202020204" pitchFamily="34" charset="0"/>
              <a:buChar char="•"/>
            </a:pPr>
            <a:r>
              <a:rPr lang="en-US" altLang="zh-CN" sz="2600" b="1" dirty="0"/>
              <a:t>Storage Capacity</a:t>
            </a:r>
            <a:r>
              <a:rPr lang="en-US" altLang="zh-CN" sz="2600" dirty="0"/>
              <a:t>: the size of the memory available for storing the data, and measured in terms of bytes.</a:t>
            </a:r>
          </a:p>
          <a:p>
            <a:pPr marL="457200" indent="-457200" algn="just">
              <a:lnSpc>
                <a:spcPct val="90000"/>
              </a:lnSpc>
              <a:buFont typeface="Arial" panose="020B0604020202020204" pitchFamily="34" charset="0"/>
              <a:buChar char="•"/>
            </a:pPr>
            <a:endParaRPr lang="en-US" altLang="zh-CN" sz="2600" dirty="0"/>
          </a:p>
          <a:p>
            <a:pPr marL="457200" indent="-457200" algn="just">
              <a:lnSpc>
                <a:spcPct val="90000"/>
              </a:lnSpc>
              <a:buFont typeface="Arial" panose="020B0604020202020204" pitchFamily="34" charset="0"/>
              <a:buChar char="•"/>
            </a:pPr>
            <a:r>
              <a:rPr lang="en-US" altLang="zh-CN" sz="2600" b="1" dirty="0"/>
              <a:t>Storage Type</a:t>
            </a:r>
            <a:r>
              <a:rPr lang="en-US" altLang="zh-CN" sz="2600" dirty="0"/>
              <a:t>: Temporary and permanent memory.</a:t>
            </a:r>
          </a:p>
          <a:p>
            <a:pPr marL="457200" indent="-457200" algn="just">
              <a:lnSpc>
                <a:spcPct val="90000"/>
              </a:lnSpc>
              <a:buFont typeface="Arial" panose="020B0604020202020204" pitchFamily="34" charset="0"/>
              <a:buChar char="•"/>
            </a:pPr>
            <a:endParaRPr lang="en-US" altLang="zh-CN" sz="2600" dirty="0"/>
          </a:p>
          <a:p>
            <a:pPr marL="457200" indent="-457200" algn="just">
              <a:lnSpc>
                <a:spcPct val="90000"/>
              </a:lnSpc>
              <a:buFont typeface="Arial" panose="020B0604020202020204" pitchFamily="34" charset="0"/>
              <a:buChar char="•"/>
            </a:pPr>
            <a:r>
              <a:rPr lang="en-US" altLang="zh-CN" sz="2600" b="1" dirty="0"/>
              <a:t>Cost</a:t>
            </a:r>
            <a:r>
              <a:rPr lang="en-US" altLang="zh-CN" sz="2600" dirty="0"/>
              <a:t>: the cost of the storage device used in the computer system for holding the data.</a:t>
            </a:r>
            <a:endParaRPr lang="en-US" sz="2600" dirty="0"/>
          </a:p>
        </p:txBody>
      </p:sp>
    </p:spTree>
    <p:extLst>
      <p:ext uri="{BB962C8B-B14F-4D97-AF65-F5344CB8AC3E}">
        <p14:creationId xmlns:p14="http://schemas.microsoft.com/office/powerpoint/2010/main" val="219344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228600" y="381000"/>
            <a:ext cx="8686800" cy="838200"/>
          </a:xfrm>
          <a:prstGeom prst="rect">
            <a:avLst/>
          </a:prstGeom>
          <a:noFill/>
          <a:ln w="9525">
            <a:noFill/>
            <a:miter lim="800000"/>
            <a:headEnd/>
            <a:tailEnd/>
          </a:ln>
          <a:effectLst/>
        </p:spPr>
        <p:txBody>
          <a:bodyPr lIns="92075" tIns="46038" rIns="92075" bIns="46038" anchor="ctr"/>
          <a:lstStyle/>
          <a:p>
            <a:r>
              <a:rPr lang="en-US" sz="3200" b="1" dirty="0">
                <a:solidFill>
                  <a:schemeClr val="accent1"/>
                </a:solidFill>
              </a:rPr>
              <a:t>Factors that Affect Drive Performance:</a:t>
            </a:r>
          </a:p>
        </p:txBody>
      </p:sp>
      <p:sp>
        <p:nvSpPr>
          <p:cNvPr id="10243" name="Rectangle 3"/>
          <p:cNvSpPr>
            <a:spLocks noChangeArrowheads="1"/>
          </p:cNvSpPr>
          <p:nvPr/>
        </p:nvSpPr>
        <p:spPr bwMode="auto">
          <a:xfrm>
            <a:off x="762000" y="1447800"/>
            <a:ext cx="7772400" cy="2209800"/>
          </a:xfrm>
          <a:prstGeom prst="rect">
            <a:avLst/>
          </a:prstGeom>
          <a:noFill/>
          <a:ln w="9525">
            <a:noFill/>
            <a:miter lim="800000"/>
            <a:headEnd/>
            <a:tailEnd/>
          </a:ln>
          <a:effectLst/>
        </p:spPr>
        <p:txBody>
          <a:bodyPr lIns="92075" tIns="46038" rIns="92075" bIns="46038"/>
          <a:lstStyle/>
          <a:p>
            <a:pPr marL="342900" indent="-342900">
              <a:lnSpc>
                <a:spcPct val="120000"/>
              </a:lnSpc>
              <a:spcBef>
                <a:spcPct val="20000"/>
              </a:spcBef>
              <a:buFontTx/>
              <a:buChar char="•"/>
            </a:pPr>
            <a:r>
              <a:rPr lang="en-US" sz="4400" dirty="0"/>
              <a:t>Average Access Time</a:t>
            </a:r>
          </a:p>
          <a:p>
            <a:pPr marL="342900" indent="-342900">
              <a:lnSpc>
                <a:spcPct val="120000"/>
              </a:lnSpc>
              <a:spcBef>
                <a:spcPct val="20000"/>
              </a:spcBef>
              <a:buFontTx/>
              <a:buChar char="•"/>
            </a:pPr>
            <a:r>
              <a:rPr lang="en-US" sz="4400" dirty="0"/>
              <a:t>Data-transfer Rate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1000" y="1257372"/>
            <a:ext cx="8458200" cy="5048178"/>
          </a:xfrm>
          <a:prstGeom prst="rect">
            <a:avLst/>
          </a:prstGeom>
          <a:noFill/>
          <a:ln w="9525">
            <a:noFill/>
            <a:miter lim="800000"/>
            <a:headEnd/>
            <a:tailEnd/>
          </a:ln>
          <a:effectLst/>
        </p:spPr>
        <p:txBody>
          <a:bodyPr wrap="square" lIns="92075" tIns="46038" rIns="92075" bIns="46038">
            <a:spAutoFit/>
          </a:bodyPr>
          <a:lstStyle/>
          <a:p>
            <a:pPr algn="just">
              <a:spcBef>
                <a:spcPct val="50000"/>
              </a:spcBef>
            </a:pPr>
            <a:r>
              <a:rPr lang="en-US" sz="2800" b="1" dirty="0"/>
              <a:t>Average Access Time </a:t>
            </a:r>
            <a:endParaRPr lang="en-US" sz="4400" dirty="0"/>
          </a:p>
          <a:p>
            <a:pPr algn="just">
              <a:spcBef>
                <a:spcPct val="50000"/>
              </a:spcBef>
            </a:pPr>
            <a:r>
              <a:rPr lang="en-US" sz="2800" dirty="0"/>
              <a:t>The average time it takes a read/write head to move from one place on the recording medium to any other place on the medium.</a:t>
            </a:r>
          </a:p>
          <a:p>
            <a:pPr algn="just">
              <a:spcBef>
                <a:spcPct val="50000"/>
              </a:spcBef>
            </a:pPr>
            <a:endParaRPr lang="en-US" sz="2800" dirty="0"/>
          </a:p>
          <a:p>
            <a:pPr algn="just">
              <a:spcBef>
                <a:spcPct val="50000"/>
              </a:spcBef>
            </a:pPr>
            <a:r>
              <a:rPr lang="en-US" sz="2800" b="1" dirty="0"/>
              <a:t>Data-transfer Rate</a:t>
            </a:r>
          </a:p>
          <a:p>
            <a:pPr algn="just">
              <a:spcBef>
                <a:spcPct val="50000"/>
              </a:spcBef>
            </a:pPr>
            <a:r>
              <a:rPr lang="en-US" sz="2800" dirty="0"/>
              <a:t>A measure of how long it takes the device to read or write a given amount of data.</a:t>
            </a:r>
          </a:p>
          <a:p>
            <a:pPr algn="just">
              <a:spcBef>
                <a:spcPct val="50000"/>
              </a:spcBef>
            </a:pPr>
            <a:endParaRPr lang="en-US" sz="2800" dirty="0"/>
          </a:p>
        </p:txBody>
      </p:sp>
      <p:sp>
        <p:nvSpPr>
          <p:cNvPr id="2" name="TextBox 1"/>
          <p:cNvSpPr txBox="1"/>
          <p:nvPr/>
        </p:nvSpPr>
        <p:spPr>
          <a:xfrm>
            <a:off x="228600" y="533400"/>
            <a:ext cx="8686799" cy="769441"/>
          </a:xfrm>
          <a:prstGeom prst="rect">
            <a:avLst/>
          </a:prstGeom>
          <a:noFill/>
        </p:spPr>
        <p:txBody>
          <a:bodyPr wrap="square" rtlCol="0">
            <a:spAutoFit/>
          </a:bodyPr>
          <a:lstStyle/>
          <a:p>
            <a:r>
              <a:rPr lang="en-US" sz="2800" b="1" dirty="0">
                <a:solidFill>
                  <a:schemeClr val="accent1"/>
                </a:solidFill>
              </a:rPr>
              <a:t>Factors that Affect Drive Performance:(Cont.)</a:t>
            </a:r>
          </a:p>
          <a:p>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srcRect l="64844" t="24159" r="7031" b="58614"/>
          <a:stretch>
            <a:fillRect/>
          </a:stretch>
        </p:blipFill>
        <p:spPr bwMode="auto">
          <a:xfrm>
            <a:off x="1828800" y="2209800"/>
            <a:ext cx="5715000" cy="2540000"/>
          </a:xfrm>
          <a:prstGeom prst="rect">
            <a:avLst/>
          </a:prstGeom>
          <a:noFill/>
          <a:ln w="12700">
            <a:noFill/>
            <a:miter lim="800000"/>
            <a:headEnd type="none" w="sm" len="sm"/>
            <a:tailEnd type="none" w="sm" len="sm"/>
          </a:ln>
          <a:effectLst/>
        </p:spPr>
      </p:pic>
      <p:sp>
        <p:nvSpPr>
          <p:cNvPr id="26627" name="AutoShape 3"/>
          <p:cNvSpPr>
            <a:spLocks noChangeArrowheads="1"/>
          </p:cNvSpPr>
          <p:nvPr/>
        </p:nvSpPr>
        <p:spPr bwMode="auto">
          <a:xfrm>
            <a:off x="2590800" y="1295400"/>
            <a:ext cx="4191000" cy="1295400"/>
          </a:xfrm>
          <a:prstGeom prst="curvedDownArrow">
            <a:avLst>
              <a:gd name="adj1" fmla="val 64706"/>
              <a:gd name="adj2" fmla="val 129412"/>
              <a:gd name="adj3" fmla="val 33333"/>
            </a:avLst>
          </a:prstGeom>
          <a:solidFill>
            <a:srgbClr val="CC0066"/>
          </a:solidFill>
          <a:ln w="12700">
            <a:solidFill>
              <a:schemeClr val="tx1"/>
            </a:solidFill>
            <a:miter lim="800000"/>
            <a:headEnd type="none" w="sm" len="sm"/>
            <a:tailEnd type="none" w="sm" len="sm"/>
          </a:ln>
          <a:effectLst/>
        </p:spPr>
        <p:txBody>
          <a:bodyPr wrap="none" anchor="ctr"/>
          <a:lstStyle/>
          <a:p>
            <a:endParaRPr lang="en-US"/>
          </a:p>
        </p:txBody>
      </p:sp>
      <p:sp>
        <p:nvSpPr>
          <p:cNvPr id="26628" name="AutoShape 4"/>
          <p:cNvSpPr>
            <a:spLocks noChangeArrowheads="1"/>
          </p:cNvSpPr>
          <p:nvPr/>
        </p:nvSpPr>
        <p:spPr bwMode="auto">
          <a:xfrm>
            <a:off x="2590800" y="1295400"/>
            <a:ext cx="4191000" cy="1295400"/>
          </a:xfrm>
          <a:prstGeom prst="curvedDownArrow">
            <a:avLst>
              <a:gd name="adj1" fmla="val 64706"/>
              <a:gd name="adj2" fmla="val 129412"/>
              <a:gd name="adj3" fmla="val 33333"/>
            </a:avLst>
          </a:prstGeom>
          <a:solidFill>
            <a:srgbClr val="CC0066"/>
          </a:solidFill>
          <a:ln w="12700">
            <a:solidFill>
              <a:schemeClr val="tx1"/>
            </a:solidFill>
            <a:miter lim="800000"/>
            <a:headEnd type="none" w="sm" len="sm"/>
            <a:tailEnd type="none" w="sm" len="sm"/>
          </a:ln>
          <a:effectLst/>
        </p:spPr>
        <p:txBody>
          <a:bodyPr wrap="none" anchor="ctr"/>
          <a:lstStyle/>
          <a:p>
            <a:endParaRPr lang="en-US"/>
          </a:p>
        </p:txBody>
      </p:sp>
      <p:sp>
        <p:nvSpPr>
          <p:cNvPr id="26629" name="AutoShape 5"/>
          <p:cNvSpPr>
            <a:spLocks noChangeArrowheads="1"/>
          </p:cNvSpPr>
          <p:nvPr/>
        </p:nvSpPr>
        <p:spPr bwMode="auto">
          <a:xfrm>
            <a:off x="2590800" y="1295400"/>
            <a:ext cx="4191000" cy="1295400"/>
          </a:xfrm>
          <a:prstGeom prst="curvedDownArrow">
            <a:avLst>
              <a:gd name="adj1" fmla="val 64706"/>
              <a:gd name="adj2" fmla="val 129412"/>
              <a:gd name="adj3" fmla="val 33333"/>
            </a:avLst>
          </a:prstGeom>
          <a:solidFill>
            <a:srgbClr val="CC0066"/>
          </a:solidFill>
          <a:ln w="12700">
            <a:solidFill>
              <a:schemeClr val="tx1"/>
            </a:solidFill>
            <a:miter lim="800000"/>
            <a:headEnd type="none" w="sm" len="sm"/>
            <a:tailEnd type="none" w="sm" len="sm"/>
          </a:ln>
          <a:effectLst/>
        </p:spPr>
        <p:txBody>
          <a:bodyPr wrap="none" anchor="ctr"/>
          <a:lstStyle/>
          <a:p>
            <a:endParaRPr lang="en-US"/>
          </a:p>
        </p:txBody>
      </p:sp>
      <p:sp>
        <p:nvSpPr>
          <p:cNvPr id="26630" name="AutoShape 6"/>
          <p:cNvSpPr>
            <a:spLocks noChangeArrowheads="1"/>
          </p:cNvSpPr>
          <p:nvPr/>
        </p:nvSpPr>
        <p:spPr bwMode="auto">
          <a:xfrm>
            <a:off x="2590800" y="1295400"/>
            <a:ext cx="4191000" cy="1295400"/>
          </a:xfrm>
          <a:prstGeom prst="curvedDownArrow">
            <a:avLst>
              <a:gd name="adj1" fmla="val 64706"/>
              <a:gd name="adj2" fmla="val 129412"/>
              <a:gd name="adj3" fmla="val 33333"/>
            </a:avLst>
          </a:prstGeom>
          <a:solidFill>
            <a:srgbClr val="CC0066"/>
          </a:solidFill>
          <a:ln w="12700">
            <a:solidFill>
              <a:schemeClr val="tx1"/>
            </a:solidFill>
            <a:miter lim="800000"/>
            <a:headEnd type="none" w="sm" len="sm"/>
            <a:tailEnd type="none" w="sm" len="sm"/>
          </a:ln>
          <a:effectLst/>
        </p:spPr>
        <p:txBody>
          <a:bodyPr wrap="none" anchor="ctr"/>
          <a:lstStyle/>
          <a:p>
            <a:endParaRPr lang="en-US"/>
          </a:p>
        </p:txBody>
      </p:sp>
      <p:sp>
        <p:nvSpPr>
          <p:cNvPr id="26631" name="AutoShape 7"/>
          <p:cNvSpPr>
            <a:spLocks noChangeArrowheads="1"/>
          </p:cNvSpPr>
          <p:nvPr/>
        </p:nvSpPr>
        <p:spPr bwMode="auto">
          <a:xfrm>
            <a:off x="2590800" y="1295400"/>
            <a:ext cx="4191000" cy="1295400"/>
          </a:xfrm>
          <a:prstGeom prst="curvedDownArrow">
            <a:avLst>
              <a:gd name="adj1" fmla="val 64706"/>
              <a:gd name="adj2" fmla="val 129412"/>
              <a:gd name="adj3" fmla="val 33333"/>
            </a:avLst>
          </a:prstGeom>
          <a:solidFill>
            <a:srgbClr val="CC0066"/>
          </a:solidFill>
          <a:ln w="12700">
            <a:solidFill>
              <a:schemeClr val="tx1"/>
            </a:solidFill>
            <a:miter lim="800000"/>
            <a:headEnd type="none" w="sm" len="sm"/>
            <a:tailEnd type="none" w="sm" len="sm"/>
          </a:ln>
          <a:effectLst/>
        </p:spPr>
        <p:txBody>
          <a:bodyPr wrap="none" anchor="ctr"/>
          <a:lstStyle/>
          <a:p>
            <a:endParaRPr lang="en-US"/>
          </a:p>
        </p:txBody>
      </p:sp>
      <p:sp>
        <p:nvSpPr>
          <p:cNvPr id="26632" name="AutoShape 8"/>
          <p:cNvSpPr>
            <a:spLocks noChangeArrowheads="1"/>
          </p:cNvSpPr>
          <p:nvPr/>
        </p:nvSpPr>
        <p:spPr bwMode="auto">
          <a:xfrm>
            <a:off x="2590800" y="1295400"/>
            <a:ext cx="4191000" cy="1295400"/>
          </a:xfrm>
          <a:prstGeom prst="curvedDownArrow">
            <a:avLst>
              <a:gd name="adj1" fmla="val 64706"/>
              <a:gd name="adj2" fmla="val 129412"/>
              <a:gd name="adj3" fmla="val 33333"/>
            </a:avLst>
          </a:prstGeom>
          <a:solidFill>
            <a:srgbClr val="CC0066"/>
          </a:solidFill>
          <a:ln w="12700">
            <a:solidFill>
              <a:schemeClr val="tx1"/>
            </a:solidFill>
            <a:miter lim="800000"/>
            <a:headEnd type="none" w="sm" len="sm"/>
            <a:tailEnd type="none" w="sm" len="sm"/>
          </a:ln>
          <a:effectLst/>
        </p:spPr>
        <p:txBody>
          <a:bodyPr wrap="none" anchor="ctr"/>
          <a:lstStyle/>
          <a:p>
            <a:endParaRPr lang="en-US"/>
          </a:p>
        </p:txBody>
      </p:sp>
      <p:sp>
        <p:nvSpPr>
          <p:cNvPr id="26633" name="AutoShape 9"/>
          <p:cNvSpPr>
            <a:spLocks noChangeArrowheads="1"/>
          </p:cNvSpPr>
          <p:nvPr/>
        </p:nvSpPr>
        <p:spPr bwMode="auto">
          <a:xfrm>
            <a:off x="2590800" y="1295400"/>
            <a:ext cx="4191000" cy="1295400"/>
          </a:xfrm>
          <a:prstGeom prst="curvedDownArrow">
            <a:avLst>
              <a:gd name="adj1" fmla="val 64706"/>
              <a:gd name="adj2" fmla="val 129412"/>
              <a:gd name="adj3" fmla="val 33333"/>
            </a:avLst>
          </a:prstGeom>
          <a:solidFill>
            <a:srgbClr val="CC0066"/>
          </a:solidFill>
          <a:ln w="12700">
            <a:solidFill>
              <a:schemeClr val="tx1"/>
            </a:solidFill>
            <a:miter lim="800000"/>
            <a:headEnd type="none" w="sm" len="sm"/>
            <a:tailEnd type="none" w="sm" len="sm"/>
          </a:ln>
          <a:effectLst/>
        </p:spPr>
        <p:txBody>
          <a:bodyPr wrap="none" anchor="ctr"/>
          <a:lstStyle/>
          <a:p>
            <a:endParaRPr lang="en-US"/>
          </a:p>
        </p:txBody>
      </p:sp>
      <p:sp>
        <p:nvSpPr>
          <p:cNvPr id="26634" name="Text Box 10"/>
          <p:cNvSpPr txBox="1">
            <a:spLocks noChangeArrowheads="1"/>
          </p:cNvSpPr>
          <p:nvPr/>
        </p:nvSpPr>
        <p:spPr bwMode="auto">
          <a:xfrm>
            <a:off x="1951038" y="3987800"/>
            <a:ext cx="1630362" cy="457200"/>
          </a:xfrm>
          <a:prstGeom prst="rect">
            <a:avLst/>
          </a:prstGeom>
          <a:noFill/>
          <a:ln w="12700">
            <a:noFill/>
            <a:miter lim="800000"/>
            <a:headEnd type="none" w="sm" len="sm"/>
            <a:tailEnd type="none" w="sm" len="sm"/>
          </a:ln>
          <a:effectLst/>
        </p:spPr>
        <p:txBody>
          <a:bodyPr wrap="none">
            <a:spAutoFit/>
          </a:bodyPr>
          <a:lstStyle/>
          <a:p>
            <a:r>
              <a:rPr lang="en-US" b="1">
                <a:solidFill>
                  <a:schemeClr val="accent2"/>
                </a:solidFill>
              </a:rPr>
              <a:t>Hard drive</a:t>
            </a:r>
          </a:p>
        </p:txBody>
      </p:sp>
      <p:sp>
        <p:nvSpPr>
          <p:cNvPr id="26635" name="Text Box 11"/>
          <p:cNvSpPr txBox="1">
            <a:spLocks noChangeArrowheads="1"/>
          </p:cNvSpPr>
          <p:nvPr/>
        </p:nvSpPr>
        <p:spPr bwMode="auto">
          <a:xfrm>
            <a:off x="6934200" y="3886200"/>
            <a:ext cx="912813" cy="457200"/>
          </a:xfrm>
          <a:prstGeom prst="rect">
            <a:avLst/>
          </a:prstGeom>
          <a:noFill/>
          <a:ln w="12700">
            <a:noFill/>
            <a:miter lim="800000"/>
            <a:headEnd type="none" w="sm" len="sm"/>
            <a:tailEnd type="none" w="sm" len="sm"/>
          </a:ln>
          <a:effectLst/>
        </p:spPr>
        <p:txBody>
          <a:bodyPr wrap="none">
            <a:spAutoFit/>
          </a:bodyPr>
          <a:lstStyle/>
          <a:p>
            <a:r>
              <a:rPr lang="en-US" b="1">
                <a:solidFill>
                  <a:schemeClr val="accent2"/>
                </a:solidFill>
              </a:rPr>
              <a:t>RAM</a:t>
            </a:r>
          </a:p>
        </p:txBody>
      </p:sp>
      <p:sp>
        <p:nvSpPr>
          <p:cNvPr id="26636" name="Text Box 12"/>
          <p:cNvSpPr txBox="1">
            <a:spLocks noChangeArrowheads="1"/>
          </p:cNvSpPr>
          <p:nvPr/>
        </p:nvSpPr>
        <p:spPr bwMode="auto">
          <a:xfrm>
            <a:off x="746125" y="1641475"/>
            <a:ext cx="877888" cy="457200"/>
          </a:xfrm>
          <a:prstGeom prst="rect">
            <a:avLst/>
          </a:prstGeom>
          <a:noFill/>
          <a:ln w="12700">
            <a:noFill/>
            <a:miter lim="800000"/>
            <a:headEnd type="none" w="sm" len="sm"/>
            <a:tailEnd type="none" w="sm" len="sm"/>
          </a:ln>
          <a:effectLst/>
        </p:spPr>
        <p:txBody>
          <a:bodyPr wrap="none">
            <a:spAutoFit/>
          </a:bodyPr>
          <a:lstStyle/>
          <a:p>
            <a:r>
              <a:rPr lang="en-US" b="1">
                <a:solidFill>
                  <a:schemeClr val="accent2"/>
                </a:solidFill>
              </a:rPr>
              <a:t>Head</a:t>
            </a:r>
          </a:p>
        </p:txBody>
      </p:sp>
      <p:sp>
        <p:nvSpPr>
          <p:cNvPr id="26637" name="Line 13"/>
          <p:cNvSpPr>
            <a:spLocks noChangeShapeType="1"/>
          </p:cNvSpPr>
          <p:nvPr/>
        </p:nvSpPr>
        <p:spPr bwMode="auto">
          <a:xfrm>
            <a:off x="1600200" y="1981200"/>
            <a:ext cx="1066800" cy="1143000"/>
          </a:xfrm>
          <a:prstGeom prst="line">
            <a:avLst/>
          </a:prstGeom>
          <a:noFill/>
          <a:ln w="28575">
            <a:solidFill>
              <a:schemeClr val="accent2"/>
            </a:solidFill>
            <a:round/>
            <a:headEnd type="none" w="sm" len="sm"/>
            <a:tailEnd type="triangle" w="sm" len="sm"/>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1" presetClass="entr" presetSubtype="0" fill="hold" grpId="0" nodeType="afterEffect">
                                  <p:stCondLst>
                                    <p:cond delay="0"/>
                                  </p:stCondLst>
                                  <p:childTnLst>
                                    <p:set>
                                      <p:cBhvr>
                                        <p:cTn id="6" dur="1000">
                                          <p:stCondLst>
                                            <p:cond delay="0"/>
                                          </p:stCondLst>
                                        </p:cTn>
                                        <p:tgtEl>
                                          <p:spTgt spid="26627"/>
                                        </p:tgtEl>
                                        <p:attrNameLst>
                                          <p:attrName>style.visibility</p:attrName>
                                        </p:attrNameLst>
                                      </p:cBhvr>
                                      <p:to>
                                        <p:strVal val="visible"/>
                                      </p:to>
                                    </p:set>
                                  </p:childTnLst>
                                </p:cTn>
                              </p:par>
                            </p:childTnLst>
                          </p:cTn>
                        </p:par>
                        <p:par>
                          <p:cTn id="7" fill="hold">
                            <p:stCondLst>
                              <p:cond delay="1000"/>
                            </p:stCondLst>
                            <p:childTnLst>
                              <p:par>
                                <p:cTn id="8" presetID="11" presetClass="entr" presetSubtype="0" fill="hold" grpId="0" nodeType="afterEffect">
                                  <p:stCondLst>
                                    <p:cond delay="0"/>
                                  </p:stCondLst>
                                  <p:childTnLst>
                                    <p:set>
                                      <p:cBhvr>
                                        <p:cTn id="9" dur="1000">
                                          <p:stCondLst>
                                            <p:cond delay="0"/>
                                          </p:stCondLst>
                                        </p:cTn>
                                        <p:tgtEl>
                                          <p:spTgt spid="26628"/>
                                        </p:tgtEl>
                                        <p:attrNameLst>
                                          <p:attrName>style.visibility</p:attrName>
                                        </p:attrNameLst>
                                      </p:cBhvr>
                                      <p:to>
                                        <p:strVal val="visible"/>
                                      </p:to>
                                    </p:set>
                                  </p:childTnLst>
                                </p:cTn>
                              </p:par>
                            </p:childTnLst>
                          </p:cTn>
                        </p:par>
                        <p:par>
                          <p:cTn id="10" fill="hold">
                            <p:stCondLst>
                              <p:cond delay="2000"/>
                            </p:stCondLst>
                            <p:childTnLst>
                              <p:par>
                                <p:cTn id="11" presetID="11" presetClass="entr" presetSubtype="0" fill="hold" grpId="0" nodeType="afterEffect">
                                  <p:stCondLst>
                                    <p:cond delay="0"/>
                                  </p:stCondLst>
                                  <p:childTnLst>
                                    <p:set>
                                      <p:cBhvr>
                                        <p:cTn id="12" dur="1000">
                                          <p:stCondLst>
                                            <p:cond delay="0"/>
                                          </p:stCondLst>
                                        </p:cTn>
                                        <p:tgtEl>
                                          <p:spTgt spid="26629"/>
                                        </p:tgtEl>
                                        <p:attrNameLst>
                                          <p:attrName>style.visibility</p:attrName>
                                        </p:attrNameLst>
                                      </p:cBhvr>
                                      <p:to>
                                        <p:strVal val="visible"/>
                                      </p:to>
                                    </p:set>
                                  </p:childTnLst>
                                </p:cTn>
                              </p:par>
                            </p:childTnLst>
                          </p:cTn>
                        </p:par>
                        <p:par>
                          <p:cTn id="13" fill="hold">
                            <p:stCondLst>
                              <p:cond delay="3000"/>
                            </p:stCondLst>
                            <p:childTnLst>
                              <p:par>
                                <p:cTn id="14" presetID="11" presetClass="entr" presetSubtype="0" fill="hold" grpId="0" nodeType="afterEffect">
                                  <p:stCondLst>
                                    <p:cond delay="0"/>
                                  </p:stCondLst>
                                  <p:childTnLst>
                                    <p:set>
                                      <p:cBhvr>
                                        <p:cTn id="15" dur="1000">
                                          <p:stCondLst>
                                            <p:cond delay="0"/>
                                          </p:stCondLst>
                                        </p:cTn>
                                        <p:tgtEl>
                                          <p:spTgt spid="26630"/>
                                        </p:tgtEl>
                                        <p:attrNameLst>
                                          <p:attrName>style.visibility</p:attrName>
                                        </p:attrNameLst>
                                      </p:cBhvr>
                                      <p:to>
                                        <p:strVal val="visible"/>
                                      </p:to>
                                    </p:set>
                                  </p:childTnLst>
                                </p:cTn>
                              </p:par>
                            </p:childTnLst>
                          </p:cTn>
                        </p:par>
                        <p:par>
                          <p:cTn id="16" fill="hold">
                            <p:stCondLst>
                              <p:cond delay="4000"/>
                            </p:stCondLst>
                            <p:childTnLst>
                              <p:par>
                                <p:cTn id="17" presetID="11" presetClass="entr" presetSubtype="0" fill="hold" grpId="0" nodeType="afterEffect">
                                  <p:stCondLst>
                                    <p:cond delay="0"/>
                                  </p:stCondLst>
                                  <p:childTnLst>
                                    <p:set>
                                      <p:cBhvr>
                                        <p:cTn id="18" dur="1000">
                                          <p:stCondLst>
                                            <p:cond delay="0"/>
                                          </p:stCondLst>
                                        </p:cTn>
                                        <p:tgtEl>
                                          <p:spTgt spid="26631"/>
                                        </p:tgtEl>
                                        <p:attrNameLst>
                                          <p:attrName>style.visibility</p:attrName>
                                        </p:attrNameLst>
                                      </p:cBhvr>
                                      <p:to>
                                        <p:strVal val="visible"/>
                                      </p:to>
                                    </p:set>
                                  </p:childTnLst>
                                </p:cTn>
                              </p:par>
                            </p:childTnLst>
                          </p:cTn>
                        </p:par>
                        <p:par>
                          <p:cTn id="19" fill="hold">
                            <p:stCondLst>
                              <p:cond delay="5000"/>
                            </p:stCondLst>
                            <p:childTnLst>
                              <p:par>
                                <p:cTn id="20" presetID="11" presetClass="entr" presetSubtype="0" fill="hold" grpId="0" nodeType="afterEffect">
                                  <p:stCondLst>
                                    <p:cond delay="0"/>
                                  </p:stCondLst>
                                  <p:childTnLst>
                                    <p:set>
                                      <p:cBhvr>
                                        <p:cTn id="21" dur="1000">
                                          <p:stCondLst>
                                            <p:cond delay="0"/>
                                          </p:stCondLst>
                                        </p:cTn>
                                        <p:tgtEl>
                                          <p:spTgt spid="26632"/>
                                        </p:tgtEl>
                                        <p:attrNameLst>
                                          <p:attrName>style.visibility</p:attrName>
                                        </p:attrNameLst>
                                      </p:cBhvr>
                                      <p:to>
                                        <p:strVal val="visible"/>
                                      </p:to>
                                    </p:set>
                                  </p:childTnLst>
                                </p:cTn>
                              </p:par>
                            </p:childTnLst>
                          </p:cTn>
                        </p:par>
                        <p:par>
                          <p:cTn id="22" fill="hold">
                            <p:stCondLst>
                              <p:cond delay="6000"/>
                            </p:stCondLst>
                            <p:childTnLst>
                              <p:par>
                                <p:cTn id="23" presetID="9" presetClass="entr" presetSubtype="0" fill="hold" grpId="0" nodeType="afterEffect">
                                  <p:stCondLst>
                                    <p:cond delay="0"/>
                                  </p:stCondLst>
                                  <p:childTnLst>
                                    <p:set>
                                      <p:cBhvr>
                                        <p:cTn id="24" dur="1" fill="hold">
                                          <p:stCondLst>
                                            <p:cond delay="0"/>
                                          </p:stCondLst>
                                        </p:cTn>
                                        <p:tgtEl>
                                          <p:spTgt spid="26633"/>
                                        </p:tgtEl>
                                        <p:attrNameLst>
                                          <p:attrName>style.visibility</p:attrName>
                                        </p:attrNameLst>
                                      </p:cBhvr>
                                      <p:to>
                                        <p:strVal val="visible"/>
                                      </p:to>
                                    </p:set>
                                    <p:animEffect transition="in" filter="dissolve">
                                      <p:cBhvr>
                                        <p:cTn id="25" dur="500"/>
                                        <p:tgtEl>
                                          <p:spTgt spid="266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nimBg="1"/>
      <p:bldP spid="26628" grpId="0" animBg="1"/>
      <p:bldP spid="26629" grpId="0" animBg="1"/>
      <p:bldP spid="26630" grpId="0" animBg="1"/>
      <p:bldP spid="26631" grpId="0" animBg="1"/>
      <p:bldP spid="26632" grpId="0" animBg="1"/>
      <p:bldP spid="2663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762000" y="228600"/>
            <a:ext cx="7620000" cy="1601080"/>
          </a:xfrm>
          <a:prstGeom prst="rect">
            <a:avLst/>
          </a:prstGeom>
          <a:noFill/>
          <a:ln w="9525">
            <a:noFill/>
            <a:miter lim="800000"/>
            <a:headEnd/>
            <a:tailEnd/>
          </a:ln>
          <a:effectLst/>
        </p:spPr>
        <p:txBody>
          <a:bodyPr wrap="square" lIns="92075" tIns="46038" rIns="92075" bIns="46038">
            <a:spAutoFit/>
          </a:bodyPr>
          <a:lstStyle/>
          <a:p>
            <a:pPr>
              <a:spcBef>
                <a:spcPct val="50000"/>
              </a:spcBef>
            </a:pPr>
            <a:r>
              <a:rPr lang="en-US" sz="2800" b="1" dirty="0"/>
              <a:t>Formatting </a:t>
            </a:r>
            <a:r>
              <a:rPr lang="en-US" sz="2800" dirty="0"/>
              <a:t>  </a:t>
            </a:r>
          </a:p>
          <a:p>
            <a:pPr>
              <a:spcBef>
                <a:spcPct val="50000"/>
              </a:spcBef>
            </a:pPr>
            <a:r>
              <a:rPr lang="en-US" sz="2800" dirty="0"/>
              <a:t>The process of mapping a diskette by dividing it into Tracks and Sectors.</a:t>
            </a:r>
          </a:p>
        </p:txBody>
      </p:sp>
      <p:sp>
        <p:nvSpPr>
          <p:cNvPr id="2" name="TextBox 1"/>
          <p:cNvSpPr txBox="1"/>
          <p:nvPr/>
        </p:nvSpPr>
        <p:spPr>
          <a:xfrm>
            <a:off x="762000" y="1828800"/>
            <a:ext cx="7430239" cy="1600438"/>
          </a:xfrm>
          <a:prstGeom prst="rect">
            <a:avLst/>
          </a:prstGeom>
          <a:noFill/>
        </p:spPr>
        <p:txBody>
          <a:bodyPr wrap="none" rtlCol="0">
            <a:spAutoFit/>
          </a:bodyPr>
          <a:lstStyle/>
          <a:p>
            <a:pPr>
              <a:spcBef>
                <a:spcPct val="50000"/>
              </a:spcBef>
            </a:pPr>
            <a:r>
              <a:rPr lang="en-US" sz="2800" b="1" u="sng" dirty="0"/>
              <a:t>Tracks</a:t>
            </a:r>
            <a:r>
              <a:rPr lang="en-US" sz="2800" b="1" dirty="0"/>
              <a:t> </a:t>
            </a:r>
            <a:r>
              <a:rPr lang="en-US" sz="2800" dirty="0"/>
              <a:t>-  A set of magnetic concentric circles.</a:t>
            </a:r>
          </a:p>
          <a:p>
            <a:pPr>
              <a:spcBef>
                <a:spcPct val="50000"/>
              </a:spcBef>
            </a:pPr>
            <a:r>
              <a:rPr lang="en-US" sz="2800" b="1" u="sng" dirty="0"/>
              <a:t>Sector</a:t>
            </a:r>
            <a:r>
              <a:rPr lang="en-US" sz="2800" dirty="0"/>
              <a:t> – A pie-like slice of disk.</a:t>
            </a:r>
          </a:p>
          <a:p>
            <a:endParaRPr lang="en-US" sz="2800" dirty="0"/>
          </a:p>
        </p:txBody>
      </p:sp>
      <p:pic>
        <p:nvPicPr>
          <p:cNvPr id="4" name="Picture 2">
            <a:extLst>
              <a:ext uri="{FF2B5EF4-FFF2-40B4-BE49-F238E27FC236}">
                <a16:creationId xmlns:a16="http://schemas.microsoft.com/office/drawing/2014/main" id="{4C2F3282-AC38-4573-BC96-23B4CFF35805}"/>
              </a:ext>
            </a:extLst>
          </p:cNvPr>
          <p:cNvPicPr>
            <a:picLocks noChangeAspect="1" noChangeArrowheads="1"/>
          </p:cNvPicPr>
          <p:nvPr/>
        </p:nvPicPr>
        <p:blipFill>
          <a:blip r:embed="rId2"/>
          <a:srcRect l="36719" t="23082" r="21875" b="50000"/>
          <a:stretch>
            <a:fillRect/>
          </a:stretch>
        </p:blipFill>
        <p:spPr bwMode="auto">
          <a:xfrm>
            <a:off x="1295400" y="3581400"/>
            <a:ext cx="6400800" cy="2514600"/>
          </a:xfrm>
          <a:prstGeom prst="rect">
            <a:avLst/>
          </a:prstGeom>
          <a:noFill/>
          <a:ln w="12700">
            <a:noFill/>
            <a:miter lim="800000"/>
            <a:headEnd type="none" w="sm" len="sm"/>
            <a:tailEnd type="none" w="sm" len="sm"/>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381000" y="228600"/>
            <a:ext cx="7772400" cy="1143000"/>
          </a:xfrm>
          <a:prstGeom prst="rect">
            <a:avLst/>
          </a:prstGeom>
          <a:noFill/>
          <a:ln w="9525">
            <a:noFill/>
            <a:miter lim="800000"/>
            <a:headEnd/>
            <a:tailEnd/>
          </a:ln>
          <a:effectLst/>
        </p:spPr>
        <p:txBody>
          <a:bodyPr lIns="92075" tIns="46038" rIns="92075" bIns="46038" anchor="ctr"/>
          <a:lstStyle/>
          <a:p>
            <a:r>
              <a:rPr lang="en-US" sz="4000" b="1" dirty="0">
                <a:solidFill>
                  <a:schemeClr val="tx2"/>
                </a:solidFill>
              </a:rPr>
              <a:t>Four Areas of a Disk:</a:t>
            </a:r>
          </a:p>
        </p:txBody>
      </p:sp>
      <p:sp>
        <p:nvSpPr>
          <p:cNvPr id="15363" name="Rectangle 3"/>
          <p:cNvSpPr>
            <a:spLocks noChangeArrowheads="1"/>
          </p:cNvSpPr>
          <p:nvPr/>
        </p:nvSpPr>
        <p:spPr bwMode="auto">
          <a:xfrm>
            <a:off x="762000" y="1143000"/>
            <a:ext cx="7543800" cy="3352800"/>
          </a:xfrm>
          <a:prstGeom prst="rect">
            <a:avLst/>
          </a:prstGeom>
          <a:noFill/>
          <a:ln w="9525">
            <a:noFill/>
            <a:miter lim="800000"/>
            <a:headEnd/>
            <a:tailEnd/>
          </a:ln>
          <a:effectLst/>
        </p:spPr>
        <p:txBody>
          <a:bodyPr lIns="92075" tIns="46038" rIns="92075" bIns="46038"/>
          <a:lstStyle/>
          <a:p>
            <a:pPr marL="342900" indent="-342900">
              <a:lnSpc>
                <a:spcPct val="120000"/>
              </a:lnSpc>
              <a:spcBef>
                <a:spcPct val="20000"/>
              </a:spcBef>
              <a:buFontTx/>
              <a:buChar char="•"/>
            </a:pPr>
            <a:r>
              <a:rPr lang="en-US" sz="2800" dirty="0"/>
              <a:t>The boot record</a:t>
            </a:r>
          </a:p>
          <a:p>
            <a:pPr marL="342900" indent="-342900">
              <a:lnSpc>
                <a:spcPct val="120000"/>
              </a:lnSpc>
              <a:spcBef>
                <a:spcPct val="20000"/>
              </a:spcBef>
              <a:buFontTx/>
              <a:buChar char="•"/>
            </a:pPr>
            <a:r>
              <a:rPr lang="en-US" sz="2800" dirty="0"/>
              <a:t>The file-allocation table (FAT)</a:t>
            </a:r>
          </a:p>
          <a:p>
            <a:pPr marL="342900" indent="-342900">
              <a:lnSpc>
                <a:spcPct val="120000"/>
              </a:lnSpc>
              <a:spcBef>
                <a:spcPct val="20000"/>
              </a:spcBef>
              <a:buFontTx/>
              <a:buChar char="•"/>
            </a:pPr>
            <a:r>
              <a:rPr lang="en-US" sz="2800" dirty="0"/>
              <a:t>The root folder or directory</a:t>
            </a:r>
          </a:p>
          <a:p>
            <a:pPr marL="342900" indent="-342900">
              <a:lnSpc>
                <a:spcPct val="120000"/>
              </a:lnSpc>
              <a:spcBef>
                <a:spcPct val="20000"/>
              </a:spcBef>
              <a:buFontTx/>
              <a:buChar char="•"/>
            </a:pPr>
            <a:r>
              <a:rPr lang="en-US" sz="2800" dirty="0"/>
              <a:t>The data area</a:t>
            </a:r>
          </a:p>
        </p:txBody>
      </p:sp>
      <p:pic>
        <p:nvPicPr>
          <p:cNvPr id="4" name="Picture 2">
            <a:extLst>
              <a:ext uri="{FF2B5EF4-FFF2-40B4-BE49-F238E27FC236}">
                <a16:creationId xmlns:a16="http://schemas.microsoft.com/office/drawing/2014/main" id="{8941F9A7-3270-43CD-82E1-31A329848815}"/>
              </a:ext>
            </a:extLst>
          </p:cNvPr>
          <p:cNvPicPr>
            <a:picLocks noChangeAspect="1" noChangeArrowheads="1"/>
          </p:cNvPicPr>
          <p:nvPr/>
        </p:nvPicPr>
        <p:blipFill>
          <a:blip r:embed="rId2"/>
          <a:srcRect l="66406" t="22006" r="3125" b="48923"/>
          <a:stretch>
            <a:fillRect/>
          </a:stretch>
        </p:blipFill>
        <p:spPr bwMode="auto">
          <a:xfrm>
            <a:off x="1752600" y="3390900"/>
            <a:ext cx="5638800" cy="3009900"/>
          </a:xfrm>
          <a:prstGeom prst="rect">
            <a:avLst/>
          </a:prstGeom>
          <a:noFill/>
          <a:ln w="12700">
            <a:noFill/>
            <a:miter lim="800000"/>
            <a:headEnd type="none" w="sm" len="sm"/>
            <a:tailEnd type="none" w="sm" len="sm"/>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81000" y="2971800"/>
            <a:ext cx="8534400" cy="758952"/>
          </a:xfrm>
          <a:prstGeom prst="rect">
            <a:avLst/>
          </a:prstGeom>
          <a:noFill/>
          <a:ln/>
        </p:spPr>
        <p:txBody>
          <a:bodyP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dirty="0">
                <a:ln>
                  <a:noFill/>
                </a:ln>
                <a:effectLst/>
                <a:uLnTx/>
                <a:uFillTx/>
                <a:latin typeface="+mj-lt"/>
                <a:ea typeface="+mj-ea"/>
                <a:cs typeface="+mj-cs"/>
              </a:rPr>
              <a:t>Input Devices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a:ln/>
        </p:spPr>
        <p:txBody>
          <a:bodyPr>
            <a:normAutofit fontScale="90000"/>
          </a:bodyPr>
          <a:lstStyle/>
          <a:p>
            <a:r>
              <a:rPr lang="en-US" sz="5400" b="1" dirty="0">
                <a:solidFill>
                  <a:schemeClr val="tx2"/>
                </a:solidFill>
              </a:rPr>
              <a:t>Input Devices:</a:t>
            </a:r>
          </a:p>
        </p:txBody>
      </p:sp>
      <p:sp>
        <p:nvSpPr>
          <p:cNvPr id="5123" name="Rectangle 3"/>
          <p:cNvSpPr>
            <a:spLocks noGrp="1" noChangeArrowheads="1"/>
          </p:cNvSpPr>
          <p:nvPr>
            <p:ph type="body" sz="half" idx="1"/>
          </p:nvPr>
        </p:nvSpPr>
        <p:spPr>
          <a:noFill/>
          <a:ln/>
        </p:spPr>
        <p:txBody>
          <a:bodyPr/>
          <a:lstStyle/>
          <a:p>
            <a:pPr>
              <a:lnSpc>
                <a:spcPct val="120000"/>
              </a:lnSpc>
            </a:pPr>
            <a:r>
              <a:rPr lang="en-US" sz="3600" dirty="0"/>
              <a:t>Keyboard</a:t>
            </a:r>
          </a:p>
          <a:p>
            <a:pPr>
              <a:lnSpc>
                <a:spcPct val="120000"/>
              </a:lnSpc>
            </a:pPr>
            <a:r>
              <a:rPr lang="en-US" sz="3600" dirty="0"/>
              <a:t>Mouse</a:t>
            </a:r>
          </a:p>
          <a:p>
            <a:pPr>
              <a:lnSpc>
                <a:spcPct val="120000"/>
              </a:lnSpc>
            </a:pPr>
            <a:r>
              <a:rPr lang="en-US" sz="3600" dirty="0"/>
              <a:t>Trackball</a:t>
            </a:r>
          </a:p>
          <a:p>
            <a:pPr>
              <a:lnSpc>
                <a:spcPct val="120000"/>
              </a:lnSpc>
            </a:pPr>
            <a:r>
              <a:rPr lang="en-US" sz="3600" dirty="0" err="1"/>
              <a:t>Trackpad</a:t>
            </a:r>
            <a:endParaRPr lang="en-US" sz="3600" dirty="0"/>
          </a:p>
          <a:p>
            <a:pPr>
              <a:lnSpc>
                <a:spcPct val="120000"/>
              </a:lnSpc>
            </a:pPr>
            <a:r>
              <a:rPr lang="en-US" sz="3600" dirty="0"/>
              <a:t>Pen</a:t>
            </a:r>
          </a:p>
        </p:txBody>
      </p:sp>
      <p:sp>
        <p:nvSpPr>
          <p:cNvPr id="5124" name="Rectangle 4"/>
          <p:cNvSpPr>
            <a:spLocks noGrp="1" noChangeArrowheads="1"/>
          </p:cNvSpPr>
          <p:nvPr>
            <p:ph type="body" sz="half" idx="2"/>
          </p:nvPr>
        </p:nvSpPr>
        <p:spPr>
          <a:noFill/>
          <a:ln/>
        </p:spPr>
        <p:txBody>
          <a:bodyPr/>
          <a:lstStyle/>
          <a:p>
            <a:pPr>
              <a:lnSpc>
                <a:spcPct val="120000"/>
              </a:lnSpc>
            </a:pPr>
            <a:r>
              <a:rPr lang="en-US" sz="3600" dirty="0"/>
              <a:t>Touch Screen</a:t>
            </a:r>
          </a:p>
          <a:p>
            <a:pPr>
              <a:lnSpc>
                <a:spcPct val="120000"/>
              </a:lnSpc>
            </a:pPr>
            <a:r>
              <a:rPr lang="en-US" sz="3600" dirty="0"/>
              <a:t>Bar Code Reader</a:t>
            </a:r>
          </a:p>
          <a:p>
            <a:pPr>
              <a:lnSpc>
                <a:spcPct val="120000"/>
              </a:lnSpc>
            </a:pPr>
            <a:r>
              <a:rPr lang="en-US" sz="3600" dirty="0"/>
              <a:t>Image Scanner</a:t>
            </a:r>
          </a:p>
          <a:p>
            <a:pPr>
              <a:lnSpc>
                <a:spcPct val="120000"/>
              </a:lnSpc>
            </a:pPr>
            <a:r>
              <a:rPr lang="en-US" sz="3600" dirty="0"/>
              <a:t>Microphone</a:t>
            </a:r>
          </a:p>
          <a:p>
            <a:pPr>
              <a:lnSpc>
                <a:spcPct val="120000"/>
              </a:lnSpc>
            </a:pPr>
            <a:r>
              <a:rPr lang="en-US" sz="3600" dirty="0"/>
              <a:t>Video</a:t>
            </a:r>
          </a:p>
        </p:txBody>
      </p:sp>
      <p:sp>
        <p:nvSpPr>
          <p:cNvPr id="5125" name="Rectangle 5"/>
          <p:cNvSpPr>
            <a:spLocks noChangeArrowheads="1"/>
          </p:cNvSpPr>
          <p:nvPr/>
        </p:nvSpPr>
        <p:spPr bwMode="auto">
          <a:xfrm>
            <a:off x="500063" y="1852613"/>
            <a:ext cx="184150" cy="676275"/>
          </a:xfrm>
          <a:prstGeom prst="rect">
            <a:avLst/>
          </a:prstGeom>
          <a:noFill/>
          <a:ln w="12700">
            <a:noFill/>
            <a:miter lim="800000"/>
            <a:headEnd type="none" w="sm" len="sm"/>
            <a:tailEnd type="none" w="sm" len="sm"/>
          </a:ln>
          <a:effectLst/>
        </p:spPr>
        <p:txBody>
          <a:bodyPr wrap="none">
            <a:spAutoFit/>
          </a:bodyPr>
          <a:lstStyle/>
          <a:p>
            <a:pPr>
              <a:lnSpc>
                <a:spcPct val="120000"/>
              </a:lnSpc>
            </a:pPr>
            <a:endParaRPr lang="en-US" sz="3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fontScale="90000"/>
          </a:bodyPr>
          <a:lstStyle/>
          <a:p>
            <a:pPr algn="l"/>
            <a:r>
              <a:rPr lang="en-US" sz="5400" b="1" dirty="0">
                <a:solidFill>
                  <a:schemeClr val="tx2"/>
                </a:solidFill>
              </a:rPr>
              <a:t>Parts of a Keyboard:</a:t>
            </a:r>
          </a:p>
        </p:txBody>
      </p:sp>
      <p:sp>
        <p:nvSpPr>
          <p:cNvPr id="6147" name="Rectangle 3"/>
          <p:cNvSpPr>
            <a:spLocks noGrp="1" noChangeArrowheads="1"/>
          </p:cNvSpPr>
          <p:nvPr>
            <p:ph type="body" idx="1"/>
          </p:nvPr>
        </p:nvSpPr>
        <p:spPr>
          <a:noFill/>
          <a:ln/>
        </p:spPr>
        <p:txBody>
          <a:bodyPr>
            <a:normAutofit fontScale="92500" lnSpcReduction="10000"/>
          </a:bodyPr>
          <a:lstStyle/>
          <a:p>
            <a:pPr marL="0" indent="0">
              <a:buNone/>
            </a:pPr>
            <a:r>
              <a:rPr lang="en-US" altLang="zh-CN" sz="2800" dirty="0">
                <a:latin typeface="Times New Roman" panose="02020603050405020304" pitchFamily="18" charset="0"/>
                <a:cs typeface="Times New Roman" panose="02020603050405020304" pitchFamily="18" charset="0"/>
              </a:rPr>
              <a:t>Keyboard is the most commonly used input device. We can use a keyboard to type data and text and execute commands. A standard keyboard consists of the following groups of keys:</a:t>
            </a:r>
          </a:p>
          <a:p>
            <a:pPr marL="0" indent="0">
              <a:buNone/>
            </a:pPr>
            <a:endParaRPr lang="en-US" dirty="0"/>
          </a:p>
          <a:p>
            <a:r>
              <a:rPr lang="en-US" dirty="0"/>
              <a:t>Alphanumeric Keys</a:t>
            </a:r>
          </a:p>
          <a:p>
            <a:r>
              <a:rPr lang="en-US" dirty="0"/>
              <a:t>Modifier Keys</a:t>
            </a:r>
          </a:p>
          <a:p>
            <a:r>
              <a:rPr lang="en-US" dirty="0"/>
              <a:t>Numeric Keypad</a:t>
            </a:r>
          </a:p>
          <a:p>
            <a:r>
              <a:rPr lang="en-US" dirty="0"/>
              <a:t>Function Keys</a:t>
            </a:r>
          </a:p>
          <a:p>
            <a:r>
              <a:rPr lang="en-US" dirty="0"/>
              <a:t>Cursor-movement Keys</a:t>
            </a:r>
          </a:p>
          <a:p>
            <a:r>
              <a:rPr lang="en-US" dirty="0"/>
              <a:t>Escape Key</a:t>
            </a:r>
          </a:p>
          <a:p>
            <a:r>
              <a:rPr lang="en-US" dirty="0"/>
              <a:t>Special-purpose Keys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srcRect l="17188" t="14468" r="25000" b="45692"/>
          <a:stretch>
            <a:fillRect/>
          </a:stretch>
        </p:blipFill>
        <p:spPr bwMode="auto">
          <a:xfrm>
            <a:off x="381000" y="1143000"/>
            <a:ext cx="8382000" cy="41910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fontScale="90000"/>
          </a:bodyPr>
          <a:lstStyle/>
          <a:p>
            <a:pPr algn="l"/>
            <a:r>
              <a:rPr lang="en-US" sz="5400" b="1" dirty="0">
                <a:solidFill>
                  <a:schemeClr val="tx2"/>
                </a:solidFill>
              </a:rPr>
              <a:t>Parts of a Keyboard:</a:t>
            </a:r>
          </a:p>
        </p:txBody>
      </p:sp>
      <p:sp>
        <p:nvSpPr>
          <p:cNvPr id="6147" name="Rectangle 3"/>
          <p:cNvSpPr>
            <a:spLocks noGrp="1" noChangeArrowheads="1"/>
          </p:cNvSpPr>
          <p:nvPr>
            <p:ph type="body" idx="1"/>
          </p:nvPr>
        </p:nvSpPr>
        <p:spPr>
          <a:noFill/>
          <a:ln/>
        </p:spPr>
        <p:txBody>
          <a:bodyPr>
            <a:normAutofit/>
          </a:bodyPr>
          <a:lstStyle/>
          <a:p>
            <a:pPr marL="0" indent="0">
              <a:buNone/>
            </a:pPr>
            <a:r>
              <a:rPr lang="en-US" altLang="zh-CN" sz="2400" b="1" dirty="0">
                <a:latin typeface="Times New Roman" panose="02020603050405020304" pitchFamily="18" charset="0"/>
                <a:cs typeface="Times New Roman" panose="02020603050405020304" pitchFamily="18" charset="0"/>
              </a:rPr>
              <a:t>1)Alphanumeric keys</a:t>
            </a:r>
            <a:r>
              <a:rPr lang="en-US" altLang="zh-CN" sz="2400" dirty="0">
                <a:latin typeface="Times New Roman" panose="02020603050405020304" pitchFamily="18" charset="0"/>
                <a:cs typeface="Times New Roman" panose="02020603050405020304" pitchFamily="18" charset="0"/>
              </a:rPr>
              <a:t>: The alphanumeric keys </a:t>
            </a:r>
            <a:r>
              <a:rPr lang="en-US" altLang="zh-CN" sz="2400" dirty="0">
                <a:solidFill>
                  <a:schemeClr val="accent2"/>
                </a:solidFill>
                <a:latin typeface="Times New Roman" panose="02020603050405020304" pitchFamily="18" charset="0"/>
                <a:cs typeface="Times New Roman" panose="02020603050405020304" pitchFamily="18" charset="0"/>
              </a:rPr>
              <a:t>include the number keys and alphabet keys. </a:t>
            </a:r>
            <a:r>
              <a:rPr lang="en-US" altLang="zh-CN" sz="2400" dirty="0">
                <a:latin typeface="Times New Roman" panose="02020603050405020304" pitchFamily="18" charset="0"/>
                <a:cs typeface="Times New Roman" panose="02020603050405020304" pitchFamily="18" charset="0"/>
              </a:rPr>
              <a:t>These keys are arranged in the same style as in the normal typewriters, popularly known as QWERTY layout.</a:t>
            </a: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2) </a:t>
            </a:r>
            <a:r>
              <a:rPr lang="en-US" altLang="zh-CN" sz="2400" b="1" dirty="0">
                <a:latin typeface="Times New Roman" panose="02020603050405020304" pitchFamily="18" charset="0"/>
                <a:cs typeface="Times New Roman" panose="02020603050405020304" pitchFamily="18" charset="0"/>
              </a:rPr>
              <a:t>Function keys</a:t>
            </a:r>
            <a:r>
              <a:rPr lang="en-US" altLang="zh-CN" sz="2400" dirty="0">
                <a:latin typeface="Times New Roman" panose="02020603050405020304" pitchFamily="18" charset="0"/>
                <a:cs typeface="Times New Roman" panose="02020603050405020304" pitchFamily="18" charset="0"/>
              </a:rPr>
              <a:t>: Arranged in a row on the </a:t>
            </a:r>
            <a:r>
              <a:rPr lang="en-US" altLang="zh-CN" sz="2400" dirty="0">
                <a:solidFill>
                  <a:schemeClr val="accent2"/>
                </a:solidFill>
                <a:latin typeface="Times New Roman" panose="02020603050405020304" pitchFamily="18" charset="0"/>
                <a:cs typeface="Times New Roman" panose="02020603050405020304" pitchFamily="18" charset="0"/>
              </a:rPr>
              <a:t>top of the keyboard</a:t>
            </a:r>
            <a:r>
              <a:rPr lang="en-US" altLang="zh-CN" sz="2400" dirty="0">
                <a:latin typeface="Times New Roman" panose="02020603050405020304" pitchFamily="18" charset="0"/>
                <a:cs typeface="Times New Roman" panose="02020603050405020304" pitchFamily="18" charset="0"/>
              </a:rPr>
              <a:t>. Help perform specific tasks, such as searching a file or refreshing a web page.</a:t>
            </a:r>
          </a:p>
          <a:p>
            <a:pPr marL="0" indent="0">
              <a:buNone/>
            </a:pP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41342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fontScale="90000"/>
          </a:bodyPr>
          <a:lstStyle/>
          <a:p>
            <a:pPr algn="l"/>
            <a:r>
              <a:rPr lang="en-US" sz="5400" b="1" dirty="0">
                <a:solidFill>
                  <a:schemeClr val="tx2"/>
                </a:solidFill>
              </a:rPr>
              <a:t>Parts of a Keyboard:</a:t>
            </a:r>
          </a:p>
        </p:txBody>
      </p:sp>
      <p:sp>
        <p:nvSpPr>
          <p:cNvPr id="6147" name="Rectangle 3"/>
          <p:cNvSpPr>
            <a:spLocks noGrp="1" noChangeArrowheads="1"/>
          </p:cNvSpPr>
          <p:nvPr>
            <p:ph type="body" idx="1"/>
          </p:nvPr>
        </p:nvSpPr>
        <p:spPr>
          <a:noFill/>
          <a:ln/>
        </p:spPr>
        <p:txBody>
          <a:bodyPr>
            <a:normAutofit/>
          </a:bodyPr>
          <a:lstStyle/>
          <a:p>
            <a:pPr marL="0" indent="0">
              <a:buNone/>
            </a:pPr>
            <a:r>
              <a:rPr lang="en-US" altLang="zh-CN" sz="2400" dirty="0">
                <a:latin typeface="Times New Roman" panose="02020603050405020304" pitchFamily="18" charset="0"/>
                <a:cs typeface="Times New Roman" panose="02020603050405020304" pitchFamily="18" charset="0"/>
              </a:rPr>
              <a:t>(3) </a:t>
            </a:r>
            <a:r>
              <a:rPr lang="en-US" altLang="zh-CN" sz="2400" b="1" dirty="0">
                <a:latin typeface="Times New Roman" panose="02020603050405020304" pitchFamily="18" charset="0"/>
                <a:cs typeface="Times New Roman" panose="02020603050405020304" pitchFamily="18" charset="0"/>
              </a:rPr>
              <a:t>Central keys</a:t>
            </a:r>
            <a:r>
              <a:rPr lang="en-US" altLang="zh-CN" sz="2400" dirty="0">
                <a:latin typeface="Times New Roman" panose="02020603050405020304" pitchFamily="18" charset="0"/>
                <a:cs typeface="Times New Roman" panose="02020603050405020304" pitchFamily="18" charset="0"/>
              </a:rPr>
              <a:t>: Used for controlling the movement of cursor and screen display. </a:t>
            </a:r>
            <a:r>
              <a:rPr lang="en-US" altLang="zh-CN" sz="2400" dirty="0">
                <a:solidFill>
                  <a:schemeClr val="accent2"/>
                </a:solidFill>
                <a:latin typeface="Times New Roman" panose="02020603050405020304" pitchFamily="18" charset="0"/>
                <a:cs typeface="Times New Roman" panose="02020603050405020304" pitchFamily="18" charset="0"/>
              </a:rPr>
              <a:t>Include arrow keys, modifier keys such as SHIFT, ALT, CTRL.</a:t>
            </a:r>
          </a:p>
          <a:p>
            <a:pPr marL="0" indent="0">
              <a:buNone/>
            </a:pPr>
            <a:endParaRPr lang="en-US" altLang="zh-CN" sz="2400" dirty="0">
              <a:solidFill>
                <a:schemeClr val="accent2"/>
              </a:solidFill>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(4) </a:t>
            </a:r>
            <a:r>
              <a:rPr lang="en-US" altLang="zh-CN" sz="2400" b="1" dirty="0">
                <a:latin typeface="Times New Roman" panose="02020603050405020304" pitchFamily="18" charset="0"/>
                <a:cs typeface="Times New Roman" panose="02020603050405020304" pitchFamily="18" charset="0"/>
              </a:rPr>
              <a:t>Numeric keypad</a:t>
            </a:r>
            <a:r>
              <a:rPr lang="en-US" altLang="zh-CN" sz="2400" dirty="0">
                <a:latin typeface="Times New Roman" panose="02020603050405020304" pitchFamily="18" charset="0"/>
                <a:cs typeface="Times New Roman" panose="02020603050405020304" pitchFamily="18" charset="0"/>
              </a:rPr>
              <a:t>: Located on the right side of the keyboard. This looks like a calculator’s keypad.</a:t>
            </a:r>
          </a:p>
          <a:p>
            <a:pPr marL="0" indent="0">
              <a:buNone/>
            </a:pPr>
            <a:endParaRPr lang="en-US" altLang="zh-CN" sz="2400" dirty="0">
              <a:latin typeface="Times New Roman" panose="02020603050405020304" pitchFamily="18" charset="0"/>
              <a:cs typeface="Times New Roman" panose="02020603050405020304" pitchFamily="18" charset="0"/>
            </a:endParaRPr>
          </a:p>
          <a:p>
            <a:pPr marL="0" indent="0">
              <a:buNone/>
            </a:pPr>
            <a:r>
              <a:rPr lang="en-US" altLang="zh-CN" sz="2400" dirty="0">
                <a:latin typeface="Times New Roman" panose="02020603050405020304" pitchFamily="18" charset="0"/>
                <a:cs typeface="Times New Roman" panose="02020603050405020304" pitchFamily="18" charset="0"/>
              </a:rPr>
              <a:t>(5) </a:t>
            </a:r>
            <a:r>
              <a:rPr lang="en-US" altLang="zh-CN" sz="2400" b="1" dirty="0">
                <a:latin typeface="Times New Roman" panose="02020603050405020304" pitchFamily="18" charset="0"/>
                <a:cs typeface="Times New Roman" panose="02020603050405020304" pitchFamily="18" charset="0"/>
              </a:rPr>
              <a:t>Special purpose keys</a:t>
            </a:r>
            <a:r>
              <a:rPr lang="en-US" altLang="zh-CN" sz="2400" dirty="0">
                <a:latin typeface="Times New Roman" panose="02020603050405020304" pitchFamily="18" charset="0"/>
                <a:cs typeface="Times New Roman" panose="02020603050405020304" pitchFamily="18" charset="0"/>
              </a:rPr>
              <a:t>: Escape, Insert, Delete, Print Screen, Pause, Tab, Spacebar</a:t>
            </a:r>
            <a:r>
              <a:rPr lang="en-US" altLang="zh-CN" sz="1800" dirty="0">
                <a:latin typeface="Times New Roman" panose="02020603050405020304" pitchFamily="18" charset="0"/>
                <a:cs typeface="Times New Roman" panose="02020603050405020304" pitchFamily="18" charset="0"/>
              </a:rPr>
              <a:t>.</a:t>
            </a:r>
          </a:p>
          <a:p>
            <a:pPr marL="0" indent="0">
              <a:buNone/>
            </a:pP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0552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fontScale="90000"/>
          </a:bodyPr>
          <a:lstStyle/>
          <a:p>
            <a:pPr algn="l"/>
            <a:r>
              <a:rPr lang="en-US" altLang="zh-CN" sz="4800" dirty="0">
                <a:solidFill>
                  <a:schemeClr val="tx2"/>
                </a:solidFill>
              </a:rPr>
              <a:t>Pointing Devices</a:t>
            </a:r>
            <a:endParaRPr lang="en-US" sz="5400" b="1" dirty="0">
              <a:solidFill>
                <a:schemeClr val="tx2"/>
              </a:solidFill>
            </a:endParaRPr>
          </a:p>
        </p:txBody>
      </p:sp>
      <p:sp>
        <p:nvSpPr>
          <p:cNvPr id="6147" name="Rectangle 3"/>
          <p:cNvSpPr>
            <a:spLocks noGrp="1" noChangeArrowheads="1"/>
          </p:cNvSpPr>
          <p:nvPr>
            <p:ph type="body" idx="1"/>
          </p:nvPr>
        </p:nvSpPr>
        <p:spPr>
          <a:noFill/>
          <a:ln/>
        </p:spPr>
        <p:txBody>
          <a:bodyPr>
            <a:normAutofit/>
          </a:bodyPr>
          <a:lstStyle/>
          <a:p>
            <a:pPr marL="0" indent="0" algn="just">
              <a:lnSpc>
                <a:spcPct val="90000"/>
              </a:lnSpc>
              <a:buNone/>
            </a:pPr>
            <a:r>
              <a:rPr lang="en-US" altLang="zh-CN" sz="2400" dirty="0">
                <a:solidFill>
                  <a:schemeClr val="accent2"/>
                </a:solidFill>
              </a:rPr>
              <a:t>Pointing devices are the input devices that are generally used for moving the cursor to a particular location to point an object on the screen. </a:t>
            </a:r>
          </a:p>
          <a:p>
            <a:pPr marL="0" indent="0" algn="just">
              <a:lnSpc>
                <a:spcPct val="90000"/>
              </a:lnSpc>
              <a:buNone/>
            </a:pPr>
            <a:r>
              <a:rPr lang="en-US" altLang="zh-CN" sz="2400" dirty="0"/>
              <a:t>With the help of pointing devices, we can easily select the icons, menus, windows, etc. on the Graphical User Interface. </a:t>
            </a:r>
          </a:p>
          <a:p>
            <a:pPr marL="0" indent="0" algn="just">
              <a:lnSpc>
                <a:spcPct val="90000"/>
              </a:lnSpc>
              <a:buNone/>
            </a:pPr>
            <a:r>
              <a:rPr lang="en-US" altLang="zh-CN" sz="2400" dirty="0"/>
              <a:t>Some of the commonly used pointing devices are:</a:t>
            </a:r>
          </a:p>
          <a:p>
            <a:pPr marL="0" indent="0" algn="just">
              <a:lnSpc>
                <a:spcPct val="90000"/>
              </a:lnSpc>
              <a:buNone/>
            </a:pPr>
            <a:r>
              <a:rPr lang="en-US" altLang="zh-CN" sz="2400" dirty="0"/>
              <a:t>(1) Mouse</a:t>
            </a:r>
          </a:p>
          <a:p>
            <a:pPr marL="0" indent="0" algn="just">
              <a:lnSpc>
                <a:spcPct val="90000"/>
              </a:lnSpc>
              <a:buNone/>
            </a:pPr>
            <a:r>
              <a:rPr lang="en-US" altLang="zh-CN" sz="2400" dirty="0"/>
              <a:t>(2) Trackball</a:t>
            </a:r>
          </a:p>
          <a:p>
            <a:pPr marL="0" indent="0" algn="just">
              <a:lnSpc>
                <a:spcPct val="90000"/>
              </a:lnSpc>
              <a:buNone/>
            </a:pPr>
            <a:r>
              <a:rPr lang="en-US" altLang="zh-CN" sz="2400" dirty="0"/>
              <a:t>(3) Light pen</a:t>
            </a:r>
          </a:p>
          <a:p>
            <a:pPr marL="0" indent="0" algn="just">
              <a:lnSpc>
                <a:spcPct val="90000"/>
              </a:lnSpc>
              <a:buNone/>
            </a:pPr>
            <a:r>
              <a:rPr lang="en-US" altLang="zh-CN" sz="2400" dirty="0"/>
              <a:t>(4) Joystick</a:t>
            </a:r>
          </a:p>
          <a:p>
            <a:pPr marL="0" indent="0" algn="just">
              <a:lnSpc>
                <a:spcPct val="90000"/>
              </a:lnSpc>
              <a:buNone/>
            </a:pPr>
            <a:r>
              <a:rPr lang="en-US" altLang="zh-CN" sz="2400" dirty="0"/>
              <a:t>(5) Touchscreen</a:t>
            </a:r>
          </a:p>
          <a:p>
            <a:pPr marL="0" indent="0">
              <a:buNone/>
            </a:pPr>
            <a:endParaRPr lang="en-US" altLang="zh-C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960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fontScale="90000"/>
          </a:bodyPr>
          <a:lstStyle/>
          <a:p>
            <a:pPr algn="l"/>
            <a:r>
              <a:rPr lang="en-US" altLang="zh-CN" sz="4400" dirty="0">
                <a:solidFill>
                  <a:schemeClr val="tx2"/>
                </a:solidFill>
              </a:rPr>
              <a:t>Mouse</a:t>
            </a:r>
            <a:endParaRPr lang="en-US" sz="5400" b="1" dirty="0">
              <a:solidFill>
                <a:schemeClr val="tx2"/>
              </a:solidFill>
            </a:endParaRPr>
          </a:p>
        </p:txBody>
      </p:sp>
      <p:sp>
        <p:nvSpPr>
          <p:cNvPr id="6147" name="Rectangle 3"/>
          <p:cNvSpPr>
            <a:spLocks noGrp="1" noChangeArrowheads="1"/>
          </p:cNvSpPr>
          <p:nvPr>
            <p:ph type="body" idx="1"/>
          </p:nvPr>
        </p:nvSpPr>
        <p:spPr>
          <a:noFill/>
          <a:ln/>
        </p:spPr>
        <p:txBody>
          <a:bodyPr>
            <a:normAutofit/>
          </a:bodyPr>
          <a:lstStyle/>
          <a:p>
            <a:pPr marL="0" indent="0">
              <a:buNone/>
            </a:pPr>
            <a:r>
              <a:rPr lang="en-US" altLang="zh-CN" sz="2400" dirty="0"/>
              <a:t>A small hand-held pointing device that basically </a:t>
            </a:r>
            <a:r>
              <a:rPr lang="en-US" altLang="zh-CN" sz="2400" dirty="0">
                <a:solidFill>
                  <a:schemeClr val="accent2"/>
                </a:solidFill>
              </a:rPr>
              <a:t>controls the two-dimensional movement of the cursor</a:t>
            </a:r>
            <a:r>
              <a:rPr lang="en-US" altLang="zh-CN" sz="2400" dirty="0"/>
              <a:t> on the displayed screen. </a:t>
            </a:r>
          </a:p>
          <a:p>
            <a:pPr marL="0" indent="0">
              <a:buNone/>
            </a:pPr>
            <a:endParaRPr lang="en-US" altLang="zh-CN" sz="2400" dirty="0"/>
          </a:p>
          <a:p>
            <a:pPr marL="0" indent="0">
              <a:buNone/>
            </a:pPr>
            <a:r>
              <a:rPr lang="en-US" altLang="zh-CN" sz="2400" dirty="0"/>
              <a:t>The most commonly used types of mouse are:</a:t>
            </a:r>
          </a:p>
          <a:p>
            <a:pPr marL="0" indent="0">
              <a:buNone/>
            </a:pPr>
            <a:endParaRPr lang="en-US" altLang="zh-CN" sz="2400" dirty="0"/>
          </a:p>
          <a:p>
            <a:pPr marL="0" indent="0">
              <a:buNone/>
            </a:pPr>
            <a:r>
              <a:rPr lang="en-US" altLang="zh-CN" sz="2400" dirty="0"/>
              <a:t>(1) Mechanical mouse</a:t>
            </a:r>
          </a:p>
          <a:p>
            <a:pPr marL="0" indent="0">
              <a:buNone/>
            </a:pPr>
            <a:r>
              <a:rPr lang="en-US" altLang="zh-CN" sz="2400" dirty="0"/>
              <a:t>(2) Optical mouse</a:t>
            </a:r>
          </a:p>
          <a:p>
            <a:pPr marL="0" indent="0">
              <a:buNone/>
            </a:pPr>
            <a:r>
              <a:rPr lang="en-US" altLang="zh-C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930031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p:cNvPicPr>
            <a:picLocks noChangeAspect="1" noChangeArrowheads="1"/>
          </p:cNvPicPr>
          <p:nvPr/>
        </p:nvPicPr>
        <p:blipFill>
          <a:blip r:embed="rId2"/>
          <a:srcRect l="75781" t="30620" r="10938" b="52153"/>
          <a:stretch>
            <a:fillRect/>
          </a:stretch>
        </p:blipFill>
        <p:spPr bwMode="auto">
          <a:xfrm>
            <a:off x="762000" y="838200"/>
            <a:ext cx="2133600" cy="2008188"/>
          </a:xfrm>
          <a:prstGeom prst="rect">
            <a:avLst/>
          </a:prstGeom>
          <a:noFill/>
          <a:ln w="9525">
            <a:noFill/>
            <a:miter lim="800000"/>
            <a:headEnd/>
            <a:tailEnd/>
          </a:ln>
          <a:effectLst/>
        </p:spPr>
      </p:pic>
      <p:grpSp>
        <p:nvGrpSpPr>
          <p:cNvPr id="2" name="Group 14"/>
          <p:cNvGrpSpPr>
            <a:grpSpLocks/>
          </p:cNvGrpSpPr>
          <p:nvPr/>
        </p:nvGrpSpPr>
        <p:grpSpPr bwMode="auto">
          <a:xfrm>
            <a:off x="1752600" y="304800"/>
            <a:ext cx="1843088" cy="822325"/>
            <a:chOff x="1104" y="192"/>
            <a:chExt cx="1161" cy="518"/>
          </a:xfrm>
        </p:grpSpPr>
        <p:sp>
          <p:nvSpPr>
            <p:cNvPr id="18438" name="Text Box 6"/>
            <p:cNvSpPr txBox="1">
              <a:spLocks noChangeArrowheads="1"/>
            </p:cNvSpPr>
            <p:nvPr/>
          </p:nvSpPr>
          <p:spPr bwMode="auto">
            <a:xfrm>
              <a:off x="1690" y="192"/>
              <a:ext cx="575" cy="518"/>
            </a:xfrm>
            <a:prstGeom prst="rect">
              <a:avLst/>
            </a:prstGeom>
            <a:noFill/>
            <a:ln w="12700">
              <a:noFill/>
              <a:miter lim="800000"/>
              <a:headEnd type="none" w="sm" len="sm"/>
              <a:tailEnd type="none" w="sm" len="sm"/>
            </a:ln>
            <a:effectLst/>
          </p:spPr>
          <p:txBody>
            <a:bodyPr wrap="none">
              <a:spAutoFit/>
            </a:bodyPr>
            <a:lstStyle/>
            <a:p>
              <a:pPr algn="ctr"/>
              <a:r>
                <a:rPr lang="en-US" b="1" dirty="0">
                  <a:solidFill>
                    <a:schemeClr val="accent2"/>
                  </a:solidFill>
                </a:rPr>
                <a:t>Right</a:t>
              </a:r>
            </a:p>
            <a:p>
              <a:pPr algn="ctr"/>
              <a:r>
                <a:rPr lang="en-US" b="1" dirty="0">
                  <a:solidFill>
                    <a:schemeClr val="accent2"/>
                  </a:solidFill>
                </a:rPr>
                <a:t>click</a:t>
              </a:r>
            </a:p>
          </p:txBody>
        </p:sp>
        <p:sp>
          <p:nvSpPr>
            <p:cNvPr id="18440" name="Line 8"/>
            <p:cNvSpPr>
              <a:spLocks noChangeShapeType="1"/>
            </p:cNvSpPr>
            <p:nvPr/>
          </p:nvSpPr>
          <p:spPr bwMode="auto">
            <a:xfrm flipH="1">
              <a:off x="1104" y="432"/>
              <a:ext cx="576" cy="240"/>
            </a:xfrm>
            <a:prstGeom prst="line">
              <a:avLst/>
            </a:prstGeom>
            <a:noFill/>
            <a:ln w="38100">
              <a:solidFill>
                <a:schemeClr val="accent2"/>
              </a:solidFill>
              <a:round/>
              <a:headEnd type="none" w="sm" len="sm"/>
              <a:tailEnd type="triangle" w="sm" len="sm"/>
            </a:ln>
            <a:effectLst/>
          </p:spPr>
          <p:txBody>
            <a:bodyPr wrap="none" anchor="ctr"/>
            <a:lstStyle/>
            <a:p>
              <a:endParaRPr lang="en-US"/>
            </a:p>
          </p:txBody>
        </p:sp>
      </p:grpSp>
      <p:sp>
        <p:nvSpPr>
          <p:cNvPr id="18441" name="Text Box 9"/>
          <p:cNvSpPr txBox="1">
            <a:spLocks noChangeArrowheads="1"/>
          </p:cNvSpPr>
          <p:nvPr/>
        </p:nvSpPr>
        <p:spPr bwMode="auto">
          <a:xfrm>
            <a:off x="4479925" y="371475"/>
            <a:ext cx="4219425" cy="954107"/>
          </a:xfrm>
          <a:prstGeom prst="rect">
            <a:avLst/>
          </a:prstGeom>
          <a:noFill/>
          <a:ln w="12700">
            <a:noFill/>
            <a:miter lim="800000"/>
            <a:headEnd type="none" w="sm" len="sm"/>
            <a:tailEnd type="none" w="sm" len="sm"/>
          </a:ln>
          <a:effectLst/>
        </p:spPr>
        <p:txBody>
          <a:bodyPr wrap="none">
            <a:spAutoFit/>
          </a:bodyPr>
          <a:lstStyle/>
          <a:p>
            <a:r>
              <a:rPr lang="en-US" sz="2800" b="1" dirty="0">
                <a:solidFill>
                  <a:srgbClr val="C00000"/>
                </a:solidFill>
              </a:rPr>
              <a:t>The mouse is a fairly</a:t>
            </a:r>
          </a:p>
          <a:p>
            <a:r>
              <a:rPr lang="en-US" sz="2800" b="1" dirty="0">
                <a:solidFill>
                  <a:srgbClr val="C00000"/>
                </a:solidFill>
              </a:rPr>
              <a:t>intuitive input device.</a:t>
            </a:r>
          </a:p>
        </p:txBody>
      </p:sp>
      <p:grpSp>
        <p:nvGrpSpPr>
          <p:cNvPr id="3" name="Group 15"/>
          <p:cNvGrpSpPr>
            <a:grpSpLocks/>
          </p:cNvGrpSpPr>
          <p:nvPr/>
        </p:nvGrpSpPr>
        <p:grpSpPr bwMode="auto">
          <a:xfrm>
            <a:off x="3382963" y="1676400"/>
            <a:ext cx="5138737" cy="3657600"/>
            <a:chOff x="2131" y="1056"/>
            <a:chExt cx="3237" cy="2304"/>
          </a:xfrm>
        </p:grpSpPr>
        <p:pic>
          <p:nvPicPr>
            <p:cNvPr id="18434" name="Picture 2"/>
            <p:cNvPicPr>
              <a:picLocks noChangeAspect="1" noChangeArrowheads="1"/>
            </p:cNvPicPr>
            <p:nvPr/>
          </p:nvPicPr>
          <p:blipFill>
            <a:blip r:embed="rId3"/>
            <a:srcRect l="41406" t="29543" r="45313" b="41386"/>
            <a:stretch>
              <a:fillRect/>
            </a:stretch>
          </p:blipFill>
          <p:spPr bwMode="auto">
            <a:xfrm>
              <a:off x="2256" y="1680"/>
              <a:ext cx="1058" cy="1680"/>
            </a:xfrm>
            <a:prstGeom prst="rect">
              <a:avLst/>
            </a:prstGeom>
            <a:noFill/>
            <a:ln w="9525">
              <a:noFill/>
              <a:miter lim="800000"/>
              <a:headEnd/>
              <a:tailEnd/>
            </a:ln>
            <a:effectLst/>
          </p:spPr>
        </p:pic>
        <p:sp>
          <p:nvSpPr>
            <p:cNvPr id="18442" name="Text Box 10"/>
            <p:cNvSpPr txBox="1">
              <a:spLocks noChangeArrowheads="1"/>
            </p:cNvSpPr>
            <p:nvPr/>
          </p:nvSpPr>
          <p:spPr bwMode="auto">
            <a:xfrm>
              <a:off x="2131" y="1056"/>
              <a:ext cx="3237" cy="596"/>
            </a:xfrm>
            <a:prstGeom prst="rect">
              <a:avLst/>
            </a:prstGeom>
            <a:noFill/>
            <a:ln w="12700">
              <a:noFill/>
              <a:miter lim="800000"/>
              <a:headEnd type="none" w="sm" len="sm"/>
              <a:tailEnd type="none" w="sm" len="sm"/>
            </a:ln>
            <a:effectLst/>
          </p:spPr>
          <p:txBody>
            <a:bodyPr wrap="none">
              <a:spAutoFit/>
            </a:bodyPr>
            <a:lstStyle/>
            <a:p>
              <a:pPr algn="ctr"/>
              <a:r>
                <a:rPr lang="en-US" sz="2800" b="1"/>
                <a:t>When it gets sluggish, turn it</a:t>
              </a:r>
            </a:p>
            <a:p>
              <a:pPr algn="ctr"/>
              <a:r>
                <a:rPr lang="en-US" sz="2800" b="1"/>
                <a:t>over and remove the cover plate.</a:t>
              </a:r>
            </a:p>
          </p:txBody>
        </p:sp>
      </p:grpSp>
      <p:grpSp>
        <p:nvGrpSpPr>
          <p:cNvPr id="4" name="Group 16"/>
          <p:cNvGrpSpPr>
            <a:grpSpLocks/>
          </p:cNvGrpSpPr>
          <p:nvPr/>
        </p:nvGrpSpPr>
        <p:grpSpPr bwMode="auto">
          <a:xfrm>
            <a:off x="1531938" y="3962400"/>
            <a:ext cx="6985000" cy="2590800"/>
            <a:chOff x="965" y="2496"/>
            <a:chExt cx="4400" cy="1632"/>
          </a:xfrm>
        </p:grpSpPr>
        <p:pic>
          <p:nvPicPr>
            <p:cNvPr id="18435" name="Picture 3"/>
            <p:cNvPicPr>
              <a:picLocks noChangeAspect="1" noChangeArrowheads="1"/>
            </p:cNvPicPr>
            <p:nvPr/>
          </p:nvPicPr>
          <p:blipFill>
            <a:blip r:embed="rId4"/>
            <a:srcRect l="59375" t="75841" r="25781" b="1547"/>
            <a:stretch>
              <a:fillRect/>
            </a:stretch>
          </p:blipFill>
          <p:spPr bwMode="auto">
            <a:xfrm>
              <a:off x="3888" y="2496"/>
              <a:ext cx="1477" cy="1632"/>
            </a:xfrm>
            <a:prstGeom prst="rect">
              <a:avLst/>
            </a:prstGeom>
            <a:noFill/>
            <a:ln w="9525">
              <a:noFill/>
              <a:miter lim="800000"/>
              <a:headEnd/>
              <a:tailEnd/>
            </a:ln>
            <a:effectLst/>
          </p:spPr>
        </p:pic>
        <p:sp>
          <p:nvSpPr>
            <p:cNvPr id="18443" name="Text Box 11"/>
            <p:cNvSpPr txBox="1">
              <a:spLocks noChangeArrowheads="1"/>
            </p:cNvSpPr>
            <p:nvPr/>
          </p:nvSpPr>
          <p:spPr bwMode="auto">
            <a:xfrm>
              <a:off x="965" y="3705"/>
              <a:ext cx="3499" cy="327"/>
            </a:xfrm>
            <a:prstGeom prst="rect">
              <a:avLst/>
            </a:prstGeom>
            <a:noFill/>
            <a:ln w="12700">
              <a:noFill/>
              <a:miter lim="800000"/>
              <a:headEnd type="none" w="sm" len="sm"/>
              <a:tailEnd type="none" w="sm" len="sm"/>
            </a:ln>
            <a:effectLst/>
          </p:spPr>
          <p:txBody>
            <a:bodyPr wrap="none">
              <a:spAutoFit/>
            </a:bodyPr>
            <a:lstStyle/>
            <a:p>
              <a:r>
                <a:rPr lang="en-US" sz="2800" b="1">
                  <a:solidFill>
                    <a:schemeClr val="accent2"/>
                  </a:solidFill>
                </a:rPr>
                <a:t>Carefully clean the ball and rollers.</a:t>
              </a:r>
            </a:p>
          </p:txBody>
        </p:sp>
      </p:grpSp>
      <p:grpSp>
        <p:nvGrpSpPr>
          <p:cNvPr id="5" name="Group 17"/>
          <p:cNvGrpSpPr>
            <a:grpSpLocks/>
          </p:cNvGrpSpPr>
          <p:nvPr/>
        </p:nvGrpSpPr>
        <p:grpSpPr bwMode="auto">
          <a:xfrm>
            <a:off x="533400" y="1219200"/>
            <a:ext cx="792163" cy="2651125"/>
            <a:chOff x="336" y="768"/>
            <a:chExt cx="499" cy="1670"/>
          </a:xfrm>
        </p:grpSpPr>
        <p:sp>
          <p:nvSpPr>
            <p:cNvPr id="18437" name="Text Box 5"/>
            <p:cNvSpPr txBox="1">
              <a:spLocks noChangeArrowheads="1"/>
            </p:cNvSpPr>
            <p:nvPr/>
          </p:nvSpPr>
          <p:spPr bwMode="auto">
            <a:xfrm>
              <a:off x="336" y="1920"/>
              <a:ext cx="499" cy="518"/>
            </a:xfrm>
            <a:prstGeom prst="rect">
              <a:avLst/>
            </a:prstGeom>
            <a:noFill/>
            <a:ln w="12700">
              <a:noFill/>
              <a:miter lim="800000"/>
              <a:headEnd type="none" w="sm" len="sm"/>
              <a:tailEnd type="none" w="sm" len="sm"/>
            </a:ln>
            <a:effectLst/>
          </p:spPr>
          <p:txBody>
            <a:bodyPr wrap="none">
              <a:spAutoFit/>
            </a:bodyPr>
            <a:lstStyle/>
            <a:p>
              <a:pPr algn="ctr"/>
              <a:r>
                <a:rPr lang="en-US" b="1" dirty="0">
                  <a:solidFill>
                    <a:schemeClr val="accent2"/>
                  </a:solidFill>
                </a:rPr>
                <a:t>Left</a:t>
              </a:r>
            </a:p>
            <a:p>
              <a:pPr algn="ctr"/>
              <a:r>
                <a:rPr lang="en-US" b="1" dirty="0">
                  <a:solidFill>
                    <a:schemeClr val="accent2"/>
                  </a:solidFill>
                </a:rPr>
                <a:t>click</a:t>
              </a:r>
            </a:p>
          </p:txBody>
        </p:sp>
        <p:sp>
          <p:nvSpPr>
            <p:cNvPr id="18439" name="Line 7"/>
            <p:cNvSpPr>
              <a:spLocks noChangeShapeType="1"/>
            </p:cNvSpPr>
            <p:nvPr/>
          </p:nvSpPr>
          <p:spPr bwMode="auto">
            <a:xfrm flipV="1">
              <a:off x="624" y="768"/>
              <a:ext cx="192" cy="1104"/>
            </a:xfrm>
            <a:prstGeom prst="line">
              <a:avLst/>
            </a:prstGeom>
            <a:noFill/>
            <a:ln w="38100">
              <a:solidFill>
                <a:schemeClr val="accent2"/>
              </a:solidFill>
              <a:round/>
              <a:headEnd type="none" w="sm" len="sm"/>
              <a:tailEnd type="triangle" w="sm" len="sm"/>
            </a:ln>
            <a:effectLst/>
          </p:spPr>
          <p:txBody>
            <a:bodyPr wrap="none" anchor="ctr"/>
            <a:lstStyle/>
            <a:p>
              <a:endParaRPr lang="en-US"/>
            </a:p>
          </p:txBody>
        </p:sp>
      </p:grpSp>
      <p:sp>
        <p:nvSpPr>
          <p:cNvPr id="18444" name="AutoShape 12"/>
          <p:cNvSpPr>
            <a:spLocks noChangeArrowheads="1"/>
          </p:cNvSpPr>
          <p:nvPr/>
        </p:nvSpPr>
        <p:spPr bwMode="auto">
          <a:xfrm>
            <a:off x="1909763" y="2819400"/>
            <a:ext cx="1214437" cy="1214438"/>
          </a:xfrm>
          <a:custGeom>
            <a:avLst/>
            <a:gdLst>
              <a:gd name="G0" fmla="+- 6480 0 0"/>
              <a:gd name="G1" fmla="+- 8640 0 0"/>
              <a:gd name="G2" fmla="+- 4320 0 0"/>
              <a:gd name="G3" fmla="+- 21600 0 6480"/>
              <a:gd name="G4" fmla="+- 21600 0 8640"/>
              <a:gd name="G5" fmla="+- 21600 0 4320"/>
              <a:gd name="G6" fmla="+- 6480 0 10800"/>
              <a:gd name="G7" fmla="+- 8640 0 10800"/>
              <a:gd name="G8" fmla="*/ G7 4320 G6"/>
              <a:gd name="G9" fmla="+- 21600 0 G8"/>
              <a:gd name="T0" fmla="*/ G8 w 21600"/>
              <a:gd name="T1" fmla="*/ G1 h 21600"/>
              <a:gd name="T2" fmla="*/ G9 w 21600"/>
              <a:gd name="T3" fmla="*/ G4 h 21600"/>
            </a:gdLst>
            <a:ahLst/>
            <a:cxnLst>
              <a:cxn ang="0">
                <a:pos x="r" y="vc"/>
              </a:cxn>
              <a:cxn ang="5400000">
                <a:pos x="hc" y="b"/>
              </a:cxn>
              <a:cxn ang="10800000">
                <a:pos x="l" y="vc"/>
              </a:cxn>
              <a:cxn ang="16200000">
                <a:pos x="hc" y="t"/>
              </a:cxn>
            </a:cxnLst>
            <a:rect l="T0" t="T1" r="T2" b="T3"/>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2"/>
          </a:solidFill>
          <a:ln w="12700">
            <a:solidFill>
              <a:schemeClr val="accent2"/>
            </a:solidFill>
            <a:miter lim="800000"/>
            <a:headEnd type="none" w="sm" len="sm"/>
            <a:tailEnd type="none" w="sm" len="sm"/>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dissolve">
                                      <p:cBhvr>
                                        <p:cTn id="7" dur="500"/>
                                        <p:tgtEl>
                                          <p:spTgt spid="18436"/>
                                        </p:tgtEl>
                                      </p:cBhvr>
                                    </p:animEffect>
                                  </p:childTnLst>
                                </p:cTn>
                              </p:par>
                            </p:childTnLst>
                          </p:cTn>
                        </p:par>
                        <p:par>
                          <p:cTn id="8" fill="hold">
                            <p:stCondLst>
                              <p:cond delay="500"/>
                            </p:stCondLst>
                            <p:childTnLst>
                              <p:par>
                                <p:cTn id="9" presetID="23" presetClass="entr" presetSubtype="16" fill="hold" grpId="0" nodeType="afterEffect">
                                  <p:stCondLst>
                                    <p:cond delay="1000"/>
                                  </p:stCondLst>
                                  <p:childTnLst>
                                    <p:set>
                                      <p:cBhvr>
                                        <p:cTn id="10" dur="1" fill="hold">
                                          <p:stCondLst>
                                            <p:cond delay="0"/>
                                          </p:stCondLst>
                                        </p:cTn>
                                        <p:tgtEl>
                                          <p:spTgt spid="18444"/>
                                        </p:tgtEl>
                                        <p:attrNameLst>
                                          <p:attrName>style.visibility</p:attrName>
                                        </p:attrNameLst>
                                      </p:cBhvr>
                                      <p:to>
                                        <p:strVal val="visible"/>
                                      </p:to>
                                    </p:set>
                                    <p:anim calcmode="lin" valueType="num">
                                      <p:cBhvr>
                                        <p:cTn id="11" dur="500" fill="hold"/>
                                        <p:tgtEl>
                                          <p:spTgt spid="18444"/>
                                        </p:tgtEl>
                                        <p:attrNameLst>
                                          <p:attrName>ppt_w</p:attrName>
                                        </p:attrNameLst>
                                      </p:cBhvr>
                                      <p:tavLst>
                                        <p:tav tm="0">
                                          <p:val>
                                            <p:fltVal val="0"/>
                                          </p:val>
                                        </p:tav>
                                        <p:tav tm="100000">
                                          <p:val>
                                            <p:strVal val="#ppt_w"/>
                                          </p:val>
                                        </p:tav>
                                      </p:tavLst>
                                    </p:anim>
                                    <p:anim calcmode="lin" valueType="num">
                                      <p:cBhvr>
                                        <p:cTn id="12" dur="500" fill="hold"/>
                                        <p:tgtEl>
                                          <p:spTgt spid="18444"/>
                                        </p:tgtEl>
                                        <p:attrNameLst>
                                          <p:attrName>ppt_h</p:attrName>
                                        </p:attrNameLst>
                                      </p:cBhvr>
                                      <p:tavLst>
                                        <p:tav tm="0">
                                          <p:val>
                                            <p:fltVal val="0"/>
                                          </p:val>
                                        </p:tav>
                                        <p:tav tm="100000">
                                          <p:val>
                                            <p:strVal val="#ppt_h"/>
                                          </p:val>
                                        </p:tav>
                                      </p:tavLst>
                                    </p:anim>
                                  </p:childTnLst>
                                </p:cTn>
                              </p:par>
                            </p:childTnLst>
                          </p:cTn>
                        </p:par>
                        <p:par>
                          <p:cTn id="13" fill="hold">
                            <p:stCondLst>
                              <p:cond delay="2000"/>
                            </p:stCondLst>
                            <p:childTnLst>
                              <p:par>
                                <p:cTn id="14" presetID="9" presetClass="entr" presetSubtype="0" fill="hold" nodeType="afterEffect">
                                  <p:stCondLst>
                                    <p:cond delay="100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childTnLst>
                          </p:cTn>
                        </p:par>
                        <p:par>
                          <p:cTn id="17" fill="hold">
                            <p:stCondLst>
                              <p:cond delay="3500"/>
                            </p:stCondLst>
                            <p:childTnLst>
                              <p:par>
                                <p:cTn id="18" presetID="9" presetClass="entr" presetSubtype="0" fill="hold" nodeType="afterEffect">
                                  <p:stCondLst>
                                    <p:cond delay="100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500"/>
                                        <p:tgtEl>
                                          <p:spTgt spid="2"/>
                                        </p:tgtEl>
                                      </p:cBhvr>
                                    </p:animEffect>
                                  </p:childTnLst>
                                </p:cTn>
                              </p:par>
                            </p:childTnLst>
                          </p:cTn>
                        </p:par>
                        <p:par>
                          <p:cTn id="21" fill="hold">
                            <p:stCondLst>
                              <p:cond delay="5000"/>
                            </p:stCondLst>
                            <p:childTnLst>
                              <p:par>
                                <p:cTn id="22" presetID="23" presetClass="entr" presetSubtype="272" fill="hold" nodeType="afterEffect">
                                  <p:stCondLst>
                                    <p:cond delay="100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strVal val="2/3*#ppt_w"/>
                                          </p:val>
                                        </p:tav>
                                        <p:tav tm="100000">
                                          <p:val>
                                            <p:strVal val="#ppt_w"/>
                                          </p:val>
                                        </p:tav>
                                      </p:tavLst>
                                    </p:anim>
                                    <p:anim calcmode="lin" valueType="num">
                                      <p:cBhvr>
                                        <p:cTn id="25" dur="500" fill="hold"/>
                                        <p:tgtEl>
                                          <p:spTgt spid="3"/>
                                        </p:tgtEl>
                                        <p:attrNameLst>
                                          <p:attrName>ppt_h</p:attrName>
                                        </p:attrNameLst>
                                      </p:cBhvr>
                                      <p:tavLst>
                                        <p:tav tm="0">
                                          <p:val>
                                            <p:strVal val="2/3*#ppt_h"/>
                                          </p:val>
                                        </p:tav>
                                        <p:tav tm="100000">
                                          <p:val>
                                            <p:strVal val="#ppt_h"/>
                                          </p:val>
                                        </p:tav>
                                      </p:tavLst>
                                    </p:anim>
                                  </p:childTnLst>
                                </p:cTn>
                              </p:par>
                            </p:childTnLst>
                          </p:cTn>
                        </p:par>
                        <p:par>
                          <p:cTn id="26" fill="hold">
                            <p:stCondLst>
                              <p:cond delay="6500"/>
                            </p:stCondLst>
                            <p:childTnLst>
                              <p:par>
                                <p:cTn id="27" presetID="23" presetClass="entr" presetSubtype="528" fill="hold" nodeType="afterEffect">
                                  <p:stCondLst>
                                    <p:cond delay="1000"/>
                                  </p:stCondLst>
                                  <p:childTnLst>
                                    <p:set>
                                      <p:cBhvr>
                                        <p:cTn id="28" dur="1" fill="hold">
                                          <p:stCondLst>
                                            <p:cond delay="0"/>
                                          </p:stCondLst>
                                        </p:cTn>
                                        <p:tgtEl>
                                          <p:spTgt spid="4"/>
                                        </p:tgtEl>
                                        <p:attrNameLst>
                                          <p:attrName>style.visibility</p:attrName>
                                        </p:attrNameLst>
                                      </p:cBhvr>
                                      <p:to>
                                        <p:strVal val="visible"/>
                                      </p:to>
                                    </p:set>
                                    <p:anim calcmode="lin" valueType="num">
                                      <p:cBhvr>
                                        <p:cTn id="29" dur="500" fill="hold"/>
                                        <p:tgtEl>
                                          <p:spTgt spid="4"/>
                                        </p:tgtEl>
                                        <p:attrNameLst>
                                          <p:attrName>ppt_w</p:attrName>
                                        </p:attrNameLst>
                                      </p:cBhvr>
                                      <p:tavLst>
                                        <p:tav tm="0">
                                          <p:val>
                                            <p:fltVal val="0"/>
                                          </p:val>
                                        </p:tav>
                                        <p:tav tm="100000">
                                          <p:val>
                                            <p:strVal val="#ppt_w"/>
                                          </p:val>
                                        </p:tav>
                                      </p:tavLst>
                                    </p:anim>
                                    <p:anim calcmode="lin" valueType="num">
                                      <p:cBhvr>
                                        <p:cTn id="30" dur="500" fill="hold"/>
                                        <p:tgtEl>
                                          <p:spTgt spid="4"/>
                                        </p:tgtEl>
                                        <p:attrNameLst>
                                          <p:attrName>ppt_h</p:attrName>
                                        </p:attrNameLst>
                                      </p:cBhvr>
                                      <p:tavLst>
                                        <p:tav tm="0">
                                          <p:val>
                                            <p:fltVal val="0"/>
                                          </p:val>
                                        </p:tav>
                                        <p:tav tm="100000">
                                          <p:val>
                                            <p:strVal val="#ppt_h"/>
                                          </p:val>
                                        </p:tav>
                                      </p:tavLst>
                                    </p:anim>
                                    <p:anim calcmode="lin" valueType="num">
                                      <p:cBhvr>
                                        <p:cTn id="31" dur="500" fill="hold"/>
                                        <p:tgtEl>
                                          <p:spTgt spid="4"/>
                                        </p:tgtEl>
                                        <p:attrNameLst>
                                          <p:attrName>ppt_x</p:attrName>
                                        </p:attrNameLst>
                                      </p:cBhvr>
                                      <p:tavLst>
                                        <p:tav tm="0">
                                          <p:val>
                                            <p:fltVal val="0.5"/>
                                          </p:val>
                                        </p:tav>
                                        <p:tav tm="100000">
                                          <p:val>
                                            <p:strVal val="#ppt_x"/>
                                          </p:val>
                                        </p:tav>
                                      </p:tavLst>
                                    </p:anim>
                                    <p:anim calcmode="lin" valueType="num">
                                      <p:cBhvr>
                                        <p:cTn id="32" dur="500" fill="hold"/>
                                        <p:tgtEl>
                                          <p:spTgt spid="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4"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a:bodyPr>
          <a:lstStyle/>
          <a:p>
            <a:pPr algn="l"/>
            <a:r>
              <a:rPr lang="en-US" altLang="zh-CN" sz="4000" dirty="0">
                <a:solidFill>
                  <a:schemeClr val="tx2"/>
                </a:solidFill>
              </a:rPr>
              <a:t>Scanning Devices</a:t>
            </a:r>
            <a:endParaRPr lang="en-US" sz="5400" b="1" dirty="0">
              <a:solidFill>
                <a:schemeClr val="tx2"/>
              </a:solidFill>
            </a:endParaRPr>
          </a:p>
        </p:txBody>
      </p:sp>
      <p:sp>
        <p:nvSpPr>
          <p:cNvPr id="6147" name="Rectangle 3"/>
          <p:cNvSpPr>
            <a:spLocks noGrp="1" noChangeArrowheads="1"/>
          </p:cNvSpPr>
          <p:nvPr>
            <p:ph type="body" idx="1"/>
          </p:nvPr>
        </p:nvSpPr>
        <p:spPr>
          <a:noFill/>
          <a:ln/>
        </p:spPr>
        <p:txBody>
          <a:bodyPr>
            <a:normAutofit fontScale="92500"/>
          </a:bodyPr>
          <a:lstStyle/>
          <a:p>
            <a:pPr>
              <a:lnSpc>
                <a:spcPct val="150000"/>
              </a:lnSpc>
            </a:pPr>
            <a:r>
              <a:rPr lang="en-US" altLang="zh-CN" sz="2400" dirty="0"/>
              <a:t>Scanning devices are the input devices that can electronically capture text and images, and convert them into computer readable form. </a:t>
            </a:r>
          </a:p>
          <a:p>
            <a:pPr>
              <a:lnSpc>
                <a:spcPct val="150000"/>
              </a:lnSpc>
            </a:pPr>
            <a:r>
              <a:rPr lang="en-US" altLang="zh-CN" sz="2400" dirty="0"/>
              <a:t>The basic task of a scanning devices is to convert an image or the textual data into digital data, i.e., in the form of boxes, where each box represents either zero or one. The resultant matrix is known as bit map and is displayed on the screen.</a:t>
            </a:r>
          </a:p>
          <a:p>
            <a:pPr marL="0" indent="0">
              <a:buNone/>
            </a:pPr>
            <a:r>
              <a:rPr lang="en-US" altLang="zh-C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624430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a:bodyPr>
          <a:lstStyle/>
          <a:p>
            <a:pPr algn="l"/>
            <a:r>
              <a:rPr lang="en-US" altLang="zh-CN" sz="4000" dirty="0">
                <a:solidFill>
                  <a:schemeClr val="tx2"/>
                </a:solidFill>
              </a:rPr>
              <a:t>Scanning Devices(Cont.)</a:t>
            </a:r>
            <a:endParaRPr lang="en-US" sz="5400" b="1" dirty="0">
              <a:solidFill>
                <a:schemeClr val="tx2"/>
              </a:solidFill>
            </a:endParaRPr>
          </a:p>
        </p:txBody>
      </p:sp>
      <p:sp>
        <p:nvSpPr>
          <p:cNvPr id="6147" name="Rectangle 3"/>
          <p:cNvSpPr>
            <a:spLocks noGrp="1" noChangeArrowheads="1"/>
          </p:cNvSpPr>
          <p:nvPr>
            <p:ph type="body" idx="1"/>
          </p:nvPr>
        </p:nvSpPr>
        <p:spPr>
          <a:noFill/>
          <a:ln/>
        </p:spPr>
        <p:txBody>
          <a:bodyPr>
            <a:normAutofit/>
          </a:bodyPr>
          <a:lstStyle/>
          <a:p>
            <a:pPr marL="0" indent="0">
              <a:buNone/>
            </a:pPr>
            <a:r>
              <a:rPr lang="en-US" altLang="zh-CN" sz="2400" dirty="0"/>
              <a:t>The scanning devices can be differentiated from each other on the basis of the following characteristics:</a:t>
            </a:r>
          </a:p>
          <a:p>
            <a:pPr>
              <a:buNone/>
            </a:pPr>
            <a:endParaRPr lang="en-US" altLang="zh-CN" sz="2400" dirty="0"/>
          </a:p>
          <a:p>
            <a:pPr>
              <a:buSzPct val="150000"/>
              <a:buFontTx/>
              <a:buChar char="•"/>
            </a:pPr>
            <a:r>
              <a:rPr lang="en-US" altLang="zh-CN" sz="2400" b="1" dirty="0"/>
              <a:t>Resolution</a:t>
            </a:r>
            <a:r>
              <a:rPr lang="en-US" altLang="zh-CN" sz="2400" dirty="0"/>
              <a:t>: the closeness of the pixels in the bit map, and vary from 72 to 600 dots per inch (dpi);</a:t>
            </a:r>
          </a:p>
          <a:p>
            <a:pPr>
              <a:buSzPct val="150000"/>
              <a:buFontTx/>
              <a:buChar char="•"/>
            </a:pPr>
            <a:r>
              <a:rPr lang="en-US" altLang="zh-CN" sz="2400" b="1" dirty="0"/>
              <a:t>Size</a:t>
            </a:r>
            <a:r>
              <a:rPr lang="en-US" altLang="zh-CN" sz="2400" dirty="0"/>
              <a:t>: the small sized scanning device can scan approximately two to five inches of the document, whereas the large sized one can scan approximately up to forty inches of the document. </a:t>
            </a:r>
          </a:p>
          <a:p>
            <a:pPr marL="0" indent="0">
              <a:buNone/>
            </a:pPr>
            <a:r>
              <a:rPr lang="en-US" altLang="zh-C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089795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a:bodyPr>
          <a:lstStyle/>
          <a:p>
            <a:pPr algn="l"/>
            <a:r>
              <a:rPr lang="en-US" altLang="zh-CN" sz="4000" dirty="0">
                <a:solidFill>
                  <a:schemeClr val="tx2"/>
                </a:solidFill>
              </a:rPr>
              <a:t>Scanning Devices(Cont.)</a:t>
            </a:r>
            <a:endParaRPr lang="en-US" sz="5400" b="1" dirty="0">
              <a:solidFill>
                <a:schemeClr val="tx2"/>
              </a:solidFill>
            </a:endParaRPr>
          </a:p>
        </p:txBody>
      </p:sp>
      <p:sp>
        <p:nvSpPr>
          <p:cNvPr id="6147" name="Rectangle 3"/>
          <p:cNvSpPr>
            <a:spLocks noGrp="1" noChangeArrowheads="1"/>
          </p:cNvSpPr>
          <p:nvPr>
            <p:ph type="body" idx="1"/>
          </p:nvPr>
        </p:nvSpPr>
        <p:spPr>
          <a:noFill/>
          <a:ln/>
        </p:spPr>
        <p:txBody>
          <a:bodyPr>
            <a:normAutofit/>
          </a:bodyPr>
          <a:lstStyle/>
          <a:p>
            <a:pPr marL="0" indent="0">
              <a:lnSpc>
                <a:spcPct val="90000"/>
              </a:lnSpc>
              <a:buNone/>
            </a:pPr>
            <a:r>
              <a:rPr lang="en-US" altLang="zh-CN" sz="2400" dirty="0"/>
              <a:t>The scanning devices can be categorized as follows:</a:t>
            </a:r>
          </a:p>
          <a:p>
            <a:pPr>
              <a:lnSpc>
                <a:spcPct val="90000"/>
              </a:lnSpc>
            </a:pPr>
            <a:endParaRPr lang="en-US" altLang="zh-CN" sz="2400" dirty="0"/>
          </a:p>
          <a:p>
            <a:pPr>
              <a:lnSpc>
                <a:spcPct val="90000"/>
              </a:lnSpc>
              <a:buSzPct val="150000"/>
              <a:buFontTx/>
              <a:buChar char="•"/>
            </a:pPr>
            <a:r>
              <a:rPr lang="en-US" altLang="zh-CN" sz="2400" b="1" dirty="0"/>
              <a:t>Hand-held scanners</a:t>
            </a:r>
            <a:r>
              <a:rPr lang="en-US" altLang="zh-CN" sz="2400" dirty="0"/>
              <a:t>: are suitable for scanning small images rather than the whole page of text or pictures, and are generally used for identifying the bar-code label of the products. </a:t>
            </a:r>
          </a:p>
          <a:p>
            <a:pPr>
              <a:lnSpc>
                <a:spcPct val="90000"/>
              </a:lnSpc>
              <a:buSzPct val="150000"/>
              <a:buFontTx/>
              <a:buChar char="•"/>
            </a:pPr>
            <a:r>
              <a:rPr lang="en-US" altLang="zh-CN" sz="2400" b="1" dirty="0"/>
              <a:t>Flat-bed scanners</a:t>
            </a:r>
            <a:r>
              <a:rPr lang="en-US" altLang="zh-CN" sz="2400" dirty="0"/>
              <a:t>: consist of a flat surface composing of glass pane on which the documents are kept for scanning. Under this glass pane, there is xenon light and a CCD, which consists of an array of red, green and blue filters.</a:t>
            </a:r>
          </a:p>
          <a:p>
            <a:pPr marL="0" indent="0">
              <a:buNone/>
            </a:pPr>
            <a:r>
              <a:rPr lang="en-US" altLang="zh-C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2021809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a:bodyPr>
          <a:lstStyle/>
          <a:p>
            <a:pPr algn="l"/>
            <a:r>
              <a:rPr lang="en-US" altLang="zh-CN" sz="4000" dirty="0">
                <a:solidFill>
                  <a:schemeClr val="tx2"/>
                </a:solidFill>
              </a:rPr>
              <a:t>Scanning Devices(Cont.)</a:t>
            </a:r>
            <a:endParaRPr lang="en-US" sz="5400" b="1" dirty="0">
              <a:solidFill>
                <a:schemeClr val="tx2"/>
              </a:solidFill>
            </a:endParaRPr>
          </a:p>
        </p:txBody>
      </p:sp>
      <p:sp>
        <p:nvSpPr>
          <p:cNvPr id="6147" name="Rectangle 3"/>
          <p:cNvSpPr>
            <a:spLocks noGrp="1" noChangeArrowheads="1"/>
          </p:cNvSpPr>
          <p:nvPr>
            <p:ph type="body" idx="1"/>
          </p:nvPr>
        </p:nvSpPr>
        <p:spPr>
          <a:noFill/>
          <a:ln/>
        </p:spPr>
        <p:txBody>
          <a:bodyPr>
            <a:normAutofit/>
          </a:bodyPr>
          <a:lstStyle/>
          <a:p>
            <a:r>
              <a:rPr lang="en-US" altLang="zh-CN" sz="2400" b="1" dirty="0"/>
              <a:t>Drum scanners</a:t>
            </a:r>
            <a:r>
              <a:rPr lang="en-US" altLang="zh-CN" sz="2400" dirty="0"/>
              <a:t>: consist of a large drum, which is used for scanning the documents. These scanners make use of the PMT technology, instead of the CCD technology. The resolution image of these scanners is very high, ranges form 8000 dpi to 11000 dpi.</a:t>
            </a:r>
          </a:p>
          <a:p>
            <a:r>
              <a:rPr lang="en-US" altLang="zh-CN" sz="2400" b="1" dirty="0"/>
              <a:t>Slide scanners</a:t>
            </a:r>
            <a:r>
              <a:rPr lang="en-US" altLang="zh-CN" sz="2400" dirty="0"/>
              <a:t>: are used for scanning slides as well as film negatives. These scanners are also known as film scanners as they can easily scan the original image of the film. The dark areas appear light and the light areas appear dark. </a:t>
            </a:r>
          </a:p>
          <a:p>
            <a:pPr marL="0" indent="0">
              <a:buNone/>
            </a:pPr>
            <a:r>
              <a:rPr lang="en-US" altLang="zh-C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7031865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a:bodyPr>
          <a:lstStyle/>
          <a:p>
            <a:pPr algn="l"/>
            <a:r>
              <a:rPr lang="en-US" altLang="zh-CN" sz="4000" dirty="0">
                <a:solidFill>
                  <a:schemeClr val="tx2"/>
                </a:solidFill>
              </a:rPr>
              <a:t>Optical Recognition Devices</a:t>
            </a:r>
            <a:endParaRPr lang="en-US" sz="5400" b="1" dirty="0">
              <a:solidFill>
                <a:schemeClr val="tx2"/>
              </a:solidFill>
            </a:endParaRPr>
          </a:p>
        </p:txBody>
      </p:sp>
      <p:sp>
        <p:nvSpPr>
          <p:cNvPr id="6147" name="Rectangle 3"/>
          <p:cNvSpPr>
            <a:spLocks noGrp="1" noChangeArrowheads="1"/>
          </p:cNvSpPr>
          <p:nvPr>
            <p:ph type="body" idx="1"/>
          </p:nvPr>
        </p:nvSpPr>
        <p:spPr>
          <a:noFill/>
          <a:ln/>
        </p:spPr>
        <p:txBody>
          <a:bodyPr>
            <a:normAutofit/>
          </a:bodyPr>
          <a:lstStyle/>
          <a:p>
            <a:pPr marL="0" indent="0" algn="just">
              <a:lnSpc>
                <a:spcPct val="90000"/>
              </a:lnSpc>
              <a:buNone/>
            </a:pPr>
            <a:r>
              <a:rPr lang="en-US" altLang="zh-CN" sz="2400" dirty="0"/>
              <a:t>Optical recognition devices are used for recognizing the characters optically. The optical recognition devices basically make use of optical scanner for inputting data. Unlike keyboards, the optical recognition devices do not enter the data by pressing the keys. They help the users in saving a lot of time. Commonly used optical recognition devices are:</a:t>
            </a:r>
          </a:p>
          <a:p>
            <a:pPr>
              <a:lnSpc>
                <a:spcPct val="90000"/>
              </a:lnSpc>
            </a:pPr>
            <a:endParaRPr lang="en-US" altLang="zh-CN" sz="2400" dirty="0"/>
          </a:p>
          <a:p>
            <a:pPr>
              <a:lnSpc>
                <a:spcPct val="90000"/>
              </a:lnSpc>
              <a:buFont typeface="Wingdings" panose="05000000000000000000" pitchFamily="2" charset="2"/>
              <a:buChar char="l"/>
            </a:pPr>
            <a:r>
              <a:rPr lang="en-US" altLang="zh-CN" sz="2400" b="1" dirty="0"/>
              <a:t>Optical Character Recognition (OCR) devices</a:t>
            </a:r>
            <a:r>
              <a:rPr lang="en-US" altLang="zh-CN" sz="2400" dirty="0"/>
              <a:t>: scan a particular document by recognizing its individual characters and converting it into the editable form.</a:t>
            </a:r>
          </a:p>
          <a:p>
            <a:pPr marL="0" indent="0">
              <a:buNone/>
            </a:pPr>
            <a:r>
              <a:rPr lang="en-US" altLang="zh-C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861780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a:bodyPr>
          <a:lstStyle/>
          <a:p>
            <a:pPr algn="l"/>
            <a:r>
              <a:rPr lang="en-US" altLang="zh-CN" sz="4000" dirty="0">
                <a:solidFill>
                  <a:schemeClr val="tx2"/>
                </a:solidFill>
              </a:rPr>
              <a:t>Optical Recognition Devices(Cont.)</a:t>
            </a:r>
            <a:endParaRPr lang="en-US" sz="5400" b="1" dirty="0">
              <a:solidFill>
                <a:schemeClr val="tx2"/>
              </a:solidFill>
            </a:endParaRPr>
          </a:p>
        </p:txBody>
      </p:sp>
      <p:sp>
        <p:nvSpPr>
          <p:cNvPr id="6147" name="Rectangle 3"/>
          <p:cNvSpPr>
            <a:spLocks noGrp="1" noChangeArrowheads="1"/>
          </p:cNvSpPr>
          <p:nvPr>
            <p:ph type="body" idx="1"/>
          </p:nvPr>
        </p:nvSpPr>
        <p:spPr>
          <a:noFill/>
          <a:ln/>
        </p:spPr>
        <p:txBody>
          <a:bodyPr>
            <a:normAutofit/>
          </a:bodyPr>
          <a:lstStyle/>
          <a:p>
            <a:pPr>
              <a:lnSpc>
                <a:spcPct val="150000"/>
              </a:lnSpc>
              <a:buSzPct val="150000"/>
              <a:buFontTx/>
              <a:buChar char="•"/>
            </a:pPr>
            <a:r>
              <a:rPr lang="en-US" altLang="zh-CN" sz="2400" b="1" dirty="0"/>
              <a:t>Optical Mark Recognition (OMR) devices</a:t>
            </a:r>
            <a:r>
              <a:rPr lang="en-US" altLang="zh-CN" sz="2400" dirty="0"/>
              <a:t>: help in obtaining the data from the marked fields. These devices prove to be of great use in recognizing characters in question sheets, enrolment forms, registration forms, employee payroll, etc. Most popularly, the OMR devices are used for scanning the documents having multiple choices as in the question papers used in schools, colleges, etc.</a:t>
            </a:r>
          </a:p>
        </p:txBody>
      </p:sp>
    </p:spTree>
    <p:extLst>
      <p:ext uri="{BB962C8B-B14F-4D97-AF65-F5344CB8AC3E}">
        <p14:creationId xmlns:p14="http://schemas.microsoft.com/office/powerpoint/2010/main" val="3346542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a:bodyPr>
          <a:lstStyle/>
          <a:p>
            <a:pPr algn="l"/>
            <a:r>
              <a:rPr lang="en-US" altLang="zh-CN" sz="4000" dirty="0">
                <a:solidFill>
                  <a:schemeClr val="tx2"/>
                </a:solidFill>
              </a:rPr>
              <a:t>Optical Recognition Devices(Cont.)</a:t>
            </a:r>
            <a:endParaRPr lang="en-US" sz="5400" b="1" dirty="0">
              <a:solidFill>
                <a:schemeClr val="tx2"/>
              </a:solidFill>
            </a:endParaRPr>
          </a:p>
        </p:txBody>
      </p:sp>
      <p:sp>
        <p:nvSpPr>
          <p:cNvPr id="6147" name="Rectangle 3"/>
          <p:cNvSpPr>
            <a:spLocks noGrp="1" noChangeArrowheads="1"/>
          </p:cNvSpPr>
          <p:nvPr>
            <p:ph type="body" idx="1"/>
          </p:nvPr>
        </p:nvSpPr>
        <p:spPr>
          <a:noFill/>
          <a:ln/>
        </p:spPr>
        <p:txBody>
          <a:bodyPr>
            <a:normAutofit/>
          </a:bodyPr>
          <a:lstStyle/>
          <a:p>
            <a:pPr marL="0" indent="0">
              <a:lnSpc>
                <a:spcPct val="150000"/>
              </a:lnSpc>
              <a:buSzPct val="150000"/>
              <a:buNone/>
            </a:pPr>
            <a:r>
              <a:rPr lang="en-US" altLang="zh-CN" sz="2400" b="1" dirty="0"/>
              <a:t>Magnetic Ink Character Recognition (MICR) devices</a:t>
            </a:r>
            <a:r>
              <a:rPr lang="en-US" altLang="zh-CN" sz="2400" dirty="0"/>
              <a:t>: </a:t>
            </a:r>
          </a:p>
          <a:p>
            <a:pPr marL="0" indent="0">
              <a:lnSpc>
                <a:spcPct val="150000"/>
              </a:lnSpc>
              <a:buSzPct val="150000"/>
              <a:buNone/>
            </a:pPr>
            <a:r>
              <a:rPr lang="en-US" altLang="zh-CN" sz="2400" dirty="0"/>
              <a:t>special devices used for recognizing the characters written with magnetic ink consisting of iron oxide particles. These devices were specially developed for the banking operations. The details on the bank cheques, such as cheque number, bank and branch code are written wit h the magnetic.</a:t>
            </a:r>
          </a:p>
        </p:txBody>
      </p:sp>
    </p:spTree>
    <p:extLst>
      <p:ext uri="{BB962C8B-B14F-4D97-AF65-F5344CB8AC3E}">
        <p14:creationId xmlns:p14="http://schemas.microsoft.com/office/powerpoint/2010/main" val="1524380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a:bodyPr>
          <a:lstStyle/>
          <a:p>
            <a:pPr algn="l">
              <a:buSzPct val="150000"/>
            </a:pPr>
            <a:r>
              <a:rPr lang="en-US" altLang="zh-CN" sz="4000" dirty="0">
                <a:solidFill>
                  <a:schemeClr val="tx2"/>
                </a:solidFill>
              </a:rPr>
              <a:t>Media Input Devices</a:t>
            </a:r>
          </a:p>
        </p:txBody>
      </p:sp>
      <p:sp>
        <p:nvSpPr>
          <p:cNvPr id="6147" name="Rectangle 3"/>
          <p:cNvSpPr>
            <a:spLocks noGrp="1" noChangeArrowheads="1"/>
          </p:cNvSpPr>
          <p:nvPr>
            <p:ph type="body" idx="1"/>
          </p:nvPr>
        </p:nvSpPr>
        <p:spPr>
          <a:noFill/>
          <a:ln/>
        </p:spPr>
        <p:txBody>
          <a:bodyPr>
            <a:normAutofit/>
          </a:bodyPr>
          <a:lstStyle/>
          <a:p>
            <a:pPr marL="0" indent="0">
              <a:buNone/>
            </a:pPr>
            <a:r>
              <a:rPr lang="en-US" altLang="zh-CN" sz="2400" dirty="0"/>
              <a:t>The input devices, which are generally used in media for communicating with the mass audiences, are known as media input devices. The following are the most popularly used media input devices:</a:t>
            </a:r>
          </a:p>
          <a:p>
            <a:endParaRPr lang="en-US" altLang="zh-CN" sz="2400" dirty="0"/>
          </a:p>
          <a:p>
            <a:pPr>
              <a:buSzPct val="150000"/>
              <a:buFontTx/>
              <a:buChar char="•"/>
            </a:pPr>
            <a:r>
              <a:rPr lang="en-US" altLang="zh-CN" sz="2400" dirty="0"/>
              <a:t>Microphone</a:t>
            </a:r>
          </a:p>
          <a:p>
            <a:pPr>
              <a:buSzPct val="150000"/>
              <a:buFontTx/>
              <a:buChar char="•"/>
            </a:pPr>
            <a:r>
              <a:rPr lang="en-US" altLang="zh-CN" sz="2400" dirty="0"/>
              <a:t>Webcam</a:t>
            </a:r>
          </a:p>
          <a:p>
            <a:pPr>
              <a:buSzPct val="150000"/>
              <a:buFontTx/>
              <a:buChar char="•"/>
            </a:pPr>
            <a:r>
              <a:rPr lang="en-US" altLang="zh-CN" sz="2400" dirty="0"/>
              <a:t>Graphics tablet</a:t>
            </a:r>
          </a:p>
        </p:txBody>
      </p:sp>
    </p:spTree>
    <p:extLst>
      <p:ext uri="{BB962C8B-B14F-4D97-AF65-F5344CB8AC3E}">
        <p14:creationId xmlns:p14="http://schemas.microsoft.com/office/powerpoint/2010/main" val="16079057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extBox 3"/>
          <p:cNvSpPr txBox="1"/>
          <p:nvPr/>
        </p:nvSpPr>
        <p:spPr>
          <a:xfrm>
            <a:off x="3048000" y="3048000"/>
            <a:ext cx="2970685" cy="584775"/>
          </a:xfrm>
          <a:prstGeom prst="rect">
            <a:avLst/>
          </a:prstGeom>
          <a:noFill/>
        </p:spPr>
        <p:txBody>
          <a:bodyPr wrap="none" rtlCol="0">
            <a:spAutoFit/>
          </a:bodyPr>
          <a:lstStyle/>
          <a:p>
            <a:r>
              <a:rPr lang="en-US" sz="3200" dirty="0">
                <a:solidFill>
                  <a:schemeClr val="tx2"/>
                </a:solidFill>
              </a:rPr>
              <a:t>Output Devices</a:t>
            </a:r>
          </a:p>
        </p:txBody>
      </p:sp>
    </p:spTree>
    <p:extLst>
      <p:ext uri="{BB962C8B-B14F-4D97-AF65-F5344CB8AC3E}">
        <p14:creationId xmlns:p14="http://schemas.microsoft.com/office/powerpoint/2010/main" val="1896360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extBox 3"/>
          <p:cNvSpPr txBox="1"/>
          <p:nvPr/>
        </p:nvSpPr>
        <p:spPr>
          <a:xfrm>
            <a:off x="304800" y="1371600"/>
            <a:ext cx="8534400" cy="4832092"/>
          </a:xfrm>
          <a:prstGeom prst="rect">
            <a:avLst/>
          </a:prstGeom>
          <a:noFill/>
        </p:spPr>
        <p:txBody>
          <a:bodyPr wrap="square" rtlCol="0">
            <a:spAutoFit/>
          </a:bodyPr>
          <a:lstStyle/>
          <a:p>
            <a:pPr algn="just"/>
            <a:r>
              <a:rPr lang="en-US" altLang="zh-CN" sz="2800" dirty="0"/>
              <a:t>Output devices receive the processed data (information) from the CPU and present it to the user in a desired form. They act as an interface between the computer and the user. </a:t>
            </a:r>
          </a:p>
          <a:p>
            <a:pPr algn="just"/>
            <a:endParaRPr lang="en-US" altLang="zh-CN" sz="2800" dirty="0"/>
          </a:p>
          <a:p>
            <a:pPr algn="just"/>
            <a:r>
              <a:rPr lang="en-US" altLang="zh-CN" sz="2800" dirty="0"/>
              <a:t>The main task of an output device is to convert the machine readable information into human-readable from which may be in the form of text, graphics, audio or video. Depending upon the form of output required, the output device may belong to one of the following categories:</a:t>
            </a:r>
            <a:endParaRPr lang="en-US" altLang="zh-CN" sz="3600" dirty="0"/>
          </a:p>
        </p:txBody>
      </p:sp>
      <p:sp>
        <p:nvSpPr>
          <p:cNvPr id="2" name="TextBox 1"/>
          <p:cNvSpPr txBox="1"/>
          <p:nvPr/>
        </p:nvSpPr>
        <p:spPr>
          <a:xfrm>
            <a:off x="152400" y="533400"/>
            <a:ext cx="3316934" cy="646331"/>
          </a:xfrm>
          <a:prstGeom prst="rect">
            <a:avLst/>
          </a:prstGeom>
          <a:noFill/>
        </p:spPr>
        <p:txBody>
          <a:bodyPr wrap="none" rtlCol="0">
            <a:spAutoFit/>
          </a:bodyPr>
          <a:lstStyle/>
          <a:p>
            <a:r>
              <a:rPr lang="en-US" sz="3600" dirty="0">
                <a:solidFill>
                  <a:schemeClr val="tx2"/>
                </a:solidFill>
              </a:rPr>
              <a:t>Output Devices</a:t>
            </a:r>
          </a:p>
        </p:txBody>
      </p:sp>
    </p:spTree>
    <p:extLst>
      <p:ext uri="{BB962C8B-B14F-4D97-AF65-F5344CB8AC3E}">
        <p14:creationId xmlns:p14="http://schemas.microsoft.com/office/powerpoint/2010/main" val="20866130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extBox 3"/>
          <p:cNvSpPr txBox="1"/>
          <p:nvPr/>
        </p:nvSpPr>
        <p:spPr>
          <a:xfrm>
            <a:off x="159657" y="1981200"/>
            <a:ext cx="8534400" cy="2585323"/>
          </a:xfrm>
          <a:prstGeom prst="rect">
            <a:avLst/>
          </a:prstGeom>
          <a:noFill/>
        </p:spPr>
        <p:txBody>
          <a:bodyPr wrap="square" rtlCol="0">
            <a:spAutoFit/>
          </a:bodyPr>
          <a:lstStyle/>
          <a:p>
            <a:pPr marL="742950" indent="-742950">
              <a:lnSpc>
                <a:spcPct val="90000"/>
              </a:lnSpc>
              <a:buClr>
                <a:schemeClr val="accent1"/>
              </a:buClr>
              <a:buSzPct val="150000"/>
              <a:buFont typeface="Arial" panose="020B0604020202020204" pitchFamily="34" charset="0"/>
              <a:buChar char="•"/>
            </a:pPr>
            <a:r>
              <a:rPr lang="en-US" altLang="zh-CN" sz="3600" dirty="0"/>
              <a:t>Display monitors</a:t>
            </a:r>
          </a:p>
          <a:p>
            <a:pPr marL="742950" indent="-742950">
              <a:lnSpc>
                <a:spcPct val="90000"/>
              </a:lnSpc>
              <a:buClr>
                <a:schemeClr val="accent1"/>
              </a:buClr>
              <a:buSzPct val="150000"/>
              <a:buFont typeface="Arial" panose="020B0604020202020204" pitchFamily="34" charset="0"/>
              <a:buChar char="•"/>
            </a:pPr>
            <a:r>
              <a:rPr lang="en-US" altLang="zh-CN" sz="3600" dirty="0"/>
              <a:t>Printers</a:t>
            </a:r>
          </a:p>
          <a:p>
            <a:pPr marL="742950" indent="-742950">
              <a:lnSpc>
                <a:spcPct val="90000"/>
              </a:lnSpc>
              <a:buClr>
                <a:schemeClr val="accent1"/>
              </a:buClr>
              <a:buSzPct val="150000"/>
              <a:buFont typeface="Arial" panose="020B0604020202020204" pitchFamily="34" charset="0"/>
              <a:buChar char="•"/>
            </a:pPr>
            <a:r>
              <a:rPr lang="en-US" altLang="zh-CN" sz="3600" dirty="0"/>
              <a:t>Plotters</a:t>
            </a:r>
          </a:p>
          <a:p>
            <a:pPr marL="742950" indent="-742950">
              <a:lnSpc>
                <a:spcPct val="90000"/>
              </a:lnSpc>
              <a:buClr>
                <a:schemeClr val="accent1"/>
              </a:buClr>
              <a:buSzPct val="150000"/>
              <a:buFont typeface="Arial" panose="020B0604020202020204" pitchFamily="34" charset="0"/>
              <a:buChar char="•"/>
            </a:pPr>
            <a:r>
              <a:rPr lang="en-US" altLang="zh-CN" sz="3600" dirty="0"/>
              <a:t>Voice output systems</a:t>
            </a:r>
          </a:p>
          <a:p>
            <a:pPr marL="742950" indent="-742950">
              <a:lnSpc>
                <a:spcPct val="90000"/>
              </a:lnSpc>
              <a:buClr>
                <a:schemeClr val="accent1"/>
              </a:buClr>
              <a:buSzPct val="150000"/>
              <a:buFont typeface="Arial" panose="020B0604020202020204" pitchFamily="34" charset="0"/>
              <a:buChar char="•"/>
            </a:pPr>
            <a:r>
              <a:rPr lang="en-US" altLang="zh-CN" sz="3600" dirty="0"/>
              <a:t>Projectors</a:t>
            </a:r>
          </a:p>
        </p:txBody>
      </p:sp>
      <p:sp>
        <p:nvSpPr>
          <p:cNvPr id="2" name="TextBox 1"/>
          <p:cNvSpPr txBox="1"/>
          <p:nvPr/>
        </p:nvSpPr>
        <p:spPr>
          <a:xfrm>
            <a:off x="152400" y="533400"/>
            <a:ext cx="3316934" cy="646331"/>
          </a:xfrm>
          <a:prstGeom prst="rect">
            <a:avLst/>
          </a:prstGeom>
          <a:noFill/>
        </p:spPr>
        <p:txBody>
          <a:bodyPr wrap="none" rtlCol="0">
            <a:spAutoFit/>
          </a:bodyPr>
          <a:lstStyle/>
          <a:p>
            <a:r>
              <a:rPr lang="en-US" sz="3600" dirty="0">
                <a:solidFill>
                  <a:schemeClr val="tx2"/>
                </a:solidFill>
              </a:rPr>
              <a:t>Output Devices</a:t>
            </a:r>
          </a:p>
        </p:txBody>
      </p:sp>
    </p:spTree>
    <p:extLst>
      <p:ext uri="{BB962C8B-B14F-4D97-AF65-F5344CB8AC3E}">
        <p14:creationId xmlns:p14="http://schemas.microsoft.com/office/powerpoint/2010/main" val="39942504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fontScale="90000"/>
          </a:bodyPr>
          <a:lstStyle/>
          <a:p>
            <a:pPr algn="l"/>
            <a:r>
              <a:rPr lang="en-US" sz="5400" b="1" dirty="0">
                <a:solidFill>
                  <a:schemeClr val="tx2"/>
                </a:solidFill>
              </a:rPr>
              <a:t>Display Monitor</a:t>
            </a:r>
          </a:p>
        </p:txBody>
      </p:sp>
      <p:sp>
        <p:nvSpPr>
          <p:cNvPr id="6147" name="Rectangle 3"/>
          <p:cNvSpPr>
            <a:spLocks noGrp="1" noChangeArrowheads="1"/>
          </p:cNvSpPr>
          <p:nvPr>
            <p:ph type="body" idx="1"/>
          </p:nvPr>
        </p:nvSpPr>
        <p:spPr>
          <a:noFill/>
          <a:ln/>
        </p:spPr>
        <p:txBody>
          <a:bodyPr>
            <a:normAutofit/>
          </a:bodyPr>
          <a:lstStyle/>
          <a:p>
            <a:r>
              <a:rPr lang="en-US" altLang="zh-CN" sz="2400" dirty="0"/>
              <a:t>Earlier the display monitors were capable of displaying the characters only in a single font and in a single color. These characters were arranged in a rectangular grid on the screen.</a:t>
            </a:r>
          </a:p>
          <a:p>
            <a:r>
              <a:rPr lang="en-US" altLang="zh-CN" sz="2400" dirty="0"/>
              <a:t>The display screens, which are available today, support many fonts and colors.</a:t>
            </a:r>
          </a:p>
          <a:p>
            <a:r>
              <a:rPr lang="en-US" altLang="zh-CN" sz="2400" dirty="0"/>
              <a:t>Different types of display monitors use different technology for displaying the data.</a:t>
            </a:r>
          </a:p>
          <a:p>
            <a:pPr marL="0" indent="0">
              <a:buNone/>
            </a:pPr>
            <a:r>
              <a:rPr lang="en-US" altLang="zh-C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895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fontScale="90000"/>
          </a:bodyPr>
          <a:lstStyle/>
          <a:p>
            <a:pPr algn="l"/>
            <a:r>
              <a:rPr lang="en-US" sz="5400" b="1" dirty="0">
                <a:solidFill>
                  <a:schemeClr val="tx2"/>
                </a:solidFill>
              </a:rPr>
              <a:t>Display Monitor(Cont.) </a:t>
            </a:r>
          </a:p>
        </p:txBody>
      </p:sp>
      <p:sp>
        <p:nvSpPr>
          <p:cNvPr id="6147" name="Rectangle 3"/>
          <p:cNvSpPr>
            <a:spLocks noGrp="1" noChangeArrowheads="1"/>
          </p:cNvSpPr>
          <p:nvPr>
            <p:ph type="body" idx="1"/>
          </p:nvPr>
        </p:nvSpPr>
        <p:spPr>
          <a:noFill/>
          <a:ln/>
        </p:spPr>
        <p:txBody>
          <a:bodyPr>
            <a:normAutofit/>
          </a:bodyPr>
          <a:lstStyle/>
          <a:p>
            <a:pPr algn="just">
              <a:lnSpc>
                <a:spcPct val="150000"/>
              </a:lnSpc>
            </a:pPr>
            <a:r>
              <a:rPr lang="en-US" altLang="zh-CN" sz="2400" b="1" dirty="0"/>
              <a:t>Cathode Ray Tube (CRT) Monitor</a:t>
            </a:r>
            <a:r>
              <a:rPr lang="en-US" altLang="zh-CN" sz="2400" dirty="0"/>
              <a:t>: contain an empty glass tube with a phosphor coated fluorescent screen and a source of electrons known as electron gun. A CRT monitor has many advantages, such as a high contrast ratio and color depth. It also provides a change in the resolution without affecting the clarity of the picture. But it is very bulky and occupies a lot of space on the desk. It also consumes a lot of power and produces a large amount heat.</a:t>
            </a:r>
          </a:p>
        </p:txBody>
      </p:sp>
    </p:spTree>
    <p:extLst>
      <p:ext uri="{BB962C8B-B14F-4D97-AF65-F5344CB8AC3E}">
        <p14:creationId xmlns:p14="http://schemas.microsoft.com/office/powerpoint/2010/main" val="24161744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a:normAutofit fontScale="90000"/>
          </a:bodyPr>
          <a:lstStyle/>
          <a:p>
            <a:pPr algn="l"/>
            <a:r>
              <a:rPr lang="en-US" sz="5400" b="1" dirty="0">
                <a:solidFill>
                  <a:schemeClr val="tx2"/>
                </a:solidFill>
              </a:rPr>
              <a:t>Display Monitor(Cont.)</a:t>
            </a:r>
          </a:p>
        </p:txBody>
      </p:sp>
      <p:sp>
        <p:nvSpPr>
          <p:cNvPr id="6147" name="Rectangle 3"/>
          <p:cNvSpPr>
            <a:spLocks noGrp="1" noChangeArrowheads="1"/>
          </p:cNvSpPr>
          <p:nvPr>
            <p:ph type="body" idx="1"/>
          </p:nvPr>
        </p:nvSpPr>
        <p:spPr>
          <a:noFill/>
          <a:ln/>
        </p:spPr>
        <p:txBody>
          <a:bodyPr>
            <a:normAutofit/>
          </a:bodyPr>
          <a:lstStyle/>
          <a:p>
            <a:pPr algn="just">
              <a:lnSpc>
                <a:spcPct val="90000"/>
              </a:lnSpc>
            </a:pPr>
            <a:r>
              <a:rPr lang="en-US" altLang="zh-CN" sz="2400" b="1" dirty="0">
                <a:latin typeface="Times New Roman" panose="02020603050405020304" pitchFamily="18" charset="0"/>
                <a:cs typeface="Times New Roman" panose="02020603050405020304" pitchFamily="18" charset="0"/>
              </a:rPr>
              <a:t>Liquid Crystal Display (LCD) Monitor</a:t>
            </a:r>
            <a:r>
              <a:rPr lang="en-US" altLang="zh-CN" sz="2400" dirty="0">
                <a:latin typeface="Times New Roman" panose="02020603050405020304" pitchFamily="18" charset="0"/>
                <a:cs typeface="Times New Roman" panose="02020603050405020304" pitchFamily="18" charset="0"/>
              </a:rPr>
              <a:t>: Use liquid crystals technology to display the images. An LCD monitor is small in size and light in weight so it occupies less space on the desk. Also, the power consumption by an LCD monitor is very less. However, it has a weak color quality as compared to a CRT monitor.</a:t>
            </a:r>
          </a:p>
          <a:p>
            <a:pPr marL="0" indent="0" algn="just">
              <a:lnSpc>
                <a:spcPct val="90000"/>
              </a:lnSpc>
              <a:buNone/>
            </a:pPr>
            <a:endParaRPr lang="en-US" altLang="zh-CN" sz="2400" dirty="0">
              <a:latin typeface="Times New Roman" panose="02020603050405020304" pitchFamily="18" charset="0"/>
              <a:cs typeface="Times New Roman" panose="02020603050405020304" pitchFamily="18" charset="0"/>
            </a:endParaRPr>
          </a:p>
          <a:p>
            <a:pPr algn="just">
              <a:lnSpc>
                <a:spcPct val="90000"/>
              </a:lnSpc>
            </a:pPr>
            <a:r>
              <a:rPr lang="en-US" altLang="zh-CN" sz="2400" b="1" dirty="0">
                <a:latin typeface="Times New Roman" panose="02020603050405020304" pitchFamily="18" charset="0"/>
                <a:cs typeface="Times New Roman" panose="02020603050405020304" pitchFamily="18" charset="0"/>
              </a:rPr>
              <a:t>Thin Film Transistor (TFT) Monitor</a:t>
            </a:r>
            <a:r>
              <a:rPr lang="en-US" altLang="zh-CN" sz="2400" dirty="0">
                <a:latin typeface="Times New Roman" panose="02020603050405020304" pitchFamily="18" charset="0"/>
                <a:cs typeface="Times New Roman" panose="02020603050405020304" pitchFamily="18" charset="0"/>
              </a:rPr>
              <a:t>: A TFT monitor is similar to an LCD monitor except for one difference that it uses thin film transistor technology along with liquid crystal technology to improve the quality of the image. </a:t>
            </a:r>
          </a:p>
        </p:txBody>
      </p:sp>
    </p:spTree>
    <p:extLst>
      <p:ext uri="{BB962C8B-B14F-4D97-AF65-F5344CB8AC3E}">
        <p14:creationId xmlns:p14="http://schemas.microsoft.com/office/powerpoint/2010/main" val="16505499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71272" y="381000"/>
            <a:ext cx="8534400" cy="838200"/>
          </a:xfrm>
          <a:noFill/>
          <a:ln/>
        </p:spPr>
        <p:txBody>
          <a:bodyPr>
            <a:noAutofit/>
          </a:bodyPr>
          <a:lstStyle/>
          <a:p>
            <a:r>
              <a:rPr lang="en-US" sz="4400" b="1" dirty="0">
                <a:solidFill>
                  <a:schemeClr val="tx2"/>
                </a:solidFill>
              </a:rPr>
              <a:t>Factors Affecting Monitors:</a:t>
            </a:r>
          </a:p>
        </p:txBody>
      </p:sp>
      <p:sp>
        <p:nvSpPr>
          <p:cNvPr id="7171" name="Rectangle 3"/>
          <p:cNvSpPr>
            <a:spLocks noGrp="1" noChangeArrowheads="1"/>
          </p:cNvSpPr>
          <p:nvPr>
            <p:ph type="body" idx="1"/>
          </p:nvPr>
        </p:nvSpPr>
        <p:spPr>
          <a:noFill/>
          <a:ln/>
        </p:spPr>
        <p:txBody>
          <a:bodyPr>
            <a:normAutofit/>
          </a:bodyPr>
          <a:lstStyle/>
          <a:p>
            <a:pPr>
              <a:lnSpc>
                <a:spcPct val="120000"/>
              </a:lnSpc>
            </a:pPr>
            <a:r>
              <a:rPr lang="en-US" sz="3200" dirty="0"/>
              <a:t>Size</a:t>
            </a:r>
          </a:p>
          <a:p>
            <a:pPr>
              <a:lnSpc>
                <a:spcPct val="120000"/>
              </a:lnSpc>
            </a:pPr>
            <a:r>
              <a:rPr lang="en-US" sz="3200" dirty="0"/>
              <a:t>Resolution</a:t>
            </a:r>
          </a:p>
          <a:p>
            <a:pPr>
              <a:lnSpc>
                <a:spcPct val="120000"/>
              </a:lnSpc>
            </a:pPr>
            <a:r>
              <a:rPr lang="en-US" sz="3200" dirty="0"/>
              <a:t>Refresh rate</a:t>
            </a:r>
          </a:p>
          <a:p>
            <a:pPr>
              <a:lnSpc>
                <a:spcPct val="120000"/>
              </a:lnSpc>
            </a:pPr>
            <a:r>
              <a:rPr lang="en-US" sz="3200" dirty="0"/>
              <a:t>Dot pitch</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srcRect l="20313" t="18192" r="63573" b="59106"/>
          <a:stretch>
            <a:fillRect/>
          </a:stretch>
        </p:blipFill>
        <p:spPr bwMode="auto">
          <a:xfrm>
            <a:off x="1066800" y="1219200"/>
            <a:ext cx="3429000" cy="3505200"/>
          </a:xfrm>
          <a:prstGeom prst="rect">
            <a:avLst/>
          </a:prstGeom>
          <a:noFill/>
          <a:ln w="9525">
            <a:noFill/>
            <a:miter lim="800000"/>
            <a:headEnd/>
            <a:tailEnd/>
          </a:ln>
          <a:effectLst/>
        </p:spPr>
      </p:pic>
      <p:grpSp>
        <p:nvGrpSpPr>
          <p:cNvPr id="2" name="Group 16"/>
          <p:cNvGrpSpPr>
            <a:grpSpLocks/>
          </p:cNvGrpSpPr>
          <p:nvPr/>
        </p:nvGrpSpPr>
        <p:grpSpPr bwMode="auto">
          <a:xfrm>
            <a:off x="463550" y="533400"/>
            <a:ext cx="3802063" cy="3713163"/>
            <a:chOff x="292" y="336"/>
            <a:chExt cx="2395" cy="2339"/>
          </a:xfrm>
        </p:grpSpPr>
        <p:sp>
          <p:nvSpPr>
            <p:cNvPr id="14340" name="Line 4"/>
            <p:cNvSpPr>
              <a:spLocks noChangeShapeType="1"/>
            </p:cNvSpPr>
            <p:nvPr/>
          </p:nvSpPr>
          <p:spPr bwMode="auto">
            <a:xfrm flipV="1">
              <a:off x="1224" y="1328"/>
              <a:ext cx="1463" cy="1347"/>
            </a:xfrm>
            <a:prstGeom prst="line">
              <a:avLst/>
            </a:prstGeom>
            <a:noFill/>
            <a:ln w="76200">
              <a:solidFill>
                <a:schemeClr val="accent2"/>
              </a:solidFill>
              <a:round/>
              <a:headEnd type="triangle" w="med" len="med"/>
              <a:tailEnd type="triangle" w="med" len="med"/>
            </a:ln>
            <a:effectLst/>
          </p:spPr>
          <p:txBody>
            <a:bodyPr wrap="none" anchor="ctr"/>
            <a:lstStyle/>
            <a:p>
              <a:endParaRPr lang="en-US"/>
            </a:p>
          </p:txBody>
        </p:sp>
        <p:sp>
          <p:nvSpPr>
            <p:cNvPr id="14341" name="Text Box 5"/>
            <p:cNvSpPr txBox="1">
              <a:spLocks noChangeArrowheads="1"/>
            </p:cNvSpPr>
            <p:nvPr/>
          </p:nvSpPr>
          <p:spPr bwMode="auto">
            <a:xfrm>
              <a:off x="292" y="336"/>
              <a:ext cx="1366" cy="407"/>
            </a:xfrm>
            <a:prstGeom prst="rect">
              <a:avLst/>
            </a:prstGeom>
            <a:noFill/>
            <a:ln w="12700">
              <a:noFill/>
              <a:miter lim="800000"/>
              <a:headEnd type="none" w="sm" len="sm"/>
              <a:tailEnd type="none" w="sm" len="sm"/>
            </a:ln>
            <a:effectLst/>
          </p:spPr>
          <p:txBody>
            <a:bodyPr wrap="none">
              <a:spAutoFit/>
            </a:bodyPr>
            <a:lstStyle/>
            <a:p>
              <a:pPr algn="ctr"/>
              <a:r>
                <a:rPr lang="en-US" b="1" dirty="0">
                  <a:solidFill>
                    <a:srgbClr val="C00000"/>
                  </a:solidFill>
                </a:rPr>
                <a:t>Size is measured</a:t>
              </a:r>
            </a:p>
            <a:p>
              <a:pPr algn="ctr"/>
              <a:r>
                <a:rPr lang="en-US" b="1" dirty="0">
                  <a:solidFill>
                    <a:srgbClr val="C00000"/>
                  </a:solidFill>
                </a:rPr>
                <a:t>diagonally.</a:t>
              </a:r>
            </a:p>
          </p:txBody>
        </p:sp>
      </p:grpSp>
      <p:sp>
        <p:nvSpPr>
          <p:cNvPr id="14344" name="Text Box 8"/>
          <p:cNvSpPr txBox="1">
            <a:spLocks noChangeArrowheads="1"/>
          </p:cNvSpPr>
          <p:nvPr/>
        </p:nvSpPr>
        <p:spPr bwMode="auto">
          <a:xfrm>
            <a:off x="160338" y="4841875"/>
            <a:ext cx="3448050" cy="822325"/>
          </a:xfrm>
          <a:prstGeom prst="rect">
            <a:avLst/>
          </a:prstGeom>
          <a:noFill/>
          <a:ln w="12700">
            <a:noFill/>
            <a:miter lim="800000"/>
            <a:headEnd type="none" w="sm" len="sm"/>
            <a:tailEnd type="none" w="sm" len="sm"/>
          </a:ln>
          <a:effectLst/>
        </p:spPr>
        <p:txBody>
          <a:bodyPr wrap="none">
            <a:spAutoFit/>
          </a:bodyPr>
          <a:lstStyle/>
          <a:p>
            <a:pPr algn="ctr"/>
            <a:r>
              <a:rPr lang="en-US" b="1">
                <a:solidFill>
                  <a:srgbClr val="FF0000"/>
                </a:solidFill>
              </a:rPr>
              <a:t>Resolution = no. of pixels</a:t>
            </a:r>
          </a:p>
          <a:p>
            <a:pPr algn="ctr"/>
            <a:r>
              <a:rPr lang="en-US" b="1">
                <a:solidFill>
                  <a:srgbClr val="FF0000"/>
                </a:solidFill>
              </a:rPr>
              <a:t>(i.e. 1024 x 768)</a:t>
            </a:r>
          </a:p>
        </p:txBody>
      </p:sp>
      <p:sp>
        <p:nvSpPr>
          <p:cNvPr id="14345" name="Text Box 9"/>
          <p:cNvSpPr txBox="1">
            <a:spLocks noChangeArrowheads="1"/>
          </p:cNvSpPr>
          <p:nvPr/>
        </p:nvSpPr>
        <p:spPr bwMode="auto">
          <a:xfrm>
            <a:off x="4876800" y="2895600"/>
            <a:ext cx="3489325" cy="822325"/>
          </a:xfrm>
          <a:prstGeom prst="rect">
            <a:avLst/>
          </a:prstGeom>
          <a:noFill/>
          <a:ln w="12700">
            <a:noFill/>
            <a:miter lim="800000"/>
            <a:headEnd type="none" w="sm" len="sm"/>
            <a:tailEnd type="none" w="sm" len="sm"/>
          </a:ln>
          <a:effectLst/>
        </p:spPr>
        <p:txBody>
          <a:bodyPr wrap="none">
            <a:spAutoFit/>
          </a:bodyPr>
          <a:lstStyle/>
          <a:p>
            <a:pPr algn="ctr"/>
            <a:r>
              <a:rPr lang="en-US" b="1">
                <a:solidFill>
                  <a:srgbClr val="FF0000"/>
                </a:solidFill>
              </a:rPr>
              <a:t>Refresh rate = number of</a:t>
            </a:r>
          </a:p>
          <a:p>
            <a:pPr algn="ctr"/>
            <a:r>
              <a:rPr lang="en-US" b="1">
                <a:solidFill>
                  <a:srgbClr val="FF0000"/>
                </a:solidFill>
              </a:rPr>
              <a:t>frames in one second</a:t>
            </a:r>
          </a:p>
        </p:txBody>
      </p:sp>
      <p:sp>
        <p:nvSpPr>
          <p:cNvPr id="14346" name="Text Box 10"/>
          <p:cNvSpPr txBox="1">
            <a:spLocks noChangeArrowheads="1"/>
          </p:cNvSpPr>
          <p:nvPr/>
        </p:nvSpPr>
        <p:spPr bwMode="auto">
          <a:xfrm>
            <a:off x="4972050" y="412750"/>
            <a:ext cx="3105150" cy="1187450"/>
          </a:xfrm>
          <a:prstGeom prst="rect">
            <a:avLst/>
          </a:prstGeom>
          <a:noFill/>
          <a:ln w="12700">
            <a:noFill/>
            <a:miter lim="800000"/>
            <a:headEnd type="none" w="sm" len="sm"/>
            <a:tailEnd type="none" w="sm" len="sm"/>
          </a:ln>
          <a:effectLst/>
        </p:spPr>
        <p:txBody>
          <a:bodyPr wrap="none">
            <a:spAutoFit/>
          </a:bodyPr>
          <a:lstStyle/>
          <a:p>
            <a:pPr algn="ctr"/>
            <a:r>
              <a:rPr lang="en-US" b="1" dirty="0">
                <a:solidFill>
                  <a:srgbClr val="FF0000"/>
                </a:solidFill>
              </a:rPr>
              <a:t>The picture is scanned</a:t>
            </a:r>
          </a:p>
          <a:p>
            <a:pPr algn="ctr"/>
            <a:r>
              <a:rPr lang="en-US" b="1" dirty="0">
                <a:solidFill>
                  <a:srgbClr val="FF0000"/>
                </a:solidFill>
              </a:rPr>
              <a:t>from left to right and</a:t>
            </a:r>
          </a:p>
          <a:p>
            <a:pPr algn="ctr"/>
            <a:r>
              <a:rPr lang="en-US" b="1" dirty="0">
                <a:solidFill>
                  <a:srgbClr val="FF0000"/>
                </a:solidFill>
              </a:rPr>
              <a:t>from top to bottom.</a:t>
            </a:r>
          </a:p>
        </p:txBody>
      </p:sp>
      <p:sp>
        <p:nvSpPr>
          <p:cNvPr id="14347" name="Text Box 11"/>
          <p:cNvSpPr txBox="1">
            <a:spLocks noChangeArrowheads="1"/>
          </p:cNvSpPr>
          <p:nvPr/>
        </p:nvSpPr>
        <p:spPr bwMode="auto">
          <a:xfrm>
            <a:off x="4922838" y="1793875"/>
            <a:ext cx="3382962" cy="822325"/>
          </a:xfrm>
          <a:prstGeom prst="rect">
            <a:avLst/>
          </a:prstGeom>
          <a:noFill/>
          <a:ln w="12700">
            <a:noFill/>
            <a:miter lim="800000"/>
            <a:headEnd type="none" w="sm" len="sm"/>
            <a:tailEnd type="none" w="sm" len="sm"/>
          </a:ln>
          <a:effectLst/>
        </p:spPr>
        <p:txBody>
          <a:bodyPr wrap="none">
            <a:spAutoFit/>
          </a:bodyPr>
          <a:lstStyle/>
          <a:p>
            <a:pPr algn="ctr"/>
            <a:r>
              <a:rPr lang="en-US" b="1" dirty="0">
                <a:solidFill>
                  <a:schemeClr val="accent2"/>
                </a:solidFill>
              </a:rPr>
              <a:t>One complete set of scan</a:t>
            </a:r>
          </a:p>
          <a:p>
            <a:pPr algn="ctr"/>
            <a:r>
              <a:rPr lang="en-US" b="1" dirty="0">
                <a:solidFill>
                  <a:schemeClr val="accent2"/>
                </a:solidFill>
              </a:rPr>
              <a:t>lines is called a frame.</a:t>
            </a:r>
          </a:p>
        </p:txBody>
      </p:sp>
      <p:grpSp>
        <p:nvGrpSpPr>
          <p:cNvPr id="3" name="Group 14"/>
          <p:cNvGrpSpPr>
            <a:grpSpLocks/>
          </p:cNvGrpSpPr>
          <p:nvPr/>
        </p:nvGrpSpPr>
        <p:grpSpPr bwMode="auto">
          <a:xfrm>
            <a:off x="3962400" y="3429000"/>
            <a:ext cx="4648200" cy="2971800"/>
            <a:chOff x="2496" y="2160"/>
            <a:chExt cx="2928" cy="1872"/>
          </a:xfrm>
        </p:grpSpPr>
        <p:pic>
          <p:nvPicPr>
            <p:cNvPr id="14339" name="Picture 3"/>
            <p:cNvPicPr>
              <a:picLocks noChangeAspect="1" noChangeArrowheads="1"/>
            </p:cNvPicPr>
            <p:nvPr/>
          </p:nvPicPr>
          <p:blipFill>
            <a:blip r:embed="rId3"/>
            <a:srcRect l="38281" t="30618" r="23438" b="47847"/>
            <a:stretch>
              <a:fillRect/>
            </a:stretch>
          </p:blipFill>
          <p:spPr bwMode="auto">
            <a:xfrm>
              <a:off x="3072" y="2976"/>
              <a:ext cx="2352" cy="960"/>
            </a:xfrm>
            <a:prstGeom prst="rect">
              <a:avLst/>
            </a:prstGeom>
            <a:noFill/>
            <a:ln w="12700">
              <a:noFill/>
              <a:miter lim="800000"/>
              <a:headEnd type="none" w="sm" len="sm"/>
              <a:tailEnd type="none" w="sm" len="sm"/>
            </a:ln>
            <a:effectLst/>
          </p:spPr>
        </p:pic>
        <p:sp>
          <p:nvSpPr>
            <p:cNvPr id="14348" name="Line 12"/>
            <p:cNvSpPr>
              <a:spLocks noChangeShapeType="1"/>
            </p:cNvSpPr>
            <p:nvPr/>
          </p:nvSpPr>
          <p:spPr bwMode="auto">
            <a:xfrm flipH="1" flipV="1">
              <a:off x="2496" y="2160"/>
              <a:ext cx="2832" cy="816"/>
            </a:xfrm>
            <a:prstGeom prst="line">
              <a:avLst/>
            </a:prstGeom>
            <a:noFill/>
            <a:ln w="12700">
              <a:solidFill>
                <a:schemeClr val="tx1"/>
              </a:solidFill>
              <a:round/>
              <a:headEnd type="none" w="sm" len="sm"/>
              <a:tailEnd type="none" w="sm" len="sm"/>
            </a:ln>
            <a:effectLst/>
          </p:spPr>
          <p:txBody>
            <a:bodyPr wrap="none" anchor="ctr"/>
            <a:lstStyle/>
            <a:p>
              <a:endParaRPr lang="en-US"/>
            </a:p>
          </p:txBody>
        </p:sp>
        <p:sp>
          <p:nvSpPr>
            <p:cNvPr id="14349" name="Line 13"/>
            <p:cNvSpPr>
              <a:spLocks noChangeShapeType="1"/>
            </p:cNvSpPr>
            <p:nvPr/>
          </p:nvSpPr>
          <p:spPr bwMode="auto">
            <a:xfrm>
              <a:off x="2496" y="2160"/>
              <a:ext cx="432" cy="1872"/>
            </a:xfrm>
            <a:prstGeom prst="line">
              <a:avLst/>
            </a:prstGeom>
            <a:noFill/>
            <a:ln w="12700">
              <a:solidFill>
                <a:schemeClr val="tx1"/>
              </a:solidFill>
              <a:round/>
              <a:headEnd type="none" w="sm" len="sm"/>
              <a:tailEnd type="none" w="sm" len="sm"/>
            </a:ln>
            <a:effectLst/>
          </p:spPr>
          <p:txBody>
            <a:bodyPr wrap="none" anchor="ctr"/>
            <a:lstStyle/>
            <a:p>
              <a:endParaRPr lang="en-US"/>
            </a:p>
          </p:txBody>
        </p:sp>
      </p:grpSp>
      <p:grpSp>
        <p:nvGrpSpPr>
          <p:cNvPr id="4" name="Group 15"/>
          <p:cNvGrpSpPr>
            <a:grpSpLocks/>
          </p:cNvGrpSpPr>
          <p:nvPr/>
        </p:nvGrpSpPr>
        <p:grpSpPr bwMode="auto">
          <a:xfrm>
            <a:off x="4787901" y="4673601"/>
            <a:ext cx="3167063" cy="1944688"/>
            <a:chOff x="3016" y="2944"/>
            <a:chExt cx="1995" cy="1225"/>
          </a:xfrm>
        </p:grpSpPr>
        <p:sp>
          <p:nvSpPr>
            <p:cNvPr id="14343" name="Text Box 7"/>
            <p:cNvSpPr txBox="1">
              <a:spLocks noChangeArrowheads="1"/>
            </p:cNvSpPr>
            <p:nvPr/>
          </p:nvSpPr>
          <p:spPr bwMode="auto">
            <a:xfrm>
              <a:off x="3024" y="3936"/>
              <a:ext cx="1987" cy="233"/>
            </a:xfrm>
            <a:prstGeom prst="rect">
              <a:avLst/>
            </a:prstGeom>
            <a:noFill/>
            <a:ln w="12700">
              <a:noFill/>
              <a:miter lim="800000"/>
              <a:headEnd type="none" w="sm" len="sm"/>
              <a:tailEnd type="none" w="sm" len="sm"/>
            </a:ln>
            <a:effectLst/>
          </p:spPr>
          <p:txBody>
            <a:bodyPr wrap="none">
              <a:spAutoFit/>
            </a:bodyPr>
            <a:lstStyle/>
            <a:p>
              <a:r>
                <a:rPr lang="en-US" b="1" dirty="0"/>
                <a:t>1 pixel in a color monitor</a:t>
              </a:r>
            </a:p>
          </p:txBody>
        </p:sp>
        <p:sp>
          <p:nvSpPr>
            <p:cNvPr id="14342" name="AutoShape 6"/>
            <p:cNvSpPr>
              <a:spLocks noChangeArrowheads="1"/>
            </p:cNvSpPr>
            <p:nvPr/>
          </p:nvSpPr>
          <p:spPr bwMode="auto">
            <a:xfrm>
              <a:off x="3016" y="2944"/>
              <a:ext cx="720" cy="1008"/>
            </a:xfrm>
            <a:prstGeom prst="roundRect">
              <a:avLst>
                <a:gd name="adj" fmla="val 16667"/>
              </a:avLst>
            </a:prstGeom>
            <a:noFill/>
            <a:ln w="38100">
              <a:solidFill>
                <a:schemeClr val="accent2"/>
              </a:solidFill>
              <a:round/>
              <a:headEnd type="none" w="sm" len="sm"/>
              <a:tailEnd type="none" w="sm" len="sm"/>
            </a:ln>
            <a:effec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1000"/>
                                  </p:stCondLst>
                                  <p:childTnLst>
                                    <p:set>
                                      <p:cBhvr>
                                        <p:cTn id="6" dur="1" fill="hold">
                                          <p:stCondLst>
                                            <p:cond delay="0"/>
                                          </p:stCondLst>
                                        </p:cTn>
                                        <p:tgtEl>
                                          <p:spTgt spid="14346"/>
                                        </p:tgtEl>
                                        <p:attrNameLst>
                                          <p:attrName>style.visibility</p:attrName>
                                        </p:attrNameLst>
                                      </p:cBhvr>
                                      <p:to>
                                        <p:strVal val="visible"/>
                                      </p:to>
                                    </p:set>
                                    <p:anim calcmode="lin" valueType="num">
                                      <p:cBhvr additive="base">
                                        <p:cTn id="7" dur="500" fill="hold"/>
                                        <p:tgtEl>
                                          <p:spTgt spid="14346"/>
                                        </p:tgtEl>
                                        <p:attrNameLst>
                                          <p:attrName>ppt_x</p:attrName>
                                        </p:attrNameLst>
                                      </p:cBhvr>
                                      <p:tavLst>
                                        <p:tav tm="0">
                                          <p:val>
                                            <p:strVal val="0-#ppt_w/2"/>
                                          </p:val>
                                        </p:tav>
                                        <p:tav tm="100000">
                                          <p:val>
                                            <p:strVal val="#ppt_x"/>
                                          </p:val>
                                        </p:tav>
                                      </p:tavLst>
                                    </p:anim>
                                    <p:anim calcmode="lin" valueType="num">
                                      <p:cBhvr additive="base">
                                        <p:cTn id="8" dur="500" fill="hold"/>
                                        <p:tgtEl>
                                          <p:spTgt spid="14346"/>
                                        </p:tgtEl>
                                        <p:attrNameLst>
                                          <p:attrName>ppt_y</p:attrName>
                                        </p:attrNameLst>
                                      </p:cBhvr>
                                      <p:tavLst>
                                        <p:tav tm="0">
                                          <p:val>
                                            <p:strVal val="0-#ppt_h/2"/>
                                          </p:val>
                                        </p:tav>
                                        <p:tav tm="100000">
                                          <p:val>
                                            <p:strVal val="#ppt_y"/>
                                          </p:val>
                                        </p:tav>
                                      </p:tavLst>
                                    </p:anim>
                                  </p:childTnLst>
                                </p:cTn>
                              </p:par>
                            </p:childTnLst>
                          </p:cTn>
                        </p:par>
                        <p:par>
                          <p:cTn id="9" fill="hold">
                            <p:stCondLst>
                              <p:cond delay="1500"/>
                            </p:stCondLst>
                            <p:childTnLst>
                              <p:par>
                                <p:cTn id="10" presetID="12" presetClass="entr" presetSubtype="8" fill="hold" grpId="0" nodeType="afterEffect">
                                  <p:stCondLst>
                                    <p:cond delay="1000"/>
                                  </p:stCondLst>
                                  <p:childTnLst>
                                    <p:set>
                                      <p:cBhvr>
                                        <p:cTn id="11" dur="1" fill="hold">
                                          <p:stCondLst>
                                            <p:cond delay="0"/>
                                          </p:stCondLst>
                                        </p:cTn>
                                        <p:tgtEl>
                                          <p:spTgt spid="14347"/>
                                        </p:tgtEl>
                                        <p:attrNameLst>
                                          <p:attrName>style.visibility</p:attrName>
                                        </p:attrNameLst>
                                      </p:cBhvr>
                                      <p:to>
                                        <p:strVal val="visible"/>
                                      </p:to>
                                    </p:set>
                                    <p:animEffect transition="in" filter="slide(fromLeft)">
                                      <p:cBhvr>
                                        <p:cTn id="12" dur="500"/>
                                        <p:tgtEl>
                                          <p:spTgt spid="14347"/>
                                        </p:tgtEl>
                                      </p:cBhvr>
                                    </p:animEffect>
                                  </p:childTnLst>
                                </p:cTn>
                              </p:par>
                            </p:childTnLst>
                          </p:cTn>
                        </p:par>
                        <p:par>
                          <p:cTn id="13" fill="hold">
                            <p:stCondLst>
                              <p:cond delay="3000"/>
                            </p:stCondLst>
                            <p:childTnLst>
                              <p:par>
                                <p:cTn id="14" presetID="12" presetClass="entr" presetSubtype="1" fill="hold" grpId="0" nodeType="afterEffect">
                                  <p:stCondLst>
                                    <p:cond delay="1000"/>
                                  </p:stCondLst>
                                  <p:childTnLst>
                                    <p:set>
                                      <p:cBhvr>
                                        <p:cTn id="15" dur="1" fill="hold">
                                          <p:stCondLst>
                                            <p:cond delay="0"/>
                                          </p:stCondLst>
                                        </p:cTn>
                                        <p:tgtEl>
                                          <p:spTgt spid="14345"/>
                                        </p:tgtEl>
                                        <p:attrNameLst>
                                          <p:attrName>style.visibility</p:attrName>
                                        </p:attrNameLst>
                                      </p:cBhvr>
                                      <p:to>
                                        <p:strVal val="visible"/>
                                      </p:to>
                                    </p:set>
                                    <p:animEffect transition="in" filter="slide(fromTop)">
                                      <p:cBhvr>
                                        <p:cTn id="16" dur="500"/>
                                        <p:tgtEl>
                                          <p:spTgt spid="14345"/>
                                        </p:tgtEl>
                                      </p:cBhvr>
                                    </p:animEffect>
                                  </p:childTnLst>
                                </p:cTn>
                              </p:par>
                            </p:childTnLst>
                          </p:cTn>
                        </p:par>
                        <p:par>
                          <p:cTn id="17" fill="hold">
                            <p:stCondLst>
                              <p:cond delay="4500"/>
                            </p:stCondLst>
                            <p:childTnLst>
                              <p:par>
                                <p:cTn id="18" presetID="2" presetClass="entr" presetSubtype="9" fill="hold" nodeType="afterEffect">
                                  <p:stCondLst>
                                    <p:cond delay="100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0-#ppt_w/2"/>
                                          </p:val>
                                        </p:tav>
                                        <p:tav tm="100000">
                                          <p:val>
                                            <p:strVal val="#ppt_x"/>
                                          </p:val>
                                        </p:tav>
                                      </p:tavLst>
                                    </p:anim>
                                    <p:anim calcmode="lin" valueType="num">
                                      <p:cBhvr additive="base">
                                        <p:cTn id="21" dur="500" fill="hold"/>
                                        <p:tgtEl>
                                          <p:spTgt spid="2"/>
                                        </p:tgtEl>
                                        <p:attrNameLst>
                                          <p:attrName>ppt_y</p:attrName>
                                        </p:attrNameLst>
                                      </p:cBhvr>
                                      <p:tavLst>
                                        <p:tav tm="0">
                                          <p:val>
                                            <p:strVal val="0-#ppt_h/2"/>
                                          </p:val>
                                        </p:tav>
                                        <p:tav tm="100000">
                                          <p:val>
                                            <p:strVal val="#ppt_y"/>
                                          </p:val>
                                        </p:tav>
                                      </p:tavLst>
                                    </p:anim>
                                  </p:childTnLst>
                                </p:cTn>
                              </p:par>
                            </p:childTnLst>
                          </p:cTn>
                        </p:par>
                        <p:par>
                          <p:cTn id="22" fill="hold">
                            <p:stCondLst>
                              <p:cond delay="6000"/>
                            </p:stCondLst>
                            <p:childTnLst>
                              <p:par>
                                <p:cTn id="23" presetID="22" presetClass="entr" presetSubtype="8" fill="hold" nodeType="afterEffect">
                                  <p:stCondLst>
                                    <p:cond delay="100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childTnLst>
                          </p:cTn>
                        </p:par>
                        <p:par>
                          <p:cTn id="26" fill="hold">
                            <p:stCondLst>
                              <p:cond delay="7500"/>
                            </p:stCondLst>
                            <p:childTnLst>
                              <p:par>
                                <p:cTn id="27" presetID="9" presetClass="entr" presetSubtype="0" fill="hold" nodeType="afterEffect">
                                  <p:stCondLst>
                                    <p:cond delay="1000"/>
                                  </p:stCondLst>
                                  <p:childTnLst>
                                    <p:set>
                                      <p:cBhvr>
                                        <p:cTn id="28" dur="1" fill="hold">
                                          <p:stCondLst>
                                            <p:cond delay="0"/>
                                          </p:stCondLst>
                                        </p:cTn>
                                        <p:tgtEl>
                                          <p:spTgt spid="4"/>
                                        </p:tgtEl>
                                        <p:attrNameLst>
                                          <p:attrName>style.visibility</p:attrName>
                                        </p:attrNameLst>
                                      </p:cBhvr>
                                      <p:to>
                                        <p:strVal val="visible"/>
                                      </p:to>
                                    </p:set>
                                    <p:animEffect transition="in" filter="dissolve">
                                      <p:cBhvr>
                                        <p:cTn id="29" dur="500"/>
                                        <p:tgtEl>
                                          <p:spTgt spid="4"/>
                                        </p:tgtEl>
                                      </p:cBhvr>
                                    </p:animEffect>
                                  </p:childTnLst>
                                </p:cTn>
                              </p:par>
                            </p:childTnLst>
                          </p:cTn>
                        </p:par>
                        <p:par>
                          <p:cTn id="30" fill="hold">
                            <p:stCondLst>
                              <p:cond delay="9000"/>
                            </p:stCondLst>
                            <p:childTnLst>
                              <p:par>
                                <p:cTn id="31" presetID="2" presetClass="entr" presetSubtype="2" fill="hold" grpId="0" nodeType="afterEffect">
                                  <p:stCondLst>
                                    <p:cond delay="1000"/>
                                  </p:stCondLst>
                                  <p:childTnLst>
                                    <p:set>
                                      <p:cBhvr>
                                        <p:cTn id="32" dur="1" fill="hold">
                                          <p:stCondLst>
                                            <p:cond delay="0"/>
                                          </p:stCondLst>
                                        </p:cTn>
                                        <p:tgtEl>
                                          <p:spTgt spid="14344"/>
                                        </p:tgtEl>
                                        <p:attrNameLst>
                                          <p:attrName>style.visibility</p:attrName>
                                        </p:attrNameLst>
                                      </p:cBhvr>
                                      <p:to>
                                        <p:strVal val="visible"/>
                                      </p:to>
                                    </p:set>
                                    <p:anim calcmode="lin" valueType="num">
                                      <p:cBhvr additive="base">
                                        <p:cTn id="33" dur="500" fill="hold"/>
                                        <p:tgtEl>
                                          <p:spTgt spid="14344"/>
                                        </p:tgtEl>
                                        <p:attrNameLst>
                                          <p:attrName>ppt_x</p:attrName>
                                        </p:attrNameLst>
                                      </p:cBhvr>
                                      <p:tavLst>
                                        <p:tav tm="0">
                                          <p:val>
                                            <p:strVal val="1+#ppt_w/2"/>
                                          </p:val>
                                        </p:tav>
                                        <p:tav tm="100000">
                                          <p:val>
                                            <p:strVal val="#ppt_x"/>
                                          </p:val>
                                        </p:tav>
                                      </p:tavLst>
                                    </p:anim>
                                    <p:anim calcmode="lin" valueType="num">
                                      <p:cBhvr additive="base">
                                        <p:cTn id="34" dur="500" fill="hold"/>
                                        <p:tgtEl>
                                          <p:spTgt spid="143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4" grpId="0" autoUpdateAnimBg="0"/>
      <p:bldP spid="14345" grpId="0" autoUpdateAnimBg="0"/>
      <p:bldP spid="14346" grpId="0" autoUpdateAnimBg="0"/>
      <p:bldP spid="1434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685800" y="609600"/>
            <a:ext cx="7772400" cy="1143000"/>
          </a:xfrm>
          <a:prstGeom prst="rect">
            <a:avLst/>
          </a:prstGeom>
          <a:noFill/>
          <a:ln w="9525">
            <a:noFill/>
            <a:miter lim="800000"/>
            <a:headEnd/>
            <a:tailEnd/>
          </a:ln>
          <a:effectLst/>
        </p:spPr>
        <p:txBody>
          <a:bodyPr lIns="92075" tIns="46038" rIns="92075" bIns="46038" anchor="ctr"/>
          <a:lstStyle/>
          <a:p>
            <a:pPr algn="ctr"/>
            <a:r>
              <a:rPr lang="en-US" sz="5400" b="1">
                <a:solidFill>
                  <a:schemeClr val="tx2"/>
                </a:solidFill>
              </a:rPr>
              <a:t>Flat-Panel Monitors:</a:t>
            </a:r>
          </a:p>
        </p:txBody>
      </p:sp>
      <p:sp>
        <p:nvSpPr>
          <p:cNvPr id="8195" name="Rectangle 3"/>
          <p:cNvSpPr>
            <a:spLocks noChangeArrowheads="1"/>
          </p:cNvSpPr>
          <p:nvPr/>
        </p:nvSpPr>
        <p:spPr bwMode="auto">
          <a:xfrm>
            <a:off x="533400" y="1600200"/>
            <a:ext cx="7772400" cy="4114800"/>
          </a:xfrm>
          <a:prstGeom prst="rect">
            <a:avLst/>
          </a:prstGeom>
          <a:noFill/>
          <a:ln w="9525">
            <a:noFill/>
            <a:miter lim="800000"/>
            <a:headEnd/>
            <a:tailEnd/>
          </a:ln>
          <a:effectLst/>
        </p:spPr>
        <p:txBody>
          <a:bodyPr lIns="92075" tIns="46038" rIns="92075" bIns="46038"/>
          <a:lstStyle/>
          <a:p>
            <a:pPr marL="685800" indent="-685800">
              <a:lnSpc>
                <a:spcPct val="140000"/>
              </a:lnSpc>
              <a:spcBef>
                <a:spcPct val="20000"/>
              </a:spcBef>
              <a:buClr>
                <a:schemeClr val="accent1"/>
              </a:buClr>
              <a:buFont typeface="Arial" panose="020B0604020202020204" pitchFamily="34" charset="0"/>
              <a:buChar char="•"/>
            </a:pPr>
            <a:r>
              <a:rPr lang="en-US" sz="4800" b="1" dirty="0"/>
              <a:t>LCD</a:t>
            </a:r>
            <a:r>
              <a:rPr lang="en-US" sz="5400" b="1" dirty="0"/>
              <a:t> </a:t>
            </a:r>
            <a:r>
              <a:rPr lang="en-US" sz="3600" dirty="0"/>
              <a:t>(Liquid Crystal Display)</a:t>
            </a:r>
            <a:endParaRPr lang="en-US" sz="4800" dirty="0"/>
          </a:p>
          <a:p>
            <a:pPr marL="1485900" lvl="2" indent="-571500">
              <a:lnSpc>
                <a:spcPct val="140000"/>
              </a:lnSpc>
              <a:spcBef>
                <a:spcPct val="20000"/>
              </a:spcBef>
              <a:buClr>
                <a:schemeClr val="accent1"/>
              </a:buClr>
              <a:buFont typeface="Arial" panose="020B0604020202020204" pitchFamily="34" charset="0"/>
              <a:buChar char="•"/>
            </a:pPr>
            <a:r>
              <a:rPr lang="en-US" sz="3600" dirty="0"/>
              <a:t>Passive Matrix</a:t>
            </a:r>
          </a:p>
          <a:p>
            <a:pPr marL="1485900" lvl="2" indent="-571500">
              <a:lnSpc>
                <a:spcPct val="140000"/>
              </a:lnSpc>
              <a:spcBef>
                <a:spcPct val="20000"/>
              </a:spcBef>
              <a:buClr>
                <a:schemeClr val="accent1"/>
              </a:buClr>
              <a:buFont typeface="Arial" panose="020B0604020202020204" pitchFamily="34" charset="0"/>
              <a:buChar char="•"/>
            </a:pPr>
            <a:r>
              <a:rPr lang="en-US" sz="3600" dirty="0"/>
              <a:t>Active Matrix</a:t>
            </a:r>
          </a:p>
        </p:txBody>
      </p:sp>
      <p:grpSp>
        <p:nvGrpSpPr>
          <p:cNvPr id="2" name="Group 7"/>
          <p:cNvGrpSpPr>
            <a:grpSpLocks/>
          </p:cNvGrpSpPr>
          <p:nvPr/>
        </p:nvGrpSpPr>
        <p:grpSpPr bwMode="auto">
          <a:xfrm>
            <a:off x="685801" y="4343400"/>
            <a:ext cx="7772399" cy="1905000"/>
            <a:chOff x="432" y="2736"/>
            <a:chExt cx="4896" cy="1200"/>
          </a:xfrm>
        </p:grpSpPr>
        <p:pic>
          <p:nvPicPr>
            <p:cNvPr id="8196" name="Picture 4"/>
            <p:cNvPicPr>
              <a:picLocks noChangeAspect="1" noChangeArrowheads="1"/>
            </p:cNvPicPr>
            <p:nvPr/>
          </p:nvPicPr>
          <p:blipFill>
            <a:blip r:embed="rId2"/>
            <a:srcRect l="56250" t="23082" r="26563" b="50000"/>
            <a:stretch>
              <a:fillRect/>
            </a:stretch>
          </p:blipFill>
          <p:spPr bwMode="auto">
            <a:xfrm>
              <a:off x="4272" y="2736"/>
              <a:ext cx="1056" cy="1200"/>
            </a:xfrm>
            <a:prstGeom prst="rect">
              <a:avLst/>
            </a:prstGeom>
            <a:noFill/>
            <a:ln w="12700">
              <a:noFill/>
              <a:miter lim="800000"/>
              <a:headEnd type="none" w="sm" len="sm"/>
              <a:tailEnd type="none" w="sm" len="sm"/>
            </a:ln>
            <a:effectLst/>
          </p:spPr>
        </p:pic>
        <p:sp>
          <p:nvSpPr>
            <p:cNvPr id="8197" name="Text Box 5"/>
            <p:cNvSpPr txBox="1">
              <a:spLocks noChangeArrowheads="1"/>
            </p:cNvSpPr>
            <p:nvPr/>
          </p:nvSpPr>
          <p:spPr bwMode="auto">
            <a:xfrm>
              <a:off x="432" y="3126"/>
              <a:ext cx="3591" cy="330"/>
            </a:xfrm>
            <a:prstGeom prst="rect">
              <a:avLst/>
            </a:prstGeom>
            <a:noFill/>
            <a:ln w="12700">
              <a:noFill/>
              <a:miter lim="800000"/>
              <a:headEnd type="none" w="sm" len="sm"/>
              <a:tailEnd type="none" w="sm" len="sm"/>
            </a:ln>
            <a:effectLst/>
          </p:spPr>
          <p:txBody>
            <a:bodyPr wrap="none">
              <a:spAutoFit/>
            </a:bodyPr>
            <a:lstStyle/>
            <a:p>
              <a:r>
                <a:rPr lang="en-US" sz="2800" b="1" dirty="0">
                  <a:solidFill>
                    <a:schemeClr val="tx2"/>
                  </a:solidFill>
                </a:rPr>
                <a:t>(Notebooks use LCD displays)</a:t>
              </a:r>
            </a:p>
          </p:txBody>
        </p:sp>
        <p:sp>
          <p:nvSpPr>
            <p:cNvPr id="8198" name="Line 6"/>
            <p:cNvSpPr>
              <a:spLocks noChangeShapeType="1"/>
            </p:cNvSpPr>
            <p:nvPr/>
          </p:nvSpPr>
          <p:spPr bwMode="auto">
            <a:xfrm flipV="1">
              <a:off x="3888" y="3024"/>
              <a:ext cx="960" cy="240"/>
            </a:xfrm>
            <a:prstGeom prst="line">
              <a:avLst/>
            </a:prstGeom>
            <a:noFill/>
            <a:ln w="57150">
              <a:solidFill>
                <a:srgbClr val="FF0000"/>
              </a:solidFill>
              <a:round/>
              <a:headEnd type="none" w="sm" len="sm"/>
              <a:tailEnd type="triangle" w="sm" len="sm"/>
            </a:ln>
            <a:effec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04800" y="609600"/>
            <a:ext cx="8153400" cy="1143000"/>
          </a:xfrm>
          <a:prstGeom prst="rect">
            <a:avLst/>
          </a:prstGeom>
          <a:noFill/>
          <a:ln w="9525">
            <a:noFill/>
            <a:miter lim="800000"/>
            <a:headEnd/>
            <a:tailEnd/>
          </a:ln>
          <a:effectLst/>
        </p:spPr>
        <p:txBody>
          <a:bodyPr lIns="92075" tIns="46038" rIns="92075" bIns="46038" anchor="ctr"/>
          <a:lstStyle/>
          <a:p>
            <a:r>
              <a:rPr lang="en-US" sz="5400" b="1" dirty="0">
                <a:solidFill>
                  <a:schemeClr val="tx2"/>
                </a:solidFill>
              </a:rPr>
              <a:t>Printers</a:t>
            </a:r>
          </a:p>
        </p:txBody>
      </p:sp>
      <p:sp>
        <p:nvSpPr>
          <p:cNvPr id="8195" name="Rectangle 3"/>
          <p:cNvSpPr>
            <a:spLocks noChangeArrowheads="1"/>
          </p:cNvSpPr>
          <p:nvPr/>
        </p:nvSpPr>
        <p:spPr bwMode="auto">
          <a:xfrm>
            <a:off x="533400" y="1600200"/>
            <a:ext cx="7772400" cy="4114800"/>
          </a:xfrm>
          <a:prstGeom prst="rect">
            <a:avLst/>
          </a:prstGeom>
          <a:noFill/>
          <a:ln w="9525">
            <a:noFill/>
            <a:miter lim="800000"/>
            <a:headEnd/>
            <a:tailEnd/>
          </a:ln>
          <a:effectLst/>
        </p:spPr>
        <p:txBody>
          <a:bodyPr lIns="92075" tIns="46038" rIns="92075" bIns="46038"/>
          <a:lstStyle/>
          <a:p>
            <a:pPr marL="342900" indent="-342900">
              <a:lnSpc>
                <a:spcPct val="140000"/>
              </a:lnSpc>
              <a:spcBef>
                <a:spcPct val="20000"/>
              </a:spcBef>
              <a:buFontTx/>
              <a:buChar char="•"/>
            </a:pPr>
            <a:endParaRPr lang="en-US" sz="3600" dirty="0"/>
          </a:p>
        </p:txBody>
      </p:sp>
      <p:sp>
        <p:nvSpPr>
          <p:cNvPr id="5" name="TextBox 4"/>
          <p:cNvSpPr txBox="1"/>
          <p:nvPr/>
        </p:nvSpPr>
        <p:spPr>
          <a:xfrm>
            <a:off x="152400" y="1905000"/>
            <a:ext cx="8305800" cy="4764381"/>
          </a:xfrm>
          <a:prstGeom prst="rect">
            <a:avLst/>
          </a:prstGeom>
          <a:noFill/>
        </p:spPr>
        <p:txBody>
          <a:bodyPr wrap="square" rtlCol="0">
            <a:spAutoFit/>
          </a:bodyPr>
          <a:lstStyle/>
          <a:p>
            <a:pPr algn="just">
              <a:lnSpc>
                <a:spcPct val="90000"/>
              </a:lnSpc>
              <a:buClr>
                <a:schemeClr val="accent1"/>
              </a:buClr>
            </a:pPr>
            <a:r>
              <a:rPr lang="en-US" altLang="zh-CN" sz="2800" dirty="0"/>
              <a:t>A printer is a computer hardware that generates the hardcopy of the information processed by a computer system.</a:t>
            </a:r>
          </a:p>
          <a:p>
            <a:pPr marL="342900" indent="-342900">
              <a:lnSpc>
                <a:spcPct val="50000"/>
              </a:lnSpc>
              <a:spcBef>
                <a:spcPct val="0"/>
              </a:spcBef>
              <a:buClr>
                <a:schemeClr val="accent1"/>
              </a:buClr>
              <a:buFont typeface="Arial" panose="020B0604020202020204" pitchFamily="34" charset="0"/>
              <a:buChar char="•"/>
            </a:pPr>
            <a:endParaRPr lang="en-US" altLang="zh-CN" sz="2400" dirty="0"/>
          </a:p>
          <a:p>
            <a:pPr marL="342900" indent="-342900">
              <a:lnSpc>
                <a:spcPct val="90000"/>
              </a:lnSpc>
              <a:buClr>
                <a:schemeClr val="accent1"/>
              </a:buClr>
              <a:buSzPct val="150000"/>
              <a:buFont typeface="Arial" panose="020B0604020202020204" pitchFamily="34" charset="0"/>
              <a:buChar char="•"/>
            </a:pPr>
            <a:r>
              <a:rPr lang="en-US" altLang="zh-CN" sz="2400" b="1" dirty="0"/>
              <a:t>Impact Printers</a:t>
            </a:r>
            <a:r>
              <a:rPr lang="en-US" altLang="zh-CN" sz="2400" dirty="0"/>
              <a:t>: there exists a mechanical contact between print head and paper. Print head is the part of the printer that resembles a hammer and is responsible for transferring the ink to the paper in the form of required characters. Impact printer contains an individual print head for each character.</a:t>
            </a:r>
          </a:p>
          <a:p>
            <a:pPr marL="342900" indent="-342900">
              <a:lnSpc>
                <a:spcPct val="90000"/>
              </a:lnSpc>
              <a:buClr>
                <a:schemeClr val="accent1"/>
              </a:buClr>
              <a:buSzPct val="150000"/>
              <a:buFont typeface="Arial" panose="020B0604020202020204" pitchFamily="34" charset="0"/>
              <a:buChar char="•"/>
            </a:pPr>
            <a:r>
              <a:rPr lang="en-US" altLang="zh-CN" sz="2400" b="1" dirty="0"/>
              <a:t>Non-Impact Printers:</a:t>
            </a:r>
            <a:r>
              <a:rPr lang="en-US" altLang="zh-CN" sz="2400" dirty="0"/>
              <a:t> there exists no mechanical contact between the print head and paper. These printers spray ink on the paper with the help of a nozzle. The most popular ones are ink-jet printers and laser printers.</a:t>
            </a:r>
          </a:p>
        </p:txBody>
      </p:sp>
    </p:spTree>
    <p:extLst>
      <p:ext uri="{BB962C8B-B14F-4D97-AF65-F5344CB8AC3E}">
        <p14:creationId xmlns:p14="http://schemas.microsoft.com/office/powerpoint/2010/main" val="66436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nodePh="1">
                                  <p:stCondLst>
                                    <p:cond delay="0"/>
                                  </p:stCondLst>
                                  <p:endCondLst>
                                    <p:cond evt="begin" delay="0">
                                      <p:tn val="5"/>
                                    </p:cond>
                                  </p:endCondLst>
                                  <p:iterate type="lt">
                                    <p:tmAbs val="75"/>
                                  </p:iterate>
                                  <p:childTnLst>
                                    <p:set>
                                      <p:cBhvr>
                                        <p:cTn id="6" dur="1" fill="hold">
                                          <p:stCondLst>
                                            <p:cond delay="74"/>
                                          </p:stCondLst>
                                        </p:cTn>
                                        <p:tgtEl>
                                          <p:spTgt spid="8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a:ln/>
        </p:spPr>
        <p:txBody>
          <a:bodyPr>
            <a:normAutofit fontScale="90000"/>
          </a:bodyPr>
          <a:lstStyle/>
          <a:p>
            <a:r>
              <a:rPr lang="en-US" sz="5400" b="1" dirty="0">
                <a:solidFill>
                  <a:schemeClr val="tx2"/>
                </a:solidFill>
              </a:rPr>
              <a:t>Types of Printers:</a:t>
            </a:r>
          </a:p>
        </p:txBody>
      </p:sp>
      <p:sp>
        <p:nvSpPr>
          <p:cNvPr id="9219" name="Rectangle 3"/>
          <p:cNvSpPr>
            <a:spLocks noGrp="1" noChangeArrowheads="1"/>
          </p:cNvSpPr>
          <p:nvPr>
            <p:ph type="body" sz="half" idx="1"/>
          </p:nvPr>
        </p:nvSpPr>
        <p:spPr>
          <a:noFill/>
          <a:ln/>
        </p:spPr>
        <p:txBody>
          <a:bodyPr/>
          <a:lstStyle/>
          <a:p>
            <a:pPr>
              <a:lnSpc>
                <a:spcPct val="120000"/>
              </a:lnSpc>
            </a:pPr>
            <a:r>
              <a:rPr lang="en-US" sz="4000" dirty="0"/>
              <a:t>Ink Jet</a:t>
            </a:r>
          </a:p>
          <a:p>
            <a:pPr>
              <a:lnSpc>
                <a:spcPct val="120000"/>
              </a:lnSpc>
            </a:pPr>
            <a:r>
              <a:rPr lang="en-US" sz="4000" dirty="0"/>
              <a:t>Laser</a:t>
            </a:r>
          </a:p>
          <a:p>
            <a:pPr>
              <a:lnSpc>
                <a:spcPct val="120000"/>
              </a:lnSpc>
            </a:pPr>
            <a:r>
              <a:rPr lang="en-US" sz="4000" dirty="0"/>
              <a:t>Dot-Matrix</a:t>
            </a:r>
          </a:p>
          <a:p>
            <a:pPr>
              <a:lnSpc>
                <a:spcPct val="120000"/>
              </a:lnSpc>
            </a:pPr>
            <a:r>
              <a:rPr lang="en-US" sz="4000" dirty="0"/>
              <a:t>Thermal-Wax</a:t>
            </a:r>
          </a:p>
        </p:txBody>
      </p:sp>
      <p:sp>
        <p:nvSpPr>
          <p:cNvPr id="9220" name="Rectangle 4"/>
          <p:cNvSpPr>
            <a:spLocks noGrp="1" noChangeArrowheads="1"/>
          </p:cNvSpPr>
          <p:nvPr>
            <p:ph type="body" sz="half" idx="2"/>
          </p:nvPr>
        </p:nvSpPr>
        <p:spPr>
          <a:noFill/>
          <a:ln/>
        </p:spPr>
        <p:txBody>
          <a:bodyPr/>
          <a:lstStyle/>
          <a:p>
            <a:pPr>
              <a:lnSpc>
                <a:spcPct val="120000"/>
              </a:lnSpc>
            </a:pPr>
            <a:r>
              <a:rPr lang="en-US" sz="4000" dirty="0"/>
              <a:t>Dye-Sub</a:t>
            </a:r>
          </a:p>
          <a:p>
            <a:pPr>
              <a:lnSpc>
                <a:spcPct val="120000"/>
              </a:lnSpc>
            </a:pPr>
            <a:r>
              <a:rPr lang="en-US" sz="4000" dirty="0"/>
              <a:t>Fiery</a:t>
            </a:r>
          </a:p>
          <a:p>
            <a:pPr>
              <a:lnSpc>
                <a:spcPct val="120000"/>
              </a:lnSpc>
            </a:pPr>
            <a:r>
              <a:rPr lang="en-US" sz="4000" dirty="0"/>
              <a:t>IRIS</a:t>
            </a:r>
          </a:p>
          <a:p>
            <a:pPr>
              <a:lnSpc>
                <a:spcPct val="120000"/>
              </a:lnSpc>
            </a:pPr>
            <a:r>
              <a:rPr lang="en-US" sz="4000" dirty="0"/>
              <a:t>Plotter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lum contrast="18000"/>
          </a:blip>
          <a:srcRect l="17969" t="15546" r="56250" b="52153"/>
          <a:stretch>
            <a:fillRect/>
          </a:stretch>
        </p:blipFill>
        <p:spPr bwMode="auto">
          <a:xfrm>
            <a:off x="2286000" y="1752600"/>
            <a:ext cx="4648200" cy="4225925"/>
          </a:xfrm>
          <a:prstGeom prst="rect">
            <a:avLst/>
          </a:prstGeom>
          <a:noFill/>
          <a:ln w="9525">
            <a:noFill/>
            <a:miter lim="800000"/>
            <a:headEnd/>
            <a:tailEnd/>
          </a:ln>
          <a:effectLst/>
        </p:spPr>
      </p:pic>
      <p:sp>
        <p:nvSpPr>
          <p:cNvPr id="15363" name="Line 3"/>
          <p:cNvSpPr>
            <a:spLocks noChangeShapeType="1"/>
          </p:cNvSpPr>
          <p:nvPr/>
        </p:nvSpPr>
        <p:spPr bwMode="auto">
          <a:xfrm flipV="1">
            <a:off x="3352800" y="1905000"/>
            <a:ext cx="3124200" cy="533400"/>
          </a:xfrm>
          <a:prstGeom prst="line">
            <a:avLst/>
          </a:prstGeom>
          <a:noFill/>
          <a:ln w="12700">
            <a:solidFill>
              <a:schemeClr val="hlink"/>
            </a:solidFill>
            <a:round/>
            <a:headEnd type="none" w="sm" len="sm"/>
            <a:tailEnd type="none" w="sm" len="sm"/>
          </a:ln>
          <a:effectLst/>
        </p:spPr>
        <p:txBody>
          <a:bodyPr wrap="none" anchor="ctr"/>
          <a:lstStyle/>
          <a:p>
            <a:endParaRPr lang="en-US"/>
          </a:p>
        </p:txBody>
      </p:sp>
      <p:sp>
        <p:nvSpPr>
          <p:cNvPr id="15364" name="Line 4"/>
          <p:cNvSpPr>
            <a:spLocks noChangeShapeType="1"/>
          </p:cNvSpPr>
          <p:nvPr/>
        </p:nvSpPr>
        <p:spPr bwMode="auto">
          <a:xfrm flipV="1">
            <a:off x="3340100" y="2438400"/>
            <a:ext cx="0" cy="2133600"/>
          </a:xfrm>
          <a:prstGeom prst="line">
            <a:avLst/>
          </a:prstGeom>
          <a:noFill/>
          <a:ln w="12700">
            <a:solidFill>
              <a:schemeClr val="hlink"/>
            </a:solidFill>
            <a:round/>
            <a:headEnd type="none" w="sm" len="sm"/>
            <a:tailEnd type="none" w="sm" len="sm"/>
          </a:ln>
          <a:effectLst/>
        </p:spPr>
        <p:txBody>
          <a:bodyPr wrap="none" anchor="ctr"/>
          <a:lstStyle/>
          <a:p>
            <a:endParaRPr lang="en-US"/>
          </a:p>
        </p:txBody>
      </p:sp>
      <p:sp>
        <p:nvSpPr>
          <p:cNvPr id="15365" name="Line 5"/>
          <p:cNvSpPr>
            <a:spLocks noChangeShapeType="1"/>
          </p:cNvSpPr>
          <p:nvPr/>
        </p:nvSpPr>
        <p:spPr bwMode="auto">
          <a:xfrm flipV="1">
            <a:off x="6502400" y="1905000"/>
            <a:ext cx="0" cy="2133600"/>
          </a:xfrm>
          <a:prstGeom prst="line">
            <a:avLst/>
          </a:prstGeom>
          <a:noFill/>
          <a:ln w="12700">
            <a:solidFill>
              <a:schemeClr val="hlink"/>
            </a:solidFill>
            <a:round/>
            <a:headEnd type="none" w="sm" len="sm"/>
            <a:tailEnd type="none" w="sm" len="sm"/>
          </a:ln>
          <a:effectLst/>
        </p:spPr>
        <p:txBody>
          <a:bodyPr wrap="none" anchor="ctr"/>
          <a:lstStyle/>
          <a:p>
            <a:endParaRPr lang="en-US"/>
          </a:p>
        </p:txBody>
      </p:sp>
      <p:sp>
        <p:nvSpPr>
          <p:cNvPr id="15367" name="Text Box 7"/>
          <p:cNvSpPr txBox="1">
            <a:spLocks noChangeArrowheads="1"/>
          </p:cNvSpPr>
          <p:nvPr/>
        </p:nvSpPr>
        <p:spPr bwMode="auto">
          <a:xfrm>
            <a:off x="685800" y="520005"/>
            <a:ext cx="6934200" cy="1384995"/>
          </a:xfrm>
          <a:prstGeom prst="rect">
            <a:avLst/>
          </a:prstGeom>
          <a:noFill/>
          <a:ln w="12700">
            <a:noFill/>
            <a:miter lim="800000"/>
            <a:headEnd type="none" w="sm" len="sm"/>
            <a:tailEnd type="none" w="sm" len="sm"/>
          </a:ln>
          <a:effectLst/>
        </p:spPr>
        <p:txBody>
          <a:bodyPr wrap="square">
            <a:spAutoFit/>
          </a:bodyPr>
          <a:lstStyle/>
          <a:p>
            <a:pPr algn="ctr"/>
            <a:r>
              <a:rPr lang="en-US" sz="2800" b="1" dirty="0">
                <a:solidFill>
                  <a:schemeClr val="tx2"/>
                </a:solidFill>
              </a:rPr>
              <a:t>Ink jets are popular because of their</a:t>
            </a:r>
          </a:p>
          <a:p>
            <a:pPr algn="ctr"/>
            <a:r>
              <a:rPr lang="en-US" sz="2800" b="1" dirty="0">
                <a:solidFill>
                  <a:schemeClr val="tx2"/>
                </a:solidFill>
              </a:rPr>
              <a:t>relatively low cost and color capability.</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srcRect l="35156" t="16621" r="20313" b="51077"/>
          <a:stretch>
            <a:fillRect/>
          </a:stretch>
        </p:blipFill>
        <p:spPr bwMode="auto">
          <a:xfrm>
            <a:off x="1219200" y="2057400"/>
            <a:ext cx="6324600" cy="3328988"/>
          </a:xfrm>
          <a:prstGeom prst="rect">
            <a:avLst/>
          </a:prstGeom>
          <a:noFill/>
          <a:ln w="9525">
            <a:noFill/>
            <a:miter lim="800000"/>
            <a:headEnd/>
            <a:tailEnd/>
          </a:ln>
          <a:effectLst/>
        </p:spPr>
      </p:pic>
      <p:grpSp>
        <p:nvGrpSpPr>
          <p:cNvPr id="2" name="Group 18"/>
          <p:cNvGrpSpPr>
            <a:grpSpLocks/>
          </p:cNvGrpSpPr>
          <p:nvPr/>
        </p:nvGrpSpPr>
        <p:grpSpPr bwMode="auto">
          <a:xfrm>
            <a:off x="3200400" y="4572000"/>
            <a:ext cx="2120900" cy="1981200"/>
            <a:chOff x="2016" y="2880"/>
            <a:chExt cx="1336" cy="1248"/>
          </a:xfrm>
        </p:grpSpPr>
        <p:sp>
          <p:nvSpPr>
            <p:cNvPr id="16387" name="Text Box 3"/>
            <p:cNvSpPr txBox="1">
              <a:spLocks noChangeArrowheads="1"/>
            </p:cNvSpPr>
            <p:nvPr/>
          </p:nvSpPr>
          <p:spPr bwMode="auto">
            <a:xfrm>
              <a:off x="2016" y="3610"/>
              <a:ext cx="1336" cy="518"/>
            </a:xfrm>
            <a:prstGeom prst="rect">
              <a:avLst/>
            </a:prstGeom>
            <a:noFill/>
            <a:ln w="9525">
              <a:noFill/>
              <a:miter lim="800000"/>
              <a:headEnd/>
              <a:tailEnd/>
            </a:ln>
            <a:effectLst/>
          </p:spPr>
          <p:txBody>
            <a:bodyPr wrap="none">
              <a:spAutoFit/>
            </a:bodyPr>
            <a:lstStyle/>
            <a:p>
              <a:pPr algn="ctr"/>
              <a:r>
                <a:rPr lang="en-US"/>
                <a:t>Paper is given a</a:t>
              </a:r>
            </a:p>
            <a:p>
              <a:pPr algn="ctr"/>
              <a:r>
                <a:rPr lang="en-US"/>
                <a:t>static charge</a:t>
              </a:r>
            </a:p>
          </p:txBody>
        </p:sp>
        <p:sp>
          <p:nvSpPr>
            <p:cNvPr id="16388" name="Line 4"/>
            <p:cNvSpPr>
              <a:spLocks noChangeShapeType="1"/>
            </p:cNvSpPr>
            <p:nvPr/>
          </p:nvSpPr>
          <p:spPr bwMode="auto">
            <a:xfrm flipH="1" flipV="1">
              <a:off x="2736" y="2880"/>
              <a:ext cx="192" cy="816"/>
            </a:xfrm>
            <a:prstGeom prst="line">
              <a:avLst/>
            </a:prstGeom>
            <a:noFill/>
            <a:ln w="9525">
              <a:solidFill>
                <a:schemeClr val="tx1"/>
              </a:solidFill>
              <a:round/>
              <a:headEnd/>
              <a:tailEnd type="triangle" w="med" len="med"/>
            </a:ln>
            <a:effectLst/>
          </p:spPr>
          <p:txBody>
            <a:bodyPr wrap="none" anchor="ctr"/>
            <a:lstStyle/>
            <a:p>
              <a:endParaRPr lang="en-US"/>
            </a:p>
          </p:txBody>
        </p:sp>
      </p:grpSp>
      <p:grpSp>
        <p:nvGrpSpPr>
          <p:cNvPr id="3" name="Group 19"/>
          <p:cNvGrpSpPr>
            <a:grpSpLocks/>
          </p:cNvGrpSpPr>
          <p:nvPr/>
        </p:nvGrpSpPr>
        <p:grpSpPr bwMode="auto">
          <a:xfrm>
            <a:off x="5956300" y="4165600"/>
            <a:ext cx="1795463" cy="1057275"/>
            <a:chOff x="3752" y="2624"/>
            <a:chExt cx="1131" cy="666"/>
          </a:xfrm>
        </p:grpSpPr>
        <p:sp>
          <p:nvSpPr>
            <p:cNvPr id="16389" name="Text Box 5"/>
            <p:cNvSpPr txBox="1">
              <a:spLocks noChangeArrowheads="1"/>
            </p:cNvSpPr>
            <p:nvPr/>
          </p:nvSpPr>
          <p:spPr bwMode="auto">
            <a:xfrm>
              <a:off x="3878" y="3002"/>
              <a:ext cx="1005" cy="288"/>
            </a:xfrm>
            <a:prstGeom prst="rect">
              <a:avLst/>
            </a:prstGeom>
            <a:noFill/>
            <a:ln w="9525">
              <a:noFill/>
              <a:miter lim="800000"/>
              <a:headEnd/>
              <a:tailEnd/>
            </a:ln>
            <a:effectLst/>
          </p:spPr>
          <p:txBody>
            <a:bodyPr wrap="none">
              <a:spAutoFit/>
            </a:bodyPr>
            <a:lstStyle/>
            <a:p>
              <a:r>
                <a:rPr lang="en-US"/>
                <a:t>Laser beam</a:t>
              </a:r>
            </a:p>
          </p:txBody>
        </p:sp>
        <p:sp>
          <p:nvSpPr>
            <p:cNvPr id="16390" name="Line 6"/>
            <p:cNvSpPr>
              <a:spLocks noChangeShapeType="1"/>
            </p:cNvSpPr>
            <p:nvPr/>
          </p:nvSpPr>
          <p:spPr bwMode="auto">
            <a:xfrm flipH="1" flipV="1">
              <a:off x="3752" y="2624"/>
              <a:ext cx="528" cy="432"/>
            </a:xfrm>
            <a:prstGeom prst="line">
              <a:avLst/>
            </a:prstGeom>
            <a:noFill/>
            <a:ln w="9525">
              <a:solidFill>
                <a:schemeClr val="tx1"/>
              </a:solidFill>
              <a:round/>
              <a:headEnd/>
              <a:tailEnd type="triangle" w="med" len="med"/>
            </a:ln>
            <a:effectLst/>
          </p:spPr>
          <p:txBody>
            <a:bodyPr wrap="none" anchor="ctr"/>
            <a:lstStyle/>
            <a:p>
              <a:endParaRPr lang="en-US"/>
            </a:p>
          </p:txBody>
        </p:sp>
      </p:grpSp>
      <p:grpSp>
        <p:nvGrpSpPr>
          <p:cNvPr id="4" name="Group 23"/>
          <p:cNvGrpSpPr>
            <a:grpSpLocks/>
          </p:cNvGrpSpPr>
          <p:nvPr/>
        </p:nvGrpSpPr>
        <p:grpSpPr bwMode="auto">
          <a:xfrm>
            <a:off x="5092700" y="1219200"/>
            <a:ext cx="2298700" cy="1752600"/>
            <a:chOff x="3208" y="768"/>
            <a:chExt cx="1448" cy="1104"/>
          </a:xfrm>
        </p:grpSpPr>
        <p:sp>
          <p:nvSpPr>
            <p:cNvPr id="16391" name="Text Box 7"/>
            <p:cNvSpPr txBox="1">
              <a:spLocks noChangeArrowheads="1"/>
            </p:cNvSpPr>
            <p:nvPr/>
          </p:nvSpPr>
          <p:spPr bwMode="auto">
            <a:xfrm>
              <a:off x="3208" y="768"/>
              <a:ext cx="1448" cy="518"/>
            </a:xfrm>
            <a:prstGeom prst="rect">
              <a:avLst/>
            </a:prstGeom>
            <a:noFill/>
            <a:ln w="9525">
              <a:noFill/>
              <a:miter lim="800000"/>
              <a:headEnd/>
              <a:tailEnd/>
            </a:ln>
            <a:effectLst/>
          </p:spPr>
          <p:txBody>
            <a:bodyPr wrap="none">
              <a:spAutoFit/>
            </a:bodyPr>
            <a:lstStyle/>
            <a:p>
              <a:pPr algn="ctr"/>
              <a:r>
                <a:rPr lang="en-US"/>
                <a:t>Heat roller bonds</a:t>
              </a:r>
            </a:p>
            <a:p>
              <a:pPr algn="ctr"/>
              <a:r>
                <a:rPr lang="en-US"/>
                <a:t>toner to paper</a:t>
              </a:r>
            </a:p>
          </p:txBody>
        </p:sp>
        <p:sp>
          <p:nvSpPr>
            <p:cNvPr id="16392" name="Line 8"/>
            <p:cNvSpPr>
              <a:spLocks noChangeShapeType="1"/>
            </p:cNvSpPr>
            <p:nvPr/>
          </p:nvSpPr>
          <p:spPr bwMode="auto">
            <a:xfrm>
              <a:off x="3888" y="1248"/>
              <a:ext cx="0" cy="624"/>
            </a:xfrm>
            <a:prstGeom prst="line">
              <a:avLst/>
            </a:prstGeom>
            <a:noFill/>
            <a:ln w="9525">
              <a:solidFill>
                <a:schemeClr val="tx1"/>
              </a:solidFill>
              <a:round/>
              <a:headEnd/>
              <a:tailEnd type="triangle" w="med" len="med"/>
            </a:ln>
            <a:effectLst/>
          </p:spPr>
          <p:txBody>
            <a:bodyPr wrap="none" anchor="ctr"/>
            <a:lstStyle/>
            <a:p>
              <a:endParaRPr lang="en-US"/>
            </a:p>
          </p:txBody>
        </p:sp>
      </p:grpSp>
      <p:grpSp>
        <p:nvGrpSpPr>
          <p:cNvPr id="5" name="Group 22"/>
          <p:cNvGrpSpPr>
            <a:grpSpLocks/>
          </p:cNvGrpSpPr>
          <p:nvPr/>
        </p:nvGrpSpPr>
        <p:grpSpPr bwMode="auto">
          <a:xfrm>
            <a:off x="990600" y="1793875"/>
            <a:ext cx="3276600" cy="1558925"/>
            <a:chOff x="624" y="1130"/>
            <a:chExt cx="2064" cy="982"/>
          </a:xfrm>
        </p:grpSpPr>
        <p:sp>
          <p:nvSpPr>
            <p:cNvPr id="16395" name="Text Box 11"/>
            <p:cNvSpPr txBox="1">
              <a:spLocks noChangeArrowheads="1"/>
            </p:cNvSpPr>
            <p:nvPr/>
          </p:nvSpPr>
          <p:spPr bwMode="auto">
            <a:xfrm>
              <a:off x="624" y="1130"/>
              <a:ext cx="1613" cy="518"/>
            </a:xfrm>
            <a:prstGeom prst="rect">
              <a:avLst/>
            </a:prstGeom>
            <a:noFill/>
            <a:ln w="9525">
              <a:noFill/>
              <a:miter lim="800000"/>
              <a:headEnd/>
              <a:tailEnd/>
            </a:ln>
            <a:effectLst/>
          </p:spPr>
          <p:txBody>
            <a:bodyPr wrap="none">
              <a:spAutoFit/>
            </a:bodyPr>
            <a:lstStyle/>
            <a:p>
              <a:pPr algn="ctr"/>
              <a:r>
                <a:rPr lang="en-US"/>
                <a:t>Toner transferred</a:t>
              </a:r>
            </a:p>
            <a:p>
              <a:pPr algn="ctr"/>
              <a:r>
                <a:rPr lang="en-US"/>
                <a:t>from drum to paper</a:t>
              </a:r>
            </a:p>
          </p:txBody>
        </p:sp>
        <p:sp>
          <p:nvSpPr>
            <p:cNvPr id="16396" name="Line 12"/>
            <p:cNvSpPr>
              <a:spLocks noChangeShapeType="1"/>
            </p:cNvSpPr>
            <p:nvPr/>
          </p:nvSpPr>
          <p:spPr bwMode="auto">
            <a:xfrm>
              <a:off x="2208" y="1584"/>
              <a:ext cx="480" cy="528"/>
            </a:xfrm>
            <a:prstGeom prst="line">
              <a:avLst/>
            </a:prstGeom>
            <a:noFill/>
            <a:ln w="9525">
              <a:solidFill>
                <a:schemeClr val="tx1"/>
              </a:solidFill>
              <a:round/>
              <a:headEnd/>
              <a:tailEnd type="triangle" w="med" len="med"/>
            </a:ln>
            <a:effectLst/>
          </p:spPr>
          <p:txBody>
            <a:bodyPr wrap="none" anchor="ctr"/>
            <a:lstStyle/>
            <a:p>
              <a:endParaRPr lang="en-US"/>
            </a:p>
          </p:txBody>
        </p:sp>
      </p:grpSp>
      <p:grpSp>
        <p:nvGrpSpPr>
          <p:cNvPr id="6" name="Group 20"/>
          <p:cNvGrpSpPr>
            <a:grpSpLocks/>
          </p:cNvGrpSpPr>
          <p:nvPr/>
        </p:nvGrpSpPr>
        <p:grpSpPr bwMode="auto">
          <a:xfrm>
            <a:off x="6324600" y="3886200"/>
            <a:ext cx="1825625" cy="822325"/>
            <a:chOff x="3984" y="2448"/>
            <a:chExt cx="1150" cy="518"/>
          </a:xfrm>
        </p:grpSpPr>
        <p:sp>
          <p:nvSpPr>
            <p:cNvPr id="16393" name="Text Box 9"/>
            <p:cNvSpPr txBox="1">
              <a:spLocks noChangeArrowheads="1"/>
            </p:cNvSpPr>
            <p:nvPr/>
          </p:nvSpPr>
          <p:spPr bwMode="auto">
            <a:xfrm>
              <a:off x="4358" y="2448"/>
              <a:ext cx="776" cy="518"/>
            </a:xfrm>
            <a:prstGeom prst="rect">
              <a:avLst/>
            </a:prstGeom>
            <a:noFill/>
            <a:ln w="9525">
              <a:noFill/>
              <a:miter lim="800000"/>
              <a:headEnd/>
              <a:tailEnd/>
            </a:ln>
            <a:effectLst/>
          </p:spPr>
          <p:txBody>
            <a:bodyPr wrap="none">
              <a:spAutoFit/>
            </a:bodyPr>
            <a:lstStyle/>
            <a:p>
              <a:pPr algn="ctr"/>
              <a:r>
                <a:rPr lang="en-US"/>
                <a:t>Rotating</a:t>
              </a:r>
            </a:p>
            <a:p>
              <a:pPr algn="ctr"/>
              <a:r>
                <a:rPr lang="en-US"/>
                <a:t>mirror</a:t>
              </a:r>
            </a:p>
          </p:txBody>
        </p:sp>
        <p:sp>
          <p:nvSpPr>
            <p:cNvPr id="16399" name="Line 15"/>
            <p:cNvSpPr>
              <a:spLocks noChangeShapeType="1"/>
            </p:cNvSpPr>
            <p:nvPr/>
          </p:nvSpPr>
          <p:spPr bwMode="auto">
            <a:xfrm flipH="1" flipV="1">
              <a:off x="3984" y="2592"/>
              <a:ext cx="432" cy="144"/>
            </a:xfrm>
            <a:prstGeom prst="line">
              <a:avLst/>
            </a:prstGeom>
            <a:noFill/>
            <a:ln w="12700">
              <a:solidFill>
                <a:schemeClr val="tx1"/>
              </a:solidFill>
              <a:round/>
              <a:headEnd type="none" w="sm" len="sm"/>
              <a:tailEnd type="triangle" w="sm" len="sm"/>
            </a:ln>
            <a:effectLst/>
          </p:spPr>
          <p:txBody>
            <a:bodyPr wrap="none" anchor="ctr"/>
            <a:lstStyle/>
            <a:p>
              <a:endParaRPr lang="en-US"/>
            </a:p>
          </p:txBody>
        </p:sp>
      </p:grpSp>
      <p:grpSp>
        <p:nvGrpSpPr>
          <p:cNvPr id="7" name="Group 21"/>
          <p:cNvGrpSpPr>
            <a:grpSpLocks/>
          </p:cNvGrpSpPr>
          <p:nvPr/>
        </p:nvGrpSpPr>
        <p:grpSpPr bwMode="auto">
          <a:xfrm>
            <a:off x="5105400" y="3886200"/>
            <a:ext cx="2655888" cy="2311400"/>
            <a:chOff x="3216" y="2448"/>
            <a:chExt cx="1673" cy="1456"/>
          </a:xfrm>
        </p:grpSpPr>
        <p:sp>
          <p:nvSpPr>
            <p:cNvPr id="16397" name="Text Box 13"/>
            <p:cNvSpPr txBox="1">
              <a:spLocks noChangeArrowheads="1"/>
            </p:cNvSpPr>
            <p:nvPr/>
          </p:nvSpPr>
          <p:spPr bwMode="auto">
            <a:xfrm>
              <a:off x="3638" y="3386"/>
              <a:ext cx="1251" cy="518"/>
            </a:xfrm>
            <a:prstGeom prst="rect">
              <a:avLst/>
            </a:prstGeom>
            <a:noFill/>
            <a:ln w="9525">
              <a:noFill/>
              <a:miter lim="800000"/>
              <a:headEnd/>
              <a:tailEnd/>
            </a:ln>
            <a:effectLst/>
          </p:spPr>
          <p:txBody>
            <a:bodyPr wrap="none">
              <a:spAutoFit/>
            </a:bodyPr>
            <a:lstStyle/>
            <a:p>
              <a:pPr algn="ctr"/>
              <a:r>
                <a:rPr lang="en-US"/>
                <a:t>Laser transfers</a:t>
              </a:r>
            </a:p>
            <a:p>
              <a:pPr algn="ctr"/>
              <a:r>
                <a:rPr lang="en-US"/>
                <a:t>image to drum</a:t>
              </a:r>
            </a:p>
          </p:txBody>
        </p:sp>
        <p:sp>
          <p:nvSpPr>
            <p:cNvPr id="16398" name="Line 14"/>
            <p:cNvSpPr>
              <a:spLocks noChangeShapeType="1"/>
            </p:cNvSpPr>
            <p:nvPr/>
          </p:nvSpPr>
          <p:spPr bwMode="auto">
            <a:xfrm flipH="1" flipV="1">
              <a:off x="3216" y="2640"/>
              <a:ext cx="576" cy="768"/>
            </a:xfrm>
            <a:prstGeom prst="line">
              <a:avLst/>
            </a:prstGeom>
            <a:noFill/>
            <a:ln w="9525">
              <a:solidFill>
                <a:schemeClr val="tx1"/>
              </a:solidFill>
              <a:round/>
              <a:headEnd/>
              <a:tailEnd type="triangle" w="med" len="med"/>
            </a:ln>
            <a:effectLst/>
          </p:spPr>
          <p:txBody>
            <a:bodyPr wrap="none" anchor="ctr"/>
            <a:lstStyle/>
            <a:p>
              <a:endParaRPr lang="en-US"/>
            </a:p>
          </p:txBody>
        </p:sp>
        <p:sp>
          <p:nvSpPr>
            <p:cNvPr id="16400" name="Line 16"/>
            <p:cNvSpPr>
              <a:spLocks noChangeShapeType="1"/>
            </p:cNvSpPr>
            <p:nvPr/>
          </p:nvSpPr>
          <p:spPr bwMode="auto">
            <a:xfrm flipH="1" flipV="1">
              <a:off x="3360" y="2448"/>
              <a:ext cx="432" cy="960"/>
            </a:xfrm>
            <a:prstGeom prst="line">
              <a:avLst/>
            </a:prstGeom>
            <a:noFill/>
            <a:ln w="12700">
              <a:solidFill>
                <a:schemeClr val="tx1"/>
              </a:solidFill>
              <a:round/>
              <a:headEnd type="none" w="sm" len="sm"/>
              <a:tailEnd type="triangle" w="sm" len="sm"/>
            </a:ln>
            <a:effectLst/>
          </p:spPr>
          <p:txBody>
            <a:bodyPr wrap="none" anchor="ctr"/>
            <a:lstStyle/>
            <a:p>
              <a:endParaRPr lang="en-US"/>
            </a:p>
          </p:txBody>
        </p:sp>
      </p:grpSp>
      <p:sp>
        <p:nvSpPr>
          <p:cNvPr id="16401" name="Text Box 17"/>
          <p:cNvSpPr txBox="1">
            <a:spLocks noChangeArrowheads="1"/>
          </p:cNvSpPr>
          <p:nvPr/>
        </p:nvSpPr>
        <p:spPr bwMode="auto">
          <a:xfrm>
            <a:off x="228601" y="471488"/>
            <a:ext cx="8229600" cy="954107"/>
          </a:xfrm>
          <a:prstGeom prst="rect">
            <a:avLst/>
          </a:prstGeom>
          <a:noFill/>
          <a:ln w="12700">
            <a:noFill/>
            <a:miter lim="800000"/>
            <a:headEnd type="none" w="sm" len="sm"/>
            <a:tailEnd type="none" w="sm" len="sm"/>
          </a:ln>
          <a:effectLst/>
        </p:spPr>
        <p:txBody>
          <a:bodyPr wrap="square">
            <a:spAutoFit/>
          </a:bodyPr>
          <a:lstStyle/>
          <a:p>
            <a:r>
              <a:rPr lang="en-US" sz="2800" b="1" dirty="0">
                <a:solidFill>
                  <a:schemeClr val="tx2"/>
                </a:solidFill>
              </a:rPr>
              <a:t>Laser printers are faster and capable of high resolution.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1500"/>
                            </p:stCondLst>
                            <p:childTnLst>
                              <p:par>
                                <p:cTn id="9" presetID="9" presetClass="entr" presetSubtype="0" fill="hold" nodeType="afterEffect">
                                  <p:stCondLst>
                                    <p:cond delay="100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par>
                          <p:cTn id="12" fill="hold">
                            <p:stCondLst>
                              <p:cond delay="3000"/>
                            </p:stCondLst>
                            <p:childTnLst>
                              <p:par>
                                <p:cTn id="13" presetID="9" presetClass="entr" presetSubtype="0" fill="hold" nodeType="afterEffect">
                                  <p:stCondLst>
                                    <p:cond delay="100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par>
                          <p:cTn id="16" fill="hold">
                            <p:stCondLst>
                              <p:cond delay="4500"/>
                            </p:stCondLst>
                            <p:childTnLst>
                              <p:par>
                                <p:cTn id="17" presetID="9" presetClass="entr" presetSubtype="0" fill="hold" nodeType="afterEffect">
                                  <p:stCondLst>
                                    <p:cond delay="100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childTnLst>
                          </p:cTn>
                        </p:par>
                        <p:par>
                          <p:cTn id="20" fill="hold">
                            <p:stCondLst>
                              <p:cond delay="6000"/>
                            </p:stCondLst>
                            <p:childTnLst>
                              <p:par>
                                <p:cTn id="21" presetID="9" presetClass="entr" presetSubtype="0" fill="hold" nodeType="afterEffect">
                                  <p:stCondLst>
                                    <p:cond delay="1000"/>
                                  </p:stCondLst>
                                  <p:childTnLst>
                                    <p:set>
                                      <p:cBhvr>
                                        <p:cTn id="22" dur="1" fill="hold">
                                          <p:stCondLst>
                                            <p:cond delay="0"/>
                                          </p:stCondLst>
                                        </p:cTn>
                                        <p:tgtEl>
                                          <p:spTgt spid="5"/>
                                        </p:tgtEl>
                                        <p:attrNameLst>
                                          <p:attrName>style.visibility</p:attrName>
                                        </p:attrNameLst>
                                      </p:cBhvr>
                                      <p:to>
                                        <p:strVal val="visible"/>
                                      </p:to>
                                    </p:set>
                                    <p:animEffect transition="in" filter="dissolve">
                                      <p:cBhvr>
                                        <p:cTn id="23" dur="500"/>
                                        <p:tgtEl>
                                          <p:spTgt spid="5"/>
                                        </p:tgtEl>
                                      </p:cBhvr>
                                    </p:animEffect>
                                  </p:childTnLst>
                                </p:cTn>
                              </p:par>
                            </p:childTnLst>
                          </p:cTn>
                        </p:par>
                        <p:par>
                          <p:cTn id="24" fill="hold">
                            <p:stCondLst>
                              <p:cond delay="7500"/>
                            </p:stCondLst>
                            <p:childTnLst>
                              <p:par>
                                <p:cTn id="25" presetID="9" presetClass="entr" presetSubtype="0" fill="hold" nodeType="afterEffect">
                                  <p:stCondLst>
                                    <p:cond delay="100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p:spPr>
        <p:txBody>
          <a:bodyPr>
            <a:normAutofit fontScale="90000"/>
          </a:bodyPr>
          <a:lstStyle/>
          <a:p>
            <a:pPr algn="l"/>
            <a:r>
              <a:rPr lang="en-US" sz="5400" b="1" dirty="0">
                <a:solidFill>
                  <a:schemeClr val="tx2"/>
                </a:solidFill>
              </a:rPr>
              <a:t>Printer Criteria:</a:t>
            </a:r>
          </a:p>
        </p:txBody>
      </p:sp>
      <p:sp>
        <p:nvSpPr>
          <p:cNvPr id="10243" name="Rectangle 3"/>
          <p:cNvSpPr>
            <a:spLocks noGrp="1" noChangeArrowheads="1"/>
          </p:cNvSpPr>
          <p:nvPr>
            <p:ph type="body" idx="1"/>
          </p:nvPr>
        </p:nvSpPr>
        <p:spPr>
          <a:noFill/>
          <a:ln/>
        </p:spPr>
        <p:txBody>
          <a:bodyPr/>
          <a:lstStyle/>
          <a:p>
            <a:r>
              <a:rPr lang="en-US" sz="4800" dirty="0"/>
              <a:t>Image Quality</a:t>
            </a:r>
          </a:p>
          <a:p>
            <a:r>
              <a:rPr lang="en-US" sz="4800" dirty="0"/>
              <a:t>Speed</a:t>
            </a:r>
          </a:p>
          <a:p>
            <a:r>
              <a:rPr lang="en-US" sz="4800" dirty="0"/>
              <a:t>Initial Cost</a:t>
            </a:r>
          </a:p>
          <a:p>
            <a:r>
              <a:rPr lang="en-US" sz="4800" dirty="0"/>
              <a:t>Cost of Operation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04800" y="609600"/>
            <a:ext cx="8153400" cy="1143000"/>
          </a:xfrm>
          <a:prstGeom prst="rect">
            <a:avLst/>
          </a:prstGeom>
          <a:noFill/>
          <a:ln w="9525">
            <a:noFill/>
            <a:miter lim="800000"/>
            <a:headEnd/>
            <a:tailEnd/>
          </a:ln>
          <a:effectLst/>
        </p:spPr>
        <p:txBody>
          <a:bodyPr lIns="92075" tIns="46038" rIns="92075" bIns="46038" anchor="ctr"/>
          <a:lstStyle/>
          <a:p>
            <a:r>
              <a:rPr lang="en-US" altLang="zh-CN" sz="5400" dirty="0">
                <a:solidFill>
                  <a:schemeClr val="tx2"/>
                </a:solidFill>
              </a:rPr>
              <a:t>Plotters</a:t>
            </a:r>
            <a:endParaRPr lang="en-US" sz="5400" b="1" dirty="0">
              <a:solidFill>
                <a:schemeClr val="tx2"/>
              </a:solidFill>
            </a:endParaRPr>
          </a:p>
        </p:txBody>
      </p:sp>
      <p:sp>
        <p:nvSpPr>
          <p:cNvPr id="8195" name="Rectangle 3"/>
          <p:cNvSpPr>
            <a:spLocks noChangeArrowheads="1"/>
          </p:cNvSpPr>
          <p:nvPr/>
        </p:nvSpPr>
        <p:spPr bwMode="auto">
          <a:xfrm>
            <a:off x="533400" y="1600200"/>
            <a:ext cx="7772400" cy="4114800"/>
          </a:xfrm>
          <a:prstGeom prst="rect">
            <a:avLst/>
          </a:prstGeom>
          <a:noFill/>
          <a:ln w="9525">
            <a:noFill/>
            <a:miter lim="800000"/>
            <a:headEnd/>
            <a:tailEnd/>
          </a:ln>
          <a:effectLst/>
        </p:spPr>
        <p:txBody>
          <a:bodyPr lIns="92075" tIns="46038" rIns="92075" bIns="46038"/>
          <a:lstStyle/>
          <a:p>
            <a:pPr marL="342900" indent="-342900">
              <a:lnSpc>
                <a:spcPct val="140000"/>
              </a:lnSpc>
              <a:spcBef>
                <a:spcPct val="20000"/>
              </a:spcBef>
              <a:buFontTx/>
              <a:buChar char="•"/>
            </a:pPr>
            <a:endParaRPr lang="en-US" sz="3600" dirty="0"/>
          </a:p>
        </p:txBody>
      </p:sp>
      <p:sp>
        <p:nvSpPr>
          <p:cNvPr id="5" name="TextBox 4"/>
          <p:cNvSpPr txBox="1"/>
          <p:nvPr/>
        </p:nvSpPr>
        <p:spPr>
          <a:xfrm>
            <a:off x="152400" y="1905000"/>
            <a:ext cx="8305800" cy="3903056"/>
          </a:xfrm>
          <a:prstGeom prst="rect">
            <a:avLst/>
          </a:prstGeom>
          <a:noFill/>
        </p:spPr>
        <p:txBody>
          <a:bodyPr wrap="square" rtlCol="0">
            <a:spAutoFit/>
          </a:bodyPr>
          <a:lstStyle/>
          <a:p>
            <a:pPr algn="just">
              <a:lnSpc>
                <a:spcPct val="150000"/>
              </a:lnSpc>
            </a:pPr>
            <a:r>
              <a:rPr lang="en-US" altLang="zh-CN" sz="2400" dirty="0"/>
              <a:t>Plotter is a device used to print high quality graphics and images. It uses one or more pens to produce a high quality drawing. These pens change their positions and draw continuous lines to produce an image. The plotters were used as a substitute to the colored printers when the printers were very expensive and were also not capable of drawing bigger images such as graphs.</a:t>
            </a:r>
          </a:p>
        </p:txBody>
      </p:sp>
    </p:spTree>
    <p:extLst>
      <p:ext uri="{BB962C8B-B14F-4D97-AF65-F5344CB8AC3E}">
        <p14:creationId xmlns:p14="http://schemas.microsoft.com/office/powerpoint/2010/main" val="287107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nodePh="1">
                                  <p:stCondLst>
                                    <p:cond delay="0"/>
                                  </p:stCondLst>
                                  <p:endCondLst>
                                    <p:cond evt="begin" delay="0">
                                      <p:tn val="5"/>
                                    </p:cond>
                                  </p:endCondLst>
                                  <p:iterate type="lt">
                                    <p:tmAbs val="75"/>
                                  </p:iterate>
                                  <p:childTnLst>
                                    <p:set>
                                      <p:cBhvr>
                                        <p:cTn id="6" dur="1" fill="hold">
                                          <p:stCondLst>
                                            <p:cond delay="74"/>
                                          </p:stCondLst>
                                        </p:cTn>
                                        <p:tgtEl>
                                          <p:spTgt spid="8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04800" y="609600"/>
            <a:ext cx="8153400" cy="1143000"/>
          </a:xfrm>
          <a:prstGeom prst="rect">
            <a:avLst/>
          </a:prstGeom>
          <a:noFill/>
          <a:ln w="9525">
            <a:noFill/>
            <a:miter lim="800000"/>
            <a:headEnd/>
            <a:tailEnd/>
          </a:ln>
          <a:effectLst/>
        </p:spPr>
        <p:txBody>
          <a:bodyPr lIns="92075" tIns="46038" rIns="92075" bIns="46038" anchor="ctr"/>
          <a:lstStyle/>
          <a:p>
            <a:r>
              <a:rPr lang="en-US" altLang="zh-CN" sz="5400" dirty="0">
                <a:solidFill>
                  <a:schemeClr val="tx2"/>
                </a:solidFill>
              </a:rPr>
              <a:t>Voice Output Systems</a:t>
            </a:r>
            <a:endParaRPr lang="en-US" sz="5400" b="1" dirty="0">
              <a:solidFill>
                <a:schemeClr val="tx2"/>
              </a:solidFill>
            </a:endParaRPr>
          </a:p>
        </p:txBody>
      </p:sp>
      <p:sp>
        <p:nvSpPr>
          <p:cNvPr id="8195" name="Rectangle 3"/>
          <p:cNvSpPr>
            <a:spLocks noChangeArrowheads="1"/>
          </p:cNvSpPr>
          <p:nvPr/>
        </p:nvSpPr>
        <p:spPr bwMode="auto">
          <a:xfrm>
            <a:off x="533400" y="1600200"/>
            <a:ext cx="7772400" cy="4114800"/>
          </a:xfrm>
          <a:prstGeom prst="rect">
            <a:avLst/>
          </a:prstGeom>
          <a:noFill/>
          <a:ln w="9525">
            <a:noFill/>
            <a:miter lim="800000"/>
            <a:headEnd/>
            <a:tailEnd/>
          </a:ln>
          <a:effectLst/>
        </p:spPr>
        <p:txBody>
          <a:bodyPr lIns="92075" tIns="46038" rIns="92075" bIns="46038"/>
          <a:lstStyle/>
          <a:p>
            <a:pPr marL="342900" indent="-342900">
              <a:lnSpc>
                <a:spcPct val="140000"/>
              </a:lnSpc>
              <a:spcBef>
                <a:spcPct val="20000"/>
              </a:spcBef>
              <a:buFontTx/>
              <a:buChar char="•"/>
            </a:pPr>
            <a:endParaRPr lang="en-US" sz="3600" dirty="0"/>
          </a:p>
        </p:txBody>
      </p:sp>
      <p:sp>
        <p:nvSpPr>
          <p:cNvPr id="5" name="TextBox 4"/>
          <p:cNvSpPr txBox="1"/>
          <p:nvPr/>
        </p:nvSpPr>
        <p:spPr>
          <a:xfrm>
            <a:off x="152400" y="1905000"/>
            <a:ext cx="8305800" cy="4081117"/>
          </a:xfrm>
          <a:prstGeom prst="rect">
            <a:avLst/>
          </a:prstGeom>
          <a:noFill/>
        </p:spPr>
        <p:txBody>
          <a:bodyPr wrap="square" rtlCol="0">
            <a:spAutoFit/>
          </a:bodyPr>
          <a:lstStyle/>
          <a:p>
            <a:pPr algn="just">
              <a:lnSpc>
                <a:spcPct val="90000"/>
              </a:lnSpc>
            </a:pPr>
            <a:r>
              <a:rPr lang="en-US" altLang="zh-CN" sz="2400" dirty="0"/>
              <a:t>Voice output systems record the simple messages in human speech form and then combine all these simple messages to form a single message. The voice response system is of two types:</a:t>
            </a:r>
          </a:p>
          <a:p>
            <a:pPr algn="just">
              <a:lnSpc>
                <a:spcPct val="90000"/>
              </a:lnSpc>
            </a:pPr>
            <a:r>
              <a:rPr lang="en-US" altLang="zh-CN" sz="2400" dirty="0"/>
              <a:t> </a:t>
            </a:r>
          </a:p>
          <a:p>
            <a:pPr algn="just">
              <a:lnSpc>
                <a:spcPct val="90000"/>
              </a:lnSpc>
            </a:pPr>
            <a:r>
              <a:rPr lang="en-US" altLang="zh-CN" sz="2400" dirty="0"/>
              <a:t>(1) a reproduction of human voice and other sounds</a:t>
            </a:r>
          </a:p>
          <a:p>
            <a:pPr algn="just">
              <a:lnSpc>
                <a:spcPct val="90000"/>
              </a:lnSpc>
            </a:pPr>
            <a:r>
              <a:rPr lang="en-US" altLang="zh-CN" sz="2400" dirty="0"/>
              <a:t>(2) speech synthesis.</a:t>
            </a:r>
          </a:p>
          <a:p>
            <a:pPr algn="just">
              <a:lnSpc>
                <a:spcPct val="90000"/>
              </a:lnSpc>
            </a:pPr>
            <a:endParaRPr lang="en-US" altLang="zh-CN" sz="2400" dirty="0"/>
          </a:p>
          <a:p>
            <a:pPr algn="just">
              <a:lnSpc>
                <a:spcPct val="90000"/>
              </a:lnSpc>
            </a:pPr>
            <a:r>
              <a:rPr lang="en-US" altLang="zh-CN" sz="2400" dirty="0"/>
              <a:t>The basic application of a voice output system is in Interactive Voice Response systems, which are used by the customer care or customer support departments of an organization, such as telecommunication companies, etc.</a:t>
            </a:r>
          </a:p>
        </p:txBody>
      </p:sp>
    </p:spTree>
    <p:extLst>
      <p:ext uri="{BB962C8B-B14F-4D97-AF65-F5344CB8AC3E}">
        <p14:creationId xmlns:p14="http://schemas.microsoft.com/office/powerpoint/2010/main" val="355380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nodePh="1">
                                  <p:stCondLst>
                                    <p:cond delay="0"/>
                                  </p:stCondLst>
                                  <p:endCondLst>
                                    <p:cond evt="begin" delay="0">
                                      <p:tn val="5"/>
                                    </p:cond>
                                  </p:endCondLst>
                                  <p:iterate type="lt">
                                    <p:tmAbs val="75"/>
                                  </p:iterate>
                                  <p:childTnLst>
                                    <p:set>
                                      <p:cBhvr>
                                        <p:cTn id="6" dur="1" fill="hold">
                                          <p:stCondLst>
                                            <p:cond delay="74"/>
                                          </p:stCondLst>
                                        </p:cTn>
                                        <p:tgtEl>
                                          <p:spTgt spid="8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04800" y="609600"/>
            <a:ext cx="8153400" cy="1143000"/>
          </a:xfrm>
          <a:prstGeom prst="rect">
            <a:avLst/>
          </a:prstGeom>
          <a:noFill/>
          <a:ln w="9525">
            <a:noFill/>
            <a:miter lim="800000"/>
            <a:headEnd/>
            <a:tailEnd/>
          </a:ln>
          <a:effectLst/>
        </p:spPr>
        <p:txBody>
          <a:bodyPr lIns="92075" tIns="46038" rIns="92075" bIns="46038" anchor="ctr"/>
          <a:lstStyle/>
          <a:p>
            <a:r>
              <a:rPr lang="en-US" altLang="zh-CN" sz="5400" dirty="0">
                <a:solidFill>
                  <a:schemeClr val="tx2"/>
                </a:solidFill>
              </a:rPr>
              <a:t>Projectors</a:t>
            </a:r>
            <a:endParaRPr lang="en-US" sz="5400" b="1" dirty="0">
              <a:solidFill>
                <a:schemeClr val="tx2"/>
              </a:solidFill>
            </a:endParaRPr>
          </a:p>
        </p:txBody>
      </p:sp>
      <p:sp>
        <p:nvSpPr>
          <p:cNvPr id="8195" name="Rectangle 3"/>
          <p:cNvSpPr>
            <a:spLocks noChangeArrowheads="1"/>
          </p:cNvSpPr>
          <p:nvPr/>
        </p:nvSpPr>
        <p:spPr bwMode="auto">
          <a:xfrm>
            <a:off x="533400" y="1600200"/>
            <a:ext cx="7772400" cy="4114800"/>
          </a:xfrm>
          <a:prstGeom prst="rect">
            <a:avLst/>
          </a:prstGeom>
          <a:noFill/>
          <a:ln w="9525">
            <a:noFill/>
            <a:miter lim="800000"/>
            <a:headEnd/>
            <a:tailEnd/>
          </a:ln>
          <a:effectLst/>
        </p:spPr>
        <p:txBody>
          <a:bodyPr lIns="92075" tIns="46038" rIns="92075" bIns="46038"/>
          <a:lstStyle/>
          <a:p>
            <a:pPr marL="342900" indent="-342900">
              <a:lnSpc>
                <a:spcPct val="140000"/>
              </a:lnSpc>
              <a:spcBef>
                <a:spcPct val="20000"/>
              </a:spcBef>
              <a:buFontTx/>
              <a:buChar char="•"/>
            </a:pPr>
            <a:endParaRPr lang="en-US" sz="3600" dirty="0"/>
          </a:p>
        </p:txBody>
      </p:sp>
      <p:sp>
        <p:nvSpPr>
          <p:cNvPr id="5" name="TextBox 4"/>
          <p:cNvSpPr txBox="1"/>
          <p:nvPr/>
        </p:nvSpPr>
        <p:spPr>
          <a:xfrm>
            <a:off x="152400" y="1905000"/>
            <a:ext cx="8305800" cy="3785652"/>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t>A projector is a device that is connected to a computer or a video device for projecting an image from the computer or video device onto the big white screen.</a:t>
            </a:r>
          </a:p>
          <a:p>
            <a:pPr marL="342900" indent="-342900">
              <a:buFont typeface="Arial" panose="020B0604020202020204" pitchFamily="34" charset="0"/>
              <a:buChar char="•"/>
            </a:pPr>
            <a:endParaRPr lang="en-US" altLang="zh-CN" sz="2400" dirty="0"/>
          </a:p>
          <a:p>
            <a:pPr marL="342900" indent="-342900">
              <a:buFont typeface="Arial" panose="020B0604020202020204" pitchFamily="34" charset="0"/>
              <a:buChar char="•"/>
            </a:pPr>
            <a:r>
              <a:rPr lang="en-US" altLang="zh-CN" sz="2400" dirty="0"/>
              <a:t>A projector consists of an optic system, a light source and displays, which contain the original images.</a:t>
            </a:r>
          </a:p>
          <a:p>
            <a:pPr marL="342900" indent="-342900">
              <a:buFont typeface="Arial" panose="020B0604020202020204" pitchFamily="34" charset="0"/>
              <a:buChar char="•"/>
            </a:pPr>
            <a:endParaRPr lang="en-US" altLang="zh-CN" sz="2400" dirty="0"/>
          </a:p>
          <a:p>
            <a:pPr marL="342900" indent="-342900">
              <a:buFont typeface="Arial" panose="020B0604020202020204" pitchFamily="34" charset="0"/>
              <a:buChar char="•"/>
            </a:pPr>
            <a:r>
              <a:rPr lang="en-US" altLang="zh-CN" sz="2400" dirty="0"/>
              <a:t>Projects were initially used for showing films but now they are used on a large scale for displaying presentations in various situations.</a:t>
            </a:r>
          </a:p>
        </p:txBody>
      </p:sp>
    </p:spTree>
    <p:extLst>
      <p:ext uri="{BB962C8B-B14F-4D97-AF65-F5344CB8AC3E}">
        <p14:creationId xmlns:p14="http://schemas.microsoft.com/office/powerpoint/2010/main" val="173924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nodePh="1">
                                  <p:stCondLst>
                                    <p:cond delay="0"/>
                                  </p:stCondLst>
                                  <p:endCondLst>
                                    <p:cond evt="begin" delay="0">
                                      <p:tn val="5"/>
                                    </p:cond>
                                  </p:endCondLst>
                                  <p:iterate type="lt">
                                    <p:tmAbs val="75"/>
                                  </p:iterate>
                                  <p:childTnLst>
                                    <p:set>
                                      <p:cBhvr>
                                        <p:cTn id="6" dur="1" fill="hold">
                                          <p:stCondLst>
                                            <p:cond delay="74"/>
                                          </p:stCondLst>
                                        </p:cTn>
                                        <p:tgtEl>
                                          <p:spTgt spid="8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381000" y="2971800"/>
            <a:ext cx="8534400" cy="758952"/>
          </a:xfrm>
          <a:prstGeom prst="rect">
            <a:avLst/>
          </a:prstGeom>
          <a:noFill/>
          <a:ln/>
        </p:spPr>
        <p:txBody>
          <a:bodyP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5400" b="1" i="0" u="none" strike="noStrike" kern="1200" cap="none" spc="0" normalizeH="0" baseline="0" noProof="0">
                <a:ln>
                  <a:noFill/>
                </a:ln>
                <a:solidFill>
                  <a:srgbClr val="FF0000"/>
                </a:solidFill>
                <a:effectLst/>
                <a:uLnTx/>
                <a:uFillTx/>
                <a:latin typeface="+mj-lt"/>
                <a:ea typeface="+mj-ea"/>
                <a:cs typeface="+mj-cs"/>
              </a:rPr>
              <a:t>Thank You</a:t>
            </a:r>
            <a:endParaRPr kumimoji="0" lang="en-US" sz="5400" b="1" i="0" u="none" strike="noStrike" kern="1200" cap="none" spc="0" normalizeH="0" baseline="0" noProof="0" dirty="0">
              <a:ln>
                <a:noFill/>
              </a:ln>
              <a:solidFill>
                <a:srgbClr val="FF0000"/>
              </a:solidFill>
              <a:effectLst/>
              <a:uLnTx/>
              <a:uFillTx/>
              <a:latin typeface="+mj-lt"/>
              <a:ea typeface="+mj-ea"/>
              <a:cs typeface="+mj-cs"/>
            </a:endParaRP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469</TotalTime>
  <Words>2510</Words>
  <Application>Microsoft Office PowerPoint</Application>
  <PresentationFormat>On-screen Show (4:3)</PresentationFormat>
  <Paragraphs>273</Paragraphs>
  <Slides>50</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Arial</vt:lpstr>
      <vt:lpstr>Calibri</vt:lpstr>
      <vt:lpstr>Georgia</vt:lpstr>
      <vt:lpstr>Times New Roman</vt:lpstr>
      <vt:lpstr>Wingdings</vt:lpstr>
      <vt:lpstr>Wingdings 2</vt:lpstr>
      <vt:lpstr>Civic</vt:lpstr>
      <vt:lpstr>Storage and I/O devices</vt:lpstr>
      <vt:lpstr>Storage and I/O devices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Input Devices:</vt:lpstr>
      <vt:lpstr>Parts of a Keyboard:</vt:lpstr>
      <vt:lpstr>PowerPoint Presentation</vt:lpstr>
      <vt:lpstr>Parts of a Keyboard:</vt:lpstr>
      <vt:lpstr>Parts of a Keyboard:</vt:lpstr>
      <vt:lpstr>Pointing Devices</vt:lpstr>
      <vt:lpstr>Mouse</vt:lpstr>
      <vt:lpstr>PowerPoint Presentation</vt:lpstr>
      <vt:lpstr>Scanning Devices</vt:lpstr>
      <vt:lpstr>Scanning Devices(Cont.)</vt:lpstr>
      <vt:lpstr>Scanning Devices(Cont.)</vt:lpstr>
      <vt:lpstr>Scanning Devices(Cont.)</vt:lpstr>
      <vt:lpstr>Optical Recognition Devices</vt:lpstr>
      <vt:lpstr>Optical Recognition Devices(Cont.)</vt:lpstr>
      <vt:lpstr>Optical Recognition Devices(Cont.)</vt:lpstr>
      <vt:lpstr>Media Input Devices</vt:lpstr>
      <vt:lpstr>PowerPoint Presentation</vt:lpstr>
      <vt:lpstr>PowerPoint Presentation</vt:lpstr>
      <vt:lpstr>PowerPoint Presentation</vt:lpstr>
      <vt:lpstr>Display Monitor</vt:lpstr>
      <vt:lpstr>Display Monitor(Cont.) </vt:lpstr>
      <vt:lpstr>Display Monitor(Cont.)</vt:lpstr>
      <vt:lpstr>Factors Affecting Monitors:</vt:lpstr>
      <vt:lpstr>PowerPoint Presentation</vt:lpstr>
      <vt:lpstr>PowerPoint Presentation</vt:lpstr>
      <vt:lpstr>PowerPoint Presentation</vt:lpstr>
      <vt:lpstr>Types of Printers:</vt:lpstr>
      <vt:lpstr>PowerPoint Presentation</vt:lpstr>
      <vt:lpstr>PowerPoint Presentation</vt:lpstr>
      <vt:lpstr>Printer Criteria:</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DELL</cp:lastModifiedBy>
  <cp:revision>85</cp:revision>
  <dcterms:created xsi:type="dcterms:W3CDTF">2015-02-19T02:40:28Z</dcterms:created>
  <dcterms:modified xsi:type="dcterms:W3CDTF">2024-01-15T08:01:22Z</dcterms:modified>
</cp:coreProperties>
</file>