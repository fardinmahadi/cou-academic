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29"/>
  </p:notes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59" r:id="rId23"/>
    <p:sldId id="260" r:id="rId24"/>
    <p:sldId id="261" r:id="rId25"/>
    <p:sldId id="263" r:id="rId26"/>
    <p:sldId id="265" r:id="rId27"/>
    <p:sldId id="264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B4E7"/>
    <a:srgbClr val="9FD6FB"/>
    <a:srgbClr val="E1FC9E"/>
    <a:srgbClr val="FBDA9F"/>
    <a:srgbClr val="F9C3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129" autoAdjust="0"/>
  </p:normalViewPr>
  <p:slideViewPr>
    <p:cSldViewPr>
      <p:cViewPr varScale="1">
        <p:scale>
          <a:sx n="74" d="100"/>
          <a:sy n="74" d="100"/>
        </p:scale>
        <p:origin x="66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FD04EB-230E-4D6E-9DBA-8873303D8110}" type="datetimeFigureOut">
              <a:rPr lang="en-US" smtClean="0"/>
              <a:pPr/>
              <a:t>3/14/2022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4DCBC-0CBF-4F73-AE80-264DBB7159B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820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14DCBC-0CBF-4F73-AE80-264DBB7159B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4180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14DCBC-0CBF-4F73-AE80-264DBB7159B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14DCBC-0CBF-4F73-AE80-264DBB7159B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929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14DCBC-0CBF-4F73-AE80-264DBB7159B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0791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14DCBC-0CBF-4F73-AE80-264DBB7159B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2246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14DCBC-0CBF-4F73-AE80-264DBB7159B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8654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14DCBC-0CBF-4F73-AE80-264DBB7159B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624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14DCBC-0CBF-4F73-AE80-264DBB7159B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1556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14DCBC-0CBF-4F73-AE80-264DBB7159B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3259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14DCBC-0CBF-4F73-AE80-264DBB7159B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0702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14DCBC-0CBF-4F73-AE80-264DBB7159BA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9628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14DCBC-0CBF-4F73-AE80-264DBB7159BA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3198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14DCBC-0CBF-4F73-AE80-264DBB7159BA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8285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14DCBC-0CBF-4F73-AE80-264DBB7159BA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8665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14DCBC-0CBF-4F73-AE80-264DBB7159BA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6352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14DCBC-0CBF-4F73-AE80-264DBB7159B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1184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14DCBC-0CBF-4F73-AE80-264DBB7159BA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9360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14DCBC-0CBF-4F73-AE80-264DBB7159BA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2224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14DCBC-0CBF-4F73-AE80-264DBB7159BA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4134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14DCBC-0CBF-4F73-AE80-264DBB7159B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8397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14DCBC-0CBF-4F73-AE80-264DBB7159BA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6679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14DCBC-0CBF-4F73-AE80-264DBB7159BA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256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92711CA-D624-4EE0-BAAF-236193308603}" type="datetime1">
              <a:rPr lang="en-US" smtClean="0"/>
              <a:pPr/>
              <a:t>3/14/2022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r>
              <a:rPr lang="en-US" dirty="0" smtClean="0"/>
              <a:t>MSR,Lecturer, Dept. of ICT, CoU.</a:t>
            </a:r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34B4FE1C-07CF-487E-9EDB-8E27F28677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08BEE06-5792-44D1-B8DF-50669C7A529A}" type="datetime1">
              <a:rPr lang="en-US" smtClean="0"/>
              <a:pPr/>
              <a:t>3/14/2022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dirty="0" smtClean="0"/>
              <a:t>MSR,Lecturer, Dept. of ICT, CoU.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4B4FE1C-07CF-487E-9EDB-8E27F28677D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A16834B-03F8-4415-B648-409001D1E0F6}" type="datetime1">
              <a:rPr lang="en-US" smtClean="0"/>
              <a:pPr/>
              <a:t>3/14/2022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dirty="0" smtClean="0"/>
              <a:t>MSR,Lecturer, Dept. of ICT, CoU.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4B4FE1C-07CF-487E-9EDB-8E27F28677D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D59C364-6737-430E-BAA0-DB9412C70854}" type="datetime1">
              <a:rPr lang="en-US" smtClean="0"/>
              <a:pPr/>
              <a:t>3/14/2022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dirty="0" smtClean="0"/>
              <a:t>MSR,Lecturer, Dept. of ICT, CoU.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4B4FE1C-07CF-487E-9EDB-8E27F28677D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0221387-F5C8-414C-8CE7-455D3FAB87E8}" type="datetime1">
              <a:rPr lang="en-US" smtClean="0"/>
              <a:pPr/>
              <a:t>3/14/2022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dirty="0" smtClean="0"/>
              <a:t>MSR,Lecturer, Dept. of ICT, CoU.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4B4FE1C-07CF-487E-9EDB-8E27F28677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AC28BDF-1413-43A7-B124-BCB976E60B12}" type="datetime1">
              <a:rPr lang="en-US" smtClean="0"/>
              <a:pPr/>
              <a:t>3/14/2022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dirty="0" smtClean="0"/>
              <a:t>MSR,Lecturer, Dept. of ICT, CoU.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4B4FE1C-07CF-487E-9EDB-8E27F28677D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466103C-6A98-4457-A134-D1EF6DD82C37}" type="datetime1">
              <a:rPr lang="en-US" smtClean="0"/>
              <a:pPr/>
              <a:t>3/14/2022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dirty="0" smtClean="0"/>
              <a:t>MSR,Lecturer, Dept. of ICT, CoU.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4B4FE1C-07CF-487E-9EDB-8E27F28677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8D8B284F-23AF-4951-A894-5D7CB937BE22}" type="datetime1">
              <a:rPr lang="en-US" smtClean="0"/>
              <a:pPr/>
              <a:t>3/14/2022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dirty="0" smtClean="0"/>
              <a:t>MSR,Lecturer, Dept. of ICT, CoU.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4B4FE1C-07CF-487E-9EDB-8E27F28677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A55CBDBF-C961-4E9D-8F2A-6B010513B52B}" type="datetime1">
              <a:rPr lang="en-US" smtClean="0"/>
              <a:pPr/>
              <a:t>3/14/2022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r>
              <a:rPr lang="en-US" dirty="0" smtClean="0"/>
              <a:t>MSR,Lecturer, Dept. of ICT, CoU.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34B4FE1C-07CF-487E-9EDB-8E27F28677D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672672E-E180-40FF-A5A2-6269139B23BC}" type="datetime1">
              <a:rPr lang="en-US" smtClean="0"/>
              <a:pPr/>
              <a:t>3/14/2022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dirty="0" smtClean="0"/>
              <a:t>MSR,Lecturer, Dept. of ICT, CoU.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4B4FE1C-07CF-487E-9EDB-8E27F28677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018A8C3-4EA8-4BA5-8F2C-571DD3AFBA79}" type="datetime1">
              <a:rPr lang="en-US" smtClean="0"/>
              <a:pPr/>
              <a:t>3/14/2022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dirty="0" smtClean="0"/>
              <a:t>MSR,Lecturer, Dept. of ICT, CoU.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4B4FE1C-07CF-487E-9EDB-8E27F28677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867E272F-7ACC-42BD-A903-D74C931FF3CA}" type="datetime1">
              <a:rPr lang="en-US" smtClean="0"/>
              <a:pPr/>
              <a:t>3/14/2022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r>
              <a:rPr lang="en-US" dirty="0" smtClean="0"/>
              <a:t>MSR,Lecturer, Dept. of ICT, CoU.</a:t>
            </a:r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34B4FE1C-07CF-487E-9EDB-8E27F28677D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38400"/>
            <a:ext cx="7343336" cy="914400"/>
          </a:xfrm>
        </p:spPr>
        <p:txBody>
          <a:bodyPr/>
          <a:lstStyle/>
          <a:p>
            <a:r>
              <a:rPr dirty="0" smtClean="0">
                <a:solidFill>
                  <a:srgbClr val="FF0000"/>
                </a:solidFill>
              </a:rPr>
              <a:t>Over</a:t>
            </a:r>
            <a:r>
              <a:rPr lang="en-US" dirty="0" smtClean="0">
                <a:solidFill>
                  <a:srgbClr val="FF0000"/>
                </a:solidFill>
              </a:rPr>
              <a:t>vie</a:t>
            </a:r>
            <a:r>
              <a:rPr dirty="0" smtClean="0">
                <a:solidFill>
                  <a:srgbClr val="FF0000"/>
                </a:solidFill>
              </a:rPr>
              <a:t>w of Computers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70248" y="3443405"/>
            <a:ext cx="49744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b="1" dirty="0">
              <a:solidFill>
                <a:schemeClr val="accent1"/>
              </a:solidFill>
            </a:endParaRPr>
          </a:p>
          <a:p>
            <a:pPr algn="ctr"/>
            <a:r>
              <a:rPr lang="en-US" b="1" dirty="0" smtClean="0">
                <a:solidFill>
                  <a:schemeClr val="accent1"/>
                </a:solidFill>
              </a:rPr>
              <a:t>Lecture 1</a:t>
            </a:r>
          </a:p>
          <a:p>
            <a:pPr algn="ctr"/>
            <a:r>
              <a:rPr lang="en-US" b="1" dirty="0" smtClean="0">
                <a:solidFill>
                  <a:schemeClr val="accent1"/>
                </a:solidFill>
              </a:rPr>
              <a:t>I have to see the following slide</a:t>
            </a:r>
          </a:p>
          <a:p>
            <a:pPr algn="ctr"/>
            <a:r>
              <a:rPr lang="en-US" b="1" dirty="0">
                <a:solidFill>
                  <a:schemeClr val="accent1"/>
                </a:solidFill>
              </a:rPr>
              <a:t>https://slideplayer.com/slide/13243907/ </a:t>
            </a:r>
            <a:endParaRPr lang="en-US" b="1" dirty="0" smtClean="0"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38878" y="5934670"/>
            <a:ext cx="56380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Based on the text book </a:t>
            </a:r>
          </a:p>
          <a:p>
            <a:r>
              <a:rPr lang="en-US" b="1" dirty="0" smtClean="0"/>
              <a:t>Fundamentals of  </a:t>
            </a:r>
            <a:r>
              <a:rPr lang="en-US" b="1" dirty="0"/>
              <a:t>Computer by </a:t>
            </a:r>
            <a:r>
              <a:rPr lang="en-US" b="1" dirty="0" smtClean="0"/>
              <a:t>E.Balagurushamy</a:t>
            </a:r>
            <a:endParaRPr lang="en-US" b="1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553200" y="6096000"/>
            <a:ext cx="2286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MSR,Lecturer,Dept. ICT, CoU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762000" y="609600"/>
            <a:ext cx="7343336" cy="838200"/>
          </a:xfrm>
          <a:prstGeom prst="rect">
            <a:avLst/>
          </a:prstGeom>
        </p:spPr>
        <p:txBody>
          <a:bodyPr/>
          <a:lstStyle/>
          <a:p>
            <a:pPr lvl="0">
              <a:spcBef>
                <a:spcPct val="0"/>
              </a:spcBef>
              <a:defRPr/>
            </a:pPr>
            <a:r>
              <a:rPr lang="en-US" altLang="zh-CN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0" y="1676400"/>
            <a:ext cx="6422818" cy="4524315"/>
          </a:xfrm>
          <a:prstGeom prst="rect">
            <a:avLst/>
          </a:prstGeom>
          <a:solidFill>
            <a:schemeClr val="bg1">
              <a:lumMod val="85000"/>
              <a:alpha val="45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is Computer?</a:t>
            </a: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Evolution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Computer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Computer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Computer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Parts of Computer System</a:t>
            </a:r>
          </a:p>
          <a:p>
            <a:pPr>
              <a:lnSpc>
                <a:spcPct val="150000"/>
              </a:lnSpc>
            </a:pP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MSR,Lecturer, Dept. of ICT, CoU.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614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609600"/>
            <a:ext cx="7648136" cy="609600"/>
          </a:xfrm>
          <a:prstGeom prst="rect">
            <a:avLst/>
          </a:prstGeom>
        </p:spPr>
        <p:txBody>
          <a:bodyPr/>
          <a:lstStyle/>
          <a:p>
            <a:pPr lvl="0">
              <a:spcBef>
                <a:spcPct val="0"/>
              </a:spcBef>
              <a:defRPr/>
            </a:pPr>
            <a:r>
              <a:rPr lang="en-US" altLang="zh-CN" sz="4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What’s a Computer?</a:t>
            </a:r>
          </a:p>
          <a:p>
            <a:pPr lvl="0">
              <a:spcBef>
                <a:spcPct val="0"/>
              </a:spcBef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0">
              <a:spcBef>
                <a:spcPct val="0"/>
              </a:spcBef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822073"/>
            <a:ext cx="8458200" cy="3600986"/>
          </a:xfrm>
          <a:prstGeom prst="rect">
            <a:avLst/>
          </a:prstGeom>
          <a:solidFill>
            <a:schemeClr val="bg1">
              <a:lumMod val="85000"/>
              <a:alpha val="45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 machine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takes input from the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processes the given input and generates output in the form of useful information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altLang="zh-CN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Charles Babbage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professor of mathematics 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Cambridge University is considered to be the father of modern 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computer.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C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MSR,Lecturer, Dept. of ICT, CoU.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280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381000"/>
            <a:ext cx="7648136" cy="1092596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4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Evolution of Computer</a:t>
            </a:r>
          </a:p>
          <a:p>
            <a:pPr lvl="0">
              <a:spcBef>
                <a:spcPct val="0"/>
              </a:spcBef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2133600"/>
            <a:ext cx="8458200" cy="4031873"/>
          </a:xfrm>
          <a:prstGeom prst="rect">
            <a:avLst/>
          </a:prstGeom>
          <a:solidFill>
            <a:schemeClr val="bg1">
              <a:lumMod val="85000"/>
              <a:alpha val="45000"/>
            </a:schemeClr>
          </a:solidFill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  <a:defRPr/>
            </a:pPr>
            <a:r>
              <a:rPr lang="en-US" altLang="zh-CN" sz="3200" dirty="0"/>
              <a:t>Manual Computing </a:t>
            </a:r>
            <a:r>
              <a:rPr lang="en-US" altLang="zh-CN" sz="3200" dirty="0" smtClean="0"/>
              <a:t>Devices</a:t>
            </a:r>
            <a:endParaRPr lang="en-US" altLang="zh-CN" sz="3200"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en-US" altLang="zh-CN" sz="3200" dirty="0">
                <a:latin typeface="Arial" panose="020B0604020202020204" pitchFamily="34" charset="0"/>
              </a:rPr>
              <a:t>Automated </a:t>
            </a:r>
            <a:r>
              <a:rPr lang="en-US" altLang="zh-CN" sz="3200" dirty="0"/>
              <a:t>Computing </a:t>
            </a:r>
            <a:r>
              <a:rPr lang="en-US" altLang="zh-CN" sz="3200" dirty="0" smtClean="0"/>
              <a:t>Devices</a:t>
            </a:r>
          </a:p>
          <a:p>
            <a:pPr>
              <a:defRPr/>
            </a:pPr>
            <a:endParaRPr lang="en-US" altLang="zh-CN" sz="3200" dirty="0"/>
          </a:p>
          <a:p>
            <a:pPr>
              <a:defRPr/>
            </a:pPr>
            <a:r>
              <a:rPr lang="en-US" altLang="zh-CN" sz="3200" dirty="0"/>
              <a:t>Manual Computing </a:t>
            </a:r>
            <a:r>
              <a:rPr lang="en-US" altLang="zh-CN" sz="3200" dirty="0" smtClean="0"/>
              <a:t>Devices</a:t>
            </a:r>
          </a:p>
          <a:p>
            <a:pPr>
              <a:defRPr/>
            </a:pPr>
            <a:endParaRPr lang="en-US" altLang="zh-CN" sz="3200" dirty="0" smtClean="0"/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altLang="zh-CN" sz="3200" dirty="0" smtClean="0"/>
              <a:t>Sand table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altLang="zh-CN" sz="3200" dirty="0" smtClean="0"/>
              <a:t>Abacus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altLang="zh-CN" sz="3200" dirty="0" smtClean="0">
                <a:latin typeface="Arial" panose="020B0604020202020204" pitchFamily="34" charset="0"/>
              </a:rPr>
              <a:t>Napier Bones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MSR,Lecturer, Dept. of ICT, CoU.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975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228600"/>
            <a:ext cx="7648136" cy="126951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4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Evolution of Computer</a:t>
            </a:r>
          </a:p>
          <a:p>
            <a:pPr lvl="0">
              <a:spcBef>
                <a:spcPct val="0"/>
              </a:spcBef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4114" y="1856798"/>
            <a:ext cx="8429171" cy="4524315"/>
          </a:xfrm>
          <a:prstGeom prst="rect">
            <a:avLst/>
          </a:prstGeom>
          <a:solidFill>
            <a:schemeClr val="bg1">
              <a:lumMod val="85000"/>
              <a:alpha val="45000"/>
            </a:schemeClr>
          </a:solidFill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200" dirty="0" smtClean="0"/>
              <a:t>Abacus:</a:t>
            </a:r>
          </a:p>
          <a:p>
            <a:pPr>
              <a:defRPr/>
            </a:pP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altLang="zh-C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altLang="zh-C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C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MSR,Lecturer, Dept. of ICT, CoU.</a:t>
            </a:r>
            <a:endParaRPr lang="en-US" dirty="0"/>
          </a:p>
        </p:txBody>
      </p:sp>
      <p:pic>
        <p:nvPicPr>
          <p:cNvPr id="6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399" y="2178987"/>
            <a:ext cx="4800600" cy="4235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6506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228600"/>
            <a:ext cx="7648136" cy="12192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4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Evolution of Computer</a:t>
            </a:r>
          </a:p>
          <a:p>
            <a:pPr lvl="0">
              <a:spcBef>
                <a:spcPct val="0"/>
              </a:spcBef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799927"/>
            <a:ext cx="8429171" cy="4524315"/>
          </a:xfrm>
          <a:prstGeom prst="rect">
            <a:avLst/>
          </a:prstGeom>
          <a:solidFill>
            <a:schemeClr val="bg1">
              <a:lumMod val="85000"/>
              <a:alpha val="45000"/>
            </a:schemeClr>
          </a:solidFill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200" dirty="0">
                <a:latin typeface="Arial" panose="020B0604020202020204" pitchFamily="34" charset="0"/>
              </a:rPr>
              <a:t>Napier </a:t>
            </a:r>
            <a:r>
              <a:rPr lang="en-US" altLang="zh-CN" sz="3200" dirty="0" smtClean="0">
                <a:latin typeface="Arial" panose="020B0604020202020204" pitchFamily="34" charset="0"/>
              </a:rPr>
              <a:t>Bones</a:t>
            </a:r>
            <a:r>
              <a:rPr lang="en-US" altLang="zh-CN" sz="3200" dirty="0" smtClean="0"/>
              <a:t>:</a:t>
            </a:r>
          </a:p>
          <a:p>
            <a:pPr>
              <a:defRPr/>
            </a:pP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altLang="zh-C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altLang="zh-C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C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MSR,Lecturer, Dept. of ICT, CoU.</a:t>
            </a:r>
            <a:endParaRPr lang="en-US" dirty="0"/>
          </a:p>
        </p:txBody>
      </p:sp>
      <p:pic>
        <p:nvPicPr>
          <p:cNvPr id="7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370" y="2438400"/>
            <a:ext cx="7086600" cy="3802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1783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228600"/>
            <a:ext cx="7648136" cy="15240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4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Evolution of Computer</a:t>
            </a:r>
          </a:p>
          <a:p>
            <a:pPr lvl="0">
              <a:spcBef>
                <a:spcPct val="0"/>
              </a:spcBef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4800" y="2362200"/>
            <a:ext cx="8429171" cy="3539430"/>
          </a:xfrm>
          <a:prstGeom prst="rect">
            <a:avLst/>
          </a:prstGeom>
          <a:solidFill>
            <a:schemeClr val="bg1">
              <a:lumMod val="85000"/>
              <a:alpha val="45000"/>
            </a:schemeClr>
          </a:solidFill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200" dirty="0"/>
              <a:t>Automated Computing Devices: </a:t>
            </a:r>
            <a:endParaRPr lang="en-US" altLang="zh-CN" sz="3200" dirty="0" smtClean="0"/>
          </a:p>
          <a:p>
            <a:pPr>
              <a:defRPr/>
            </a:pPr>
            <a:endParaRPr lang="en-US" altLang="zh-CN" sz="3200" dirty="0"/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altLang="zh-CN" sz="3200" dirty="0"/>
              <a:t>D</a:t>
            </a:r>
            <a:r>
              <a:rPr lang="en-US" altLang="zh-CN" sz="3200" dirty="0" smtClean="0"/>
              <a:t>ifference </a:t>
            </a:r>
            <a:r>
              <a:rPr lang="en-US" altLang="zh-CN" sz="3200" dirty="0"/>
              <a:t>engine, </a:t>
            </a:r>
            <a:endParaRPr lang="en-US" altLang="zh-CN" sz="3200" dirty="0" smtClean="0"/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altLang="zh-CN" sz="3200" dirty="0"/>
              <a:t>A</a:t>
            </a:r>
            <a:r>
              <a:rPr lang="en-US" altLang="zh-CN" sz="3200" dirty="0" smtClean="0"/>
              <a:t>nalytical </a:t>
            </a:r>
            <a:r>
              <a:rPr lang="en-US" altLang="zh-CN" sz="3200" dirty="0"/>
              <a:t>engine, </a:t>
            </a:r>
            <a:endParaRPr lang="en-US" altLang="zh-CN" sz="3200" dirty="0" smtClean="0"/>
          </a:p>
          <a:p>
            <a:pPr algn="just"/>
            <a:endParaRPr lang="en-US" altLang="zh-C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MSR,Lecturer, Dept. of ICT, CoU.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899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231820" y="228601"/>
            <a:ext cx="7873516" cy="609600"/>
          </a:xfrm>
          <a:prstGeom prst="rect">
            <a:avLst/>
          </a:prstGeom>
        </p:spPr>
        <p:txBody>
          <a:bodyPr/>
          <a:lstStyle/>
          <a:p>
            <a:pPr lvl="0">
              <a:spcBef>
                <a:spcPct val="0"/>
              </a:spcBef>
              <a:defRPr/>
            </a:pPr>
            <a:r>
              <a:rPr lang="en-US" altLang="zh-CN" sz="4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Generations of Computers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5272" y="1143000"/>
            <a:ext cx="8229600" cy="4832092"/>
          </a:xfrm>
          <a:prstGeom prst="rect">
            <a:avLst/>
          </a:prstGeom>
          <a:solidFill>
            <a:schemeClr val="bg1">
              <a:lumMod val="85000"/>
              <a:alpha val="4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Generation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Computers:</a:t>
            </a:r>
          </a:p>
          <a:p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200000"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Employed during the period 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1940-1956.</a:t>
            </a:r>
          </a:p>
          <a:p>
            <a:pPr>
              <a:buSzPct val="200000"/>
            </a:pP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200000"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the vacuum tubes technology for calculation as well as for storage and control purpose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SzPct val="200000"/>
            </a:pP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200000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 </a:t>
            </a:r>
            <a:endParaRPr lang="en-US" altLang="zh-CN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200000"/>
            </a:pP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(1) Fastest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 devices of their time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buSzPct val="200000"/>
            </a:pP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These computers were able to execute complex mathematical problems in an efficient manner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380072" y="6477000"/>
            <a:ext cx="2350681" cy="296069"/>
          </a:xfrm>
        </p:spPr>
        <p:txBody>
          <a:bodyPr/>
          <a:lstStyle/>
          <a:p>
            <a:r>
              <a:rPr lang="en-US" dirty="0" smtClean="0"/>
              <a:t>MSR,Lecturer, Dept. of ICT, CoU.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730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265272" y="228601"/>
            <a:ext cx="7840064" cy="609600"/>
          </a:xfrm>
          <a:prstGeom prst="rect">
            <a:avLst/>
          </a:prstGeom>
        </p:spPr>
        <p:txBody>
          <a:bodyPr/>
          <a:lstStyle/>
          <a:p>
            <a:pPr lvl="0">
              <a:spcBef>
                <a:spcPct val="0"/>
              </a:spcBef>
              <a:defRPr/>
            </a:pPr>
            <a:r>
              <a:rPr lang="en-US" altLang="zh-CN" sz="4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Generation </a:t>
            </a:r>
            <a:r>
              <a:rPr lang="en-US" altLang="zh-CN" sz="4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zh-CN" sz="4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5272" y="1143246"/>
            <a:ext cx="8229600" cy="5324535"/>
          </a:xfrm>
          <a:prstGeom prst="rect">
            <a:avLst/>
          </a:prstGeom>
          <a:solidFill>
            <a:schemeClr val="bg1">
              <a:lumMod val="85000"/>
              <a:alpha val="4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First Generation </a:t>
            </a:r>
            <a:r>
              <a:rPr lang="en-US" altLang="zh-CN" sz="2800" b="1" dirty="0" smtClean="0"/>
              <a:t>Computers:</a:t>
            </a:r>
          </a:p>
          <a:p>
            <a:pPr>
              <a:buSzPct val="200000"/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SzPct val="200000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The functioning of these computers depended on the machine language.</a:t>
            </a:r>
          </a:p>
          <a:p>
            <a:pPr>
              <a:buSzPct val="200000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There were generally designed as special-purpose computers. </a:t>
            </a:r>
          </a:p>
          <a:p>
            <a:pPr>
              <a:buSzPct val="200000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The use of vacuum tube technology make these computers very large and bulky. </a:t>
            </a:r>
          </a:p>
          <a:p>
            <a:pPr>
              <a:buSzPct val="200000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 They were not easily transferable from one place to another due to their huge size and also required to be placed in cool places.</a:t>
            </a:r>
          </a:p>
          <a:p>
            <a:pPr>
              <a:buSzPct val="200000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 They were single tasking because they could execute only one program at a time.</a:t>
            </a:r>
          </a:p>
          <a:p>
            <a:pPr>
              <a:buSzPct val="200000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(6) The generated huge amount of heat and hence were prone to hardware faults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380072" y="6477000"/>
            <a:ext cx="2350681" cy="296069"/>
          </a:xfrm>
        </p:spPr>
        <p:txBody>
          <a:bodyPr/>
          <a:lstStyle/>
          <a:p>
            <a:r>
              <a:rPr lang="en-US" dirty="0" smtClean="0"/>
              <a:t>MSR,Lecturer, Dept. of ICT, CoU.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661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265272" y="228601"/>
            <a:ext cx="7840064" cy="609600"/>
          </a:xfrm>
          <a:prstGeom prst="rect">
            <a:avLst/>
          </a:prstGeom>
        </p:spPr>
        <p:txBody>
          <a:bodyPr/>
          <a:lstStyle/>
          <a:p>
            <a:pPr lvl="0">
              <a:spcBef>
                <a:spcPct val="0"/>
              </a:spcBef>
              <a:defRPr/>
            </a:pPr>
            <a:r>
              <a:rPr lang="en-US" altLang="zh-CN" sz="4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Generations of </a:t>
            </a:r>
            <a:r>
              <a:rPr lang="en-US" altLang="zh-CN" sz="4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5272" y="1287887"/>
            <a:ext cx="8229600" cy="5189113"/>
          </a:xfrm>
          <a:prstGeom prst="rect">
            <a:avLst/>
          </a:prstGeom>
          <a:solidFill>
            <a:schemeClr val="bg1">
              <a:lumMod val="85000"/>
              <a:alpha val="4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Generation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Computers:</a:t>
            </a:r>
          </a:p>
          <a:p>
            <a:pPr>
              <a:lnSpc>
                <a:spcPct val="90000"/>
              </a:lnSpc>
            </a:pP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SzPct val="150000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Employed during the period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1956-1963</a:t>
            </a:r>
          </a:p>
          <a:p>
            <a:pPr>
              <a:lnSpc>
                <a:spcPct val="90000"/>
              </a:lnSpc>
              <a:buSzPct val="150000"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SzPct val="150000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transistors in place of vacuum tubes in building the basic logic circuits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90000"/>
              </a:lnSpc>
              <a:buSzPct val="150000"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SzPct val="150000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 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SzPct val="150000"/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(1) Fastest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 devices of their time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90000"/>
              </a:lnSpc>
              <a:buSzPct val="150000"/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Easy to program because of the use assembly language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90000"/>
              </a:lnSpc>
              <a:buSzPct val="150000"/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Could be transferred from one place to other very easily because they were small and light; </a:t>
            </a:r>
          </a:p>
          <a:p>
            <a:pPr>
              <a:lnSpc>
                <a:spcPct val="90000"/>
              </a:lnSpc>
              <a:buSzPct val="150000"/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Require very less power in carrying out their operations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90000"/>
              </a:lnSpc>
              <a:buSzPct val="150000"/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 More reliable, did not require maintenance at regular intervals of time.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380072" y="6477000"/>
            <a:ext cx="2350681" cy="296069"/>
          </a:xfrm>
        </p:spPr>
        <p:txBody>
          <a:bodyPr/>
          <a:lstStyle/>
          <a:p>
            <a:r>
              <a:rPr lang="en-US" dirty="0" smtClean="0"/>
              <a:t>MSR,Lecturer, Dept. of ICT, CoU.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767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265272" y="228601"/>
            <a:ext cx="7840064" cy="609600"/>
          </a:xfrm>
          <a:prstGeom prst="rect">
            <a:avLst/>
          </a:prstGeom>
        </p:spPr>
        <p:txBody>
          <a:bodyPr/>
          <a:lstStyle/>
          <a:p>
            <a:pPr lvl="0">
              <a:spcBef>
                <a:spcPct val="0"/>
              </a:spcBef>
              <a:defRPr/>
            </a:pPr>
            <a:r>
              <a:rPr lang="en-US" altLang="zh-CN" sz="4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Generation </a:t>
            </a:r>
            <a:r>
              <a:rPr lang="en-US" altLang="zh-CN" sz="4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zh-CN" sz="4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5272" y="1222026"/>
            <a:ext cx="8229600" cy="5281446"/>
          </a:xfrm>
          <a:prstGeom prst="rect">
            <a:avLst/>
          </a:prstGeom>
          <a:solidFill>
            <a:schemeClr val="bg1">
              <a:lumMod val="85000"/>
              <a:alpha val="4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Generation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Computers: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200000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</a:t>
            </a:r>
          </a:p>
          <a:p>
            <a:pPr>
              <a:buSzPct val="200000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The functioning of these computers depended on the machine language.</a:t>
            </a:r>
          </a:p>
          <a:p>
            <a:pPr>
              <a:buSzPct val="200000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There were generally designed as special-purpose computers. </a:t>
            </a:r>
          </a:p>
          <a:p>
            <a:pPr>
              <a:buSzPct val="200000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The use of vacuum tube technology make these computers very large and bulky. </a:t>
            </a:r>
          </a:p>
          <a:p>
            <a:pPr>
              <a:buSzPct val="200000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 They were not easily transferable from one place to another due to their huge size and also required to be placed in cool places.</a:t>
            </a:r>
          </a:p>
          <a:p>
            <a:pPr>
              <a:buSzPct val="200000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 They were single tasking because they could execute only one program at a time.</a:t>
            </a:r>
          </a:p>
          <a:p>
            <a:pPr>
              <a:buSzPct val="200000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(6) The generated huge amount of heat and hence were prone to hardware faults.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380072" y="6477000"/>
            <a:ext cx="2350681" cy="296069"/>
          </a:xfrm>
        </p:spPr>
        <p:txBody>
          <a:bodyPr/>
          <a:lstStyle/>
          <a:p>
            <a:r>
              <a:rPr lang="en-US" dirty="0" smtClean="0"/>
              <a:t>MSR,Lecturer, Dept. of ICT, CoU.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04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1834" y="228601"/>
            <a:ext cx="7653502" cy="609600"/>
          </a:xfrm>
          <a:prstGeom prst="rect">
            <a:avLst/>
          </a:prstGeom>
        </p:spPr>
        <p:txBody>
          <a:bodyPr/>
          <a:lstStyle/>
          <a:p>
            <a:pPr lvl="0">
              <a:spcBef>
                <a:spcPct val="0"/>
              </a:spcBef>
              <a:defRPr/>
            </a:pPr>
            <a:r>
              <a:rPr lang="en-US" altLang="zh-CN" sz="4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Generation </a:t>
            </a:r>
            <a:r>
              <a:rPr lang="en-US" altLang="zh-CN" sz="4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zh-CN" sz="4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1834" y="1295400"/>
            <a:ext cx="8229600" cy="5016758"/>
          </a:xfrm>
          <a:prstGeom prst="rect">
            <a:avLst/>
          </a:prstGeom>
          <a:solidFill>
            <a:schemeClr val="bg1">
              <a:lumMod val="85000"/>
              <a:alpha val="4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 Generation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Computers:</a:t>
            </a:r>
          </a:p>
          <a:p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150000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Employed during the period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1964-1975.Use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Integrated Circuits</a:t>
            </a:r>
          </a:p>
          <a:p>
            <a:pPr>
              <a:buSzPct val="150000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 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150000"/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(1) Fastest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devices. </a:t>
            </a:r>
          </a:p>
          <a:p>
            <a:pPr>
              <a:buSzPct val="150000"/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Very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productive. </a:t>
            </a:r>
          </a:p>
          <a:p>
            <a:pPr>
              <a:buSzPct val="150000"/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Easily transportable from one place to another because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   their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size. </a:t>
            </a:r>
          </a:p>
          <a:p>
            <a:pPr>
              <a:buSzPct val="150000"/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Use high-level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languages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150000"/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 Could be installed very easily and required less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space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150000"/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6) Can execute any type of application. 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150000"/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7) More reliable and require less frequent maintenance schedules.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380072" y="6477000"/>
            <a:ext cx="2350681" cy="296069"/>
          </a:xfrm>
        </p:spPr>
        <p:txBody>
          <a:bodyPr/>
          <a:lstStyle/>
          <a:p>
            <a:r>
              <a:rPr lang="en-US" dirty="0" smtClean="0"/>
              <a:t>MSR,Lecturer, Dept. of ICT, CoU.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320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265272" y="228601"/>
            <a:ext cx="7840064" cy="609600"/>
          </a:xfrm>
          <a:prstGeom prst="rect">
            <a:avLst/>
          </a:prstGeom>
        </p:spPr>
        <p:txBody>
          <a:bodyPr/>
          <a:lstStyle/>
          <a:p>
            <a:pPr lvl="0">
              <a:spcBef>
                <a:spcPct val="0"/>
              </a:spcBef>
              <a:defRPr/>
            </a:pPr>
            <a:r>
              <a:rPr lang="en-US" altLang="zh-CN" sz="4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Generation </a:t>
            </a:r>
            <a:r>
              <a:rPr lang="en-US" altLang="zh-CN" sz="4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zh-CN" sz="4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5272" y="1447800"/>
            <a:ext cx="8229600" cy="4401205"/>
          </a:xfrm>
          <a:prstGeom prst="rect">
            <a:avLst/>
          </a:prstGeom>
          <a:solidFill>
            <a:schemeClr val="bg1">
              <a:lumMod val="85000"/>
              <a:alpha val="4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(1)The storage capacity of these computers was still very 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small.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The performance of these computers degraded while executing large applications, involving complex computations because of the small storage 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capacity.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The cost of these computers was very 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high.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 They were still required to be placed in air-conditioned places.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380072" y="6477000"/>
            <a:ext cx="2350681" cy="296069"/>
          </a:xfrm>
        </p:spPr>
        <p:txBody>
          <a:bodyPr/>
          <a:lstStyle/>
          <a:p>
            <a:r>
              <a:rPr lang="en-US" dirty="0" smtClean="0"/>
              <a:t>MSR,Lecturer, Dept. of ICT, CoU.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765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228601"/>
            <a:ext cx="7648136" cy="609600"/>
          </a:xfrm>
          <a:prstGeom prst="rect">
            <a:avLst/>
          </a:prstGeom>
        </p:spPr>
        <p:txBody>
          <a:bodyPr/>
          <a:lstStyle/>
          <a:p>
            <a:pPr lvl="0">
              <a:spcBef>
                <a:spcPct val="0"/>
              </a:spcBef>
              <a:defRPr/>
            </a:pPr>
            <a:r>
              <a:rPr lang="en-US" altLang="zh-CN" sz="4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Generation </a:t>
            </a:r>
            <a:r>
              <a:rPr lang="en-US" altLang="zh-CN" sz="4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zh-CN" sz="4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2907" y="1066800"/>
            <a:ext cx="8229600" cy="5478423"/>
          </a:xfrm>
          <a:prstGeom prst="rect">
            <a:avLst/>
          </a:prstGeom>
          <a:solidFill>
            <a:schemeClr val="bg1">
              <a:lumMod val="85000"/>
              <a:alpha val="4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Fourth Generation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Computers:</a:t>
            </a:r>
          </a:p>
          <a:p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150000"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Employed during 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1975-1989 and Use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Large Scale Integration 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technology(LSI)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Very Large Scale Integration 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technology(VLSI).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150000"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term Personal Computer (PC) became known to the people during this era. </a:t>
            </a:r>
            <a:endParaRPr lang="en-US" altLang="zh-CN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150000"/>
            </a:pPr>
            <a:endParaRPr lang="en-US" altLang="zh-CN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 </a:t>
            </a:r>
          </a:p>
          <a:p>
            <a:pPr>
              <a:lnSpc>
                <a:spcPct val="9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Very powerful in terms of their processing speed and access 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Storage capacity was very large and 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faster.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Highly reliable and required very less 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380072" y="6477000"/>
            <a:ext cx="2350681" cy="296069"/>
          </a:xfrm>
        </p:spPr>
        <p:txBody>
          <a:bodyPr/>
          <a:lstStyle/>
          <a:p>
            <a:r>
              <a:rPr lang="en-US" dirty="0" smtClean="0"/>
              <a:t>MSR,Lecturer, Dept. of ICT, CoU.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813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265272" y="228601"/>
            <a:ext cx="7840064" cy="609600"/>
          </a:xfrm>
          <a:prstGeom prst="rect">
            <a:avLst/>
          </a:prstGeom>
        </p:spPr>
        <p:txBody>
          <a:bodyPr/>
          <a:lstStyle/>
          <a:p>
            <a:pPr lvl="0">
              <a:spcBef>
                <a:spcPct val="0"/>
              </a:spcBef>
              <a:defRPr/>
            </a:pPr>
            <a:r>
              <a:rPr lang="en-US" altLang="zh-CN" sz="4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Generation </a:t>
            </a:r>
            <a:r>
              <a:rPr lang="en-US" altLang="zh-CN" sz="4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zh-CN" sz="4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5272" y="1134806"/>
            <a:ext cx="8229600" cy="5478423"/>
          </a:xfrm>
          <a:prstGeom prst="rect">
            <a:avLst/>
          </a:prstGeom>
          <a:solidFill>
            <a:schemeClr val="bg1">
              <a:lumMod val="85000"/>
              <a:alpha val="4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Fourth Generation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Computers: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>
              <a:lnSpc>
                <a:spcPct val="9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 User-friendly environment; </a:t>
            </a:r>
          </a:p>
          <a:p>
            <a:pPr>
              <a:lnSpc>
                <a:spcPct val="9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 Programs written on these computers were highly portable; </a:t>
            </a:r>
          </a:p>
          <a:p>
            <a:pPr>
              <a:lnSpc>
                <a:spcPct val="9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(6) Versatile and suitable for every type of applications;</a:t>
            </a:r>
          </a:p>
          <a:p>
            <a:pPr>
              <a:lnSpc>
                <a:spcPct val="9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(7) Require very less power to operate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 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The soldering of LSI and VLSI chips on the wiring board was not an easy task and required complicated technologies to bind these chips on the wiring 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board.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The working of these computers is still dependent on the instructions given by the programmer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380072" y="6477000"/>
            <a:ext cx="2350681" cy="296069"/>
          </a:xfrm>
        </p:spPr>
        <p:txBody>
          <a:bodyPr/>
          <a:lstStyle/>
          <a:p>
            <a:r>
              <a:rPr lang="en-US" dirty="0" smtClean="0"/>
              <a:t>MSR,Lecturer, Dept. of ICT, CoU.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743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304800" y="228601"/>
            <a:ext cx="7800536" cy="609600"/>
          </a:xfrm>
          <a:prstGeom prst="rect">
            <a:avLst/>
          </a:prstGeom>
        </p:spPr>
        <p:txBody>
          <a:bodyPr/>
          <a:lstStyle/>
          <a:p>
            <a:pPr lvl="0">
              <a:spcBef>
                <a:spcPct val="0"/>
              </a:spcBef>
              <a:defRPr/>
            </a:pPr>
            <a:r>
              <a:rPr lang="en-US" altLang="zh-CN" sz="4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Generation </a:t>
            </a:r>
            <a:r>
              <a:rPr lang="en-US" altLang="zh-CN" sz="4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zh-CN" sz="4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447800"/>
            <a:ext cx="8229600" cy="4659737"/>
          </a:xfrm>
          <a:prstGeom prst="rect">
            <a:avLst/>
          </a:prstGeom>
          <a:solidFill>
            <a:schemeClr val="bg1">
              <a:lumMod val="85000"/>
              <a:alpha val="4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Fifth Generation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Computers: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150000"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different types of modern digital computers come under this category. 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 Large Scale Integration 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technology(ULSI)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allows almost ten million electronic components to be fabricated on one small chip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SzPct val="150000"/>
            </a:pPr>
            <a:endParaRPr lang="en-US" altLang="zh-CN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 </a:t>
            </a:r>
          </a:p>
          <a:p>
            <a:pPr>
              <a:lnSpc>
                <a:spcPct val="9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Fastest and powerful computers till 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date. 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Being able to execute a large number of applications at the same time and that too at a very high 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speed. 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380072" y="6477000"/>
            <a:ext cx="2350681" cy="296069"/>
          </a:xfrm>
        </p:spPr>
        <p:txBody>
          <a:bodyPr/>
          <a:lstStyle/>
          <a:p>
            <a:r>
              <a:rPr lang="en-US" dirty="0" smtClean="0"/>
              <a:t>MSR,Lecturer, Dept. of ICT, CoU.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810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265272" y="228601"/>
            <a:ext cx="7840064" cy="609600"/>
          </a:xfrm>
          <a:prstGeom prst="rect">
            <a:avLst/>
          </a:prstGeom>
        </p:spPr>
        <p:txBody>
          <a:bodyPr/>
          <a:lstStyle/>
          <a:p>
            <a:pPr lvl="0">
              <a:spcBef>
                <a:spcPct val="0"/>
              </a:spcBef>
              <a:defRPr/>
            </a:pPr>
            <a:r>
              <a:rPr lang="en-US" altLang="zh-CN" sz="4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Generation </a:t>
            </a:r>
            <a:r>
              <a:rPr lang="en-US" altLang="zh-CN" sz="4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zh-CN" sz="4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1371600"/>
            <a:ext cx="8229600" cy="4185761"/>
          </a:xfrm>
          <a:prstGeom prst="rect">
            <a:avLst/>
          </a:prstGeom>
          <a:solidFill>
            <a:schemeClr val="bg1">
              <a:lumMod val="85000"/>
              <a:alpha val="4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Fifth Generation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Computers: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Decreasing the size of these computers to a large 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extent. 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(4)The users of these computers find it very comfortable to use them because of the several additional multimedia 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features. 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 They are versatile for communications and resource sharing.</a:t>
            </a:r>
          </a:p>
          <a:p>
            <a:pPr>
              <a:buSzPct val="150000"/>
            </a:pP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380072" y="6477000"/>
            <a:ext cx="2350681" cy="296069"/>
          </a:xfrm>
        </p:spPr>
        <p:txBody>
          <a:bodyPr/>
          <a:lstStyle/>
          <a:p>
            <a:r>
              <a:rPr lang="en-US" dirty="0" smtClean="0"/>
              <a:t>MSR,Lecturer, Dept. of ICT, CoU.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675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228600" y="228601"/>
            <a:ext cx="7876736" cy="609599"/>
          </a:xfrm>
          <a:prstGeom prst="rect">
            <a:avLst/>
          </a:prstGeom>
        </p:spPr>
        <p:txBody>
          <a:bodyPr/>
          <a:lstStyle/>
          <a:p>
            <a:pPr lvl="0">
              <a:spcBef>
                <a:spcPct val="0"/>
              </a:spcBef>
              <a:defRPr/>
            </a:pPr>
            <a:r>
              <a:rPr lang="en-US" altLang="zh-CN" sz="4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of </a:t>
            </a:r>
            <a:r>
              <a:rPr lang="en-US" altLang="zh-CN" sz="4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1524000"/>
            <a:ext cx="8229600" cy="4462760"/>
          </a:xfrm>
          <a:prstGeom prst="rect">
            <a:avLst/>
          </a:prstGeom>
          <a:solidFill>
            <a:schemeClr val="bg1">
              <a:lumMod val="85000"/>
              <a:alpha val="4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classify the computers according to the following three criteria</a:t>
            </a:r>
            <a:r>
              <a:rPr lang="en-US" altLang="zh-C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arenBoth"/>
            </a:pPr>
            <a:r>
              <a:rPr lang="en-US" altLang="zh-C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Based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operating </a:t>
            </a:r>
            <a:r>
              <a:rPr lang="en-US" altLang="zh-C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principles</a:t>
            </a:r>
          </a:p>
          <a:p>
            <a:pPr marL="514350" indent="-514350">
              <a:buAutoNum type="arabicParenBoth"/>
            </a:pP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Based on </a:t>
            </a:r>
            <a:r>
              <a:rPr lang="en-US" altLang="zh-C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endParaRPr lang="en-US" altLang="zh-C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Based on size and </a:t>
            </a:r>
            <a:r>
              <a:rPr lang="en-US" altLang="zh-C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capability</a:t>
            </a:r>
          </a:p>
          <a:p>
            <a:endParaRPr lang="en-US" altLang="zh-CN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380072" y="6477000"/>
            <a:ext cx="2350681" cy="296069"/>
          </a:xfrm>
        </p:spPr>
        <p:txBody>
          <a:bodyPr/>
          <a:lstStyle/>
          <a:p>
            <a:r>
              <a:rPr lang="en-US" dirty="0" smtClean="0"/>
              <a:t>MSR,Lecturer, Dept. of ICT, CoU.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102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265272" y="228601"/>
            <a:ext cx="7840064" cy="838199"/>
          </a:xfrm>
          <a:prstGeom prst="rect">
            <a:avLst/>
          </a:prstGeom>
        </p:spPr>
        <p:txBody>
          <a:bodyPr/>
          <a:lstStyle/>
          <a:p>
            <a:pPr lvl="0">
              <a:spcBef>
                <a:spcPct val="0"/>
              </a:spcBef>
              <a:defRPr/>
            </a:pPr>
            <a:r>
              <a:rPr lang="en-US" altLang="zh-CN" sz="4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of </a:t>
            </a:r>
            <a:r>
              <a:rPr lang="en-US" altLang="zh-CN" sz="4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1320" y="1295400"/>
            <a:ext cx="8229600" cy="4401205"/>
          </a:xfrm>
          <a:prstGeom prst="rect">
            <a:avLst/>
          </a:prstGeom>
          <a:solidFill>
            <a:schemeClr val="bg1">
              <a:lumMod val="85000"/>
              <a:alpha val="4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operating principles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90000"/>
              </a:lnSpc>
            </a:pP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Analog computers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represent data in the form of continuous electrical signals having a specific magnitude</a:t>
            </a:r>
          </a:p>
          <a:p>
            <a:pPr>
              <a:lnSpc>
                <a:spcPct val="9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computers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store and process data in the digital form.</a:t>
            </a:r>
          </a:p>
          <a:p>
            <a:pPr>
              <a:lnSpc>
                <a:spcPct val="9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computers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combination of analog computer and digital computer because it encompasses the best features of both. </a:t>
            </a:r>
          </a:p>
          <a:p>
            <a:endParaRPr lang="en-US" altLang="zh-CN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380072" y="6477000"/>
            <a:ext cx="2350681" cy="296069"/>
          </a:xfrm>
        </p:spPr>
        <p:txBody>
          <a:bodyPr/>
          <a:lstStyle/>
          <a:p>
            <a:r>
              <a:rPr lang="en-US" dirty="0" smtClean="0"/>
              <a:t>MSR,Lecturer, Dept. of ICT, CoU.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481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265272" y="228601"/>
            <a:ext cx="7840064" cy="609600"/>
          </a:xfrm>
          <a:prstGeom prst="rect">
            <a:avLst/>
          </a:prstGeom>
        </p:spPr>
        <p:txBody>
          <a:bodyPr/>
          <a:lstStyle/>
          <a:p>
            <a:pPr lvl="0">
              <a:spcBef>
                <a:spcPct val="0"/>
              </a:spcBef>
              <a:defRPr/>
            </a:pPr>
            <a:r>
              <a:rPr lang="en-US" altLang="zh-CN" sz="4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of </a:t>
            </a:r>
            <a:r>
              <a:rPr lang="en-US" altLang="zh-CN" sz="4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5272" y="1600200"/>
            <a:ext cx="8229600" cy="3539430"/>
          </a:xfrm>
          <a:prstGeom prst="rect">
            <a:avLst/>
          </a:prstGeom>
          <a:solidFill>
            <a:schemeClr val="bg1">
              <a:lumMod val="85000"/>
              <a:alpha val="4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Based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applications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b="1" dirty="0"/>
              <a:t>General purpose computers</a:t>
            </a:r>
            <a:r>
              <a:rPr lang="en-US" altLang="zh-CN" sz="2800" dirty="0"/>
              <a:t>: can work in all environments.</a:t>
            </a:r>
          </a:p>
          <a:p>
            <a:endParaRPr lang="en-US" altLang="zh-CN" sz="2800" dirty="0"/>
          </a:p>
          <a:p>
            <a:r>
              <a:rPr lang="en-US" altLang="zh-CN" sz="2800" b="1" dirty="0"/>
              <a:t>Special purpose computers</a:t>
            </a:r>
            <a:r>
              <a:rPr lang="en-US" altLang="zh-CN" sz="2800" dirty="0"/>
              <a:t>: can perform only a specified task.</a:t>
            </a:r>
          </a:p>
          <a:p>
            <a:endParaRPr lang="en-US" altLang="zh-CN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380072" y="6477000"/>
            <a:ext cx="2350681" cy="296069"/>
          </a:xfrm>
        </p:spPr>
        <p:txBody>
          <a:bodyPr/>
          <a:lstStyle/>
          <a:p>
            <a:r>
              <a:rPr lang="en-US" dirty="0" smtClean="0"/>
              <a:t>MSR,Lecturer, Dept. of ICT, CoU.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394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265272" y="228600"/>
            <a:ext cx="7840064" cy="761999"/>
          </a:xfrm>
          <a:prstGeom prst="rect">
            <a:avLst/>
          </a:prstGeom>
        </p:spPr>
        <p:txBody>
          <a:bodyPr/>
          <a:lstStyle/>
          <a:p>
            <a:pPr lvl="0">
              <a:spcBef>
                <a:spcPct val="0"/>
              </a:spcBef>
              <a:defRPr/>
            </a:pPr>
            <a:r>
              <a:rPr lang="en-US" altLang="zh-CN" sz="4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of </a:t>
            </a:r>
            <a:r>
              <a:rPr lang="en-US" altLang="zh-CN" sz="4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5272" y="1828800"/>
            <a:ext cx="8229600" cy="4358116"/>
          </a:xfrm>
          <a:prstGeom prst="rect">
            <a:avLst/>
          </a:prstGeom>
          <a:solidFill>
            <a:schemeClr val="bg1">
              <a:lumMod val="85000"/>
              <a:alpha val="4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size and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capability:</a:t>
            </a:r>
          </a:p>
          <a:p>
            <a:pPr>
              <a:lnSpc>
                <a:spcPct val="90000"/>
              </a:lnSpc>
            </a:pP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Microcomputers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Designed to be used by individuals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90000"/>
              </a:lnSpc>
            </a:pP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 Computers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Can handle more data and more input and output than micro computers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90000"/>
              </a:lnSpc>
            </a:pP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Mainframe Computers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very large 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computer.</a:t>
            </a:r>
          </a:p>
          <a:p>
            <a:pPr>
              <a:lnSpc>
                <a:spcPct val="90000"/>
              </a:lnSpc>
            </a:pP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 Computers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fastest type of computer that can perform complex operations at a very high 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speed.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380072" y="6477000"/>
            <a:ext cx="2350681" cy="296069"/>
          </a:xfrm>
        </p:spPr>
        <p:txBody>
          <a:bodyPr/>
          <a:lstStyle/>
          <a:p>
            <a:r>
              <a:rPr lang="en-US" dirty="0" smtClean="0"/>
              <a:t>MSR,Lecturer, Dept. of ICT, CoU.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634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762000" y="609600"/>
            <a:ext cx="7343336" cy="9144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Data</a:t>
            </a:r>
            <a:r>
              <a:rPr kumimoji="0" lang="en-US" sz="48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and Information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8200" y="2895600"/>
            <a:ext cx="6476999" cy="1815882"/>
          </a:xfrm>
          <a:prstGeom prst="rect">
            <a:avLst/>
          </a:prstGeom>
          <a:solidFill>
            <a:schemeClr val="bg1">
              <a:lumMod val="85000"/>
              <a:alpha val="4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consists of individual facts that are not organized in a meaningful way.</a:t>
            </a:r>
          </a:p>
          <a:p>
            <a:endParaRPr lang="en-US" sz="2800"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smtClean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is the processed raw data.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MSR,Lecturer, Dept. of ICT, CoU.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762000" y="609600"/>
            <a:ext cx="7343336" cy="9144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Bit and Byte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8200" y="2286000"/>
            <a:ext cx="6476999" cy="3539430"/>
          </a:xfrm>
          <a:prstGeom prst="rect">
            <a:avLst/>
          </a:prstGeom>
          <a:solidFill>
            <a:schemeClr val="bg1">
              <a:lumMod val="85000"/>
              <a:alpha val="4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 is a single unit of binary data representation.</a:t>
            </a:r>
          </a:p>
          <a:p>
            <a:endParaRPr lang="en-US" sz="2800"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smtClean="0">
                <a:solidFill>
                  <a:schemeClr val="tx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byte is a string of 8 bits. One byte is used to represent a character.</a:t>
            </a:r>
          </a:p>
          <a:p>
            <a:endParaRPr lang="en-US" sz="2800" dirty="0" smtClean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 smtClean="0">
              <a:solidFill>
                <a:schemeClr val="tx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09898" y="4763601"/>
            <a:ext cx="2781301" cy="523220"/>
          </a:xfrm>
          <a:prstGeom prst="rect">
            <a:avLst/>
          </a:prstGeom>
          <a:solidFill>
            <a:schemeClr val="bg1">
              <a:lumMod val="85000"/>
              <a:alpha val="4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tx1">
                    <a:lumMod val="10000"/>
                  </a:schemeClr>
                </a:solidFill>
              </a:rPr>
              <a:t>1 Byte = 8 bits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MSR,Lecturer, Dept. of ICT, CoU.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762000" y="609600"/>
            <a:ext cx="8382000" cy="9144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Parts of a Computer System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8200" y="2038290"/>
            <a:ext cx="7696200" cy="400110"/>
          </a:xfrm>
          <a:prstGeom prst="rect">
            <a:avLst/>
          </a:prstGeom>
          <a:solidFill>
            <a:schemeClr val="bg1">
              <a:lumMod val="85000"/>
              <a:alpha val="4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tx1">
                    <a:lumMod val="10000"/>
                  </a:schemeClr>
                </a:solidFill>
              </a:rPr>
              <a:t>A complete computer system is consists of following parts-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2743200"/>
            <a:ext cx="1371600" cy="3170099"/>
          </a:xfrm>
          <a:prstGeom prst="rect">
            <a:avLst/>
          </a:prstGeom>
          <a:solidFill>
            <a:schemeClr val="bg1">
              <a:lumMod val="85000"/>
              <a:alpha val="45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/>
            <a:r>
              <a:rPr lang="en-US" sz="2000" dirty="0" smtClean="0">
                <a:solidFill>
                  <a:schemeClr val="tx1">
                    <a:lumMod val="10000"/>
                  </a:schemeClr>
                </a:solidFill>
              </a:rPr>
              <a:t>Hardware</a:t>
            </a:r>
          </a:p>
          <a:p>
            <a:pPr marL="457200" indent="-457200">
              <a:buAutoNum type="arabicPeriod"/>
            </a:pPr>
            <a:endParaRPr lang="en-US" sz="2000" dirty="0" smtClean="0">
              <a:solidFill>
                <a:schemeClr val="tx1">
                  <a:lumMod val="10000"/>
                </a:schemeClr>
              </a:solidFill>
            </a:endParaRPr>
          </a:p>
          <a:p>
            <a:pPr marL="457200" indent="-457200">
              <a:buAutoNum type="arabicPeriod"/>
            </a:pPr>
            <a:endParaRPr lang="en-US" sz="2000" dirty="0" smtClean="0">
              <a:solidFill>
                <a:schemeClr val="tx1">
                  <a:lumMod val="10000"/>
                </a:schemeClr>
              </a:solidFill>
            </a:endParaRPr>
          </a:p>
          <a:p>
            <a:pPr marL="457200" indent="-457200"/>
            <a:r>
              <a:rPr lang="en-US" sz="2000" dirty="0" smtClean="0">
                <a:solidFill>
                  <a:schemeClr val="tx1">
                    <a:lumMod val="10000"/>
                  </a:schemeClr>
                </a:solidFill>
              </a:rPr>
              <a:t>Software</a:t>
            </a:r>
          </a:p>
          <a:p>
            <a:pPr marL="457200" indent="-457200">
              <a:buAutoNum type="arabicPeriod"/>
            </a:pPr>
            <a:endParaRPr lang="en-US" sz="2000" dirty="0" smtClean="0">
              <a:solidFill>
                <a:schemeClr val="tx1">
                  <a:lumMod val="10000"/>
                </a:schemeClr>
              </a:solidFill>
            </a:endParaRPr>
          </a:p>
          <a:p>
            <a:pPr marL="457200" indent="-457200">
              <a:buAutoNum type="arabicPeriod"/>
            </a:pPr>
            <a:endParaRPr lang="en-US" sz="2000" dirty="0" smtClean="0">
              <a:solidFill>
                <a:schemeClr val="tx1">
                  <a:lumMod val="10000"/>
                </a:schemeClr>
              </a:solidFill>
            </a:endParaRPr>
          </a:p>
          <a:p>
            <a:pPr marL="457200" indent="-457200"/>
            <a:r>
              <a:rPr lang="en-US" sz="2000" dirty="0" smtClean="0">
                <a:solidFill>
                  <a:schemeClr val="tx1">
                    <a:lumMod val="10000"/>
                  </a:schemeClr>
                </a:solidFill>
              </a:rPr>
              <a:t>Data</a:t>
            </a:r>
          </a:p>
          <a:p>
            <a:pPr marL="457200" indent="-457200">
              <a:buAutoNum type="arabicPeriod"/>
            </a:pPr>
            <a:endParaRPr lang="en-US" sz="2000" dirty="0" smtClean="0">
              <a:solidFill>
                <a:schemeClr val="tx1">
                  <a:lumMod val="10000"/>
                </a:schemeClr>
              </a:solidFill>
            </a:endParaRPr>
          </a:p>
          <a:p>
            <a:pPr marL="457200" indent="-457200">
              <a:buAutoNum type="arabicPeriod"/>
            </a:pPr>
            <a:endParaRPr lang="en-US" sz="2000" dirty="0" smtClean="0">
              <a:solidFill>
                <a:schemeClr val="tx1">
                  <a:lumMod val="10000"/>
                </a:schemeClr>
              </a:solidFill>
            </a:endParaRPr>
          </a:p>
          <a:p>
            <a:pPr marL="457200" indent="-457200"/>
            <a:r>
              <a:rPr lang="en-US" sz="2000" dirty="0" smtClean="0">
                <a:solidFill>
                  <a:schemeClr val="tx1">
                    <a:lumMod val="10000"/>
                  </a:schemeClr>
                </a:solidFill>
              </a:rPr>
              <a:t>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7000" y="2721114"/>
            <a:ext cx="5638800" cy="707886"/>
          </a:xfrm>
          <a:prstGeom prst="rect">
            <a:avLst/>
          </a:prstGeom>
          <a:solidFill>
            <a:schemeClr val="bg1">
              <a:lumMod val="85000"/>
              <a:alpha val="4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tx1">
                    <a:lumMod val="10000"/>
                  </a:schemeClr>
                </a:solidFill>
              </a:rPr>
              <a:t>The mechanical devices that make up the computer system is called hardware.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2133600" y="2971800"/>
            <a:ext cx="533400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590800" y="3657600"/>
            <a:ext cx="5715000" cy="707886"/>
          </a:xfrm>
          <a:prstGeom prst="rect">
            <a:avLst/>
          </a:prstGeom>
          <a:solidFill>
            <a:schemeClr val="bg1">
              <a:lumMod val="85000"/>
              <a:alpha val="4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tx1">
                    <a:lumMod val="10000"/>
                  </a:schemeClr>
                </a:solidFill>
              </a:rPr>
              <a:t>Software is a set of instructions that are computer uses to perform different tasks. 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057400" y="3886200"/>
            <a:ext cx="533400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590800" y="4648200"/>
            <a:ext cx="4800600" cy="400110"/>
          </a:xfrm>
          <a:prstGeom prst="rect">
            <a:avLst/>
          </a:prstGeom>
          <a:solidFill>
            <a:schemeClr val="bg1">
              <a:lumMod val="85000"/>
              <a:alpha val="4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tx1">
                    <a:lumMod val="10000"/>
                  </a:schemeClr>
                </a:solidFill>
              </a:rPr>
              <a:t>Individual facts or piece of information.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2057400" y="4800600"/>
            <a:ext cx="533400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514600" y="5410200"/>
            <a:ext cx="3276600" cy="400110"/>
          </a:xfrm>
          <a:prstGeom prst="rect">
            <a:avLst/>
          </a:prstGeom>
          <a:solidFill>
            <a:schemeClr val="bg1">
              <a:lumMod val="85000"/>
              <a:alpha val="4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tx1">
                    <a:lumMod val="10000"/>
                  </a:schemeClr>
                </a:solidFill>
              </a:rPr>
              <a:t>Computer operators.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2057400" y="5638800"/>
            <a:ext cx="453390" cy="246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MSR,Lecturer, Dept. of ICT, CoU.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762000" y="609600"/>
            <a:ext cx="7343336" cy="9144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Hardwares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8" name="Elbow Connector 7"/>
          <p:cNvCxnSpPr/>
          <p:nvPr/>
        </p:nvCxnSpPr>
        <p:spPr>
          <a:xfrm>
            <a:off x="381000" y="1676400"/>
            <a:ext cx="3581400" cy="3429000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209800" y="4114800"/>
            <a:ext cx="1752600" cy="1588"/>
          </a:xfrm>
          <a:prstGeom prst="straightConnector1">
            <a:avLst/>
          </a:prstGeom>
          <a:ln w="28575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2209800" y="3124200"/>
            <a:ext cx="1752600" cy="1588"/>
          </a:xfrm>
          <a:prstGeom prst="straightConnector1">
            <a:avLst/>
          </a:prstGeom>
          <a:ln w="28575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2209800" y="1828800"/>
            <a:ext cx="1752600" cy="1588"/>
          </a:xfrm>
          <a:prstGeom prst="straightConnector1">
            <a:avLst/>
          </a:prstGeom>
          <a:ln w="28575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5800" y="1676400"/>
            <a:ext cx="1524000" cy="3631763"/>
          </a:xfrm>
          <a:prstGeom prst="rect">
            <a:avLst/>
          </a:prstGeom>
          <a:solidFill>
            <a:schemeClr val="bg1">
              <a:lumMod val="85000"/>
              <a:alpha val="45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/>
            <a:r>
              <a:rPr lang="en-US" sz="2000" dirty="0" smtClean="0">
                <a:solidFill>
                  <a:schemeClr val="tx1">
                    <a:lumMod val="10000"/>
                  </a:schemeClr>
                </a:solidFill>
              </a:rPr>
              <a:t>Processor</a:t>
            </a:r>
          </a:p>
          <a:p>
            <a:pPr marL="457200" indent="-457200">
              <a:buAutoNum type="arabicPeriod"/>
            </a:pPr>
            <a:endParaRPr lang="en-US" sz="2000" dirty="0" smtClean="0">
              <a:solidFill>
                <a:schemeClr val="tx1">
                  <a:lumMod val="10000"/>
                </a:schemeClr>
              </a:solidFill>
            </a:endParaRPr>
          </a:p>
          <a:p>
            <a:pPr marL="457200" indent="-457200">
              <a:buAutoNum type="arabicPeriod"/>
            </a:pPr>
            <a:endParaRPr lang="en-US" sz="2000" dirty="0" smtClean="0">
              <a:solidFill>
                <a:schemeClr val="tx1">
                  <a:lumMod val="10000"/>
                </a:schemeClr>
              </a:solidFill>
            </a:endParaRPr>
          </a:p>
          <a:p>
            <a:pPr marL="457200" indent="-457200"/>
            <a:endParaRPr lang="en-US" sz="2000" dirty="0" smtClean="0">
              <a:solidFill>
                <a:schemeClr val="tx1">
                  <a:lumMod val="10000"/>
                </a:schemeClr>
              </a:solidFill>
            </a:endParaRPr>
          </a:p>
          <a:p>
            <a:pPr marL="457200" indent="-457200"/>
            <a:r>
              <a:rPr lang="en-US" sz="2000" dirty="0" smtClean="0">
                <a:solidFill>
                  <a:schemeClr val="tx1">
                    <a:lumMod val="10000"/>
                  </a:schemeClr>
                </a:solidFill>
              </a:rPr>
              <a:t>Memory</a:t>
            </a:r>
          </a:p>
          <a:p>
            <a:pPr marL="457200" indent="-457200">
              <a:buAutoNum type="arabicPeriod"/>
            </a:pPr>
            <a:endParaRPr lang="en-US" sz="2000" dirty="0" smtClean="0">
              <a:solidFill>
                <a:schemeClr val="tx1">
                  <a:lumMod val="10000"/>
                </a:schemeClr>
              </a:solidFill>
            </a:endParaRPr>
          </a:p>
          <a:p>
            <a:pPr marL="457200" indent="-457200">
              <a:buAutoNum type="arabicPeriod"/>
            </a:pPr>
            <a:endParaRPr lang="en-US" sz="2000" dirty="0" smtClean="0">
              <a:solidFill>
                <a:schemeClr val="tx1">
                  <a:lumMod val="10000"/>
                </a:schemeClr>
              </a:solidFill>
            </a:endParaRPr>
          </a:p>
          <a:p>
            <a:pPr marL="457200" indent="-457200"/>
            <a:r>
              <a:rPr lang="en-US" sz="2000" dirty="0" smtClean="0">
                <a:solidFill>
                  <a:schemeClr val="tx1">
                    <a:lumMod val="10000"/>
                  </a:schemeClr>
                </a:solidFill>
              </a:rPr>
              <a:t>I/O</a:t>
            </a:r>
          </a:p>
          <a:p>
            <a:pPr marL="457200" indent="-457200">
              <a:buAutoNum type="arabicPeriod"/>
            </a:pPr>
            <a:endParaRPr lang="en-US" sz="2000" dirty="0" smtClean="0">
              <a:solidFill>
                <a:schemeClr val="tx1">
                  <a:lumMod val="10000"/>
                </a:schemeClr>
              </a:solidFill>
            </a:endParaRPr>
          </a:p>
          <a:p>
            <a:pPr marL="457200" indent="-457200">
              <a:lnSpc>
                <a:spcPct val="150000"/>
              </a:lnSpc>
            </a:pPr>
            <a:r>
              <a:rPr lang="en-US" sz="2000" dirty="0" smtClean="0">
                <a:solidFill>
                  <a:schemeClr val="tx1">
                    <a:lumMod val="10000"/>
                  </a:schemeClr>
                </a:solidFill>
              </a:rPr>
              <a:t>Storage</a:t>
            </a:r>
          </a:p>
          <a:p>
            <a:pPr marL="457200" indent="-457200"/>
            <a:endParaRPr lang="en-US" sz="2000" dirty="0" smtClean="0">
              <a:solidFill>
                <a:schemeClr val="tx1">
                  <a:lumMod val="10000"/>
                </a:schemeClr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286000" y="1981200"/>
            <a:ext cx="1600200" cy="707886"/>
          </a:xfrm>
          <a:prstGeom prst="rect">
            <a:avLst/>
          </a:prstGeom>
          <a:solidFill>
            <a:schemeClr val="bg1">
              <a:lumMod val="85000"/>
              <a:alpha val="4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tx1">
                    <a:lumMod val="10000"/>
                  </a:schemeClr>
                </a:solidFill>
              </a:rPr>
              <a:t>Processing devices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3200400"/>
            <a:ext cx="1600200" cy="707886"/>
          </a:xfrm>
          <a:prstGeom prst="rect">
            <a:avLst/>
          </a:prstGeom>
          <a:solidFill>
            <a:schemeClr val="bg1">
              <a:lumMod val="85000"/>
              <a:alpha val="4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tx1">
                    <a:lumMod val="10000"/>
                  </a:schemeClr>
                </a:solidFill>
              </a:rPr>
              <a:t>Memory Devices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4191000"/>
            <a:ext cx="1600200" cy="400110"/>
          </a:xfrm>
          <a:prstGeom prst="rect">
            <a:avLst/>
          </a:prstGeom>
          <a:solidFill>
            <a:schemeClr val="bg1">
              <a:lumMod val="85000"/>
              <a:alpha val="4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tx1">
                    <a:lumMod val="10000"/>
                  </a:schemeClr>
                </a:solidFill>
              </a:rPr>
              <a:t>I/O devices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5181600"/>
            <a:ext cx="1600200" cy="707886"/>
          </a:xfrm>
          <a:prstGeom prst="rect">
            <a:avLst/>
          </a:prstGeom>
          <a:solidFill>
            <a:schemeClr val="bg1">
              <a:lumMod val="85000"/>
              <a:alpha val="4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tx1">
                    <a:lumMod val="10000"/>
                  </a:schemeClr>
                </a:solidFill>
              </a:rPr>
              <a:t>Storage devices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600200"/>
            <a:ext cx="1905000" cy="1015663"/>
          </a:xfrm>
          <a:prstGeom prst="rect">
            <a:avLst/>
          </a:prstGeom>
          <a:solidFill>
            <a:schemeClr val="bg1">
              <a:lumMod val="85000"/>
              <a:alpha val="4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tx1">
                    <a:lumMod val="10000"/>
                  </a:schemeClr>
                </a:solidFill>
              </a:rPr>
              <a:t>Motherboard, Processors,  CPU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028890"/>
            <a:ext cx="1600200" cy="400110"/>
          </a:xfrm>
          <a:prstGeom prst="rect">
            <a:avLst/>
          </a:prstGeom>
          <a:solidFill>
            <a:schemeClr val="bg1">
              <a:lumMod val="85000"/>
              <a:alpha val="4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tx1">
                    <a:lumMod val="10000"/>
                  </a:schemeClr>
                </a:solidFill>
              </a:rPr>
              <a:t>RAM, ROM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1000" y="3810000"/>
            <a:ext cx="3429000" cy="707886"/>
          </a:xfrm>
          <a:prstGeom prst="rect">
            <a:avLst/>
          </a:prstGeom>
          <a:solidFill>
            <a:schemeClr val="bg1">
              <a:lumMod val="85000"/>
              <a:alpha val="4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tx1">
                    <a:lumMod val="10000"/>
                  </a:schemeClr>
                </a:solidFill>
              </a:rPr>
              <a:t>Keyboard, Monitor, Mouse, Printer, Scanner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1000" y="5029200"/>
            <a:ext cx="3429000" cy="1015663"/>
          </a:xfrm>
          <a:prstGeom prst="rect">
            <a:avLst/>
          </a:prstGeom>
          <a:solidFill>
            <a:schemeClr val="bg1">
              <a:lumMod val="85000"/>
              <a:alpha val="4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tx1">
                    <a:lumMod val="10000"/>
                  </a:schemeClr>
                </a:solidFill>
              </a:rPr>
              <a:t>Hard disk (magnetic), CD-ROM (Optical), CD-R (Optical)</a:t>
            </a: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MSR,Lecturer, Dept. of ICT, CoU.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762000" y="609600"/>
            <a:ext cx="7343336" cy="9144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Softwares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3" name="Elbow Connector 2"/>
          <p:cNvCxnSpPr/>
          <p:nvPr/>
        </p:nvCxnSpPr>
        <p:spPr>
          <a:xfrm>
            <a:off x="381000" y="1676400"/>
            <a:ext cx="3505200" cy="1524000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2133600" y="1981200"/>
            <a:ext cx="1752600" cy="1588"/>
          </a:xfrm>
          <a:prstGeom prst="straightConnector1">
            <a:avLst/>
          </a:prstGeom>
          <a:ln w="28575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3400" y="1718608"/>
            <a:ext cx="1676400" cy="1938992"/>
          </a:xfrm>
          <a:prstGeom prst="rect">
            <a:avLst/>
          </a:prstGeom>
          <a:solidFill>
            <a:schemeClr val="bg1">
              <a:lumMod val="85000"/>
              <a:alpha val="45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/>
            <a:r>
              <a:rPr lang="en-US" sz="2000" dirty="0" smtClean="0">
                <a:solidFill>
                  <a:schemeClr val="tx1">
                    <a:lumMod val="10000"/>
                  </a:schemeClr>
                </a:solidFill>
              </a:rPr>
              <a:t>Application</a:t>
            </a:r>
          </a:p>
          <a:p>
            <a:pPr marL="457200" indent="-457200">
              <a:buAutoNum type="arabicPeriod"/>
            </a:pPr>
            <a:endParaRPr lang="en-US" sz="2000" dirty="0" smtClean="0">
              <a:solidFill>
                <a:schemeClr val="tx1">
                  <a:lumMod val="10000"/>
                </a:schemeClr>
              </a:solidFill>
            </a:endParaRPr>
          </a:p>
          <a:p>
            <a:pPr marL="457200" indent="-457200">
              <a:buAutoNum type="arabicPeriod"/>
            </a:pPr>
            <a:endParaRPr lang="en-US" sz="2000" dirty="0" smtClean="0">
              <a:solidFill>
                <a:schemeClr val="tx1">
                  <a:lumMod val="10000"/>
                </a:schemeClr>
              </a:solidFill>
            </a:endParaRPr>
          </a:p>
          <a:p>
            <a:pPr marL="457200" indent="-457200"/>
            <a:endParaRPr lang="en-US" sz="2000" dirty="0" smtClean="0">
              <a:solidFill>
                <a:schemeClr val="tx1">
                  <a:lumMod val="10000"/>
                </a:schemeClr>
              </a:solidFill>
            </a:endParaRPr>
          </a:p>
          <a:p>
            <a:pPr marL="457200" indent="-457200"/>
            <a:r>
              <a:rPr lang="en-US" sz="2000" dirty="0" smtClean="0">
                <a:solidFill>
                  <a:schemeClr val="tx1">
                    <a:lumMod val="10000"/>
                  </a:schemeClr>
                </a:solidFill>
              </a:rPr>
              <a:t>System</a:t>
            </a:r>
          </a:p>
          <a:p>
            <a:pPr marL="457200" indent="-457200"/>
            <a:endParaRPr lang="en-US" sz="2000" dirty="0" smtClean="0">
              <a:solidFill>
                <a:schemeClr val="tx1">
                  <a:lumMod val="10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114800" y="1600200"/>
            <a:ext cx="3429000" cy="1015663"/>
          </a:xfrm>
          <a:prstGeom prst="rect">
            <a:avLst/>
          </a:prstGeom>
          <a:solidFill>
            <a:schemeClr val="bg1">
              <a:lumMod val="85000"/>
              <a:alpha val="4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tx1">
                    <a:lumMod val="10000"/>
                  </a:schemeClr>
                </a:solidFill>
              </a:rPr>
              <a:t>Different  computer applications, like MS office, Media players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895600"/>
            <a:ext cx="3733800" cy="1015663"/>
          </a:xfrm>
          <a:prstGeom prst="rect">
            <a:avLst/>
          </a:prstGeom>
          <a:solidFill>
            <a:schemeClr val="bg1">
              <a:lumMod val="85000"/>
              <a:alpha val="4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tx1">
                    <a:lumMod val="10000"/>
                  </a:schemeClr>
                </a:solidFill>
              </a:rPr>
              <a:t>Different OS </a:t>
            </a:r>
            <a:r>
              <a:rPr lang="en-US" sz="2000" dirty="0" err="1" smtClean="0">
                <a:solidFill>
                  <a:schemeClr val="tx1">
                    <a:lumMod val="10000"/>
                  </a:schemeClr>
                </a:solidFill>
              </a:rPr>
              <a:t>softwares</a:t>
            </a:r>
            <a:r>
              <a:rPr lang="en-US" sz="2000" dirty="0" smtClean="0">
                <a:solidFill>
                  <a:schemeClr val="tx1">
                    <a:lumMod val="10000"/>
                  </a:schemeClr>
                </a:solidFill>
              </a:rPr>
              <a:t>. Like, Windows, Linux, Different system utilities etc.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MSR,Lecturer, Dept. of ICT, CoU.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2743200" y="2819400"/>
            <a:ext cx="3581400" cy="9144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Thank You!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MSR, Lecturer, Dept. of ICT, CoU.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553</TotalTime>
  <Words>1628</Words>
  <Application>Microsoft Office PowerPoint</Application>
  <PresentationFormat>On-screen Show (4:3)</PresentationFormat>
  <Paragraphs>274</Paragraphs>
  <Slides>27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Arial</vt:lpstr>
      <vt:lpstr>Calibri</vt:lpstr>
      <vt:lpstr>Lucida Sans Unicode</vt:lpstr>
      <vt:lpstr>黑体</vt:lpstr>
      <vt:lpstr>Times New Roman</vt:lpstr>
      <vt:lpstr>Verdana</vt:lpstr>
      <vt:lpstr>Wingdings 2</vt:lpstr>
      <vt:lpstr>Wingdings 3</vt:lpstr>
      <vt:lpstr>Concourse</vt:lpstr>
      <vt:lpstr>Overview of Computers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 of Computers</dc:title>
  <dc:creator>faculty</dc:creator>
  <cp:lastModifiedBy>Wania</cp:lastModifiedBy>
  <cp:revision>109</cp:revision>
  <dcterms:created xsi:type="dcterms:W3CDTF">2014-01-17T02:48:27Z</dcterms:created>
  <dcterms:modified xsi:type="dcterms:W3CDTF">2022-03-14T06:09:58Z</dcterms:modified>
</cp:coreProperties>
</file>