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  <p:sldMasterId id="2147483890" r:id="rId3"/>
  </p:sldMasterIdLst>
  <p:notesMasterIdLst>
    <p:notesMasterId r:id="rId90"/>
  </p:notesMasterIdLst>
  <p:sldIdLst>
    <p:sldId id="463" r:id="rId4"/>
    <p:sldId id="467" r:id="rId5"/>
    <p:sldId id="534" r:id="rId6"/>
    <p:sldId id="623" r:id="rId7"/>
    <p:sldId id="701" r:id="rId8"/>
    <p:sldId id="702" r:id="rId9"/>
    <p:sldId id="703" r:id="rId10"/>
    <p:sldId id="704" r:id="rId11"/>
    <p:sldId id="705" r:id="rId12"/>
    <p:sldId id="706" r:id="rId13"/>
    <p:sldId id="707" r:id="rId14"/>
    <p:sldId id="708" r:id="rId15"/>
    <p:sldId id="709" r:id="rId16"/>
    <p:sldId id="710" r:id="rId17"/>
    <p:sldId id="711" r:id="rId18"/>
    <p:sldId id="712" r:id="rId19"/>
    <p:sldId id="713" r:id="rId20"/>
    <p:sldId id="714" r:id="rId21"/>
    <p:sldId id="715" r:id="rId22"/>
    <p:sldId id="716" r:id="rId23"/>
    <p:sldId id="717" r:id="rId24"/>
    <p:sldId id="718" r:id="rId25"/>
    <p:sldId id="719" r:id="rId26"/>
    <p:sldId id="720" r:id="rId27"/>
    <p:sldId id="721" r:id="rId28"/>
    <p:sldId id="722" r:id="rId29"/>
    <p:sldId id="723" r:id="rId30"/>
    <p:sldId id="724" r:id="rId31"/>
    <p:sldId id="725" r:id="rId32"/>
    <p:sldId id="726" r:id="rId33"/>
    <p:sldId id="727" r:id="rId34"/>
    <p:sldId id="728" r:id="rId35"/>
    <p:sldId id="729" r:id="rId36"/>
    <p:sldId id="730" r:id="rId37"/>
    <p:sldId id="731" r:id="rId38"/>
    <p:sldId id="732" r:id="rId39"/>
    <p:sldId id="733" r:id="rId40"/>
    <p:sldId id="734" r:id="rId41"/>
    <p:sldId id="735" r:id="rId42"/>
    <p:sldId id="736" r:id="rId43"/>
    <p:sldId id="737" r:id="rId44"/>
    <p:sldId id="738" r:id="rId45"/>
    <p:sldId id="739" r:id="rId46"/>
    <p:sldId id="740" r:id="rId47"/>
    <p:sldId id="741" r:id="rId48"/>
    <p:sldId id="742" r:id="rId49"/>
    <p:sldId id="743" r:id="rId50"/>
    <p:sldId id="744" r:id="rId51"/>
    <p:sldId id="745" r:id="rId52"/>
    <p:sldId id="746" r:id="rId53"/>
    <p:sldId id="747" r:id="rId54"/>
    <p:sldId id="748" r:id="rId55"/>
    <p:sldId id="749" r:id="rId56"/>
    <p:sldId id="750" r:id="rId57"/>
    <p:sldId id="751" r:id="rId58"/>
    <p:sldId id="752" r:id="rId59"/>
    <p:sldId id="753" r:id="rId60"/>
    <p:sldId id="754" r:id="rId61"/>
    <p:sldId id="755" r:id="rId62"/>
    <p:sldId id="756" r:id="rId63"/>
    <p:sldId id="757" r:id="rId64"/>
    <p:sldId id="758" r:id="rId65"/>
    <p:sldId id="759" r:id="rId66"/>
    <p:sldId id="760" r:id="rId67"/>
    <p:sldId id="761" r:id="rId68"/>
    <p:sldId id="762" r:id="rId69"/>
    <p:sldId id="763" r:id="rId70"/>
    <p:sldId id="764" r:id="rId71"/>
    <p:sldId id="765" r:id="rId72"/>
    <p:sldId id="766" r:id="rId73"/>
    <p:sldId id="767" r:id="rId74"/>
    <p:sldId id="768" r:id="rId75"/>
    <p:sldId id="769" r:id="rId76"/>
    <p:sldId id="770" r:id="rId77"/>
    <p:sldId id="771" r:id="rId78"/>
    <p:sldId id="772" r:id="rId79"/>
    <p:sldId id="773" r:id="rId80"/>
    <p:sldId id="774" r:id="rId81"/>
    <p:sldId id="775" r:id="rId82"/>
    <p:sldId id="776" r:id="rId83"/>
    <p:sldId id="777" r:id="rId84"/>
    <p:sldId id="778" r:id="rId85"/>
    <p:sldId id="779" r:id="rId86"/>
    <p:sldId id="780" r:id="rId87"/>
    <p:sldId id="781" r:id="rId88"/>
    <p:sldId id="461" r:id="rId8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3BD57"/>
    <a:srgbClr val="06661F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71" d="100"/>
          <a:sy n="71" d="100"/>
        </p:scale>
        <p:origin x="179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slide" Target="slides/slide73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slide" Target="slides/slide84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90" Type="http://schemas.openxmlformats.org/officeDocument/2006/relationships/notesMaster" Target="notesMasters/notes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3/5/2025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0995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4818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352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165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3090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3258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602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378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3097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051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4198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283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257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6178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7490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79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35661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05911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0467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8836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39755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05669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6900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9937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53977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9873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6580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63846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75341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885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0412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1256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3075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80968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1740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84715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9589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7018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8629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8007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5055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5457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4935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1589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418843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4552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33781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13668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52394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0701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12170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7474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872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22004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281300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03877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41537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84950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17098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880463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4579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20709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55280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67759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21502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40530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79302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16846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80027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815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22218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81541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199450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627973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867555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38767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450829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10799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16730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05444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198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3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1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68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48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57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1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6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34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27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2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Lecture-18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Pointers</a:t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02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NULL 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 pointer that 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assigned any value </a:t>
            </a:r>
            <a:r>
              <a:rPr lang="en-US" dirty="0"/>
              <a:t>but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NULL</a:t>
            </a:r>
            <a:r>
              <a:rPr lang="en-US" dirty="0"/>
              <a:t> is known as NULL pointer. If you don't </a:t>
            </a:r>
            <a:r>
              <a:rPr lang="en-US" dirty="0" smtClean="0"/>
              <a:t>have any </a:t>
            </a:r>
            <a:r>
              <a:rPr lang="en-US" dirty="0"/>
              <a:t>address to be specified in the pointer at the time of declaration, you can assign NULL value.</a:t>
            </a:r>
          </a:p>
          <a:p>
            <a:pPr marL="0" indent="0" algn="ctr">
              <a:buNone/>
            </a:pPr>
            <a:r>
              <a:rPr lang="en-US" dirty="0" smtClean="0"/>
              <a:t>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5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NULL 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It </a:t>
            </a:r>
            <a:r>
              <a:rPr lang="en-US" dirty="0"/>
              <a:t>is always a good practice to assign a NULL value to a pointer variable in case you do not </a:t>
            </a:r>
            <a:r>
              <a:rPr lang="en-US" dirty="0" smtClean="0"/>
              <a:t>have an </a:t>
            </a:r>
            <a:r>
              <a:rPr lang="en-US" dirty="0"/>
              <a:t>exact address to be assigned. This is done at the time of variable declaration.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A </a:t>
            </a:r>
            <a:r>
              <a:rPr lang="en-US" dirty="0"/>
              <a:t>pointer that </a:t>
            </a:r>
            <a:r>
              <a:rPr lang="en-US" dirty="0" smtClean="0"/>
              <a:t>is assigned </a:t>
            </a:r>
            <a:r>
              <a:rPr lang="en-US" dirty="0"/>
              <a:t>NULL is called a null pointer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*p=NULL;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Note</a:t>
            </a:r>
            <a:r>
              <a:rPr lang="en-US" dirty="0"/>
              <a:t>: The NULL pointer is a constant with a value of zero defined in several standard </a:t>
            </a:r>
            <a:r>
              <a:rPr lang="en-US" dirty="0" smtClean="0"/>
              <a:t>libraries/ in </a:t>
            </a:r>
            <a:r>
              <a:rPr lang="en-US" dirty="0"/>
              <a:t>most the libraries, the value of pointer is 0 (zero)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90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NULL 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It </a:t>
            </a:r>
            <a:r>
              <a:rPr lang="en-US" dirty="0"/>
              <a:t>is always a good practice to assign a NULL value to a pointer variable in case you do not </a:t>
            </a:r>
            <a:r>
              <a:rPr lang="en-US" dirty="0" smtClean="0"/>
              <a:t>have an </a:t>
            </a:r>
            <a:r>
              <a:rPr lang="en-US" dirty="0"/>
              <a:t>exact address to be assigned. This is done at the time of variable declaration.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A </a:t>
            </a:r>
            <a:r>
              <a:rPr lang="en-US" dirty="0"/>
              <a:t>pointer that </a:t>
            </a:r>
            <a:r>
              <a:rPr lang="en-US" dirty="0" smtClean="0"/>
              <a:t>is assigned </a:t>
            </a:r>
            <a:r>
              <a:rPr lang="en-US" dirty="0"/>
              <a:t>NULL is called a null pointer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*p=NULL;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Note</a:t>
            </a:r>
            <a:r>
              <a:rPr lang="en-US" dirty="0"/>
              <a:t>: The NULL pointer is a constant with a value of zero defined in several standard </a:t>
            </a:r>
            <a:r>
              <a:rPr lang="en-US" dirty="0" smtClean="0"/>
              <a:t>libraries/ in </a:t>
            </a:r>
            <a:r>
              <a:rPr lang="en-US" dirty="0"/>
              <a:t>most the libraries, the value of pointer is 0 (zero)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45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Pointers can point to other pointers /pointer refers to the address of another pointer.</a:t>
            </a:r>
          </a:p>
          <a:p>
            <a:pPr marL="0" indent="0" algn="just">
              <a:buNone/>
            </a:pPr>
            <a:r>
              <a:rPr lang="en-US" dirty="0"/>
              <a:t>pointer can point to the address of another pointer which points to the address </a:t>
            </a:r>
            <a:r>
              <a:rPr lang="en-US" dirty="0" smtClean="0"/>
              <a:t>of </a:t>
            </a:r>
            <a:r>
              <a:rPr lang="en-US" dirty="0"/>
              <a:t>a value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672681"/>
            <a:ext cx="78295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syntax of pointer to pointer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**p2;</a:t>
            </a:r>
          </a:p>
          <a:p>
            <a:pPr marL="0" indent="0" algn="just">
              <a:buNone/>
            </a:pPr>
            <a:r>
              <a:rPr lang="en-US" dirty="0"/>
              <a:t>pointer to </a:t>
            </a:r>
            <a:r>
              <a:rPr lang="en-US" dirty="0" smtClean="0"/>
              <a:t>pointer example</a:t>
            </a:r>
          </a:p>
          <a:p>
            <a:pPr marL="0" indent="0" algn="just">
              <a:buNone/>
            </a:pPr>
            <a:r>
              <a:rPr lang="en-US" dirty="0"/>
              <a:t>Let's see an example where one pointer points to the address of another pointer.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4103762"/>
            <a:ext cx="80391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2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</a:t>
            </a:r>
            <a:r>
              <a:rPr lang="en-US" dirty="0" smtClean="0"/>
              <a:t>()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number=50;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*p</a:t>
            </a:r>
            <a:r>
              <a:rPr lang="en-US" dirty="0" smtClean="0"/>
              <a:t>;                      //</a:t>
            </a:r>
            <a:r>
              <a:rPr lang="en-US" dirty="0"/>
              <a:t>pointer to </a:t>
            </a:r>
            <a:r>
              <a:rPr lang="en-US" dirty="0" err="1"/>
              <a:t>int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**p2</a:t>
            </a:r>
            <a:r>
              <a:rPr lang="en-US" dirty="0" smtClean="0"/>
              <a:t>;                //</a:t>
            </a:r>
            <a:r>
              <a:rPr lang="en-US" dirty="0"/>
              <a:t>pointer to pointer</a:t>
            </a:r>
          </a:p>
          <a:p>
            <a:pPr marL="0" indent="0" algn="just">
              <a:buNone/>
            </a:pPr>
            <a:r>
              <a:rPr lang="en-US" dirty="0" smtClean="0"/>
              <a:t>p</a:t>
            </a:r>
            <a:r>
              <a:rPr lang="en-US" dirty="0"/>
              <a:t>=&amp;number</a:t>
            </a:r>
            <a:r>
              <a:rPr lang="en-US" dirty="0" smtClean="0"/>
              <a:t>;        //</a:t>
            </a:r>
            <a:r>
              <a:rPr lang="en-US" dirty="0"/>
              <a:t>stores the address of number variable</a:t>
            </a:r>
          </a:p>
          <a:p>
            <a:pPr marL="0" indent="0" algn="just">
              <a:buNone/>
            </a:pPr>
            <a:r>
              <a:rPr lang="en-US" dirty="0"/>
              <a:t>p2=&amp;p;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("Address of number variable is %x \</a:t>
            </a:r>
            <a:r>
              <a:rPr lang="en-US" dirty="0" err="1"/>
              <a:t>n",&amp;number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("Address of p variable is %x \</a:t>
            </a:r>
            <a:r>
              <a:rPr lang="en-US" dirty="0" err="1"/>
              <a:t>n",p</a:t>
            </a:r>
            <a:r>
              <a:rPr lang="en-US" dirty="0" smtClean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("Value of *p variable is %d \n",*p);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("Address of p2 variable is %x \n",p2);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("Value of **p2 variable is %d \n",**p);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 smtClean="0"/>
              <a:t>();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7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Address of number variable is fff4</a:t>
            </a:r>
          </a:p>
          <a:p>
            <a:pPr marL="0" indent="0" algn="just">
              <a:buNone/>
            </a:pPr>
            <a:r>
              <a:rPr lang="en-US" dirty="0"/>
              <a:t>Address of p variable is fff4</a:t>
            </a:r>
          </a:p>
          <a:p>
            <a:pPr marL="0" indent="0" algn="just">
              <a:buNone/>
            </a:pPr>
            <a:r>
              <a:rPr lang="en-US" dirty="0"/>
              <a:t>Value of *p variable is 50</a:t>
            </a:r>
          </a:p>
          <a:p>
            <a:pPr marL="0" indent="0" algn="just">
              <a:buNone/>
            </a:pPr>
            <a:r>
              <a:rPr lang="en-US" dirty="0"/>
              <a:t>Address of p2 variable is fff2</a:t>
            </a:r>
          </a:p>
          <a:p>
            <a:pPr marL="0" indent="0" algn="just">
              <a:buNone/>
            </a:pPr>
            <a:r>
              <a:rPr lang="en-US" dirty="0"/>
              <a:t>Value of **p variable is 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20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and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When an array is declared, compiler allocates sufficient amount of memory to contain all </a:t>
            </a:r>
            <a:r>
              <a:rPr lang="en-US" dirty="0" smtClean="0"/>
              <a:t>the elements </a:t>
            </a:r>
            <a:r>
              <a:rPr lang="en-US" dirty="0"/>
              <a:t>of the array. Base address which gives location of the first element is also allocated by</a:t>
            </a:r>
          </a:p>
          <a:p>
            <a:pPr marL="0" indent="0" algn="just">
              <a:buNone/>
            </a:pPr>
            <a:r>
              <a:rPr lang="en-US" dirty="0"/>
              <a:t>the compiler.</a:t>
            </a:r>
          </a:p>
          <a:p>
            <a:pPr marL="0" indent="0" algn="just">
              <a:buNone/>
            </a:pPr>
            <a:r>
              <a:rPr lang="en-US" dirty="0"/>
              <a:t>Suppose we declare an array </a:t>
            </a:r>
            <a:r>
              <a:rPr lang="en-US" dirty="0" err="1"/>
              <a:t>arr</a:t>
            </a:r>
            <a:r>
              <a:rPr lang="en-US" dirty="0"/>
              <a:t>,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[5]={ 1, 2, 3, 4, 5 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71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and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Assuming that the base address of </a:t>
            </a:r>
            <a:r>
              <a:rPr lang="en-US" dirty="0" err="1"/>
              <a:t>arr</a:t>
            </a:r>
            <a:r>
              <a:rPr lang="en-US" dirty="0"/>
              <a:t> is 1000 and each integer requires two byte, the </a:t>
            </a:r>
            <a:r>
              <a:rPr lang="en-US" dirty="0" smtClean="0"/>
              <a:t>five element </a:t>
            </a:r>
            <a:r>
              <a:rPr lang="en-US" dirty="0"/>
              <a:t>will be stored as </a:t>
            </a:r>
            <a:r>
              <a:rPr lang="en-US" dirty="0" smtClean="0"/>
              <a:t>follows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26695"/>
            <a:ext cx="8291513" cy="214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1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and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Here variable </a:t>
            </a:r>
            <a:r>
              <a:rPr lang="en-US" dirty="0" err="1"/>
              <a:t>arr</a:t>
            </a:r>
            <a:r>
              <a:rPr lang="en-US" dirty="0"/>
              <a:t> will give the base address, which is a constant pointer pointing to </a:t>
            </a:r>
            <a:r>
              <a:rPr lang="en-US" dirty="0" smtClean="0"/>
              <a:t>the element</a:t>
            </a:r>
            <a:r>
              <a:rPr lang="en-US" dirty="0"/>
              <a:t>, </a:t>
            </a:r>
            <a:r>
              <a:rPr lang="en-US" dirty="0" err="1"/>
              <a:t>arr</a:t>
            </a:r>
            <a:r>
              <a:rPr lang="en-US" dirty="0"/>
              <a:t>[0]. Therefore </a:t>
            </a:r>
            <a:r>
              <a:rPr lang="en-US" dirty="0" err="1"/>
              <a:t>arr</a:t>
            </a:r>
            <a:r>
              <a:rPr lang="en-US" dirty="0"/>
              <a:t> is containing the address of </a:t>
            </a:r>
            <a:r>
              <a:rPr lang="en-US" dirty="0" err="1"/>
              <a:t>arr</a:t>
            </a:r>
            <a:r>
              <a:rPr lang="en-US" dirty="0"/>
              <a:t>[0] </a:t>
            </a:r>
            <a:r>
              <a:rPr lang="en-US" dirty="0" err="1"/>
              <a:t>i.e</a:t>
            </a:r>
            <a:r>
              <a:rPr lang="en-US" dirty="0"/>
              <a:t> 1000.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arr</a:t>
            </a:r>
            <a:r>
              <a:rPr lang="en-US" dirty="0" smtClean="0"/>
              <a:t> </a:t>
            </a:r>
            <a:r>
              <a:rPr lang="en-US" dirty="0"/>
              <a:t>is equal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[0]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dirty="0" smtClean="0"/>
              <a:t>// </a:t>
            </a:r>
            <a:r>
              <a:rPr lang="en-US" dirty="0"/>
              <a:t>by default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55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and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We can declare a pointer of type </a:t>
            </a:r>
            <a:r>
              <a:rPr lang="en-US" dirty="0" err="1"/>
              <a:t>int</a:t>
            </a:r>
            <a:r>
              <a:rPr lang="en-US" dirty="0"/>
              <a:t> to point to the array arr.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[5]={ 1, 2, 3, 4, 5 };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*p;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 =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0" indent="0" algn="just">
              <a:buNone/>
            </a:pPr>
            <a:r>
              <a:rPr lang="en-US" dirty="0"/>
              <a:t>or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 = &amp;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[0]; </a:t>
            </a:r>
            <a:r>
              <a:rPr lang="en-US" dirty="0"/>
              <a:t>//both the statements are equivalent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>Now we can access every element of array </a:t>
            </a:r>
            <a:r>
              <a:rPr lang="en-US" dirty="0" err="1"/>
              <a:t>arr</a:t>
            </a:r>
            <a:r>
              <a:rPr lang="en-US" dirty="0"/>
              <a:t> using p++ to move from one element to another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: You cannot decrement a pointer once incremented. p-- won't work.</a:t>
            </a:r>
            <a:endParaRPr lang="en-U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068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to Array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can use a pointer to point to an Array, and then we can use that pointer to access the array.</a:t>
            </a:r>
          </a:p>
          <a:p>
            <a:pPr marL="0" indent="0" algn="just">
              <a:buNone/>
            </a:pPr>
            <a:r>
              <a:rPr lang="en-US" dirty="0"/>
              <a:t>Lets have an example</a:t>
            </a:r>
            <a:r>
              <a:rPr lang="en-US" dirty="0" smtClean="0"/>
              <a:t>,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err="1">
                <a:solidFill>
                  <a:srgbClr val="0000CC"/>
                </a:solidFill>
              </a:rPr>
              <a:t>int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 err="1">
                <a:solidFill>
                  <a:srgbClr val="0000CC"/>
                </a:solidFill>
              </a:rPr>
              <a:t>i</a:t>
            </a:r>
            <a:r>
              <a:rPr lang="en-US" dirty="0">
                <a:solidFill>
                  <a:srgbClr val="0000CC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0000CC"/>
                </a:solidFill>
              </a:rPr>
              <a:t>int</a:t>
            </a:r>
            <a:r>
              <a:rPr lang="en-US" dirty="0">
                <a:solidFill>
                  <a:srgbClr val="0000CC"/>
                </a:solidFill>
              </a:rPr>
              <a:t> a[5] = {1, 2, 3, 4, 5};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0000CC"/>
                </a:solidFill>
              </a:rPr>
              <a:t>int</a:t>
            </a:r>
            <a:r>
              <a:rPr lang="en-US" dirty="0">
                <a:solidFill>
                  <a:srgbClr val="0000CC"/>
                </a:solidFill>
              </a:rPr>
              <a:t> *p = a; </a:t>
            </a:r>
            <a:r>
              <a:rPr lang="en-US" dirty="0" smtClean="0">
                <a:solidFill>
                  <a:srgbClr val="0000CC"/>
                </a:solidFill>
              </a:rPr>
              <a:t>                      // </a:t>
            </a:r>
            <a:r>
              <a:rPr lang="en-US" dirty="0">
                <a:solidFill>
                  <a:srgbClr val="0000CC"/>
                </a:solidFill>
              </a:rPr>
              <a:t>same as </a:t>
            </a:r>
            <a:r>
              <a:rPr lang="en-US" dirty="0" err="1">
                <a:solidFill>
                  <a:srgbClr val="0000CC"/>
                </a:solidFill>
              </a:rPr>
              <a:t>int</a:t>
            </a:r>
            <a:r>
              <a:rPr lang="en-US" dirty="0">
                <a:solidFill>
                  <a:srgbClr val="0000CC"/>
                </a:solidFill>
              </a:rPr>
              <a:t>*p = &amp;a[0]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for (</a:t>
            </a:r>
            <a:r>
              <a:rPr lang="en-US" dirty="0" err="1">
                <a:solidFill>
                  <a:srgbClr val="0000CC"/>
                </a:solidFill>
              </a:rPr>
              <a:t>i</a:t>
            </a:r>
            <a:r>
              <a:rPr lang="en-US" dirty="0">
                <a:solidFill>
                  <a:srgbClr val="0000CC"/>
                </a:solidFill>
              </a:rPr>
              <a:t>=0; </a:t>
            </a:r>
            <a:r>
              <a:rPr lang="en-US" dirty="0" err="1">
                <a:solidFill>
                  <a:srgbClr val="0000CC"/>
                </a:solidFill>
              </a:rPr>
              <a:t>i</a:t>
            </a:r>
            <a:r>
              <a:rPr lang="en-US" dirty="0">
                <a:solidFill>
                  <a:srgbClr val="0000CC"/>
                </a:solidFill>
              </a:rPr>
              <a:t>&lt;5; </a:t>
            </a:r>
            <a:r>
              <a:rPr lang="en-US" dirty="0" err="1">
                <a:solidFill>
                  <a:srgbClr val="0000CC"/>
                </a:solidFill>
              </a:rPr>
              <a:t>i</a:t>
            </a:r>
            <a:r>
              <a:rPr lang="en-US" dirty="0">
                <a:solidFill>
                  <a:srgbClr val="0000CC"/>
                </a:solidFill>
              </a:rPr>
              <a:t>++)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0000CC"/>
                </a:solidFill>
              </a:rPr>
              <a:t>printf</a:t>
            </a:r>
            <a:r>
              <a:rPr lang="en-US" dirty="0">
                <a:solidFill>
                  <a:srgbClr val="0000CC"/>
                </a:solidFill>
              </a:rPr>
              <a:t>("%d", *p);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p++;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}</a:t>
            </a:r>
            <a:endParaRPr lang="en-US" b="1" i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115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to Array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In the </a:t>
            </a:r>
            <a:r>
              <a:rPr lang="en-US" dirty="0" smtClean="0"/>
              <a:t>previous </a:t>
            </a:r>
            <a:r>
              <a:rPr lang="en-US" dirty="0"/>
              <a:t>program, the pointer *p will print all the values stored in the array one by one. </a:t>
            </a:r>
            <a:r>
              <a:rPr lang="en-US" dirty="0" smtClean="0"/>
              <a:t>We can </a:t>
            </a:r>
            <a:r>
              <a:rPr lang="en-US" dirty="0"/>
              <a:t>also use the Base address (a in </a:t>
            </a:r>
            <a:r>
              <a:rPr lang="en-US" dirty="0" smtClean="0"/>
              <a:t>previous </a:t>
            </a:r>
            <a:r>
              <a:rPr lang="en-US" dirty="0"/>
              <a:t>case) to act as pointer and print all the values.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44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 between Arrays and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3715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/>
              <a:t>Consider an array: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[4</a:t>
            </a:r>
            <a:r>
              <a:rPr lang="en-US" dirty="0" smtClean="0"/>
              <a:t>];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n C programming, name of the array always points to address of the first element of an array.</a:t>
            </a:r>
          </a:p>
          <a:p>
            <a:pPr marL="0" indent="0" algn="just">
              <a:buNone/>
            </a:pPr>
            <a:r>
              <a:rPr lang="en-US" dirty="0"/>
              <a:t>In the above example, </a:t>
            </a:r>
            <a:r>
              <a:rPr lang="en-US" dirty="0" err="1"/>
              <a:t>arr</a:t>
            </a:r>
            <a:r>
              <a:rPr lang="en-US" dirty="0"/>
              <a:t> and &amp;</a:t>
            </a:r>
            <a:r>
              <a:rPr lang="en-US" dirty="0" err="1"/>
              <a:t>arr</a:t>
            </a:r>
            <a:r>
              <a:rPr lang="en-US" dirty="0"/>
              <a:t>[0] points to the address of the first element.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[0] is equivalent to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/>
              <a:t>Since, the addresses of both are the same, the values of </a:t>
            </a:r>
            <a:r>
              <a:rPr lang="en-US" dirty="0" err="1"/>
              <a:t>arr</a:t>
            </a:r>
            <a:r>
              <a:rPr lang="en-US" dirty="0"/>
              <a:t> and &amp;</a:t>
            </a:r>
            <a:r>
              <a:rPr lang="en-US" dirty="0" err="1"/>
              <a:t>arr</a:t>
            </a:r>
            <a:r>
              <a:rPr lang="en-US" dirty="0"/>
              <a:t>[0] are also the same.</a:t>
            </a:r>
          </a:p>
          <a:p>
            <a:pPr marL="0" indent="0" algn="just">
              <a:buNone/>
            </a:pPr>
            <a:r>
              <a:rPr lang="en-US" dirty="0" err="1"/>
              <a:t>arr</a:t>
            </a:r>
            <a:r>
              <a:rPr lang="en-US" dirty="0"/>
              <a:t>[0] is equivalent to *</a:t>
            </a:r>
            <a:r>
              <a:rPr lang="en-US" dirty="0" err="1"/>
              <a:t>arr</a:t>
            </a:r>
            <a:r>
              <a:rPr lang="en-US" dirty="0"/>
              <a:t> (value of an address of the pointer)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600200"/>
            <a:ext cx="493395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2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 between Arrays and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3715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Similarly,</a:t>
            </a:r>
          </a:p>
          <a:p>
            <a:pPr marL="0" indent="0" algn="just">
              <a:buNone/>
            </a:pPr>
            <a:r>
              <a:rPr lang="en-US" dirty="0"/>
              <a:t>&amp;</a:t>
            </a:r>
            <a:r>
              <a:rPr lang="en-US" dirty="0" err="1"/>
              <a:t>arr</a:t>
            </a:r>
            <a:r>
              <a:rPr lang="en-US" dirty="0"/>
              <a:t>[1] is equivalent to (</a:t>
            </a:r>
            <a:r>
              <a:rPr lang="en-US" dirty="0" err="1"/>
              <a:t>arr</a:t>
            </a:r>
            <a:r>
              <a:rPr lang="en-US" dirty="0"/>
              <a:t> + 1) AND, </a:t>
            </a:r>
            <a:r>
              <a:rPr lang="en-US" dirty="0" err="1"/>
              <a:t>arr</a:t>
            </a:r>
            <a:r>
              <a:rPr lang="en-US" dirty="0"/>
              <a:t>[1] is equivalent to *(</a:t>
            </a:r>
            <a:r>
              <a:rPr lang="en-US" dirty="0" err="1"/>
              <a:t>arr</a:t>
            </a:r>
            <a:r>
              <a:rPr lang="en-US" dirty="0"/>
              <a:t> + 1).</a:t>
            </a:r>
          </a:p>
          <a:p>
            <a:pPr marL="0" indent="0" algn="just">
              <a:buNone/>
            </a:pPr>
            <a:r>
              <a:rPr lang="en-US" dirty="0"/>
              <a:t>&amp;</a:t>
            </a:r>
            <a:r>
              <a:rPr lang="en-US" dirty="0" err="1"/>
              <a:t>arr</a:t>
            </a:r>
            <a:r>
              <a:rPr lang="en-US" dirty="0"/>
              <a:t>[2] is equivalent to (</a:t>
            </a:r>
            <a:r>
              <a:rPr lang="en-US" dirty="0" err="1"/>
              <a:t>arr</a:t>
            </a:r>
            <a:r>
              <a:rPr lang="en-US" dirty="0"/>
              <a:t> + 2) AND, </a:t>
            </a:r>
            <a:r>
              <a:rPr lang="en-US" dirty="0" err="1"/>
              <a:t>arr</a:t>
            </a:r>
            <a:r>
              <a:rPr lang="en-US" dirty="0"/>
              <a:t>[2] is equivalent to *(</a:t>
            </a:r>
            <a:r>
              <a:rPr lang="en-US" dirty="0" err="1"/>
              <a:t>arr</a:t>
            </a:r>
            <a:r>
              <a:rPr lang="en-US" dirty="0"/>
              <a:t> + 2).</a:t>
            </a:r>
          </a:p>
          <a:p>
            <a:pPr marL="0" indent="0" algn="just">
              <a:buNone/>
            </a:pPr>
            <a:r>
              <a:rPr lang="en-US" dirty="0"/>
              <a:t>&amp;</a:t>
            </a:r>
            <a:r>
              <a:rPr lang="en-US" dirty="0" err="1"/>
              <a:t>arr</a:t>
            </a:r>
            <a:r>
              <a:rPr lang="en-US" dirty="0"/>
              <a:t>[3] is equivalent to (</a:t>
            </a:r>
            <a:r>
              <a:rPr lang="en-US" dirty="0" err="1"/>
              <a:t>arr</a:t>
            </a:r>
            <a:r>
              <a:rPr lang="en-US" dirty="0"/>
              <a:t> + 3) AND, </a:t>
            </a:r>
            <a:r>
              <a:rPr lang="en-US" dirty="0" err="1"/>
              <a:t>arr</a:t>
            </a:r>
            <a:r>
              <a:rPr lang="en-US" dirty="0"/>
              <a:t>[3] is equivalent to *(</a:t>
            </a:r>
            <a:r>
              <a:rPr lang="en-US" dirty="0" err="1"/>
              <a:t>arr</a:t>
            </a:r>
            <a:r>
              <a:rPr lang="en-US" dirty="0"/>
              <a:t> + 3).</a:t>
            </a:r>
          </a:p>
          <a:p>
            <a:pPr marL="0" indent="0" algn="just">
              <a:buNone/>
            </a:pP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&amp;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is equivalent to (</a:t>
            </a:r>
            <a:r>
              <a:rPr lang="en-US" dirty="0" err="1"/>
              <a:t>arr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 AND,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is equivalent to *(</a:t>
            </a:r>
            <a:r>
              <a:rPr lang="en-US" dirty="0" err="1"/>
              <a:t>arr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30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 between Arrays and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3715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Example: Program to find the sum of six </a:t>
            </a:r>
            <a:r>
              <a:rPr lang="en-US" dirty="0" smtClean="0"/>
              <a:t>numbers </a:t>
            </a:r>
            <a:r>
              <a:rPr lang="en-US" dirty="0"/>
              <a:t>with arrays and </a:t>
            </a:r>
            <a:r>
              <a:rPr lang="en-US" dirty="0" smtClean="0"/>
              <a:t>pointers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, classes[6],sum = 0;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6 numbers:\n");</a:t>
            </a:r>
          </a:p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6;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// (classes + </a:t>
            </a:r>
            <a:r>
              <a:rPr lang="en-US" dirty="0" err="1">
                <a:solidFill>
                  <a:srgbClr val="0000CC"/>
                </a:solidFill>
              </a:rPr>
              <a:t>i</a:t>
            </a:r>
            <a:r>
              <a:rPr lang="en-US" dirty="0">
                <a:solidFill>
                  <a:srgbClr val="0000CC"/>
                </a:solidFill>
              </a:rPr>
              <a:t>) is equivalent to &amp;classes[</a:t>
            </a:r>
            <a:r>
              <a:rPr lang="en-US" dirty="0" err="1">
                <a:solidFill>
                  <a:srgbClr val="0000CC"/>
                </a:solidFill>
              </a:rPr>
              <a:t>i</a:t>
            </a:r>
            <a:r>
              <a:rPr lang="en-US" dirty="0">
                <a:solidFill>
                  <a:srgbClr val="0000CC"/>
                </a:solidFill>
              </a:rPr>
              <a:t>]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("%d",(classes + </a:t>
            </a:r>
            <a:r>
              <a:rPr lang="en-US" dirty="0" err="1"/>
              <a:t>i</a:t>
            </a:r>
            <a:r>
              <a:rPr lang="en-US" dirty="0"/>
              <a:t>));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// *(classes + </a:t>
            </a:r>
            <a:r>
              <a:rPr lang="en-US" dirty="0" err="1">
                <a:solidFill>
                  <a:srgbClr val="0000CC"/>
                </a:solidFill>
              </a:rPr>
              <a:t>i</a:t>
            </a:r>
            <a:r>
              <a:rPr lang="en-US" dirty="0">
                <a:solidFill>
                  <a:srgbClr val="0000CC"/>
                </a:solidFill>
              </a:rPr>
              <a:t>) is equivalent to classes[</a:t>
            </a:r>
            <a:r>
              <a:rPr lang="en-US" dirty="0" err="1">
                <a:solidFill>
                  <a:srgbClr val="0000CC"/>
                </a:solidFill>
              </a:rPr>
              <a:t>i</a:t>
            </a:r>
            <a:r>
              <a:rPr lang="en-US" dirty="0">
                <a:solidFill>
                  <a:srgbClr val="0000CC"/>
                </a:solidFill>
              </a:rPr>
              <a:t>]</a:t>
            </a:r>
          </a:p>
          <a:p>
            <a:pPr marL="0" indent="0" algn="just">
              <a:buNone/>
            </a:pPr>
            <a:r>
              <a:rPr lang="en-US" dirty="0"/>
              <a:t>sum += *(classes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("Sum = %d", sum);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1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 between Arrays and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3715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 smtClean="0"/>
              <a:t>Output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Enter 6 numbers:</a:t>
            </a:r>
          </a:p>
          <a:p>
            <a:pPr marL="0" indent="0" algn="just">
              <a:buNone/>
            </a:pPr>
            <a:r>
              <a:rPr lang="en-US" dirty="0"/>
              <a:t>2</a:t>
            </a:r>
          </a:p>
          <a:p>
            <a:pPr marL="0" indent="0" algn="just">
              <a:buNone/>
            </a:pPr>
            <a:r>
              <a:rPr lang="en-US" dirty="0"/>
              <a:t>3</a:t>
            </a:r>
          </a:p>
          <a:p>
            <a:pPr marL="0" indent="0" algn="just">
              <a:buNone/>
            </a:pPr>
            <a:r>
              <a:rPr lang="en-US" dirty="0"/>
              <a:t>4</a:t>
            </a:r>
          </a:p>
          <a:p>
            <a:pPr marL="0" indent="0" algn="just">
              <a:buNone/>
            </a:pPr>
            <a:r>
              <a:rPr lang="en-US" dirty="0"/>
              <a:t>5</a:t>
            </a:r>
          </a:p>
          <a:p>
            <a:pPr marL="0" indent="0" algn="just">
              <a:buNone/>
            </a:pPr>
            <a:r>
              <a:rPr lang="en-US" dirty="0"/>
              <a:t>3</a:t>
            </a:r>
          </a:p>
          <a:p>
            <a:pPr marL="0" indent="0" algn="just">
              <a:buNone/>
            </a:pPr>
            <a:r>
              <a:rPr lang="en-US" dirty="0"/>
              <a:t>4</a:t>
            </a:r>
          </a:p>
          <a:p>
            <a:pPr marL="0" indent="0" algn="just">
              <a:buNone/>
            </a:pPr>
            <a:r>
              <a:rPr lang="en-US" dirty="0"/>
              <a:t>Sum =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1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Arithmetic and Arrays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37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pointer holds address of a value, so there can be arithmetic operations on the pointer variable.</a:t>
            </a:r>
          </a:p>
          <a:p>
            <a:pPr marL="0" indent="0" algn="just">
              <a:buNone/>
            </a:pPr>
            <a:r>
              <a:rPr lang="en-US" dirty="0"/>
              <a:t>There are four arithmetic operators that can be used on pointers:</a:t>
            </a:r>
          </a:p>
          <a:p>
            <a:pPr marL="0" indent="0" algn="just">
              <a:buNone/>
            </a:pPr>
            <a:r>
              <a:rPr lang="en-US" dirty="0"/>
              <a:t>o Increment(++)</a:t>
            </a:r>
          </a:p>
          <a:p>
            <a:pPr marL="0" indent="0" algn="just">
              <a:buNone/>
            </a:pPr>
            <a:r>
              <a:rPr lang="en-US" dirty="0"/>
              <a:t>o Decrement(--)</a:t>
            </a:r>
          </a:p>
          <a:p>
            <a:pPr marL="0" indent="0" algn="just">
              <a:buNone/>
            </a:pPr>
            <a:r>
              <a:rPr lang="en-US" dirty="0"/>
              <a:t>o Addition(+)</a:t>
            </a:r>
          </a:p>
          <a:p>
            <a:pPr marL="0" indent="0" algn="just">
              <a:buNone/>
            </a:pPr>
            <a:r>
              <a:rPr lang="en-US" dirty="0"/>
              <a:t>o Subtraction(-)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0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3715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/>
              <a:t>1. Incrementing Pointer is generally used </a:t>
            </a:r>
            <a:r>
              <a:rPr lang="en-US" dirty="0" smtClean="0"/>
              <a:t>in array </a:t>
            </a:r>
            <a:r>
              <a:rPr lang="en-US" dirty="0"/>
              <a:t>because we have contiguous memory </a:t>
            </a:r>
            <a:r>
              <a:rPr lang="en-US" dirty="0" smtClean="0"/>
              <a:t>in array </a:t>
            </a:r>
            <a:r>
              <a:rPr lang="en-US" dirty="0"/>
              <a:t>and we know the contents of next memory location.</a:t>
            </a:r>
          </a:p>
          <a:p>
            <a:pPr marL="0" indent="0" algn="just">
              <a:buNone/>
            </a:pPr>
            <a:r>
              <a:rPr lang="en-US" dirty="0"/>
              <a:t>2. Incrementing Pointer Variable Depends Upon data type of the Pointer variable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formula of incrementing pointer is given below:</a:t>
            </a:r>
          </a:p>
          <a:p>
            <a:pPr marL="0" indent="0" algn="just">
              <a:buNone/>
            </a:pPr>
            <a:r>
              <a:rPr lang="en-US" sz="3000" b="1" dirty="0" err="1">
                <a:solidFill>
                  <a:srgbClr val="0000CC"/>
                </a:solidFill>
              </a:rPr>
              <a:t>new_address</a:t>
            </a:r>
            <a:r>
              <a:rPr lang="en-US" sz="3000" b="1" dirty="0">
                <a:solidFill>
                  <a:srgbClr val="0000CC"/>
                </a:solidFill>
              </a:rPr>
              <a:t>= </a:t>
            </a:r>
            <a:r>
              <a:rPr lang="en-US" sz="3000" b="1" dirty="0" err="1">
                <a:solidFill>
                  <a:srgbClr val="0000CC"/>
                </a:solidFill>
              </a:rPr>
              <a:t>current_address</a:t>
            </a:r>
            <a:r>
              <a:rPr lang="en-US" sz="3000" b="1" dirty="0">
                <a:solidFill>
                  <a:srgbClr val="0000CC"/>
                </a:solidFill>
              </a:rPr>
              <a:t> + </a:t>
            </a:r>
            <a:r>
              <a:rPr lang="en-US" sz="3000" b="1" dirty="0" err="1">
                <a:solidFill>
                  <a:srgbClr val="0000CC"/>
                </a:solidFill>
              </a:rPr>
              <a:t>i</a:t>
            </a:r>
            <a:r>
              <a:rPr lang="en-US" sz="3000" b="1" dirty="0">
                <a:solidFill>
                  <a:srgbClr val="0000CC"/>
                </a:solidFill>
              </a:rPr>
              <a:t> * </a:t>
            </a:r>
            <a:r>
              <a:rPr lang="en-US" sz="3000" b="1" dirty="0" err="1">
                <a:solidFill>
                  <a:srgbClr val="0000CC"/>
                </a:solidFill>
              </a:rPr>
              <a:t>size_of</a:t>
            </a:r>
            <a:r>
              <a:rPr lang="en-US" sz="3000" b="1" dirty="0">
                <a:solidFill>
                  <a:srgbClr val="0000CC"/>
                </a:solidFill>
              </a:rPr>
              <a:t>(data type)</a:t>
            </a:r>
            <a:endParaRPr lang="en-US" sz="30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61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199"/>
            <a:ext cx="8229600" cy="52917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Three rules should be used to increment </a:t>
            </a:r>
            <a:r>
              <a:rPr lang="en-US" dirty="0" smtClean="0"/>
              <a:t>pointer</a:t>
            </a:r>
          </a:p>
          <a:p>
            <a:pPr marL="0" indent="0" algn="just">
              <a:buNone/>
            </a:pPr>
            <a:r>
              <a:rPr lang="en-US" sz="3000" b="1" dirty="0">
                <a:solidFill>
                  <a:srgbClr val="0000CC"/>
                </a:solidFill>
              </a:rPr>
              <a:t>Address + 1 = Address</a:t>
            </a:r>
          </a:p>
          <a:p>
            <a:pPr marL="0" indent="0" algn="just">
              <a:buNone/>
            </a:pPr>
            <a:r>
              <a:rPr lang="en-US" sz="3000" b="1" dirty="0">
                <a:solidFill>
                  <a:srgbClr val="0000CC"/>
                </a:solidFill>
              </a:rPr>
              <a:t>Address++ = </a:t>
            </a:r>
            <a:r>
              <a:rPr lang="en-US" sz="3000" b="1" dirty="0" smtClean="0">
                <a:solidFill>
                  <a:srgbClr val="0000CC"/>
                </a:solidFill>
              </a:rPr>
              <a:t>Address</a:t>
            </a:r>
          </a:p>
          <a:p>
            <a:pPr marL="0" indent="0" algn="just">
              <a:buNone/>
            </a:pPr>
            <a:r>
              <a:rPr lang="en-US" sz="3000" b="1" dirty="0">
                <a:solidFill>
                  <a:srgbClr val="0000CC"/>
                </a:solidFill>
              </a:rPr>
              <a:t>++Address = </a:t>
            </a:r>
            <a:r>
              <a:rPr lang="en-US" sz="3000" b="1" dirty="0" smtClean="0">
                <a:solidFill>
                  <a:srgbClr val="0000CC"/>
                </a:solidFill>
              </a:rPr>
              <a:t>Address</a:t>
            </a:r>
          </a:p>
          <a:p>
            <a:pPr marL="0" indent="0" algn="just">
              <a:buNone/>
            </a:pPr>
            <a:endParaRPr lang="en-US" sz="30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000" b="1" dirty="0" smtClean="0">
                <a:solidFill>
                  <a:srgbClr val="0000CC"/>
                </a:solidFill>
              </a:rPr>
              <a:t>Pictorial representation</a:t>
            </a:r>
          </a:p>
          <a:p>
            <a:pPr marL="0" indent="0" algn="just">
              <a:buNone/>
            </a:pPr>
            <a:endParaRPr lang="en-US" sz="3000" b="1" dirty="0">
              <a:solidFill>
                <a:srgbClr val="0000CC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4432300"/>
            <a:ext cx="4867275" cy="1695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6091891"/>
            <a:ext cx="13430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5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447800"/>
            <a:ext cx="8229600" cy="300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7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number=50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*p</a:t>
            </a:r>
            <a:r>
              <a:rPr lang="en-US" dirty="0" smtClean="0"/>
              <a:t>;               //</a:t>
            </a:r>
            <a:r>
              <a:rPr lang="en-US" dirty="0"/>
              <a:t>pointer to </a:t>
            </a:r>
            <a:r>
              <a:rPr lang="en-US" dirty="0" err="1"/>
              <a:t>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p=&amp;number</a:t>
            </a:r>
            <a:r>
              <a:rPr lang="en-US" dirty="0" smtClean="0"/>
              <a:t>;      //</a:t>
            </a:r>
            <a:r>
              <a:rPr lang="en-US" dirty="0"/>
              <a:t>stores the address of number variable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("Address of p variable is %u \</a:t>
            </a:r>
            <a:r>
              <a:rPr lang="en-US" dirty="0" err="1"/>
              <a:t>n",p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p=p+1;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("After increment: Address of p variable is %</a:t>
            </a:r>
            <a:r>
              <a:rPr lang="en-US" dirty="0" smtClean="0"/>
              <a:t>u\</a:t>
            </a:r>
            <a:r>
              <a:rPr lang="en-US" dirty="0" err="1" smtClean="0"/>
              <a:t>n</a:t>
            </a:r>
            <a:r>
              <a:rPr lang="en-US" dirty="0" err="1"/>
              <a:t>",p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174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Decrement 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Like increment, we can decrement a </a:t>
            </a:r>
            <a:r>
              <a:rPr lang="en-US" dirty="0" smtClean="0"/>
              <a:t>pointer variable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formula of decrementing pointer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0000CC"/>
                </a:solidFill>
              </a:rPr>
              <a:t>new_address</a:t>
            </a:r>
            <a:r>
              <a:rPr lang="en-US" sz="2800" b="1" dirty="0">
                <a:solidFill>
                  <a:srgbClr val="0000CC"/>
                </a:solidFill>
              </a:rPr>
              <a:t>= </a:t>
            </a:r>
            <a:r>
              <a:rPr lang="en-US" sz="2800" b="1" dirty="0" err="1">
                <a:solidFill>
                  <a:srgbClr val="0000CC"/>
                </a:solidFill>
              </a:rPr>
              <a:t>current_address</a:t>
            </a:r>
            <a:r>
              <a:rPr lang="en-US" sz="2800" b="1" dirty="0">
                <a:solidFill>
                  <a:srgbClr val="0000CC"/>
                </a:solidFill>
              </a:rPr>
              <a:t> - </a:t>
            </a:r>
            <a:r>
              <a:rPr lang="en-US" sz="2800" b="1" dirty="0" err="1">
                <a:solidFill>
                  <a:srgbClr val="0000CC"/>
                </a:solidFill>
              </a:rPr>
              <a:t>i</a:t>
            </a:r>
            <a:r>
              <a:rPr lang="en-US" sz="2800" b="1" dirty="0">
                <a:solidFill>
                  <a:srgbClr val="0000CC"/>
                </a:solidFill>
              </a:rPr>
              <a:t> * </a:t>
            </a:r>
            <a:r>
              <a:rPr lang="en-US" sz="2800" b="1" dirty="0" err="1">
                <a:solidFill>
                  <a:srgbClr val="0000CC"/>
                </a:solidFill>
              </a:rPr>
              <a:t>size_of</a:t>
            </a:r>
            <a:r>
              <a:rPr lang="en-US" sz="2800" b="1" dirty="0">
                <a:solidFill>
                  <a:srgbClr val="0000CC"/>
                </a:solidFill>
              </a:rPr>
              <a:t>(data type)</a:t>
            </a:r>
          </a:p>
        </p:txBody>
      </p:sp>
    </p:spTree>
    <p:extLst>
      <p:ext uri="{BB962C8B-B14F-4D97-AF65-F5344CB8AC3E}">
        <p14:creationId xmlns:p14="http://schemas.microsoft.com/office/powerpoint/2010/main" val="184863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Decrement 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number=50;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*p;//pointer to </a:t>
            </a:r>
            <a:r>
              <a:rPr lang="en-US" dirty="0" err="1"/>
              <a:t>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p=&amp;number;//stores the address of number variable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("Address of p variable is %u \</a:t>
            </a:r>
            <a:r>
              <a:rPr lang="en-US" dirty="0" err="1"/>
              <a:t>n",p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p=p-1</a:t>
            </a:r>
            <a:r>
              <a:rPr lang="en-US" dirty="0" smtClean="0"/>
              <a:t>;</a:t>
            </a:r>
            <a:endParaRPr lang="en-US" sz="2800" b="1" dirty="0"/>
          </a:p>
          <a:p>
            <a:pPr marL="0" indent="0">
              <a:buNone/>
            </a:pPr>
            <a:r>
              <a:rPr lang="en-US" sz="2800" dirty="0" err="1"/>
              <a:t>printf</a:t>
            </a:r>
            <a:r>
              <a:rPr lang="en-US" sz="2800" dirty="0"/>
              <a:t>("After decrement: Address of p variable is %u \</a:t>
            </a:r>
            <a:r>
              <a:rPr lang="en-US" sz="2800" dirty="0" err="1"/>
              <a:t>n",p</a:t>
            </a:r>
            <a:r>
              <a:rPr lang="en-US" sz="2800" dirty="0"/>
              <a:t>);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156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Addition 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add a value to the pointer variable.</a:t>
            </a:r>
          </a:p>
          <a:p>
            <a:pPr marL="0" indent="0">
              <a:buNone/>
            </a:pPr>
            <a:r>
              <a:rPr lang="en-US" dirty="0" smtClean="0"/>
              <a:t>Formula </a:t>
            </a:r>
            <a:r>
              <a:rPr lang="en-US" dirty="0"/>
              <a:t>of adding value to pointer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0000CC"/>
                </a:solidFill>
              </a:rPr>
              <a:t>new_address</a:t>
            </a:r>
            <a:r>
              <a:rPr lang="en-US" sz="2400" b="1" dirty="0">
                <a:solidFill>
                  <a:srgbClr val="0000CC"/>
                </a:solidFill>
              </a:rPr>
              <a:t>= </a:t>
            </a:r>
            <a:r>
              <a:rPr lang="en-US" sz="2400" b="1" dirty="0" err="1">
                <a:solidFill>
                  <a:srgbClr val="0000CC"/>
                </a:solidFill>
              </a:rPr>
              <a:t>current_address</a:t>
            </a:r>
            <a:r>
              <a:rPr lang="en-US" sz="2400" b="1" dirty="0">
                <a:solidFill>
                  <a:srgbClr val="0000CC"/>
                </a:solidFill>
              </a:rPr>
              <a:t> + (number </a:t>
            </a:r>
            <a:r>
              <a:rPr lang="en-US" sz="2400" b="1" dirty="0" smtClean="0">
                <a:solidFill>
                  <a:srgbClr val="0000CC"/>
                </a:solidFill>
              </a:rPr>
              <a:t>* </a:t>
            </a:r>
            <a:r>
              <a:rPr lang="en-US" sz="2400" b="1" dirty="0" err="1" smtClean="0">
                <a:solidFill>
                  <a:srgbClr val="0000CC"/>
                </a:solidFill>
              </a:rPr>
              <a:t>size_of</a:t>
            </a:r>
            <a:r>
              <a:rPr lang="en-US" sz="2400" b="1" dirty="0" smtClean="0">
                <a:solidFill>
                  <a:srgbClr val="0000CC"/>
                </a:solidFill>
              </a:rPr>
              <a:t>(data </a:t>
            </a:r>
            <a:r>
              <a:rPr lang="en-US" sz="2400" b="1" dirty="0">
                <a:solidFill>
                  <a:srgbClr val="0000CC"/>
                </a:solidFill>
              </a:rPr>
              <a:t>type</a:t>
            </a:r>
            <a:r>
              <a:rPr lang="en-US" sz="2400" b="1" dirty="0" smtClean="0">
                <a:solidFill>
                  <a:srgbClr val="0000CC"/>
                </a:solidFill>
              </a:rPr>
              <a:t>))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312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Addition 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number=50;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*p;//pointer to </a:t>
            </a:r>
            <a:r>
              <a:rPr lang="en-US" dirty="0" err="1"/>
              <a:t>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p=&amp;number</a:t>
            </a:r>
            <a:r>
              <a:rPr lang="en-US" sz="2400" dirty="0"/>
              <a:t>;//stores the address of number variable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smtClean="0"/>
              <a:t>Address </a:t>
            </a:r>
            <a:r>
              <a:rPr lang="en-US" dirty="0"/>
              <a:t>of p variable is %u \</a:t>
            </a:r>
            <a:r>
              <a:rPr lang="en-US" dirty="0" err="1"/>
              <a:t>n",p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sz="2800" dirty="0"/>
              <a:t>p=p+3; //adding 3 to pointer variable</a:t>
            </a:r>
          </a:p>
          <a:p>
            <a:pPr marL="0" indent="0">
              <a:buNone/>
            </a:pPr>
            <a:r>
              <a:rPr lang="en-US" sz="2800" dirty="0" err="1"/>
              <a:t>printf</a:t>
            </a:r>
            <a:r>
              <a:rPr lang="en-US" sz="2800" dirty="0"/>
              <a:t>("After adding 3: Address of p variable is %u \</a:t>
            </a:r>
            <a:r>
              <a:rPr lang="en-US" sz="2800" dirty="0" err="1"/>
              <a:t>n",p</a:t>
            </a:r>
            <a:r>
              <a:rPr lang="en-US" sz="2800" dirty="0"/>
              <a:t>);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367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Subtraction 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Like pointer addition, we can subtract a value from the pointer variable. The </a:t>
            </a:r>
            <a:r>
              <a:rPr lang="en-US" dirty="0" smtClean="0"/>
              <a:t>formula of </a:t>
            </a:r>
            <a:r>
              <a:rPr lang="en-US" dirty="0"/>
              <a:t>subtracting value from pointer variable.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0000CC"/>
                </a:solidFill>
              </a:rPr>
              <a:t>new_address</a:t>
            </a:r>
            <a:r>
              <a:rPr lang="en-US" sz="2400" b="1" dirty="0">
                <a:solidFill>
                  <a:srgbClr val="0000CC"/>
                </a:solidFill>
              </a:rPr>
              <a:t>= </a:t>
            </a:r>
            <a:r>
              <a:rPr lang="en-US" sz="2400" b="1" dirty="0" err="1">
                <a:solidFill>
                  <a:srgbClr val="0000CC"/>
                </a:solidFill>
              </a:rPr>
              <a:t>current_address</a:t>
            </a:r>
            <a:r>
              <a:rPr lang="en-US" sz="2400" b="1" dirty="0">
                <a:solidFill>
                  <a:srgbClr val="0000CC"/>
                </a:solidFill>
              </a:rPr>
              <a:t> - (number * </a:t>
            </a:r>
            <a:r>
              <a:rPr lang="en-US" sz="2400" b="1" dirty="0" err="1">
                <a:solidFill>
                  <a:srgbClr val="0000CC"/>
                </a:solidFill>
              </a:rPr>
              <a:t>size_of</a:t>
            </a:r>
            <a:r>
              <a:rPr lang="en-US" sz="2400" b="1" dirty="0">
                <a:solidFill>
                  <a:srgbClr val="0000CC"/>
                </a:solidFill>
              </a:rPr>
              <a:t>(data type))</a:t>
            </a:r>
          </a:p>
        </p:txBody>
      </p:sp>
    </p:spTree>
    <p:extLst>
      <p:ext uri="{BB962C8B-B14F-4D97-AF65-F5344CB8AC3E}">
        <p14:creationId xmlns:p14="http://schemas.microsoft.com/office/powerpoint/2010/main" val="80577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Subtraction 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number=50;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*p;//pointer to </a:t>
            </a:r>
            <a:r>
              <a:rPr lang="en-US" dirty="0" err="1"/>
              <a:t>int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p=&amp;number;//stores the address of number variable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("Address of p variable is %u \</a:t>
            </a:r>
            <a:r>
              <a:rPr lang="en-US" dirty="0" err="1"/>
              <a:t>n",p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p=p-3; //subtracting 3 from pointer variable</a:t>
            </a:r>
          </a:p>
          <a:p>
            <a:pPr marL="0" indent="0" algn="just">
              <a:buNone/>
            </a:pPr>
            <a:r>
              <a:rPr lang="en-US" sz="2800" dirty="0" err="1"/>
              <a:t>printf</a:t>
            </a:r>
            <a:r>
              <a:rPr lang="en-US" sz="2800" dirty="0"/>
              <a:t>("After subtracting 3: Address of p variable is %u \</a:t>
            </a:r>
            <a:r>
              <a:rPr lang="en-US" sz="2800" dirty="0" err="1"/>
              <a:t>n",p</a:t>
            </a:r>
            <a:r>
              <a:rPr lang="en-US" sz="2800" dirty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sz="24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21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an Array to a Function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If </a:t>
            </a:r>
            <a:r>
              <a:rPr lang="en-US" dirty="0"/>
              <a:t>you want to pass a single-dimension array as an argument in a function, you would have </a:t>
            </a:r>
            <a:r>
              <a:rPr lang="en-US" dirty="0" smtClean="0"/>
              <a:t>to declare </a:t>
            </a:r>
            <a:r>
              <a:rPr lang="en-US" dirty="0"/>
              <a:t>a formal parameter in one of following three ways and all three declaration </a:t>
            </a:r>
            <a:r>
              <a:rPr lang="en-US" dirty="0" smtClean="0"/>
              <a:t>methods produce </a:t>
            </a:r>
            <a:r>
              <a:rPr lang="en-US" dirty="0"/>
              <a:t>similar results because each tells the compiler that an integer pointer is going to </a:t>
            </a:r>
            <a:r>
              <a:rPr lang="en-US" dirty="0" smtClean="0"/>
              <a:t>be received</a:t>
            </a:r>
            <a:r>
              <a:rPr lang="en-US" dirty="0"/>
              <a:t>. Similarly, you can pass multi-dimensional arrays as formal parameters.</a:t>
            </a:r>
          </a:p>
        </p:txBody>
      </p:sp>
    </p:spTree>
    <p:extLst>
      <p:ext uri="{BB962C8B-B14F-4D97-AF65-F5344CB8AC3E}">
        <p14:creationId xmlns:p14="http://schemas.microsoft.com/office/powerpoint/2010/main" val="70567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an Array to a Function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dirty="0"/>
              <a:t>1) Formal parameters as a pointer –</a:t>
            </a:r>
          </a:p>
          <a:p>
            <a:pPr marL="0" indent="0" algn="just">
              <a:buNone/>
            </a:pPr>
            <a:r>
              <a:rPr lang="en-US" dirty="0"/>
              <a:t>void </a:t>
            </a:r>
            <a:r>
              <a:rPr lang="en-US" dirty="0" err="1"/>
              <a:t>myFunction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param</a:t>
            </a:r>
            <a:r>
              <a:rPr lang="en-US" dirty="0"/>
              <a:t>) {</a:t>
            </a:r>
          </a:p>
          <a:p>
            <a:pPr marL="0" indent="0" algn="just">
              <a:buNone/>
            </a:pP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2) Formal parameters as a sized array –</a:t>
            </a:r>
          </a:p>
          <a:p>
            <a:pPr marL="0" indent="0" algn="just">
              <a:buNone/>
            </a:pPr>
            <a:r>
              <a:rPr lang="en-US" dirty="0"/>
              <a:t>void </a:t>
            </a:r>
            <a:r>
              <a:rPr lang="en-US" dirty="0" err="1"/>
              <a:t>myFunction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param</a:t>
            </a:r>
            <a:r>
              <a:rPr lang="en-US" dirty="0"/>
              <a:t>[10]) {</a:t>
            </a:r>
          </a:p>
          <a:p>
            <a:pPr marL="0" indent="0" algn="just">
              <a:buNone/>
            </a:pP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3) Formal parameters as an </a:t>
            </a:r>
            <a:r>
              <a:rPr lang="en-US" dirty="0" err="1"/>
              <a:t>unsized</a:t>
            </a:r>
            <a:r>
              <a:rPr lang="en-US" dirty="0"/>
              <a:t> array −</a:t>
            </a:r>
          </a:p>
          <a:p>
            <a:pPr marL="0" indent="0" algn="just">
              <a:buNone/>
            </a:pPr>
            <a:r>
              <a:rPr lang="en-US" dirty="0"/>
              <a:t>void </a:t>
            </a:r>
            <a:r>
              <a:rPr lang="en-US" dirty="0" err="1"/>
              <a:t>myFunction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param</a:t>
            </a:r>
            <a:r>
              <a:rPr lang="en-US" dirty="0"/>
              <a:t>[10]) {</a:t>
            </a:r>
          </a:p>
          <a:p>
            <a:pPr marL="0" indent="0" algn="just">
              <a:buNone/>
            </a:pP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937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an Array to a Function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Example1: </a:t>
            </a:r>
            <a:r>
              <a:rPr lang="en-US" sz="2800" dirty="0"/>
              <a:t>pass an entire array to a function </a:t>
            </a:r>
            <a:r>
              <a:rPr lang="en-US" sz="2800" dirty="0" smtClean="0"/>
              <a:t>argument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/* function declaration */</a:t>
            </a:r>
          </a:p>
          <a:p>
            <a:pPr marL="0" indent="0" algn="just">
              <a:buNone/>
            </a:pPr>
            <a:r>
              <a:rPr lang="en-US" dirty="0"/>
              <a:t>double </a:t>
            </a:r>
            <a:r>
              <a:rPr lang="en-US" dirty="0" err="1"/>
              <a:t>getAverage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[], </a:t>
            </a:r>
            <a:r>
              <a:rPr lang="en-US" dirty="0" err="1"/>
              <a:t>int</a:t>
            </a:r>
            <a:r>
              <a:rPr lang="en-US" dirty="0"/>
              <a:t> size);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 () {</a:t>
            </a:r>
          </a:p>
          <a:p>
            <a:pPr marL="0" indent="0" algn="just">
              <a:buNone/>
            </a:pPr>
            <a:r>
              <a:rPr lang="en-US" dirty="0"/>
              <a:t>/* an </a:t>
            </a:r>
            <a:r>
              <a:rPr lang="en-US" dirty="0" err="1"/>
              <a:t>int</a:t>
            </a:r>
            <a:r>
              <a:rPr lang="en-US" dirty="0"/>
              <a:t> array with 5 elements */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balance[5] = {1000, 2, 3, 17, 50</a:t>
            </a:r>
            <a:r>
              <a:rPr lang="en-US" dirty="0" smtClean="0"/>
              <a:t>};</a:t>
            </a:r>
          </a:p>
          <a:p>
            <a:pPr marL="0" indent="0" algn="just">
              <a:buNone/>
            </a:pPr>
            <a:r>
              <a:rPr lang="en-US" dirty="0"/>
              <a:t>double </a:t>
            </a:r>
            <a:r>
              <a:rPr lang="en-US" dirty="0" err="1"/>
              <a:t>avg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/* pass pointer to the array as an argument */</a:t>
            </a:r>
          </a:p>
          <a:p>
            <a:pPr marL="0" indent="0" algn="just">
              <a:buNone/>
            </a:pPr>
            <a:r>
              <a:rPr lang="en-US" dirty="0" err="1"/>
              <a:t>avg</a:t>
            </a:r>
            <a:r>
              <a:rPr lang="en-US" dirty="0"/>
              <a:t> = </a:t>
            </a:r>
            <a:r>
              <a:rPr lang="en-US" dirty="0" err="1"/>
              <a:t>getAverage</a:t>
            </a:r>
            <a:r>
              <a:rPr lang="en-US" dirty="0"/>
              <a:t>( balance, 5 ) ;</a:t>
            </a:r>
          </a:p>
          <a:p>
            <a:pPr marL="0" indent="0" algn="just">
              <a:buNone/>
            </a:pPr>
            <a:r>
              <a:rPr lang="en-US" dirty="0"/>
              <a:t>/* output the returned value */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 "Average value is: %f ", </a:t>
            </a:r>
            <a:r>
              <a:rPr lang="en-US" dirty="0" err="1"/>
              <a:t>avg</a:t>
            </a:r>
            <a:r>
              <a:rPr lang="en-US" dirty="0"/>
              <a:t> 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780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an Array to a Function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double </a:t>
            </a:r>
            <a:r>
              <a:rPr lang="en-US" dirty="0" err="1"/>
              <a:t>getAverage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[], </a:t>
            </a:r>
            <a:r>
              <a:rPr lang="en-US" dirty="0" err="1"/>
              <a:t>int</a:t>
            </a:r>
            <a:r>
              <a:rPr lang="en-US" dirty="0"/>
              <a:t> size) 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double </a:t>
            </a:r>
            <a:r>
              <a:rPr lang="en-US" dirty="0" err="1"/>
              <a:t>avg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double sum = 0;</a:t>
            </a:r>
          </a:p>
          <a:p>
            <a:pPr marL="0" indent="0" algn="just">
              <a:buNone/>
            </a:pPr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++</a:t>
            </a:r>
            <a:r>
              <a:rPr lang="en-US" dirty="0" err="1"/>
              <a:t>i</a:t>
            </a:r>
            <a:r>
              <a:rPr lang="en-US" dirty="0"/>
              <a:t>) {</a:t>
            </a:r>
          </a:p>
          <a:p>
            <a:pPr marL="0" indent="0" algn="just">
              <a:buNone/>
            </a:pPr>
            <a:r>
              <a:rPr lang="en-US" dirty="0"/>
              <a:t>sum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avg</a:t>
            </a:r>
            <a:r>
              <a:rPr lang="en-US" dirty="0"/>
              <a:t> = sum / size;</a:t>
            </a:r>
          </a:p>
          <a:p>
            <a:pPr marL="0" indent="0" algn="just">
              <a:buNone/>
            </a:pPr>
            <a:r>
              <a:rPr lang="en-US" dirty="0"/>
              <a:t>return </a:t>
            </a:r>
            <a:r>
              <a:rPr lang="en-US" dirty="0" err="1"/>
              <a:t>avg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}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Output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Average value is: 214.400000</a:t>
            </a:r>
          </a:p>
        </p:txBody>
      </p:sp>
    </p:spTree>
    <p:extLst>
      <p:ext uri="{BB962C8B-B14F-4D97-AF65-F5344CB8AC3E}">
        <p14:creationId xmlns:p14="http://schemas.microsoft.com/office/powerpoint/2010/main" val="391072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an Array to a Function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Example2: pass an entire array to a function argument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myfuncn</a:t>
            </a:r>
            <a:r>
              <a:rPr lang="en-US" dirty="0"/>
              <a:t>( </a:t>
            </a:r>
            <a:r>
              <a:rPr lang="en-US" dirty="0" err="1"/>
              <a:t>int</a:t>
            </a:r>
            <a:r>
              <a:rPr lang="en-US" dirty="0"/>
              <a:t> *var1, </a:t>
            </a:r>
            <a:r>
              <a:rPr lang="en-US" dirty="0" err="1"/>
              <a:t>int</a:t>
            </a:r>
            <a:r>
              <a:rPr lang="en-US" dirty="0"/>
              <a:t> var2)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int</a:t>
            </a:r>
            <a:r>
              <a:rPr lang="en-US" dirty="0"/>
              <a:t> x=0; x&lt;var2; x++)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("Value of </a:t>
            </a:r>
            <a:r>
              <a:rPr lang="en-US" dirty="0" err="1"/>
              <a:t>var_arr</a:t>
            </a:r>
            <a:r>
              <a:rPr lang="en-US" dirty="0"/>
              <a:t>[%d] is: %d \n", x, *var1);</a:t>
            </a:r>
          </a:p>
          <a:p>
            <a:pPr marL="0" indent="0" algn="just">
              <a:buNone/>
            </a:pPr>
            <a:r>
              <a:rPr lang="en-US" dirty="0"/>
              <a:t>/*increment pointer for next element fetch*/</a:t>
            </a:r>
          </a:p>
          <a:p>
            <a:pPr marL="0" indent="0" algn="just">
              <a:buNone/>
            </a:pPr>
            <a:r>
              <a:rPr lang="en-US" dirty="0"/>
              <a:t>var1++;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642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an Array to a Function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var_arr</a:t>
            </a:r>
            <a:r>
              <a:rPr lang="en-US" dirty="0"/>
              <a:t>[] = {11, 22, 33, 44, 55, 66, 77};</a:t>
            </a:r>
          </a:p>
          <a:p>
            <a:pPr marL="0" indent="0" algn="just">
              <a:buNone/>
            </a:pPr>
            <a:r>
              <a:rPr lang="en-US" dirty="0" err="1"/>
              <a:t>myfuncn</a:t>
            </a:r>
            <a:r>
              <a:rPr lang="en-US" dirty="0"/>
              <a:t>(&amp;</a:t>
            </a:r>
            <a:r>
              <a:rPr lang="en-US" dirty="0" err="1"/>
              <a:t>var_arr</a:t>
            </a:r>
            <a:r>
              <a:rPr lang="en-US" dirty="0"/>
              <a:t>, 7);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505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an Array to a Function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Value of </a:t>
            </a:r>
            <a:r>
              <a:rPr lang="en-US" dirty="0" err="1"/>
              <a:t>var_arr</a:t>
            </a:r>
            <a:r>
              <a:rPr lang="en-US" dirty="0"/>
              <a:t>[0] is: 11</a:t>
            </a:r>
          </a:p>
          <a:p>
            <a:pPr marL="0" indent="0" algn="just">
              <a:buNone/>
            </a:pPr>
            <a:r>
              <a:rPr lang="en-US" dirty="0"/>
              <a:t>Value of </a:t>
            </a:r>
            <a:r>
              <a:rPr lang="en-US" dirty="0" err="1"/>
              <a:t>var_arr</a:t>
            </a:r>
            <a:r>
              <a:rPr lang="en-US" dirty="0"/>
              <a:t>[1] is: 22</a:t>
            </a:r>
          </a:p>
          <a:p>
            <a:pPr marL="0" indent="0" algn="just">
              <a:buNone/>
            </a:pPr>
            <a:r>
              <a:rPr lang="en-US" dirty="0"/>
              <a:t>Value of </a:t>
            </a:r>
            <a:r>
              <a:rPr lang="en-US" dirty="0" err="1"/>
              <a:t>var_arr</a:t>
            </a:r>
            <a:r>
              <a:rPr lang="en-US" dirty="0"/>
              <a:t>[2] is: 33</a:t>
            </a:r>
          </a:p>
          <a:p>
            <a:pPr marL="0" indent="0" algn="just">
              <a:buNone/>
            </a:pPr>
            <a:r>
              <a:rPr lang="en-US" dirty="0"/>
              <a:t>Value of </a:t>
            </a:r>
            <a:r>
              <a:rPr lang="en-US" dirty="0" err="1"/>
              <a:t>var_arr</a:t>
            </a:r>
            <a:r>
              <a:rPr lang="en-US" dirty="0"/>
              <a:t>[3] is: 44</a:t>
            </a:r>
          </a:p>
          <a:p>
            <a:pPr marL="0" indent="0" algn="just">
              <a:buNone/>
            </a:pPr>
            <a:r>
              <a:rPr lang="en-US" dirty="0"/>
              <a:t>Value of </a:t>
            </a:r>
            <a:r>
              <a:rPr lang="en-US" dirty="0" err="1"/>
              <a:t>var_arr</a:t>
            </a:r>
            <a:r>
              <a:rPr lang="en-US" dirty="0"/>
              <a:t>[4] is: 55</a:t>
            </a:r>
          </a:p>
          <a:p>
            <a:pPr marL="0" indent="0" algn="just">
              <a:buNone/>
            </a:pPr>
            <a:r>
              <a:rPr lang="en-US" dirty="0"/>
              <a:t>Value of </a:t>
            </a:r>
            <a:r>
              <a:rPr lang="en-US" dirty="0" err="1"/>
              <a:t>var_arr</a:t>
            </a:r>
            <a:r>
              <a:rPr lang="en-US" dirty="0"/>
              <a:t>[5] is: 66</a:t>
            </a:r>
          </a:p>
          <a:p>
            <a:pPr marL="0" indent="0" algn="just">
              <a:buNone/>
            </a:pPr>
            <a:r>
              <a:rPr lang="en-US" dirty="0"/>
              <a:t>Value of </a:t>
            </a:r>
            <a:r>
              <a:rPr lang="en-US" dirty="0" err="1"/>
              <a:t>var_arr</a:t>
            </a:r>
            <a:r>
              <a:rPr lang="en-US" dirty="0"/>
              <a:t>[6] is: 77</a:t>
            </a:r>
          </a:p>
        </p:txBody>
      </p:sp>
    </p:spTree>
    <p:extLst>
      <p:ext uri="{BB962C8B-B14F-4D97-AF65-F5344CB8AC3E}">
        <p14:creationId xmlns:p14="http://schemas.microsoft.com/office/powerpoint/2010/main" val="26443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Call by value method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54675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#</a:t>
            </a:r>
            <a:r>
              <a:rPr lang="en-US" dirty="0"/>
              <a:t>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disp</a:t>
            </a:r>
            <a:r>
              <a:rPr lang="en-US" dirty="0"/>
              <a:t>( char </a:t>
            </a:r>
            <a:r>
              <a:rPr lang="en-US" dirty="0" err="1"/>
              <a:t>ch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("%c ", </a:t>
            </a:r>
            <a:r>
              <a:rPr lang="en-US" dirty="0" err="1"/>
              <a:t>ch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arr</a:t>
            </a:r>
            <a:r>
              <a:rPr lang="en-US" dirty="0"/>
              <a:t>[] = {'a', 'b', 'c', 'd', 'e', 'f', 'g', 'h', 'I', 'j'};</a:t>
            </a:r>
          </a:p>
          <a:p>
            <a:pPr marL="0" indent="0" algn="just">
              <a:buNone/>
            </a:pP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x=0; x&lt;=10; x++)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/* </a:t>
            </a:r>
            <a:r>
              <a:rPr lang="en-US" dirty="0" err="1"/>
              <a:t>I‟m</a:t>
            </a:r>
            <a:r>
              <a:rPr lang="en-US" dirty="0"/>
              <a:t> passing each element one by one using subscript*/</a:t>
            </a:r>
          </a:p>
          <a:p>
            <a:pPr marL="0" indent="0" algn="just">
              <a:buNone/>
            </a:pPr>
            <a:r>
              <a:rPr lang="en-US" dirty="0" err="1"/>
              <a:t>disp</a:t>
            </a:r>
            <a:r>
              <a:rPr lang="en-US" dirty="0"/>
              <a:t> (</a:t>
            </a:r>
            <a:r>
              <a:rPr lang="en-US" dirty="0" err="1"/>
              <a:t>arr</a:t>
            </a:r>
            <a:r>
              <a:rPr lang="en-US" dirty="0"/>
              <a:t>[x]);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Output:</a:t>
            </a:r>
          </a:p>
          <a:p>
            <a:pPr marL="0" indent="0" algn="just">
              <a:buNone/>
            </a:pPr>
            <a:r>
              <a:rPr lang="en-US" dirty="0"/>
              <a:t>a b c d e f g h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smtClean="0"/>
              <a:t>j</a:t>
            </a:r>
          </a:p>
          <a:p>
            <a:pPr marL="0" indent="0" algn="just">
              <a:buNone/>
            </a:pPr>
            <a:r>
              <a:rPr lang="en-US" b="1" dirty="0"/>
              <a:t>In this method of calling a function, the actual arguments gets copied into </a:t>
            </a:r>
            <a:r>
              <a:rPr lang="en-US" b="1" dirty="0" smtClean="0"/>
              <a:t>formal arguments</a:t>
            </a:r>
            <a:r>
              <a:rPr lang="en-US" b="1" dirty="0"/>
              <a:t>. In this example actual argument(or parameter) is </a:t>
            </a:r>
            <a:r>
              <a:rPr lang="en-US" b="1" dirty="0" err="1"/>
              <a:t>arr</a:t>
            </a:r>
            <a:r>
              <a:rPr lang="en-US" b="1" dirty="0"/>
              <a:t>[x] and formal </a:t>
            </a:r>
            <a:r>
              <a:rPr lang="en-US" b="1" dirty="0" smtClean="0"/>
              <a:t>parameter is </a:t>
            </a:r>
            <a:r>
              <a:rPr lang="en-US" b="1" dirty="0" err="1"/>
              <a:t>ch.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8133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by reference method: Using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54675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disp</a:t>
            </a:r>
            <a:r>
              <a:rPr lang="en-US" dirty="0"/>
              <a:t>( </a:t>
            </a: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num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("%d ", *</a:t>
            </a:r>
            <a:r>
              <a:rPr lang="en-US" dirty="0" err="1"/>
              <a:t>num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[] = {1, 2, 3, 4, 5, 6, 7, 8, 9, 0};</a:t>
            </a:r>
          </a:p>
          <a:p>
            <a:pPr marL="0" indent="0" algn="just">
              <a:buNone/>
            </a:pP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&lt;=10;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/* </a:t>
            </a:r>
            <a:r>
              <a:rPr lang="en-US" dirty="0" err="1"/>
              <a:t>I‟m</a:t>
            </a:r>
            <a:r>
              <a:rPr lang="en-US" dirty="0"/>
              <a:t> passing </a:t>
            </a:r>
            <a:r>
              <a:rPr lang="en-US" dirty="0" err="1"/>
              <a:t>element‟s</a:t>
            </a:r>
            <a:r>
              <a:rPr lang="en-US" dirty="0"/>
              <a:t> address*/</a:t>
            </a:r>
          </a:p>
          <a:p>
            <a:pPr marL="0" indent="0" algn="just">
              <a:buNone/>
            </a:pPr>
            <a:r>
              <a:rPr lang="en-US" dirty="0" err="1"/>
              <a:t>disp</a:t>
            </a:r>
            <a:r>
              <a:rPr lang="en-US" dirty="0"/>
              <a:t> (&amp;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 smtClean="0"/>
              <a:t>]);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Output:</a:t>
            </a:r>
          </a:p>
          <a:p>
            <a:pPr marL="0" indent="0" algn="just">
              <a:buNone/>
            </a:pPr>
            <a:r>
              <a:rPr lang="en-US" dirty="0"/>
              <a:t>1 2 3 4 5 6 7 8 9 0</a:t>
            </a:r>
          </a:p>
        </p:txBody>
      </p:sp>
    </p:spTree>
    <p:extLst>
      <p:ext uri="{BB962C8B-B14F-4D97-AF65-F5344CB8AC3E}">
        <p14:creationId xmlns:p14="http://schemas.microsoft.com/office/powerpoint/2010/main" val="2456671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2895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An array of pointers would be an array that holds memory locations.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An </a:t>
            </a:r>
            <a:r>
              <a:rPr lang="en-US" dirty="0"/>
              <a:t>array of pointers is </a:t>
            </a:r>
            <a:r>
              <a:rPr lang="en-US" dirty="0" smtClean="0"/>
              <a:t>an indexed </a:t>
            </a:r>
            <a:r>
              <a:rPr lang="en-US" dirty="0"/>
              <a:t>set of variables in which the variables are pointers (a reference to a location in memory</a:t>
            </a:r>
            <a:r>
              <a:rPr lang="en-US" dirty="0" smtClean="0"/>
              <a:t>).</a:t>
            </a:r>
          </a:p>
          <a:p>
            <a:pPr marL="0" indent="0" algn="just">
              <a:buNone/>
            </a:pPr>
            <a:r>
              <a:rPr lang="en-US" dirty="0"/>
              <a:t>Syntax:</a:t>
            </a:r>
          </a:p>
          <a:p>
            <a:pPr marL="0" indent="0" algn="just">
              <a:buNone/>
            </a:pPr>
            <a:r>
              <a:rPr lang="en-US" dirty="0" err="1"/>
              <a:t>data_type_name</a:t>
            </a:r>
            <a:r>
              <a:rPr lang="en-US" dirty="0"/>
              <a:t> * variable name</a:t>
            </a:r>
          </a:p>
          <a:p>
            <a:pPr marL="0" indent="0" algn="just">
              <a:buNone/>
            </a:pPr>
            <a:r>
              <a:rPr lang="en-US" dirty="0"/>
              <a:t>Example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ptr</a:t>
            </a:r>
            <a:r>
              <a:rPr lang="en-US" dirty="0"/>
              <a:t>[MAX];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15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2012" y="1739900"/>
            <a:ext cx="74199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Example1: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MAX = 3;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 () 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[] = {10, 100, 200};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, *</a:t>
            </a:r>
            <a:r>
              <a:rPr lang="en-US" dirty="0" err="1"/>
              <a:t>ptr</a:t>
            </a:r>
            <a:r>
              <a:rPr lang="en-US" dirty="0"/>
              <a:t>[MAX];</a:t>
            </a:r>
          </a:p>
          <a:p>
            <a:pPr marL="0" indent="0">
              <a:buNone/>
            </a:pPr>
            <a:r>
              <a:rPr lang="en-US" dirty="0"/>
              <a:t>for (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MAX; </a:t>
            </a:r>
            <a:r>
              <a:rPr lang="en-US" dirty="0" err="1"/>
              <a:t>i</a:t>
            </a:r>
            <a:r>
              <a:rPr lang="en-US" dirty="0"/>
              <a:t>++) 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err="1"/>
              <a:t>ptr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&amp;</a:t>
            </a:r>
            <a:r>
              <a:rPr lang="en-US" dirty="0" err="1"/>
              <a:t>var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/* assign the address of integer. */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for (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MAX;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("Value of </a:t>
            </a:r>
            <a:r>
              <a:rPr lang="en-US" dirty="0" err="1"/>
              <a:t>var</a:t>
            </a:r>
            <a:r>
              <a:rPr lang="en-US" dirty="0"/>
              <a:t>[%d] = %d\n", </a:t>
            </a:r>
            <a:r>
              <a:rPr lang="en-US" dirty="0" err="1"/>
              <a:t>i</a:t>
            </a:r>
            <a:r>
              <a:rPr lang="en-US" dirty="0"/>
              <a:t>, *</a:t>
            </a:r>
            <a:r>
              <a:rPr lang="en-US" dirty="0" err="1"/>
              <a:t>ptr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200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098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r>
              <a:rPr lang="en-US" dirty="0"/>
              <a:t>Value of </a:t>
            </a:r>
            <a:r>
              <a:rPr lang="en-US" dirty="0" err="1"/>
              <a:t>var</a:t>
            </a:r>
            <a:r>
              <a:rPr lang="en-US" dirty="0"/>
              <a:t>[0] = 10</a:t>
            </a:r>
          </a:p>
          <a:p>
            <a:pPr marL="0" indent="0">
              <a:buNone/>
            </a:pPr>
            <a:r>
              <a:rPr lang="en-US" dirty="0"/>
              <a:t>Value of </a:t>
            </a:r>
            <a:r>
              <a:rPr lang="en-US" dirty="0" err="1"/>
              <a:t>var</a:t>
            </a:r>
            <a:r>
              <a:rPr lang="en-US" dirty="0"/>
              <a:t>[1] = 100</a:t>
            </a:r>
          </a:p>
          <a:p>
            <a:pPr marL="0" indent="0">
              <a:buNone/>
            </a:pPr>
            <a:r>
              <a:rPr lang="en-US" dirty="0"/>
              <a:t>Value of </a:t>
            </a:r>
            <a:r>
              <a:rPr lang="en-US" dirty="0" err="1"/>
              <a:t>var</a:t>
            </a:r>
            <a:r>
              <a:rPr lang="en-US" dirty="0"/>
              <a:t>[2] = 200</a:t>
            </a:r>
          </a:p>
        </p:txBody>
      </p:sp>
    </p:spTree>
    <p:extLst>
      <p:ext uri="{BB962C8B-B14F-4D97-AF65-F5344CB8AC3E}">
        <p14:creationId xmlns:p14="http://schemas.microsoft.com/office/powerpoint/2010/main" val="87927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09825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Example2: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main() {</a:t>
            </a:r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*array[3];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x = 10, y = 20, z = 30;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array[0] = &amp;x;</a:t>
            </a:r>
          </a:p>
          <a:p>
            <a:pPr marL="0" indent="0">
              <a:buNone/>
            </a:pPr>
            <a:r>
              <a:rPr lang="en-US" dirty="0"/>
              <a:t>array[1] = &amp;y;</a:t>
            </a:r>
          </a:p>
          <a:p>
            <a:pPr marL="0" indent="0">
              <a:buNone/>
            </a:pPr>
            <a:r>
              <a:rPr lang="en-US" dirty="0"/>
              <a:t>array[2] = &amp;z;</a:t>
            </a:r>
          </a:p>
          <a:p>
            <a:pPr marL="0" indent="0">
              <a:buNone/>
            </a:pPr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 3;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("The value of %d= %d ,address is %u\t \n", </a:t>
            </a:r>
            <a:r>
              <a:rPr lang="en-US" dirty="0" err="1"/>
              <a:t>i</a:t>
            </a:r>
            <a:r>
              <a:rPr lang="en-US" dirty="0"/>
              <a:t>, *(array[</a:t>
            </a:r>
            <a:r>
              <a:rPr lang="en-US" dirty="0" err="1"/>
              <a:t>i</a:t>
            </a:r>
            <a:r>
              <a:rPr lang="en-US" dirty="0" smtClean="0"/>
              <a:t>]), array[</a:t>
            </a:r>
            <a:r>
              <a:rPr lang="en-US" dirty="0" err="1" smtClean="0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smtClean="0"/>
              <a:t>return </a:t>
            </a:r>
            <a:r>
              <a:rPr lang="en-US" dirty="0"/>
              <a:t>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1935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09825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Example3: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MAX = 4;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 () {</a:t>
            </a:r>
          </a:p>
          <a:p>
            <a:pPr marL="0" indent="0">
              <a:buNone/>
            </a:pPr>
            <a:r>
              <a:rPr lang="en-US" dirty="0"/>
              <a:t>char *names[] = {</a:t>
            </a:r>
          </a:p>
          <a:p>
            <a:pPr marL="0" indent="0">
              <a:buNone/>
            </a:pPr>
            <a:r>
              <a:rPr lang="en-US" dirty="0"/>
              <a:t>"Zara Ali",</a:t>
            </a:r>
          </a:p>
          <a:p>
            <a:pPr marL="0" indent="0">
              <a:buNone/>
            </a:pPr>
            <a:r>
              <a:rPr lang="en-US" dirty="0"/>
              <a:t>"</a:t>
            </a:r>
            <a:r>
              <a:rPr lang="en-US" dirty="0" err="1"/>
              <a:t>Hina</a:t>
            </a:r>
            <a:r>
              <a:rPr lang="en-US" dirty="0"/>
              <a:t> Ali",</a:t>
            </a:r>
          </a:p>
          <a:p>
            <a:pPr marL="0" indent="0">
              <a:buNone/>
            </a:pPr>
            <a:r>
              <a:rPr lang="en-US" dirty="0"/>
              <a:t>"</a:t>
            </a:r>
            <a:r>
              <a:rPr lang="en-US" dirty="0" err="1"/>
              <a:t>Nuha</a:t>
            </a:r>
            <a:r>
              <a:rPr lang="en-US" dirty="0"/>
              <a:t> Ali",</a:t>
            </a:r>
          </a:p>
          <a:p>
            <a:pPr marL="0" indent="0">
              <a:buNone/>
            </a:pPr>
            <a:r>
              <a:rPr lang="en-US" dirty="0"/>
              <a:t>"Sara Ali"</a:t>
            </a:r>
          </a:p>
          <a:p>
            <a:pPr marL="0" indent="0">
              <a:buNone/>
            </a:pPr>
            <a:r>
              <a:rPr lang="en-US" dirty="0" smtClean="0"/>
              <a:t>};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</a:t>
            </a:r>
          </a:p>
          <a:p>
            <a:pPr marL="0" indent="0">
              <a:buNone/>
            </a:pPr>
            <a:r>
              <a:rPr lang="en-US" dirty="0"/>
              <a:t>for (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MAX;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("Value of names[%d] = %s\n", </a:t>
            </a:r>
            <a:r>
              <a:rPr lang="en-US" dirty="0" err="1"/>
              <a:t>i</a:t>
            </a:r>
            <a:r>
              <a:rPr lang="en-US" dirty="0"/>
              <a:t>, names[</a:t>
            </a:r>
            <a:r>
              <a:rPr lang="en-US" dirty="0" err="1"/>
              <a:t>i</a:t>
            </a:r>
            <a:r>
              <a:rPr lang="en-US" dirty="0"/>
              <a:t>] 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318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098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Value of names[0] = Zara Ali</a:t>
            </a:r>
          </a:p>
          <a:p>
            <a:pPr marL="0" indent="0">
              <a:buNone/>
            </a:pPr>
            <a:r>
              <a:rPr lang="en-US" dirty="0"/>
              <a:t>Value of names[1] = </a:t>
            </a:r>
            <a:r>
              <a:rPr lang="en-US" dirty="0" err="1"/>
              <a:t>Hina</a:t>
            </a:r>
            <a:r>
              <a:rPr lang="en-US" dirty="0"/>
              <a:t> Ali</a:t>
            </a:r>
          </a:p>
          <a:p>
            <a:pPr marL="0" indent="0">
              <a:buNone/>
            </a:pPr>
            <a:r>
              <a:rPr lang="en-US" dirty="0"/>
              <a:t>Value of names[2] = </a:t>
            </a:r>
            <a:r>
              <a:rPr lang="en-US" dirty="0" err="1"/>
              <a:t>Nuha</a:t>
            </a:r>
            <a:r>
              <a:rPr lang="en-US" dirty="0"/>
              <a:t> Ali</a:t>
            </a:r>
          </a:p>
          <a:p>
            <a:pPr marL="0" indent="0">
              <a:buNone/>
            </a:pPr>
            <a:r>
              <a:rPr lang="en-US" dirty="0"/>
              <a:t>Value of names[3] = Sara Ali</a:t>
            </a:r>
          </a:p>
        </p:txBody>
      </p:sp>
    </p:spTree>
    <p:extLst>
      <p:ext uri="{BB962C8B-B14F-4D97-AF65-F5344CB8AC3E}">
        <p14:creationId xmlns:p14="http://schemas.microsoft.com/office/powerpoint/2010/main" val="239040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of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56260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Example4: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char *fruit[] = {</a:t>
            </a:r>
          </a:p>
          <a:p>
            <a:pPr marL="0" indent="0">
              <a:buNone/>
            </a:pPr>
            <a:r>
              <a:rPr lang="en-US" dirty="0"/>
              <a:t>"watermelon",</a:t>
            </a:r>
          </a:p>
          <a:p>
            <a:pPr marL="0" indent="0">
              <a:buNone/>
            </a:pPr>
            <a:r>
              <a:rPr lang="en-US" dirty="0"/>
              <a:t>"banana",</a:t>
            </a:r>
          </a:p>
          <a:p>
            <a:pPr marL="0" indent="0">
              <a:buNone/>
            </a:pPr>
            <a:r>
              <a:rPr lang="en-US" dirty="0"/>
              <a:t>"pear",</a:t>
            </a:r>
          </a:p>
          <a:p>
            <a:pPr marL="0" indent="0">
              <a:buNone/>
            </a:pPr>
            <a:r>
              <a:rPr lang="en-US" dirty="0"/>
              <a:t>"apple",</a:t>
            </a:r>
          </a:p>
          <a:p>
            <a:pPr marL="0" indent="0">
              <a:buNone/>
            </a:pPr>
            <a:r>
              <a:rPr lang="en-US" dirty="0"/>
              <a:t>"coconut",</a:t>
            </a:r>
          </a:p>
          <a:p>
            <a:pPr marL="0" indent="0">
              <a:buNone/>
            </a:pPr>
            <a:r>
              <a:rPr lang="en-US" dirty="0"/>
              <a:t>"grape",</a:t>
            </a:r>
          </a:p>
          <a:p>
            <a:pPr marL="0" indent="0">
              <a:buNone/>
            </a:pPr>
            <a:r>
              <a:rPr lang="en-US" dirty="0"/>
              <a:t>"blueberry"</a:t>
            </a:r>
          </a:p>
          <a:p>
            <a:pPr marL="0" indent="0">
              <a:buNone/>
            </a:pPr>
            <a:r>
              <a:rPr lang="en-US" dirty="0" smtClean="0"/>
              <a:t>};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x;</a:t>
            </a:r>
          </a:p>
          <a:p>
            <a:pPr marL="0" indent="0">
              <a:buNone/>
            </a:pPr>
            <a:r>
              <a:rPr lang="en-US" dirty="0"/>
              <a:t>for(x=0;x&lt;7;x++)</a:t>
            </a:r>
          </a:p>
          <a:p>
            <a:pPr marL="0" indent="0">
              <a:buNone/>
            </a:pPr>
            <a:r>
              <a:rPr lang="en-US" dirty="0"/>
              <a:t>puts(fruit[x</a:t>
            </a:r>
            <a:r>
              <a:rPr lang="en-US" dirty="0" smtClean="0"/>
              <a:t>]);</a:t>
            </a:r>
          </a:p>
          <a:p>
            <a:pPr marL="0" indent="0">
              <a:buNone/>
            </a:pPr>
            <a:r>
              <a:rPr lang="en-US" dirty="0"/>
              <a:t>C PROGRAMMING Page 221</a:t>
            </a:r>
          </a:p>
          <a:p>
            <a:pPr marL="0" indent="0">
              <a:buNone/>
            </a:pPr>
            <a:r>
              <a:rPr lang="en-US" dirty="0"/>
              <a:t>return(0);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997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Void and to Functions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5562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Void</a:t>
            </a:r>
          </a:p>
          <a:p>
            <a:pPr marL="0" indent="0">
              <a:buNone/>
            </a:pPr>
            <a:r>
              <a:rPr lang="en-US" dirty="0"/>
              <a:t>Note:</a:t>
            </a:r>
          </a:p>
          <a:p>
            <a:pPr marL="0" indent="0" algn="just">
              <a:buNone/>
            </a:pPr>
            <a:r>
              <a:rPr lang="en-US" dirty="0"/>
              <a:t>1. Suppose we have to declare integer pointer, character pointer and float pointer then </a:t>
            </a:r>
            <a:r>
              <a:rPr lang="en-US" dirty="0" smtClean="0"/>
              <a:t>we need </a:t>
            </a:r>
            <a:r>
              <a:rPr lang="en-US" dirty="0"/>
              <a:t>to declare 3 pointer variables.</a:t>
            </a:r>
          </a:p>
          <a:p>
            <a:pPr marL="0" indent="0" algn="just">
              <a:buNone/>
            </a:pPr>
            <a:r>
              <a:rPr lang="en-US" dirty="0"/>
              <a:t>2. Instead of declaring different types of pointer variable it is feasible to declare </a:t>
            </a:r>
            <a:r>
              <a:rPr lang="en-US" dirty="0" smtClean="0"/>
              <a:t>single pointer </a:t>
            </a:r>
            <a:r>
              <a:rPr lang="en-US" dirty="0"/>
              <a:t>variable which can act as </a:t>
            </a:r>
            <a:r>
              <a:rPr lang="en-US" dirty="0" smtClean="0"/>
              <a:t>integer pointer, character </a:t>
            </a:r>
            <a:r>
              <a:rPr lang="en-US" dirty="0"/>
              <a:t>pointer.</a:t>
            </a:r>
          </a:p>
        </p:txBody>
      </p:sp>
    </p:spTree>
    <p:extLst>
      <p:ext uri="{BB962C8B-B14F-4D97-AF65-F5344CB8AC3E}">
        <p14:creationId xmlns:p14="http://schemas.microsoft.com/office/powerpoint/2010/main" val="336833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Void and to Functions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382000" cy="556260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Void</a:t>
            </a:r>
          </a:p>
          <a:p>
            <a:pPr marL="0" indent="0">
              <a:buNone/>
            </a:pPr>
            <a:r>
              <a:rPr lang="en-US" dirty="0"/>
              <a:t>A pointer variable declared using a particular data type can not hold the location address </a:t>
            </a:r>
            <a:r>
              <a:rPr lang="en-US" dirty="0" smtClean="0"/>
              <a:t>of variables </a:t>
            </a:r>
            <a:r>
              <a:rPr lang="en-US" dirty="0"/>
              <a:t>of other data types.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invalid and will result in a compilation error.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</a:t>
            </a:r>
            <a:r>
              <a:rPr lang="en-US" dirty="0"/>
              <a:t>:- char *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var1;</a:t>
            </a:r>
          </a:p>
          <a:p>
            <a:pPr marL="0" indent="0">
              <a:buNone/>
            </a:pPr>
            <a:r>
              <a:rPr lang="en-US" dirty="0" err="1"/>
              <a:t>ptr</a:t>
            </a:r>
            <a:r>
              <a:rPr lang="en-US" dirty="0"/>
              <a:t>=&amp;var1; // </a:t>
            </a:r>
            <a:r>
              <a:rPr lang="en-US" sz="2400" b="1" dirty="0"/>
              <a:t>This is invalid because „</a:t>
            </a:r>
            <a:r>
              <a:rPr lang="en-US" sz="2400" b="1" dirty="0" err="1"/>
              <a:t>ptr</a:t>
            </a:r>
            <a:r>
              <a:rPr lang="en-US" sz="2400" b="1" dirty="0"/>
              <a:t>‟ is a character pointer variable.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Here </a:t>
            </a:r>
            <a:r>
              <a:rPr lang="en-US" dirty="0"/>
              <a:t>comes the importance of a “void pointer”. A void pointer is nothing but a </a:t>
            </a:r>
            <a:r>
              <a:rPr lang="en-US" dirty="0" smtClean="0"/>
              <a:t>pointer variable </a:t>
            </a:r>
            <a:r>
              <a:rPr lang="en-US" dirty="0"/>
              <a:t>declared using the reserved word in C </a:t>
            </a:r>
            <a:r>
              <a:rPr lang="en-US" dirty="0" smtClean="0"/>
              <a:t>“void”.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61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Void and to Functions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382000" cy="5562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Pointer Basics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C General Purpose Pointer is called as void Pointer.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does not have any data type associated with 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can store address of any type of variable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 </a:t>
            </a:r>
            <a:r>
              <a:rPr lang="en-US" dirty="0"/>
              <a:t>void pointer is a C convention for a raw address.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compiler has no idea what type of object a void Pointer really points to ?</a:t>
            </a:r>
          </a:p>
        </p:txBody>
      </p:sp>
    </p:spTree>
    <p:extLst>
      <p:ext uri="{BB962C8B-B14F-4D97-AF65-F5344CB8AC3E}">
        <p14:creationId xmlns:p14="http://schemas.microsoft.com/office/powerpoint/2010/main" val="83970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Void and to Functions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382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Void pointer: A void pointer is a pointer that has no associated data type with it. A void </a:t>
            </a:r>
            <a:r>
              <a:rPr lang="en-US" dirty="0" smtClean="0"/>
              <a:t>pointer can </a:t>
            </a:r>
            <a:r>
              <a:rPr lang="en-US" dirty="0"/>
              <a:t>hold address of any type and can </a:t>
            </a:r>
            <a:r>
              <a:rPr lang="en-US" dirty="0" smtClean="0"/>
              <a:t>be   type casted </a:t>
            </a:r>
            <a:r>
              <a:rPr lang="en-US" dirty="0"/>
              <a:t>to any type. Special type of pointer </a:t>
            </a:r>
            <a:r>
              <a:rPr lang="en-US" dirty="0" smtClean="0"/>
              <a:t>called void </a:t>
            </a:r>
            <a:r>
              <a:rPr lang="en-US" dirty="0"/>
              <a:t>pointer or general </a:t>
            </a:r>
            <a:r>
              <a:rPr lang="en-US" dirty="0" smtClean="0"/>
              <a:t>purpose </a:t>
            </a:r>
            <a:r>
              <a:rPr lang="en-US" dirty="0"/>
              <a:t>pointer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Declaration </a:t>
            </a:r>
            <a:r>
              <a:rPr lang="en-US" dirty="0"/>
              <a:t>of void pointer</a:t>
            </a:r>
          </a:p>
          <a:p>
            <a:pPr marL="0" indent="0" algn="just">
              <a:buNone/>
            </a:pP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* </a:t>
            </a:r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pointer_name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8146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Void and to Functions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382000" cy="5562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Void pointer example</a:t>
            </a:r>
          </a:p>
          <a:p>
            <a:pPr marL="0" indent="0" algn="just">
              <a:buNone/>
            </a:pPr>
            <a:r>
              <a:rPr lang="en-US" dirty="0"/>
              <a:t>void *</a:t>
            </a:r>
            <a:r>
              <a:rPr lang="en-US" dirty="0" err="1"/>
              <a:t>ptr</a:t>
            </a:r>
            <a:r>
              <a:rPr lang="en-US" dirty="0"/>
              <a:t>; // </a:t>
            </a:r>
            <a:r>
              <a:rPr lang="en-US" dirty="0" err="1"/>
              <a:t>ptr</a:t>
            </a:r>
            <a:r>
              <a:rPr lang="en-US" dirty="0"/>
              <a:t> is declared as Void pointer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cnum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inum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float </a:t>
            </a:r>
            <a:r>
              <a:rPr lang="en-US" dirty="0" err="1"/>
              <a:t>fnum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ptr</a:t>
            </a:r>
            <a:r>
              <a:rPr lang="en-US" dirty="0"/>
              <a:t> = &amp;</a:t>
            </a:r>
            <a:r>
              <a:rPr lang="en-US" dirty="0" err="1"/>
              <a:t>cnum</a:t>
            </a:r>
            <a:r>
              <a:rPr lang="en-US" dirty="0"/>
              <a:t>; // </a:t>
            </a:r>
            <a:r>
              <a:rPr lang="en-US" dirty="0" err="1"/>
              <a:t>ptr</a:t>
            </a:r>
            <a:r>
              <a:rPr lang="en-US" dirty="0"/>
              <a:t> has address of character data</a:t>
            </a:r>
          </a:p>
          <a:p>
            <a:pPr marL="0" indent="0" algn="just">
              <a:buNone/>
            </a:pPr>
            <a:r>
              <a:rPr lang="en-US" dirty="0" err="1"/>
              <a:t>ptr</a:t>
            </a:r>
            <a:r>
              <a:rPr lang="en-US" dirty="0"/>
              <a:t> = &amp;</a:t>
            </a:r>
            <a:r>
              <a:rPr lang="en-US" dirty="0" err="1"/>
              <a:t>inum</a:t>
            </a:r>
            <a:r>
              <a:rPr lang="en-US" dirty="0"/>
              <a:t>; // </a:t>
            </a:r>
            <a:r>
              <a:rPr lang="en-US" dirty="0" err="1"/>
              <a:t>ptr</a:t>
            </a:r>
            <a:r>
              <a:rPr lang="en-US" dirty="0"/>
              <a:t> has address of integer data</a:t>
            </a:r>
          </a:p>
          <a:p>
            <a:pPr marL="0" indent="0" algn="just">
              <a:buNone/>
            </a:pPr>
            <a:r>
              <a:rPr lang="en-US" dirty="0" err="1"/>
              <a:t>ptr</a:t>
            </a:r>
            <a:r>
              <a:rPr lang="en-US" dirty="0"/>
              <a:t> = &amp;</a:t>
            </a:r>
            <a:r>
              <a:rPr lang="en-US" dirty="0" err="1"/>
              <a:t>fnum</a:t>
            </a:r>
            <a:r>
              <a:rPr lang="en-US" dirty="0"/>
              <a:t>; // </a:t>
            </a:r>
            <a:r>
              <a:rPr lang="en-US" dirty="0" err="1"/>
              <a:t>ptr</a:t>
            </a:r>
            <a:r>
              <a:rPr lang="en-US" dirty="0"/>
              <a:t> has address of float data</a:t>
            </a:r>
            <a:endParaRPr lang="en-U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031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of void pointers: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1083"/>
            <a:ext cx="8382000" cy="522526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1) </a:t>
            </a:r>
            <a:r>
              <a:rPr lang="en-US" dirty="0" err="1"/>
              <a:t>malloc</a:t>
            </a:r>
            <a:r>
              <a:rPr lang="en-US" dirty="0"/>
              <a:t>() and </a:t>
            </a:r>
            <a:r>
              <a:rPr lang="en-US" dirty="0" err="1"/>
              <a:t>calloc</a:t>
            </a:r>
            <a:r>
              <a:rPr lang="en-US" dirty="0"/>
              <a:t>() return void * type and this allows these functions to be used to allocate</a:t>
            </a:r>
          </a:p>
          <a:p>
            <a:pPr marL="0" indent="0" algn="just">
              <a:buNone/>
            </a:pPr>
            <a:r>
              <a:rPr lang="en-US" dirty="0"/>
              <a:t>memory of any data type (just because of void *)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main(void)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// Note that </a:t>
            </a:r>
            <a:r>
              <a:rPr lang="en-US" dirty="0" err="1"/>
              <a:t>malloc</a:t>
            </a:r>
            <a:r>
              <a:rPr lang="en-US" dirty="0"/>
              <a:t>() returns void * which can be</a:t>
            </a:r>
          </a:p>
          <a:p>
            <a:pPr marL="0" indent="0" algn="just">
              <a:buNone/>
            </a:pPr>
            <a:r>
              <a:rPr lang="en-US" dirty="0"/>
              <a:t>// </a:t>
            </a:r>
            <a:r>
              <a:rPr lang="en-US" dirty="0" err="1"/>
              <a:t>typecasted</a:t>
            </a:r>
            <a:r>
              <a:rPr lang="en-US" dirty="0"/>
              <a:t> to any type like </a:t>
            </a:r>
            <a:r>
              <a:rPr lang="en-US" dirty="0" err="1"/>
              <a:t>int</a:t>
            </a:r>
            <a:r>
              <a:rPr lang="en-US" dirty="0"/>
              <a:t> *, char *, </a:t>
            </a:r>
            <a:r>
              <a:rPr lang="en-US" dirty="0" smtClean="0"/>
              <a:t>..</a:t>
            </a:r>
          </a:p>
          <a:p>
            <a:pPr marL="0" indent="0" algn="just">
              <a:buNone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*x =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malloc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sizeof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* n);</a:t>
            </a:r>
          </a:p>
          <a:p>
            <a:pPr marL="0" indent="0" algn="just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636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of void pointers: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1083"/>
            <a:ext cx="8382000" cy="5225267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2) void pointers in C are used to implement generic functions in C.</a:t>
            </a:r>
          </a:p>
          <a:p>
            <a:pPr marL="0" indent="0" algn="just">
              <a:buNone/>
            </a:pPr>
            <a:r>
              <a:rPr lang="en-US" dirty="0" smtClean="0"/>
              <a:t>Note:1</a:t>
            </a:r>
            <a:r>
              <a:rPr lang="en-US" dirty="0"/>
              <a:t>) void pointers cannot be dereferenced.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For </a:t>
            </a:r>
            <a:r>
              <a:rPr lang="en-US" dirty="0"/>
              <a:t>example the following program </a:t>
            </a:r>
            <a:r>
              <a:rPr lang="en-US" dirty="0" err="1"/>
              <a:t>doesn‟t</a:t>
            </a:r>
            <a:r>
              <a:rPr lang="en-US" dirty="0"/>
              <a:t> compile.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a = 10;</a:t>
            </a:r>
          </a:p>
          <a:p>
            <a:pPr marL="0" indent="0" algn="just">
              <a:buNone/>
            </a:pPr>
            <a:r>
              <a:rPr lang="en-US" dirty="0"/>
              <a:t>void *</a:t>
            </a:r>
            <a:r>
              <a:rPr lang="en-US" dirty="0" err="1"/>
              <a:t>ptr</a:t>
            </a:r>
            <a:r>
              <a:rPr lang="en-US" dirty="0"/>
              <a:t> = &amp;a;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("%d", *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</a:t>
            </a:r>
          </a:p>
          <a:p>
            <a:pPr marL="0" indent="0" algn="just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Error: 'void*' is not a pointer-to-object type</a:t>
            </a:r>
          </a:p>
        </p:txBody>
      </p:sp>
    </p:spTree>
    <p:extLst>
      <p:ext uri="{BB962C8B-B14F-4D97-AF65-F5344CB8AC3E}">
        <p14:creationId xmlns:p14="http://schemas.microsoft.com/office/powerpoint/2010/main" val="69250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of void pointers: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1083"/>
            <a:ext cx="8382000" cy="5225267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The following program compiles and runs fine.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a = 10;</a:t>
            </a:r>
          </a:p>
          <a:p>
            <a:pPr marL="0" indent="0" algn="just">
              <a:buNone/>
            </a:pPr>
            <a:r>
              <a:rPr lang="en-US" dirty="0"/>
              <a:t>void *</a:t>
            </a:r>
            <a:r>
              <a:rPr lang="en-US" dirty="0" err="1"/>
              <a:t>ptr</a:t>
            </a:r>
            <a:r>
              <a:rPr lang="en-US" dirty="0"/>
              <a:t> = &amp;a;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("%d", *(</a:t>
            </a:r>
            <a:r>
              <a:rPr lang="en-US" dirty="0" err="1"/>
              <a:t>int</a:t>
            </a:r>
            <a:r>
              <a:rPr lang="en-US" dirty="0"/>
              <a:t> *)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</a:t>
            </a:r>
          </a:p>
          <a:p>
            <a:pPr marL="0" indent="0" algn="just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0716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of void pointers: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4384" y="1447800"/>
            <a:ext cx="8445162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functions/ Function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A pointer to a function points to the address of the executable code of the function.</a:t>
            </a:r>
          </a:p>
          <a:p>
            <a:pPr algn="just"/>
            <a:r>
              <a:rPr lang="en-US" dirty="0" smtClean="0"/>
              <a:t>We </a:t>
            </a:r>
            <a:r>
              <a:rPr lang="en-US" dirty="0"/>
              <a:t>can use pointers to call functions and to pass functions as arguments to </a:t>
            </a:r>
            <a:r>
              <a:rPr lang="en-US" dirty="0" smtClean="0"/>
              <a:t>other functions</a:t>
            </a:r>
            <a:r>
              <a:rPr lang="en-US" dirty="0"/>
              <a:t>.</a:t>
            </a:r>
          </a:p>
          <a:p>
            <a:pPr algn="just"/>
            <a:r>
              <a:rPr lang="en-US" dirty="0" smtClean="0"/>
              <a:t>We </a:t>
            </a:r>
            <a:r>
              <a:rPr lang="en-US" dirty="0"/>
              <a:t>cannot perform pointer arithmetic on pointers to functions.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type of a pointer to a function is based on both the return type and parameter types </a:t>
            </a:r>
            <a:r>
              <a:rPr lang="en-US" dirty="0" smtClean="0"/>
              <a:t>of the </a:t>
            </a:r>
            <a:r>
              <a:rPr lang="en-US" dirty="0"/>
              <a:t>function.</a:t>
            </a:r>
          </a:p>
          <a:p>
            <a:pPr algn="just"/>
            <a:r>
              <a:rPr lang="en-US" dirty="0" smtClean="0"/>
              <a:t>A </a:t>
            </a:r>
            <a:r>
              <a:rPr lang="en-US" dirty="0"/>
              <a:t>declaration of a pointer to a function must have the pointer name in parentheses.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function call operator () has a higher precedence than the dereference operator </a:t>
            </a:r>
            <a:r>
              <a:rPr lang="en-US" dirty="0" smtClean="0"/>
              <a:t>*. Without </a:t>
            </a:r>
            <a:r>
              <a:rPr lang="en-US" dirty="0"/>
              <a:t>them, the </a:t>
            </a:r>
            <a:r>
              <a:rPr lang="en-US" dirty="0" smtClean="0"/>
              <a:t>compiler interprets </a:t>
            </a:r>
            <a:r>
              <a:rPr lang="en-US" dirty="0"/>
              <a:t>the statement as a function that returns a pointer </a:t>
            </a:r>
            <a:r>
              <a:rPr lang="en-US" dirty="0" smtClean="0"/>
              <a:t>to a </a:t>
            </a:r>
            <a:r>
              <a:rPr lang="en-US" dirty="0"/>
              <a:t>specified return type.</a:t>
            </a:r>
          </a:p>
        </p:txBody>
      </p:sp>
    </p:spTree>
    <p:extLst>
      <p:ext uri="{BB962C8B-B14F-4D97-AF65-F5344CB8AC3E}">
        <p14:creationId xmlns:p14="http://schemas.microsoft.com/office/powerpoint/2010/main" val="279587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functions/ Function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Declare </a:t>
            </a:r>
            <a:r>
              <a:rPr lang="en-US" dirty="0"/>
              <a:t>Pointer to </a:t>
            </a:r>
            <a:r>
              <a:rPr lang="en-US" dirty="0" smtClean="0"/>
              <a:t>function</a:t>
            </a:r>
            <a:endParaRPr lang="en-US" dirty="0"/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return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type&gt;(*&lt;</a:t>
            </a:r>
            <a:r>
              <a:rPr lang="en-US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Pointer_name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&gt;)(function argument list)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For </a:t>
            </a:r>
            <a:r>
              <a:rPr lang="en-US" dirty="0"/>
              <a:t>example:</a:t>
            </a:r>
          </a:p>
          <a:p>
            <a:pPr marL="514350" indent="-514350" algn="just">
              <a:buAutoNum type="arabicParenR"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*f(</a:t>
            </a:r>
            <a:r>
              <a:rPr lang="en-US" dirty="0" err="1"/>
              <a:t>int</a:t>
            </a:r>
            <a:r>
              <a:rPr lang="en-US" dirty="0"/>
              <a:t> a); /* function f returning an </a:t>
            </a:r>
            <a:r>
              <a:rPr lang="en-US" dirty="0" err="1"/>
              <a:t>int</a:t>
            </a:r>
            <a:r>
              <a:rPr lang="en-US" dirty="0"/>
              <a:t> * </a:t>
            </a:r>
            <a:r>
              <a:rPr lang="en-US" dirty="0" smtClean="0"/>
              <a:t>*/</a:t>
            </a:r>
          </a:p>
          <a:p>
            <a:pPr marL="0" indent="0" algn="just">
              <a:buNone/>
            </a:pPr>
            <a:r>
              <a:rPr lang="en-US" dirty="0" smtClean="0"/>
              <a:t>In </a:t>
            </a:r>
            <a:r>
              <a:rPr lang="en-US" dirty="0"/>
              <a:t>this declaration, f is interpreted as a function that takes an </a:t>
            </a:r>
            <a:r>
              <a:rPr lang="en-US" dirty="0" err="1"/>
              <a:t>int</a:t>
            </a:r>
            <a:r>
              <a:rPr lang="en-US" dirty="0"/>
              <a:t> as argument, and returns </a:t>
            </a:r>
            <a:r>
              <a:rPr lang="en-US" dirty="0" smtClean="0"/>
              <a:t>a pointer </a:t>
            </a:r>
            <a:r>
              <a:rPr lang="en-US" dirty="0"/>
              <a:t>to an int.</a:t>
            </a:r>
          </a:p>
        </p:txBody>
      </p:sp>
    </p:spTree>
    <p:extLst>
      <p:ext uri="{BB962C8B-B14F-4D97-AF65-F5344CB8AC3E}">
        <p14:creationId xmlns:p14="http://schemas.microsoft.com/office/powerpoint/2010/main" val="268426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functions/ Function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2) double (*p2f)(double, char)</a:t>
            </a:r>
          </a:p>
          <a:p>
            <a:pPr marL="0" indent="0" algn="just">
              <a:buNone/>
            </a:pPr>
            <a:r>
              <a:rPr lang="en-US" dirty="0"/>
              <a:t>Here double is a return type of function, p2f is pointer name </a:t>
            </a:r>
            <a:r>
              <a:rPr lang="en-US" dirty="0" smtClean="0"/>
              <a:t>and </a:t>
            </a:r>
            <a:r>
              <a:rPr lang="en-US" dirty="0"/>
              <a:t>(double, char) is an argument </a:t>
            </a:r>
            <a:r>
              <a:rPr lang="en-US" dirty="0" smtClean="0"/>
              <a:t>list for </a:t>
            </a:r>
            <a:r>
              <a:rPr lang="en-US" dirty="0"/>
              <a:t>the function. Which means the first argument for this function should be double and </a:t>
            </a:r>
            <a:r>
              <a:rPr lang="en-US" dirty="0" smtClean="0"/>
              <a:t>the second </a:t>
            </a:r>
            <a:r>
              <a:rPr lang="en-US" dirty="0"/>
              <a:t>one would be of char type</a:t>
            </a:r>
          </a:p>
        </p:txBody>
      </p:sp>
    </p:spTree>
    <p:extLst>
      <p:ext uri="{BB962C8B-B14F-4D97-AF65-F5344CB8AC3E}">
        <p14:creationId xmlns:p14="http://schemas.microsoft.com/office/powerpoint/2010/main" val="138298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functions/ Function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sum (</a:t>
            </a:r>
            <a:r>
              <a:rPr lang="en-US" dirty="0" err="1"/>
              <a:t>int</a:t>
            </a:r>
            <a:r>
              <a:rPr lang="en-US" dirty="0"/>
              <a:t> num1, </a:t>
            </a:r>
            <a:r>
              <a:rPr lang="en-US" dirty="0" err="1"/>
              <a:t>int</a:t>
            </a:r>
            <a:r>
              <a:rPr lang="en-US" dirty="0"/>
              <a:t> num2)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return sum1+sum2;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(*f2p) (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f2p = sum;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op1 = f2p (10, 13);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op2 = sum (10, 13);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("Output 1 – for function call via Pointer: %d",op1);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("Output2 – for direct function call: %d", op2);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844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to functions/ Function 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Output:</a:t>
            </a:r>
          </a:p>
          <a:p>
            <a:pPr marL="0" indent="0" algn="just">
              <a:buNone/>
            </a:pPr>
            <a:r>
              <a:rPr lang="en-US" dirty="0"/>
              <a:t>Output 1 – for function call via Pointer: 23</a:t>
            </a:r>
          </a:p>
          <a:p>
            <a:pPr marL="0" indent="0" algn="just">
              <a:buNone/>
            </a:pPr>
            <a:r>
              <a:rPr lang="en-US" dirty="0"/>
              <a:t>Output2 – for direct function call: 23</a:t>
            </a:r>
          </a:p>
          <a:p>
            <a:pPr marL="0" indent="0" algn="just">
              <a:buNone/>
            </a:pPr>
            <a:r>
              <a:rPr lang="en-US" dirty="0"/>
              <a:t>You would have noticed that the output of both the statements is same –</a:t>
            </a:r>
          </a:p>
          <a:p>
            <a:pPr marL="0" indent="0" algn="just">
              <a:buNone/>
            </a:pPr>
            <a:r>
              <a:rPr lang="en-US" dirty="0"/>
              <a:t>f2p(10, 13) == sum(10, 13)</a:t>
            </a:r>
          </a:p>
          <a:p>
            <a:pPr marL="0" indent="0" algn="just">
              <a:buNone/>
            </a:pPr>
            <a:r>
              <a:rPr lang="en-US" dirty="0"/>
              <a:t>which means in generic sense you can write it out as:</a:t>
            </a:r>
          </a:p>
          <a:p>
            <a:pPr marL="0" indent="0" algn="just">
              <a:buNone/>
            </a:pPr>
            <a:r>
              <a:rPr lang="en-US" dirty="0" err="1"/>
              <a:t>pointer_name</a:t>
            </a:r>
            <a:r>
              <a:rPr lang="en-US" dirty="0"/>
              <a:t>(argument list) == function(same argument list</a:t>
            </a:r>
            <a:r>
              <a:rPr lang="en-US" dirty="0" smtClean="0"/>
              <a:t>)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wherein </a:t>
            </a:r>
            <a:r>
              <a:rPr lang="en-US" dirty="0" err="1"/>
              <a:t>pointer_name</a:t>
            </a:r>
            <a:r>
              <a:rPr lang="en-US" dirty="0"/>
              <a:t> is declared as:</a:t>
            </a:r>
          </a:p>
          <a:p>
            <a:pPr marL="0" indent="0" algn="just">
              <a:buNone/>
            </a:pPr>
            <a:r>
              <a:rPr lang="en-US" dirty="0" err="1"/>
              <a:t>return_type</a:t>
            </a:r>
            <a:r>
              <a:rPr lang="en-US" dirty="0"/>
              <a:t>(*</a:t>
            </a:r>
            <a:r>
              <a:rPr lang="en-US" dirty="0" err="1"/>
              <a:t>pointer_name</a:t>
            </a:r>
            <a:r>
              <a:rPr lang="en-US" dirty="0"/>
              <a:t>)(argument list);</a:t>
            </a:r>
          </a:p>
          <a:p>
            <a:pPr marL="0" indent="0" algn="just">
              <a:buNone/>
            </a:pPr>
            <a:r>
              <a:rPr lang="en-US" dirty="0" err="1"/>
              <a:t>pointer_name</a:t>
            </a:r>
            <a:r>
              <a:rPr lang="en-US" dirty="0"/>
              <a:t> = </a:t>
            </a:r>
            <a:r>
              <a:rPr lang="en-US" dirty="0" err="1"/>
              <a:t>function_name</a:t>
            </a:r>
            <a:r>
              <a:rPr lang="en-US" dirty="0"/>
              <a:t>(argument list);</a:t>
            </a:r>
          </a:p>
        </p:txBody>
      </p:sp>
    </p:spTree>
    <p:extLst>
      <p:ext uri="{BB962C8B-B14F-4D97-AF65-F5344CB8AC3E}">
        <p14:creationId xmlns:p14="http://schemas.microsoft.com/office/powerpoint/2010/main" val="104373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Allocation Functions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The concept of dynamic memory allocation in c language enables the C programmer </a:t>
            </a:r>
            <a:r>
              <a:rPr lang="en-US" dirty="0" smtClean="0"/>
              <a:t>to allocate </a:t>
            </a:r>
            <a:r>
              <a:rPr lang="en-US" dirty="0"/>
              <a:t>memory at runtime.</a:t>
            </a:r>
          </a:p>
          <a:p>
            <a:pPr marL="0" indent="0" algn="just">
              <a:buNone/>
            </a:pPr>
            <a:r>
              <a:rPr lang="en-US" dirty="0"/>
              <a:t>Or</a:t>
            </a:r>
          </a:p>
          <a:p>
            <a:pPr marL="0" indent="0" algn="just">
              <a:buNone/>
            </a:pPr>
            <a:r>
              <a:rPr lang="en-US" dirty="0"/>
              <a:t>The process of allocating memory at runtime is known as dynamic memory allocation. 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Library routines </a:t>
            </a:r>
            <a:r>
              <a:rPr lang="en-US" dirty="0"/>
              <a:t>known as "memory management functions" are used for allocating and freeing </a:t>
            </a:r>
            <a:r>
              <a:rPr lang="en-US" dirty="0" smtClean="0"/>
              <a:t>memory during </a:t>
            </a:r>
            <a:r>
              <a:rPr lang="en-US" dirty="0"/>
              <a:t>execution of a program. These functions are defined in </a:t>
            </a:r>
            <a:r>
              <a:rPr lang="en-US" dirty="0" err="1"/>
              <a:t>stdlib.h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Dynamic </a:t>
            </a:r>
            <a:r>
              <a:rPr lang="en-US" dirty="0"/>
              <a:t>memory allocation in c language is possible by 4 functions of </a:t>
            </a:r>
            <a:r>
              <a:rPr lang="en-US" dirty="0" err="1"/>
              <a:t>stdlib.h</a:t>
            </a:r>
            <a:r>
              <a:rPr lang="en-US" dirty="0"/>
              <a:t> header file.</a:t>
            </a:r>
          </a:p>
          <a:p>
            <a:pPr marL="0" indent="0" algn="just">
              <a:buNone/>
            </a:pPr>
            <a:r>
              <a:rPr lang="en-US" dirty="0"/>
              <a:t>1. </a:t>
            </a:r>
            <a:r>
              <a:rPr lang="en-US" dirty="0" err="1"/>
              <a:t>malloc</a:t>
            </a:r>
            <a:r>
              <a:rPr lang="en-US" dirty="0"/>
              <a:t>()</a:t>
            </a:r>
          </a:p>
          <a:p>
            <a:pPr marL="0" indent="0" algn="just">
              <a:buNone/>
            </a:pPr>
            <a:r>
              <a:rPr lang="en-US" dirty="0"/>
              <a:t>2. </a:t>
            </a:r>
            <a:r>
              <a:rPr lang="en-US" dirty="0" err="1"/>
              <a:t>calloc</a:t>
            </a:r>
            <a:r>
              <a:rPr lang="en-US" dirty="0"/>
              <a:t>()</a:t>
            </a:r>
          </a:p>
          <a:p>
            <a:pPr marL="0" indent="0" algn="just">
              <a:buNone/>
            </a:pPr>
            <a:r>
              <a:rPr lang="en-US" dirty="0"/>
              <a:t>3. </a:t>
            </a:r>
            <a:r>
              <a:rPr lang="en-US" dirty="0" err="1"/>
              <a:t>realloc</a:t>
            </a:r>
            <a:r>
              <a:rPr lang="en-US" dirty="0"/>
              <a:t>()</a:t>
            </a:r>
          </a:p>
          <a:p>
            <a:pPr marL="0" indent="0" algn="just">
              <a:buNone/>
            </a:pPr>
            <a:r>
              <a:rPr lang="en-US" dirty="0"/>
              <a:t>4. free()</a:t>
            </a:r>
          </a:p>
        </p:txBody>
      </p:sp>
    </p:spTree>
    <p:extLst>
      <p:ext uri="{BB962C8B-B14F-4D97-AF65-F5344CB8AC3E}">
        <p14:creationId xmlns:p14="http://schemas.microsoft.com/office/powerpoint/2010/main" val="164472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Allocation Functions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3892" y="1371600"/>
            <a:ext cx="8229600" cy="328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0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Allocation Functions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Note</a:t>
            </a:r>
            <a:r>
              <a:rPr lang="en-US" dirty="0"/>
              <a:t>: Dynamic memory allocation related function can be applied for any data type that's </a:t>
            </a:r>
            <a:r>
              <a:rPr lang="en-US" dirty="0" smtClean="0"/>
              <a:t>why dynamic </a:t>
            </a:r>
            <a:r>
              <a:rPr lang="en-US" dirty="0"/>
              <a:t>memory allocation related functions return void*.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18" y="1220787"/>
            <a:ext cx="8691563" cy="317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0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Allocation Process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Global variables, static variables </a:t>
            </a:r>
            <a:r>
              <a:rPr lang="en-US" dirty="0"/>
              <a:t>and program instructions get their </a:t>
            </a:r>
            <a:r>
              <a:rPr lang="en-US" dirty="0" smtClean="0"/>
              <a:t>memory in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permanent storage area</a:t>
            </a:r>
            <a:r>
              <a:rPr lang="en-US" dirty="0"/>
              <a:t> whereas </a:t>
            </a:r>
            <a:r>
              <a:rPr lang="en-US" b="1" dirty="0">
                <a:solidFill>
                  <a:srgbClr val="FF0000"/>
                </a:solidFill>
              </a:rPr>
              <a:t>local variables </a:t>
            </a:r>
            <a:r>
              <a:rPr lang="en-US" dirty="0"/>
              <a:t>are stored in area called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Stack.</a:t>
            </a:r>
            <a:r>
              <a:rPr lang="en-US" dirty="0"/>
              <a:t> The </a:t>
            </a:r>
            <a:r>
              <a:rPr lang="en-US" dirty="0" smtClean="0"/>
              <a:t>memory space </a:t>
            </a:r>
            <a:r>
              <a:rPr lang="en-US" dirty="0"/>
              <a:t>between these two region is known as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Heap </a:t>
            </a:r>
            <a:r>
              <a:rPr lang="en-US" dirty="0"/>
              <a:t>area. This region is used for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allocation</a:t>
            </a:r>
            <a:r>
              <a:rPr lang="en-US" dirty="0" smtClean="0"/>
              <a:t> </a:t>
            </a:r>
            <a:r>
              <a:rPr lang="en-US" dirty="0"/>
              <a:t>during execution of the program. The size of heap keep changing.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54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malloc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 err="1"/>
              <a:t>malloc</a:t>
            </a:r>
            <a:r>
              <a:rPr lang="en-US" dirty="0"/>
              <a:t> stands for "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allocation</a:t>
            </a:r>
            <a:r>
              <a:rPr lang="en-US" dirty="0"/>
              <a:t>".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 err="1"/>
              <a:t>malloc</a:t>
            </a:r>
            <a:r>
              <a:rPr lang="en-US" dirty="0"/>
              <a:t>() function allocates single block of requested memory at runtime. This </a:t>
            </a:r>
            <a:r>
              <a:rPr lang="en-US" dirty="0" smtClean="0"/>
              <a:t>function reserves </a:t>
            </a:r>
            <a:r>
              <a:rPr lang="en-US" dirty="0"/>
              <a:t>a block of memory of given size and returns a pointer of type void. This means that </a:t>
            </a:r>
            <a:r>
              <a:rPr lang="en-US" dirty="0" smtClean="0"/>
              <a:t>we can </a:t>
            </a:r>
            <a:r>
              <a:rPr lang="en-US" dirty="0"/>
              <a:t>assign it to any type of pointer using typecasting. It doesn't initialize memory at </a:t>
            </a:r>
            <a:r>
              <a:rPr lang="en-US" dirty="0" smtClean="0"/>
              <a:t>execution time</a:t>
            </a:r>
            <a:r>
              <a:rPr lang="en-US" dirty="0"/>
              <a:t>, so it has garbage value initially. If it fails to locate enough space (memory) it returns </a:t>
            </a:r>
            <a:r>
              <a:rPr lang="en-US" dirty="0" smtClean="0"/>
              <a:t>a NULL </a:t>
            </a:r>
            <a:r>
              <a:rPr lang="en-US" dirty="0"/>
              <a:t>pointer.</a:t>
            </a:r>
          </a:p>
          <a:p>
            <a:pPr marL="0" indent="0" algn="just">
              <a:buNone/>
            </a:pPr>
            <a:r>
              <a:rPr lang="en-US" dirty="0"/>
              <a:t>syntax</a:t>
            </a:r>
          </a:p>
          <a:p>
            <a:pPr marL="0" indent="0" algn="just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=(cast-type*)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malloc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(byte-size)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68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malloc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*x;</a:t>
            </a:r>
          </a:p>
          <a:p>
            <a:pPr marL="0" indent="0" algn="just">
              <a:buNone/>
            </a:pPr>
            <a:r>
              <a:rPr lang="en-US" dirty="0"/>
              <a:t>x = (</a:t>
            </a:r>
            <a:r>
              <a:rPr lang="en-US" dirty="0" err="1"/>
              <a:t>int</a:t>
            </a:r>
            <a:r>
              <a:rPr lang="en-US" dirty="0"/>
              <a:t>*)</a:t>
            </a:r>
            <a:r>
              <a:rPr lang="en-US" dirty="0" err="1"/>
              <a:t>malloc</a:t>
            </a:r>
            <a:r>
              <a:rPr lang="en-US" dirty="0"/>
              <a:t>(100 *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)); //memory space allocated to variable x</a:t>
            </a:r>
          </a:p>
          <a:p>
            <a:pPr marL="0" indent="0" algn="just">
              <a:buNone/>
            </a:pPr>
            <a:r>
              <a:rPr lang="en-US" dirty="0"/>
              <a:t>free(x); //releases the memory allocated to variable </a:t>
            </a:r>
            <a:r>
              <a:rPr lang="en-US" dirty="0" smtClean="0"/>
              <a:t>x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This statement will allocate either 200 or 400 according to size of </a:t>
            </a:r>
            <a:r>
              <a:rPr lang="en-US" dirty="0" err="1"/>
              <a:t>int</a:t>
            </a:r>
            <a:r>
              <a:rPr lang="en-US" dirty="0"/>
              <a:t> 2 or 4 bytes </a:t>
            </a:r>
            <a:r>
              <a:rPr lang="en-US" dirty="0" smtClean="0"/>
              <a:t>respectively and </a:t>
            </a:r>
            <a:r>
              <a:rPr lang="en-US" dirty="0"/>
              <a:t>the pointer points to the address of first byte of memory.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3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malloc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Example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, *</a:t>
            </a:r>
            <a:r>
              <a:rPr lang="en-US" dirty="0" err="1"/>
              <a:t>ptr</a:t>
            </a:r>
            <a:r>
              <a:rPr lang="en-US" dirty="0"/>
              <a:t>, sum = 0;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number of elements: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("%d", &amp;</a:t>
            </a:r>
            <a:r>
              <a:rPr lang="en-US" dirty="0" err="1"/>
              <a:t>num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ptr</a:t>
            </a:r>
            <a:r>
              <a:rPr lang="en-US" dirty="0"/>
              <a:t> = (</a:t>
            </a:r>
            <a:r>
              <a:rPr lang="en-US" dirty="0" err="1"/>
              <a:t>int</a:t>
            </a:r>
            <a:r>
              <a:rPr lang="en-US" dirty="0"/>
              <a:t>*) </a:t>
            </a:r>
            <a:r>
              <a:rPr lang="en-US" dirty="0" err="1"/>
              <a:t>malloc</a:t>
            </a:r>
            <a:r>
              <a:rPr lang="en-US" dirty="0"/>
              <a:t>(</a:t>
            </a:r>
            <a:r>
              <a:rPr lang="en-US" dirty="0" err="1"/>
              <a:t>num</a:t>
            </a:r>
            <a:r>
              <a:rPr lang="en-US" dirty="0"/>
              <a:t> *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)); //memory allocated using </a:t>
            </a:r>
            <a:r>
              <a:rPr lang="en-US" dirty="0" err="1"/>
              <a:t>malloc</a:t>
            </a: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24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malloc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/>
              <a:t>if(</a:t>
            </a:r>
            <a:r>
              <a:rPr lang="en-US" dirty="0" err="1"/>
              <a:t>ptr</a:t>
            </a:r>
            <a:r>
              <a:rPr lang="en-US" dirty="0"/>
              <a:t> == NULL)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("Error! memory not allocated.");</a:t>
            </a:r>
          </a:p>
          <a:p>
            <a:pPr marL="0" indent="0" algn="just">
              <a:buNone/>
            </a:pPr>
            <a:r>
              <a:rPr lang="en-US" dirty="0"/>
              <a:t>exit(0);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elements of array: ");</a:t>
            </a:r>
          </a:p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num</a:t>
            </a:r>
            <a:r>
              <a:rPr lang="en-US" dirty="0"/>
              <a:t>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("%d", </a:t>
            </a: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sum += *(</a:t>
            </a: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("Sum = %d", sum);</a:t>
            </a:r>
          </a:p>
          <a:p>
            <a:pPr marL="0" indent="0" algn="just">
              <a:buNone/>
            </a:pPr>
            <a:r>
              <a:rPr lang="en-US" dirty="0"/>
              <a:t>free(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71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alloc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 smtClean="0"/>
              <a:t>calloc</a:t>
            </a:r>
            <a:r>
              <a:rPr lang="en-US" dirty="0" smtClean="0"/>
              <a:t> </a:t>
            </a:r>
            <a:r>
              <a:rPr lang="en-US" dirty="0"/>
              <a:t>stands for "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contiguous allocation</a:t>
            </a:r>
            <a:r>
              <a:rPr lang="en-US" dirty="0"/>
              <a:t>".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calloc</a:t>
            </a:r>
            <a:r>
              <a:rPr lang="en-US" dirty="0"/>
              <a:t>() is another memory allocation function that is used for allocating memory </a:t>
            </a:r>
            <a:r>
              <a:rPr lang="en-US" dirty="0" smtClean="0"/>
              <a:t>at runtime</a:t>
            </a:r>
            <a:r>
              <a:rPr lang="en-US" dirty="0"/>
              <a:t>. </a:t>
            </a:r>
            <a:r>
              <a:rPr lang="en-US" dirty="0" err="1"/>
              <a:t>calloc</a:t>
            </a:r>
            <a:r>
              <a:rPr lang="en-US" dirty="0"/>
              <a:t> function is normally used for allocating memory to derived data types </a:t>
            </a:r>
            <a:r>
              <a:rPr lang="en-US" dirty="0" smtClean="0"/>
              <a:t>such as </a:t>
            </a:r>
            <a:r>
              <a:rPr lang="en-US" dirty="0"/>
              <a:t>arrays and structures. The </a:t>
            </a:r>
            <a:r>
              <a:rPr lang="en-US" dirty="0" err="1"/>
              <a:t>calloc</a:t>
            </a:r>
            <a:r>
              <a:rPr lang="en-US" dirty="0"/>
              <a:t>() function allocates multiple block of requested memory.</a:t>
            </a:r>
          </a:p>
        </p:txBody>
      </p:sp>
    </p:spTree>
    <p:extLst>
      <p:ext uri="{BB962C8B-B14F-4D97-AF65-F5344CB8AC3E}">
        <p14:creationId xmlns:p14="http://schemas.microsoft.com/office/powerpoint/2010/main" val="380723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alloc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It initially initialize (sets) all bytes to </a:t>
            </a:r>
            <a:r>
              <a:rPr lang="en-US" dirty="0" err="1"/>
              <a:t>zero.If</a:t>
            </a:r>
            <a:r>
              <a:rPr lang="en-US" dirty="0"/>
              <a:t> it fails to locate enough space( memory) it returns </a:t>
            </a:r>
            <a:r>
              <a:rPr lang="en-US" dirty="0" smtClean="0"/>
              <a:t>a NULL </a:t>
            </a:r>
            <a:r>
              <a:rPr lang="en-US" dirty="0"/>
              <a:t>pointer. The only difference between </a:t>
            </a:r>
            <a:r>
              <a:rPr lang="en-US" dirty="0" err="1"/>
              <a:t>malloc</a:t>
            </a:r>
            <a:r>
              <a:rPr lang="en-US" dirty="0"/>
              <a:t>() and </a:t>
            </a:r>
            <a:r>
              <a:rPr lang="en-US" dirty="0" err="1"/>
              <a:t>calloc</a:t>
            </a:r>
            <a:r>
              <a:rPr lang="en-US" dirty="0"/>
              <a:t>() is that, </a:t>
            </a:r>
            <a:r>
              <a:rPr lang="en-US" dirty="0" err="1"/>
              <a:t>malloc</a:t>
            </a:r>
            <a:r>
              <a:rPr lang="en-US" dirty="0"/>
              <a:t>() </a:t>
            </a:r>
            <a:r>
              <a:rPr lang="en-US" dirty="0" smtClean="0"/>
              <a:t>allocates single </a:t>
            </a:r>
            <a:r>
              <a:rPr lang="en-US" dirty="0"/>
              <a:t>block of memory whereas </a:t>
            </a:r>
            <a:r>
              <a:rPr lang="en-US" dirty="0" err="1"/>
              <a:t>calloc</a:t>
            </a:r>
            <a:r>
              <a:rPr lang="en-US" dirty="0"/>
              <a:t>() allocates multiple blocks of memory each of same size.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Syntax</a:t>
            </a:r>
            <a:endParaRPr lang="en-US" dirty="0"/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ptr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(cast-type*)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calloc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(n/number, element-size);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calloc</a:t>
            </a:r>
            <a:r>
              <a:rPr lang="en-US" dirty="0"/>
              <a:t>() required 2 arguments of type count, size-type.</a:t>
            </a:r>
          </a:p>
          <a:p>
            <a:pPr marL="0" indent="0" algn="just">
              <a:buNone/>
            </a:pPr>
            <a:r>
              <a:rPr lang="en-US" dirty="0" smtClean="0"/>
              <a:t>count </a:t>
            </a:r>
            <a:r>
              <a:rPr lang="en-US" dirty="0"/>
              <a:t>will provide number of elements; size-type is data type size</a:t>
            </a:r>
          </a:p>
        </p:txBody>
      </p:sp>
    </p:spTree>
    <p:extLst>
      <p:ext uri="{BB962C8B-B14F-4D97-AF65-F5344CB8AC3E}">
        <p14:creationId xmlns:p14="http://schemas.microsoft.com/office/powerpoint/2010/main" val="1620606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alloc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*</a:t>
            </a:r>
            <a:r>
              <a:rPr lang="en-US" dirty="0" err="1"/>
              <a:t>arr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arr</a:t>
            </a:r>
            <a:r>
              <a:rPr lang="en-US" dirty="0"/>
              <a:t>=(</a:t>
            </a:r>
            <a:r>
              <a:rPr lang="en-US" dirty="0" err="1"/>
              <a:t>int</a:t>
            </a:r>
            <a:r>
              <a:rPr lang="en-US" dirty="0"/>
              <a:t>*)</a:t>
            </a:r>
            <a:r>
              <a:rPr lang="en-US" dirty="0" err="1"/>
              <a:t>calloc</a:t>
            </a:r>
            <a:r>
              <a:rPr lang="en-US" dirty="0"/>
              <a:t>(10,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)); // 20 byte</a:t>
            </a:r>
          </a:p>
          <a:p>
            <a:pPr marL="0" indent="0" algn="just">
              <a:buNone/>
            </a:pPr>
            <a:r>
              <a:rPr lang="en-US" dirty="0" err="1"/>
              <a:t>cahr</a:t>
            </a:r>
            <a:r>
              <a:rPr lang="en-US" dirty="0"/>
              <a:t>*</a:t>
            </a:r>
            <a:r>
              <a:rPr lang="en-US" dirty="0" err="1"/>
              <a:t>str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str</a:t>
            </a:r>
            <a:r>
              <a:rPr lang="en-US" dirty="0"/>
              <a:t>=(char*)</a:t>
            </a:r>
            <a:r>
              <a:rPr lang="en-US" dirty="0" err="1"/>
              <a:t>calloc</a:t>
            </a:r>
            <a:r>
              <a:rPr lang="en-US" dirty="0"/>
              <a:t>(50, </a:t>
            </a:r>
            <a:r>
              <a:rPr lang="en-US" dirty="0" err="1" smtClean="0"/>
              <a:t>sizeof</a:t>
            </a:r>
            <a:r>
              <a:rPr lang="en-US" dirty="0" smtClean="0"/>
              <a:t>(char</a:t>
            </a:r>
            <a:r>
              <a:rPr lang="en-US" dirty="0"/>
              <a:t>)); // 50 byte</a:t>
            </a:r>
          </a:p>
        </p:txBody>
      </p:sp>
    </p:spTree>
    <p:extLst>
      <p:ext uri="{BB962C8B-B14F-4D97-AF65-F5344CB8AC3E}">
        <p14:creationId xmlns:p14="http://schemas.microsoft.com/office/powerpoint/2010/main" val="183077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alloc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, *</a:t>
            </a:r>
            <a:r>
              <a:rPr lang="en-US" dirty="0" err="1"/>
              <a:t>ptr</a:t>
            </a:r>
            <a:r>
              <a:rPr lang="en-US" dirty="0"/>
              <a:t>, sum = 0;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number of elements: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("%d", &amp;</a:t>
            </a:r>
            <a:r>
              <a:rPr lang="en-US" dirty="0" err="1"/>
              <a:t>num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ptr</a:t>
            </a:r>
            <a:r>
              <a:rPr lang="en-US" dirty="0"/>
              <a:t> = (</a:t>
            </a:r>
            <a:r>
              <a:rPr lang="en-US" dirty="0" err="1"/>
              <a:t>int</a:t>
            </a:r>
            <a:r>
              <a:rPr lang="en-US" dirty="0"/>
              <a:t>*) </a:t>
            </a:r>
            <a:r>
              <a:rPr lang="en-US" dirty="0" err="1"/>
              <a:t>calloc</a:t>
            </a:r>
            <a:r>
              <a:rPr lang="en-US" dirty="0"/>
              <a:t>(</a:t>
            </a:r>
            <a:r>
              <a:rPr lang="en-US" dirty="0" err="1"/>
              <a:t>num</a:t>
            </a:r>
            <a:r>
              <a:rPr lang="en-US" dirty="0"/>
              <a:t>,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));</a:t>
            </a:r>
          </a:p>
          <a:p>
            <a:pPr marL="0" indent="0" algn="just">
              <a:buNone/>
            </a:pPr>
            <a:r>
              <a:rPr lang="en-US" dirty="0"/>
              <a:t>if(</a:t>
            </a:r>
            <a:r>
              <a:rPr lang="en-US" dirty="0" err="1"/>
              <a:t>ptr</a:t>
            </a:r>
            <a:r>
              <a:rPr lang="en-US" dirty="0"/>
              <a:t> == NULL)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("Error! memory not allocated.");</a:t>
            </a:r>
          </a:p>
          <a:p>
            <a:pPr marL="0" indent="0" algn="just">
              <a:buNone/>
            </a:pPr>
            <a:r>
              <a:rPr lang="en-US" dirty="0"/>
              <a:t>exit(0);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74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alloc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elements of array: ");</a:t>
            </a:r>
          </a:p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num</a:t>
            </a:r>
            <a:r>
              <a:rPr lang="en-US" dirty="0"/>
              <a:t>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("%d", </a:t>
            </a: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sum += *(</a:t>
            </a: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("Sum = %d", sum);</a:t>
            </a:r>
          </a:p>
          <a:p>
            <a:pPr marL="0" indent="0" algn="just">
              <a:buNone/>
            </a:pPr>
            <a:r>
              <a:rPr lang="en-US" dirty="0"/>
              <a:t>free(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307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alloc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vs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alloc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600" y="1371600"/>
            <a:ext cx="8612116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2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realloc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C</a:t>
            </a:r>
            <a:r>
              <a:rPr lang="en-US" dirty="0" smtClean="0"/>
              <a:t>hanges </a:t>
            </a:r>
            <a:r>
              <a:rPr lang="en-US" dirty="0"/>
              <a:t>memory size that is already allocated to a variable.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Or</a:t>
            </a: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If </a:t>
            </a:r>
            <a:r>
              <a:rPr lang="en-US" dirty="0"/>
              <a:t>the previously allocated memory is insufficient or more than required, you can change </a:t>
            </a:r>
            <a:r>
              <a:rPr lang="en-US" dirty="0" smtClean="0"/>
              <a:t>the previously </a:t>
            </a:r>
            <a:r>
              <a:rPr lang="en-US" dirty="0"/>
              <a:t>allocated memory size using </a:t>
            </a:r>
            <a:r>
              <a:rPr lang="en-US" dirty="0" err="1"/>
              <a:t>realloc</a:t>
            </a:r>
            <a:r>
              <a:rPr lang="en-US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386691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realloc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If memory is not sufficient for </a:t>
            </a:r>
            <a:r>
              <a:rPr lang="en-US" dirty="0" err="1"/>
              <a:t>malloc</a:t>
            </a:r>
            <a:r>
              <a:rPr lang="en-US" dirty="0"/>
              <a:t>() or </a:t>
            </a:r>
            <a:r>
              <a:rPr lang="en-US" dirty="0" err="1"/>
              <a:t>calloc</a:t>
            </a:r>
            <a:r>
              <a:rPr lang="en-US" dirty="0"/>
              <a:t>(), you can reallocate the memory </a:t>
            </a:r>
            <a:r>
              <a:rPr lang="en-US" dirty="0" smtClean="0"/>
              <a:t>by </a:t>
            </a:r>
            <a:r>
              <a:rPr lang="en-US" dirty="0" err="1" smtClean="0"/>
              <a:t>realloc</a:t>
            </a:r>
            <a:r>
              <a:rPr lang="en-US" dirty="0"/>
              <a:t>() function.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In </a:t>
            </a:r>
            <a:r>
              <a:rPr lang="en-US" dirty="0"/>
              <a:t>short, it changes the memory size. By using </a:t>
            </a:r>
            <a:r>
              <a:rPr lang="en-US" dirty="0" err="1"/>
              <a:t>realloc</a:t>
            </a:r>
            <a:r>
              <a:rPr lang="en-US" dirty="0"/>
              <a:t>() we can </a:t>
            </a:r>
            <a:r>
              <a:rPr lang="en-US" dirty="0" smtClean="0"/>
              <a:t>create the </a:t>
            </a:r>
            <a:r>
              <a:rPr lang="en-US" dirty="0"/>
              <a:t>memory dynamically at middle stage. Generally by using </a:t>
            </a:r>
            <a:r>
              <a:rPr lang="en-US" dirty="0" err="1"/>
              <a:t>realloc</a:t>
            </a:r>
            <a:r>
              <a:rPr lang="en-US" dirty="0"/>
              <a:t>() we </a:t>
            </a:r>
            <a:r>
              <a:rPr lang="en-US" dirty="0" smtClean="0"/>
              <a:t>can reallocation </a:t>
            </a:r>
            <a:r>
              <a:rPr lang="en-US" dirty="0"/>
              <a:t>the memory.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realloc</a:t>
            </a:r>
            <a:r>
              <a:rPr lang="en-US" dirty="0"/>
              <a:t>() required 2 arguments of type void*, </a:t>
            </a:r>
            <a:r>
              <a:rPr lang="en-US" dirty="0" err="1"/>
              <a:t>size_type</a:t>
            </a:r>
            <a:r>
              <a:rPr lang="en-US" dirty="0"/>
              <a:t>. </a:t>
            </a:r>
            <a:r>
              <a:rPr lang="en-US" dirty="0" smtClean="0"/>
              <a:t>void*will </a:t>
            </a:r>
            <a:r>
              <a:rPr lang="en-US" dirty="0"/>
              <a:t>indicates previous block base address, size-type is data type size. </a:t>
            </a:r>
            <a:r>
              <a:rPr lang="en-US" dirty="0" err="1" smtClean="0"/>
              <a:t>realloc</a:t>
            </a:r>
            <a:r>
              <a:rPr lang="en-US" dirty="0"/>
              <a:t>() </a:t>
            </a:r>
            <a:r>
              <a:rPr lang="en-US" dirty="0" smtClean="0"/>
              <a:t>will creates </a:t>
            </a:r>
            <a:r>
              <a:rPr lang="en-US" dirty="0"/>
              <a:t>the memory in bytes format and initial value is garbage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>syntax</a:t>
            </a:r>
          </a:p>
          <a:p>
            <a:pPr marL="0" indent="0" algn="just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realloc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new-size)</a:t>
            </a:r>
          </a:p>
        </p:txBody>
      </p:sp>
    </p:spTree>
    <p:extLst>
      <p:ext uri="{BB962C8B-B14F-4D97-AF65-F5344CB8AC3E}">
        <p14:creationId xmlns:p14="http://schemas.microsoft.com/office/powerpoint/2010/main" val="141294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realloc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*x;</a:t>
            </a:r>
          </a:p>
          <a:p>
            <a:pPr marL="0" indent="0" algn="just">
              <a:buNone/>
            </a:pPr>
            <a:r>
              <a:rPr lang="en-US" dirty="0"/>
              <a:t>x=(</a:t>
            </a:r>
            <a:r>
              <a:rPr lang="en-US" dirty="0" err="1"/>
              <a:t>int</a:t>
            </a:r>
            <a:r>
              <a:rPr lang="en-US" dirty="0"/>
              <a:t>*)</a:t>
            </a:r>
            <a:r>
              <a:rPr lang="en-US" dirty="0" err="1"/>
              <a:t>malloc</a:t>
            </a:r>
            <a:r>
              <a:rPr lang="en-US" dirty="0"/>
              <a:t>(50 *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));</a:t>
            </a:r>
          </a:p>
          <a:p>
            <a:pPr marL="0" indent="0" algn="just">
              <a:buNone/>
            </a:pPr>
            <a:r>
              <a:rPr lang="en-US" dirty="0"/>
              <a:t>x=(</a:t>
            </a:r>
            <a:r>
              <a:rPr lang="en-US" dirty="0" err="1"/>
              <a:t>int</a:t>
            </a:r>
            <a:r>
              <a:rPr lang="en-US" dirty="0"/>
              <a:t>*)</a:t>
            </a:r>
            <a:r>
              <a:rPr lang="en-US" dirty="0" err="1"/>
              <a:t>realloc</a:t>
            </a:r>
            <a:r>
              <a:rPr lang="en-US" dirty="0"/>
              <a:t>(x,100); //allocated a new memory to variable x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751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realloc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54675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ptr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, n1, n2;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size of array: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("%d", &amp;n1);</a:t>
            </a:r>
          </a:p>
          <a:p>
            <a:pPr marL="0" indent="0" algn="just">
              <a:buNone/>
            </a:pPr>
            <a:r>
              <a:rPr lang="en-US" dirty="0" err="1"/>
              <a:t>ptr</a:t>
            </a:r>
            <a:r>
              <a:rPr lang="en-US" dirty="0"/>
              <a:t> = (</a:t>
            </a:r>
            <a:r>
              <a:rPr lang="en-US" dirty="0" err="1"/>
              <a:t>int</a:t>
            </a:r>
            <a:r>
              <a:rPr lang="en-US" dirty="0"/>
              <a:t>*) </a:t>
            </a:r>
            <a:r>
              <a:rPr lang="en-US" dirty="0" err="1"/>
              <a:t>malloc</a:t>
            </a:r>
            <a:r>
              <a:rPr lang="en-US" dirty="0"/>
              <a:t>(n1 *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("Address of previously allocated memory: ");</a:t>
            </a:r>
          </a:p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n1;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("%u\t",</a:t>
            </a: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nEnter</a:t>
            </a:r>
            <a:r>
              <a:rPr lang="en-US" dirty="0"/>
              <a:t> new size of array: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("%d", &amp;n2);</a:t>
            </a:r>
          </a:p>
          <a:p>
            <a:pPr marL="0" indent="0" algn="just">
              <a:buNone/>
            </a:pPr>
            <a:r>
              <a:rPr lang="en-US" dirty="0" err="1"/>
              <a:t>ptr</a:t>
            </a:r>
            <a:r>
              <a:rPr lang="en-US" dirty="0"/>
              <a:t> = </a:t>
            </a:r>
            <a:r>
              <a:rPr lang="en-US" dirty="0" err="1"/>
              <a:t>realloc</a:t>
            </a:r>
            <a:r>
              <a:rPr lang="en-US" dirty="0"/>
              <a:t>(</a:t>
            </a:r>
            <a:r>
              <a:rPr lang="en-US" dirty="0" err="1"/>
              <a:t>ptr</a:t>
            </a:r>
            <a:r>
              <a:rPr lang="en-US" dirty="0"/>
              <a:t>, n2);</a:t>
            </a:r>
          </a:p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n2;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("%u\t", </a:t>
            </a: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5468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28955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When your program comes out, operating system automatically release all the memory </a:t>
            </a:r>
            <a:r>
              <a:rPr lang="en-US" dirty="0" smtClean="0"/>
              <a:t>allocated by </a:t>
            </a:r>
            <a:r>
              <a:rPr lang="en-US" dirty="0"/>
              <a:t>your program but as a good practice when you are not in need of memory anymore then </a:t>
            </a:r>
            <a:r>
              <a:rPr lang="en-US" dirty="0" smtClean="0"/>
              <a:t>you should </a:t>
            </a:r>
            <a:r>
              <a:rPr lang="en-US" dirty="0"/>
              <a:t>release that memory by calling the function free().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memory occupied by </a:t>
            </a:r>
            <a:r>
              <a:rPr lang="en-US" dirty="0" err="1"/>
              <a:t>malloc</a:t>
            </a:r>
            <a:r>
              <a:rPr lang="en-US" dirty="0"/>
              <a:t>() or </a:t>
            </a:r>
            <a:r>
              <a:rPr lang="en-US" dirty="0" err="1"/>
              <a:t>calloc</a:t>
            </a:r>
            <a:r>
              <a:rPr lang="en-US" dirty="0"/>
              <a:t>() functions must be released by calling free</a:t>
            </a:r>
            <a:r>
              <a:rPr lang="en-US" dirty="0" smtClean="0"/>
              <a:t>() function</a:t>
            </a:r>
            <a:r>
              <a:rPr lang="en-US" dirty="0"/>
              <a:t>. Otherwise, it will consume memory until program exit.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Or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96337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2895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Dynamically allocated memory created with either </a:t>
            </a:r>
            <a:r>
              <a:rPr lang="en-US" dirty="0" err="1"/>
              <a:t>calloc</a:t>
            </a:r>
            <a:r>
              <a:rPr lang="en-US" dirty="0"/>
              <a:t>() or </a:t>
            </a:r>
            <a:r>
              <a:rPr lang="en-US" dirty="0" err="1"/>
              <a:t>malloc</a:t>
            </a:r>
            <a:r>
              <a:rPr lang="en-US" dirty="0"/>
              <a:t>() doesn't get freed on </a:t>
            </a:r>
            <a:r>
              <a:rPr lang="en-US" dirty="0" smtClean="0"/>
              <a:t>its own</a:t>
            </a:r>
            <a:r>
              <a:rPr lang="en-US" dirty="0"/>
              <a:t>. You must explicitly use free() to release the space.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Syntax</a:t>
            </a:r>
            <a:r>
              <a:rPr lang="en-US" dirty="0"/>
              <a:t>:</a:t>
            </a:r>
          </a:p>
          <a:p>
            <a:pPr marL="0" indent="0" algn="just">
              <a:buNone/>
            </a:pPr>
            <a:r>
              <a:rPr lang="en-US" dirty="0"/>
              <a:t>free(</a:t>
            </a:r>
            <a:r>
              <a:rPr lang="en-US" dirty="0" err="1"/>
              <a:t>ptr</a:t>
            </a:r>
            <a:r>
              <a:rPr lang="en-US" dirty="0"/>
              <a:t>);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0072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2895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, *</a:t>
            </a:r>
            <a:r>
              <a:rPr lang="en-US" dirty="0" err="1"/>
              <a:t>ptr</a:t>
            </a:r>
            <a:r>
              <a:rPr lang="en-US" dirty="0"/>
              <a:t>, sum = 0;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number of elements: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("%d", &amp;</a:t>
            </a:r>
            <a:r>
              <a:rPr lang="en-US" dirty="0" err="1"/>
              <a:t>num</a:t>
            </a:r>
            <a:r>
              <a:rPr lang="en-US" dirty="0"/>
              <a:t>);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739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2895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ptr</a:t>
            </a:r>
            <a:r>
              <a:rPr lang="en-US" dirty="0"/>
              <a:t> = (</a:t>
            </a:r>
            <a:r>
              <a:rPr lang="en-US" dirty="0" err="1"/>
              <a:t>int</a:t>
            </a:r>
            <a:r>
              <a:rPr lang="en-US" dirty="0"/>
              <a:t>*) </a:t>
            </a:r>
            <a:r>
              <a:rPr lang="en-US" dirty="0" err="1"/>
              <a:t>malloc</a:t>
            </a:r>
            <a:r>
              <a:rPr lang="en-US" dirty="0"/>
              <a:t>(</a:t>
            </a:r>
            <a:r>
              <a:rPr lang="en-US" dirty="0" err="1"/>
              <a:t>num</a:t>
            </a:r>
            <a:r>
              <a:rPr lang="en-US" dirty="0"/>
              <a:t> *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)); //memory allocated using </a:t>
            </a:r>
            <a:r>
              <a:rPr lang="en-US" dirty="0" err="1"/>
              <a:t>malloc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if(</a:t>
            </a:r>
            <a:r>
              <a:rPr lang="en-US" dirty="0" err="1"/>
              <a:t>ptr</a:t>
            </a:r>
            <a:r>
              <a:rPr lang="en-US" dirty="0"/>
              <a:t> == NULL)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("Error! memory not allocated.");</a:t>
            </a:r>
          </a:p>
          <a:p>
            <a:pPr marL="0" indent="0" algn="just">
              <a:buNone/>
            </a:pPr>
            <a:r>
              <a:rPr lang="en-US" dirty="0"/>
              <a:t>exit(0);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elements of array: ");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3414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free()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2895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nn-NO" dirty="0" smtClean="0"/>
              <a:t>for(i </a:t>
            </a:r>
            <a:r>
              <a:rPr lang="nn-NO" dirty="0"/>
              <a:t>= 0; i &lt; num; ++i)</a:t>
            </a:r>
          </a:p>
          <a:p>
            <a:pPr marL="0" indent="0" algn="just">
              <a:buNone/>
            </a:pPr>
            <a:r>
              <a:rPr lang="nn-NO" dirty="0"/>
              <a:t>{</a:t>
            </a:r>
          </a:p>
          <a:p>
            <a:pPr marL="0" indent="0" algn="just">
              <a:buNone/>
            </a:pPr>
            <a:r>
              <a:rPr lang="nn-NO" dirty="0"/>
              <a:t>scanf("%d", ptr + i</a:t>
            </a:r>
            <a:r>
              <a:rPr lang="nn-NO" dirty="0" smtClean="0"/>
              <a:t>);</a:t>
            </a:r>
          </a:p>
          <a:p>
            <a:pPr marL="0" indent="0" algn="just">
              <a:buNone/>
            </a:pPr>
            <a:r>
              <a:rPr lang="en-US" dirty="0"/>
              <a:t>sum += *(</a:t>
            </a: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("Sum = %d", sum);</a:t>
            </a:r>
          </a:p>
          <a:p>
            <a:pPr marL="0" indent="0" algn="just">
              <a:buNone/>
            </a:pPr>
            <a:r>
              <a:rPr lang="en-US" dirty="0"/>
              <a:t>free(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990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4790</TotalTime>
  <Words>5240</Words>
  <Application>Microsoft Office PowerPoint</Application>
  <PresentationFormat>On-screen Show (4:3)</PresentationFormat>
  <Paragraphs>895</Paragraphs>
  <Slides>86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86</vt:i4>
      </vt:variant>
    </vt:vector>
  </HeadingPairs>
  <TitlesOfParts>
    <vt:vector size="95" baseType="lpstr">
      <vt:lpstr>Arial</vt:lpstr>
      <vt:lpstr>Calibri</vt:lpstr>
      <vt:lpstr>Georgia</vt:lpstr>
      <vt:lpstr>Times New Roman</vt:lpstr>
      <vt:lpstr>Trebuchet MS</vt:lpstr>
      <vt:lpstr>Wingdings</vt:lpstr>
      <vt:lpstr>Office Theme</vt:lpstr>
      <vt:lpstr>1_Slipstream</vt:lpstr>
      <vt:lpstr>1_Office Theme</vt:lpstr>
      <vt:lpstr>Structure Programming  ICT-1105  Information and Communication Technology</vt:lpstr>
      <vt:lpstr>PowerPoint Presentation</vt:lpstr>
      <vt:lpstr>Pointers </vt:lpstr>
      <vt:lpstr>NULL Pointer</vt:lpstr>
      <vt:lpstr>NULL Pointer</vt:lpstr>
      <vt:lpstr>NULL Pointer</vt:lpstr>
      <vt:lpstr>Pointers to Pointers</vt:lpstr>
      <vt:lpstr>Pointers to Pointers</vt:lpstr>
      <vt:lpstr>Pointers to Pointers</vt:lpstr>
      <vt:lpstr>Pointers to Pointers</vt:lpstr>
      <vt:lpstr>Arrays and Pointers</vt:lpstr>
      <vt:lpstr>Arrays and Pointers</vt:lpstr>
      <vt:lpstr>Arrays and Pointers</vt:lpstr>
      <vt:lpstr>Arrays and Pointers</vt:lpstr>
      <vt:lpstr>Pointer to Array</vt:lpstr>
      <vt:lpstr>Pointer to Array</vt:lpstr>
      <vt:lpstr>Relation between Arrays and Pointers</vt:lpstr>
      <vt:lpstr>Relation between Arrays and Pointers</vt:lpstr>
      <vt:lpstr>Relation between Arrays and Pointers</vt:lpstr>
      <vt:lpstr>Relation between Arrays and Pointers</vt:lpstr>
      <vt:lpstr>Pointer Arithmetic and Arrays</vt:lpstr>
      <vt:lpstr>Increment pointer</vt:lpstr>
      <vt:lpstr>Increment pointer</vt:lpstr>
      <vt:lpstr>Increment pointer</vt:lpstr>
      <vt:lpstr>Increment pointer</vt:lpstr>
      <vt:lpstr>Decrement pointer</vt:lpstr>
      <vt:lpstr>Decrement pointer</vt:lpstr>
      <vt:lpstr>Addition pointer</vt:lpstr>
      <vt:lpstr>Addition pointer</vt:lpstr>
      <vt:lpstr>Subtraction pointer</vt:lpstr>
      <vt:lpstr>Subtraction pointer</vt:lpstr>
      <vt:lpstr>Passing an Array to a Function</vt:lpstr>
      <vt:lpstr>Passing an Array to a Function</vt:lpstr>
      <vt:lpstr>Passing an Array to a Function</vt:lpstr>
      <vt:lpstr>Passing an Array to a Function</vt:lpstr>
      <vt:lpstr>Passing an Array to a Function</vt:lpstr>
      <vt:lpstr>Passing an Array to a Function</vt:lpstr>
      <vt:lpstr>Passing an Array to a Function</vt:lpstr>
      <vt:lpstr>Example: Call by value method </vt:lpstr>
      <vt:lpstr>Call by reference method: Using pointers</vt:lpstr>
      <vt:lpstr>Array of Pointers</vt:lpstr>
      <vt:lpstr>Array of Pointers</vt:lpstr>
      <vt:lpstr>Array of Pointers</vt:lpstr>
      <vt:lpstr>Array of Pointers</vt:lpstr>
      <vt:lpstr>Array of Pointers</vt:lpstr>
      <vt:lpstr>Array of Pointers</vt:lpstr>
      <vt:lpstr>Array of Pointers</vt:lpstr>
      <vt:lpstr>Array of Pointers</vt:lpstr>
      <vt:lpstr>Pointers to Void and to Functions</vt:lpstr>
      <vt:lpstr>Pointers to Void and to Functions</vt:lpstr>
      <vt:lpstr>Pointers to Void and to Functions</vt:lpstr>
      <vt:lpstr>Pointers to Void and to Functions</vt:lpstr>
      <vt:lpstr>Pointers to Void and to Functions</vt:lpstr>
      <vt:lpstr>Advantages of void pointers:</vt:lpstr>
      <vt:lpstr>Advantages of void pointers:</vt:lpstr>
      <vt:lpstr>Advantages of void pointers:</vt:lpstr>
      <vt:lpstr>Advantages of void pointers:</vt:lpstr>
      <vt:lpstr>Pointers to functions/ Function Pointers</vt:lpstr>
      <vt:lpstr>Pointers to functions/ Function Pointers</vt:lpstr>
      <vt:lpstr>Pointers to functions/ Function Pointers</vt:lpstr>
      <vt:lpstr>Pointers to functions/ Function Pointers</vt:lpstr>
      <vt:lpstr>Pointers to functions/ Function Pointers</vt:lpstr>
      <vt:lpstr>Memory Allocation Functions</vt:lpstr>
      <vt:lpstr>Memory Allocation Functions</vt:lpstr>
      <vt:lpstr>Memory Allocation Functions</vt:lpstr>
      <vt:lpstr>Memory Allocation Process</vt:lpstr>
      <vt:lpstr>malloc()</vt:lpstr>
      <vt:lpstr>malloc()</vt:lpstr>
      <vt:lpstr>malloc()</vt:lpstr>
      <vt:lpstr>malloc()</vt:lpstr>
      <vt:lpstr>calloc()</vt:lpstr>
      <vt:lpstr>calloc()</vt:lpstr>
      <vt:lpstr>calloc()</vt:lpstr>
      <vt:lpstr>calloc()</vt:lpstr>
      <vt:lpstr>calloc()</vt:lpstr>
      <vt:lpstr>calloc() vs malloc()</vt:lpstr>
      <vt:lpstr>realloc()</vt:lpstr>
      <vt:lpstr>realloc()</vt:lpstr>
      <vt:lpstr>realloc()</vt:lpstr>
      <vt:lpstr>realloc()</vt:lpstr>
      <vt:lpstr>free()</vt:lpstr>
      <vt:lpstr>free()</vt:lpstr>
      <vt:lpstr>free()</vt:lpstr>
      <vt:lpstr>free()</vt:lpstr>
      <vt:lpstr>free()</vt:lpstr>
      <vt:lpstr>Thank you….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ICT CHAIRMAN</cp:lastModifiedBy>
  <cp:revision>504</cp:revision>
  <dcterms:created xsi:type="dcterms:W3CDTF">2019-09-20T11:10:00Z</dcterms:created>
  <dcterms:modified xsi:type="dcterms:W3CDTF">2025-03-05T17:55:32Z</dcterms:modified>
</cp:coreProperties>
</file>