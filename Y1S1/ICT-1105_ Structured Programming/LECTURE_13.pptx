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62"/>
  </p:notesMasterIdLst>
  <p:sldIdLst>
    <p:sldId id="463" r:id="rId4"/>
    <p:sldId id="467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1" r:id="rId22"/>
    <p:sldId id="552" r:id="rId23"/>
    <p:sldId id="553" r:id="rId24"/>
    <p:sldId id="550" r:id="rId25"/>
    <p:sldId id="554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67" r:id="rId39"/>
    <p:sldId id="568" r:id="rId40"/>
    <p:sldId id="569" r:id="rId41"/>
    <p:sldId id="570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3" r:id="rId51"/>
    <p:sldId id="580" r:id="rId52"/>
    <p:sldId id="582" r:id="rId53"/>
    <p:sldId id="584" r:id="rId54"/>
    <p:sldId id="585" r:id="rId55"/>
    <p:sldId id="586" r:id="rId56"/>
    <p:sldId id="587" r:id="rId57"/>
    <p:sldId id="588" r:id="rId58"/>
    <p:sldId id="589" r:id="rId59"/>
    <p:sldId id="590" r:id="rId60"/>
    <p:sldId id="461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664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694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019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601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271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452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264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50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067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546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344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540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709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24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260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1917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65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89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3070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43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6124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8380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047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3096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3314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08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1215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1173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107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689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045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1027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9596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894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709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709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709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51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Lecture-13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ARRAYS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8915"/>
            <a:ext cx="8229600" cy="5486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 smtClean="0"/>
              <a:t>A </a:t>
            </a:r>
            <a:r>
              <a:rPr lang="en-US" sz="3600" b="1" dirty="0">
                <a:solidFill>
                  <a:srgbClr val="0000CC"/>
                </a:solidFill>
              </a:rPr>
              <a:t>data structure </a:t>
            </a:r>
            <a:r>
              <a:rPr lang="en-US" sz="3600" dirty="0"/>
              <a:t>is the way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stored in the machine and the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used to access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data</a:t>
            </a:r>
            <a:r>
              <a:rPr lang="en-US" sz="3600" dirty="0"/>
              <a:t>. An easy way to think of a data structure is a </a:t>
            </a:r>
            <a:r>
              <a:rPr lang="en-US" sz="3600" dirty="0">
                <a:solidFill>
                  <a:srgbClr val="FF0000"/>
                </a:solidFill>
              </a:rPr>
              <a:t>collection of related data items</a:t>
            </a:r>
            <a:r>
              <a:rPr lang="en-US" sz="3600" dirty="0"/>
              <a:t>. An array is </a:t>
            </a:r>
            <a:r>
              <a:rPr lang="en-US" sz="3600" dirty="0" smtClean="0"/>
              <a:t>a data </a:t>
            </a:r>
            <a:r>
              <a:rPr lang="en-US" sz="3600" dirty="0"/>
              <a:t>structure that is a collection of variables of one type that are accessed through a </a:t>
            </a:r>
            <a:r>
              <a:rPr lang="en-US" sz="3600" dirty="0" smtClean="0"/>
              <a:t>common name</a:t>
            </a:r>
            <a:r>
              <a:rPr lang="en-US" sz="3600" dirty="0"/>
              <a:t>. Each element of an array is </a:t>
            </a:r>
            <a:r>
              <a:rPr lang="en-US" sz="3600" dirty="0">
                <a:solidFill>
                  <a:srgbClr val="FF0000"/>
                </a:solidFill>
              </a:rPr>
              <a:t>given a number </a:t>
            </a:r>
            <a:r>
              <a:rPr lang="en-US" sz="3600" dirty="0"/>
              <a:t>by which we can access that element which </a:t>
            </a:r>
            <a:r>
              <a:rPr lang="en-US" sz="3600" dirty="0" smtClean="0"/>
              <a:t>is called </a:t>
            </a:r>
            <a:r>
              <a:rPr lang="en-US" sz="3600" dirty="0"/>
              <a:t>an </a:t>
            </a:r>
            <a:r>
              <a:rPr lang="en-US" sz="3600" dirty="0">
                <a:solidFill>
                  <a:srgbClr val="FF0000"/>
                </a:solidFill>
              </a:rPr>
              <a:t>index</a:t>
            </a:r>
            <a:r>
              <a:rPr lang="en-US" sz="3600" dirty="0"/>
              <a:t>. It solves the problem of storing a large number of values and manipulating them.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3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: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65467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An array is a group (or collection) of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 data types</a:t>
            </a:r>
            <a:r>
              <a:rPr lang="en-US" sz="3600" dirty="0"/>
              <a:t>.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dirty="0"/>
              <a:t>An array is a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 of data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holds fixed number of values of same type</a:t>
            </a:r>
            <a:r>
              <a:rPr lang="en-US" sz="3600" dirty="0"/>
              <a:t>.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dirty="0"/>
              <a:t>Array is a collection or group of elements (data). All the elements of </a:t>
            </a:r>
            <a:r>
              <a:rPr lang="en-US" sz="3600" dirty="0" smtClean="0"/>
              <a:t>array are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homogeneous</a:t>
            </a:r>
            <a:r>
              <a:rPr lang="en-US" sz="3600" dirty="0"/>
              <a:t> (similar). It has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contiguous memory location</a:t>
            </a:r>
            <a:r>
              <a:rPr lang="en-US" sz="3600" dirty="0"/>
              <a:t>.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</a:p>
          <a:p>
            <a:pPr marL="0" indent="0" algn="just">
              <a:buNone/>
            </a:pPr>
            <a:r>
              <a:rPr lang="en-US" sz="3600" dirty="0"/>
              <a:t>An array is a data structured that can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 a fixed size sequential collection of elements of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 data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10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What’s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need of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65467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Suppose you have to store marks of 50 students, one way to do this is allotting </a:t>
            </a:r>
            <a:r>
              <a:rPr lang="en-US" sz="3600" dirty="0" smtClean="0"/>
              <a:t>50 variables</a:t>
            </a:r>
            <a:r>
              <a:rPr lang="en-US" sz="3600" dirty="0"/>
              <a:t>. So it will be typical and hard to manage. For example we can not access </a:t>
            </a:r>
            <a:r>
              <a:rPr lang="en-US" sz="3600" dirty="0" smtClean="0"/>
              <a:t>the value </a:t>
            </a:r>
            <a:r>
              <a:rPr lang="en-US" sz="3600" dirty="0"/>
              <a:t>of these variables with only 1 or 2 lines of code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/>
              <a:t>Another way to do this is array. By using array, we can access the elements easily. </a:t>
            </a:r>
            <a:r>
              <a:rPr lang="en-US" sz="3600" dirty="0" smtClean="0"/>
              <a:t>Only few </a:t>
            </a:r>
            <a:r>
              <a:rPr lang="en-US" sz="3600" dirty="0"/>
              <a:t>lines of code is required to access the elements of array.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32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arrays are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 smtClean="0"/>
              <a:t>to </a:t>
            </a:r>
            <a:r>
              <a:rPr lang="en-US" sz="3600" dirty="0"/>
              <a:t>store list of Employee or Student </a:t>
            </a:r>
            <a:r>
              <a:rPr lang="en-US" sz="3600" dirty="0" smtClean="0"/>
              <a:t>names</a:t>
            </a:r>
            <a:endParaRPr lang="en-US" sz="36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 smtClean="0"/>
              <a:t>to </a:t>
            </a:r>
            <a:r>
              <a:rPr lang="en-US" sz="3600" dirty="0"/>
              <a:t>store marks of a </a:t>
            </a:r>
            <a:r>
              <a:rPr lang="en-US" sz="3600" dirty="0" smtClean="0"/>
              <a:t>students</a:t>
            </a:r>
            <a:endParaRPr lang="en-US" sz="36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 smtClean="0"/>
              <a:t>to </a:t>
            </a:r>
            <a:r>
              <a:rPr lang="en-US" sz="3600" dirty="0"/>
              <a:t>store list of numbers or characters etc.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23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 of C Array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Optimization: </a:t>
            </a:r>
            <a:r>
              <a:rPr lang="en-US" sz="3600" dirty="0"/>
              <a:t>Less code to the access the data.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Easy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traverse data: </a:t>
            </a:r>
            <a:r>
              <a:rPr lang="en-US" sz="3600" dirty="0"/>
              <a:t>By using the for loop, we can retrieve the elements of an array easily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Easy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sort data: </a:t>
            </a:r>
            <a:r>
              <a:rPr lang="en-US" sz="3600" dirty="0"/>
              <a:t>To sort the elements of array, we need a few lines of code only.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Access: </a:t>
            </a:r>
            <a:r>
              <a:rPr lang="en-US" sz="3600" dirty="0"/>
              <a:t>We can access any element randomly using the array.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1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Fixed Size: </a:t>
            </a:r>
            <a:r>
              <a:rPr lang="en-US" sz="3600" dirty="0"/>
              <a:t>Whatever size, we define at the time of declaration of array, we can't exceed </a:t>
            </a:r>
            <a:r>
              <a:rPr lang="en-US" sz="3600" dirty="0" smtClean="0"/>
              <a:t>the limit</a:t>
            </a:r>
            <a:r>
              <a:rPr lang="en-US" sz="3600" dirty="0"/>
              <a:t>. So, it doesn't grow the size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dynamically</a:t>
            </a:r>
            <a:r>
              <a:rPr lang="en-US" sz="3600" dirty="0"/>
              <a:t> like </a:t>
            </a:r>
            <a:r>
              <a:rPr lang="en-US" sz="3600" dirty="0" err="1"/>
              <a:t>LinkedList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08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Syntax: (One Dimensional </a:t>
            </a:r>
            <a:r>
              <a:rPr lang="en-US" sz="3600" dirty="0" smtClean="0"/>
              <a:t>Array)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data_type</a:t>
            </a:r>
            <a:r>
              <a:rPr lang="en-US" sz="3600" i="1" dirty="0"/>
              <a:t> </a:t>
            </a:r>
            <a:r>
              <a:rPr lang="en-US" sz="36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array_name</a:t>
            </a:r>
            <a:r>
              <a:rPr lang="en-US" sz="3600" i="1" dirty="0"/>
              <a:t>[</a:t>
            </a:r>
            <a:r>
              <a:rPr lang="en-US" sz="3600" b="1" i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</a:t>
            </a:r>
            <a:r>
              <a:rPr lang="en-US" sz="3600" i="1" dirty="0"/>
              <a:t>];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data_type</a:t>
            </a:r>
            <a:r>
              <a:rPr lang="en-US" sz="3600" dirty="0"/>
              <a:t> represents the type of elements present in the array.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array_name</a:t>
            </a:r>
            <a:r>
              <a:rPr lang="en-US" sz="3600" dirty="0"/>
              <a:t> represents the name of the array.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</a:t>
            </a:r>
            <a:r>
              <a:rPr lang="en-US" sz="3600" dirty="0"/>
              <a:t> represents the number of elements that can be stored in the array.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72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For example:</a:t>
            </a:r>
          </a:p>
          <a:p>
            <a:pPr marL="0" indent="0" algn="just">
              <a:buNone/>
            </a:pPr>
            <a:r>
              <a:rPr lang="en-US" sz="3600" dirty="0" err="1"/>
              <a:t>int</a:t>
            </a:r>
            <a:r>
              <a:rPr lang="en-US" sz="3600" dirty="0"/>
              <a:t> </a:t>
            </a:r>
            <a:r>
              <a:rPr lang="en-US" sz="3600" dirty="0" err="1"/>
              <a:t>arr</a:t>
            </a:r>
            <a:r>
              <a:rPr lang="en-US" sz="3600" dirty="0"/>
              <a:t>[10</a:t>
            </a:r>
            <a:r>
              <a:rPr lang="en-US" sz="3600" dirty="0" smtClean="0"/>
              <a:t>];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79152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9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For example: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arr</a:t>
            </a:r>
            <a:r>
              <a:rPr lang="en-US" sz="3600" dirty="0" smtClean="0"/>
              <a:t>[</a:t>
            </a:r>
            <a:r>
              <a:rPr lang="en-US" sz="3600" b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sz="3600" dirty="0"/>
              <a:t>];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/>
              <a:t>Here </a:t>
            </a:r>
            <a:r>
              <a:rPr lang="en-US" sz="36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dirty="0"/>
              <a:t> is the data type,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sz="3600" dirty="0"/>
              <a:t> is the name of the array and </a:t>
            </a:r>
            <a:r>
              <a:rPr lang="en-US" sz="3600" b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sz="3600" dirty="0" smtClean="0"/>
              <a:t> is </a:t>
            </a:r>
            <a:r>
              <a:rPr lang="en-US" sz="3600" dirty="0"/>
              <a:t>the size of array. It </a:t>
            </a:r>
            <a:r>
              <a:rPr lang="en-US" sz="3600" dirty="0" smtClean="0"/>
              <a:t>means array </a:t>
            </a:r>
            <a:r>
              <a:rPr lang="en-US" sz="3600" dirty="0" err="1"/>
              <a:t>arr</a:t>
            </a:r>
            <a:r>
              <a:rPr lang="en-US" sz="3600" dirty="0"/>
              <a:t> can only contain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elements of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type</a:t>
            </a:r>
            <a:r>
              <a:rPr lang="en-US" sz="3600" dirty="0"/>
              <a:t>.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</a:t>
            </a:r>
            <a:r>
              <a:rPr lang="en-US" sz="3600" dirty="0"/>
              <a:t> of an array starts from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to size-1 </a:t>
            </a:r>
            <a:r>
              <a:rPr lang="en-US" sz="3600" dirty="0" err="1" smtClean="0"/>
              <a:t>i.e</a:t>
            </a:r>
            <a:r>
              <a:rPr lang="en-US" sz="3600" dirty="0" smtClean="0"/>
              <a:t> first </a:t>
            </a:r>
            <a:r>
              <a:rPr lang="en-US" sz="3600" dirty="0"/>
              <a:t>element of </a:t>
            </a:r>
            <a:r>
              <a:rPr lang="en-US" sz="3600" dirty="0" err="1"/>
              <a:t>arr</a:t>
            </a:r>
            <a:r>
              <a:rPr lang="en-US" sz="3600" dirty="0"/>
              <a:t> array will be stored at </a:t>
            </a:r>
            <a:r>
              <a:rPr lang="en-US" sz="3600" dirty="0" err="1"/>
              <a:t>arr</a:t>
            </a:r>
            <a:r>
              <a:rPr lang="en-US" sz="3600" dirty="0"/>
              <a:t>[0] address and last element will occupy </a:t>
            </a:r>
            <a:r>
              <a:rPr lang="en-US" sz="3600" dirty="0" err="1" smtClean="0"/>
              <a:t>arr</a:t>
            </a:r>
            <a:r>
              <a:rPr lang="en-US" sz="3600" dirty="0" smtClean="0"/>
              <a:t>[4].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24000"/>
            <a:ext cx="599122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4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For example: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age[100];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 </a:t>
            </a:r>
            <a:r>
              <a:rPr lang="en-US" sz="36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[15];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 grade[20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];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Here </a:t>
            </a:r>
            <a:r>
              <a:rPr lang="en-US" sz="3600" dirty="0"/>
              <a:t>age is an integer type array, which can store 100 elements of integer type. The array </a:t>
            </a:r>
            <a:r>
              <a:rPr lang="en-US" sz="3600" dirty="0" err="1"/>
              <a:t>sal</a:t>
            </a:r>
            <a:r>
              <a:rPr lang="en-US" sz="3600" dirty="0"/>
              <a:t> </a:t>
            </a:r>
            <a:r>
              <a:rPr lang="en-US" sz="3600" dirty="0" smtClean="0"/>
              <a:t>is floating </a:t>
            </a:r>
            <a:r>
              <a:rPr lang="en-US" sz="3600" dirty="0"/>
              <a:t>type array of size 15, can hold float values. Grade is a character type array which </a:t>
            </a:r>
            <a:r>
              <a:rPr lang="en-US" sz="3600" dirty="0" smtClean="0"/>
              <a:t>holds 20 </a:t>
            </a:r>
            <a:r>
              <a:rPr lang="en-US" sz="3600" dirty="0"/>
              <a:t>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97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of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Syntax:</a:t>
            </a:r>
          </a:p>
          <a:p>
            <a:pPr marL="0" indent="0">
              <a:buNone/>
            </a:pPr>
            <a:r>
              <a:rPr lang="en-US" sz="24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data_type</a:t>
            </a:r>
            <a:r>
              <a:rPr lang="en-US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24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array_name</a:t>
            </a:r>
            <a:r>
              <a:rPr lang="en-US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[size</a:t>
            </a: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]={value1, value2,……..</a:t>
            </a:r>
            <a:r>
              <a:rPr lang="en-US" sz="24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valueN</a:t>
            </a:r>
            <a:r>
              <a:rPr lang="en-US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};</a:t>
            </a:r>
            <a:endParaRPr lang="en-US" sz="3600" dirty="0" smtClean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Value1</a:t>
            </a:r>
            <a:r>
              <a:rPr lang="en-US" sz="3600" dirty="0"/>
              <a:t>, value2, </a:t>
            </a:r>
            <a:r>
              <a:rPr lang="en-US" sz="3600" dirty="0" err="1"/>
              <a:t>valueN</a:t>
            </a:r>
            <a:r>
              <a:rPr lang="en-US" sz="3600" dirty="0"/>
              <a:t> are the constant values known as initializers, which are assigned to </a:t>
            </a:r>
            <a:r>
              <a:rPr lang="en-US" sz="3600" dirty="0" smtClean="0"/>
              <a:t>the array </a:t>
            </a:r>
            <a:r>
              <a:rPr lang="en-US" sz="3600" dirty="0"/>
              <a:t>elements one after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68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of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Example:</a:t>
            </a:r>
          </a:p>
          <a:p>
            <a:pPr marL="0" indent="0" algn="just">
              <a:buNone/>
            </a:pPr>
            <a:r>
              <a:rPr lang="en-US" sz="3600" dirty="0" err="1"/>
              <a:t>int</a:t>
            </a:r>
            <a:r>
              <a:rPr lang="en-US" sz="3600" dirty="0"/>
              <a:t> marks[5]={10,2,0,23,4};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The </a:t>
            </a:r>
            <a:r>
              <a:rPr lang="en-US" sz="3600" dirty="0"/>
              <a:t>values of the array elements after this initialization are:</a:t>
            </a:r>
          </a:p>
          <a:p>
            <a:pPr marL="0" indent="0" algn="just">
              <a:buNone/>
            </a:pPr>
            <a:r>
              <a:rPr lang="en-US" sz="3600" dirty="0"/>
              <a:t>marks[0]=10,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marks[1</a:t>
            </a:r>
            <a:r>
              <a:rPr lang="en-US" sz="3600" dirty="0"/>
              <a:t>]=2,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marks[2</a:t>
            </a:r>
            <a:r>
              <a:rPr lang="en-US" sz="3600" dirty="0"/>
              <a:t>]=0,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marks[3</a:t>
            </a:r>
            <a:r>
              <a:rPr lang="en-US" sz="3600" dirty="0"/>
              <a:t>]=23,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marks[4</a:t>
            </a:r>
            <a:r>
              <a:rPr lang="en-US" sz="3600" dirty="0"/>
              <a:t>]=4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8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of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Example:</a:t>
            </a:r>
          </a:p>
          <a:p>
            <a:pPr marL="0" indent="0" algn="just">
              <a:buNone/>
            </a:pPr>
            <a:r>
              <a:rPr lang="en-US" sz="3600" dirty="0" err="1"/>
              <a:t>int</a:t>
            </a:r>
            <a:r>
              <a:rPr lang="en-US" sz="3600" dirty="0"/>
              <a:t> age[5]={22,25,30,32,35</a:t>
            </a:r>
            <a:r>
              <a:rPr lang="en-US" sz="3600" dirty="0" smtClean="0"/>
              <a:t>};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2600" dirty="0" err="1"/>
              <a:t>int</a:t>
            </a:r>
            <a:r>
              <a:rPr lang="en-US" sz="2600" dirty="0"/>
              <a:t> marks[4]={ 67, 87, 56, 77 }; //integer array initialization</a:t>
            </a:r>
          </a:p>
          <a:p>
            <a:pPr marL="0" indent="0" algn="just">
              <a:buNone/>
            </a:pPr>
            <a:r>
              <a:rPr lang="en-US" sz="2600" dirty="0"/>
              <a:t>float area[5]={ 23.4, 6.8, 5.5 }; //float array initialization</a:t>
            </a:r>
          </a:p>
          <a:p>
            <a:pPr marL="0" indent="0" algn="just">
              <a:buNone/>
            </a:pPr>
            <a:r>
              <a:rPr lang="en-US" sz="2600" dirty="0" err="1"/>
              <a:t>int</a:t>
            </a:r>
            <a:r>
              <a:rPr lang="en-US" sz="2600" dirty="0"/>
              <a:t> marks[4]={ 67, 87, 56, 77, 59 }; //Compile time error</a:t>
            </a:r>
            <a:endParaRPr lang="en-US" sz="2600" dirty="0" smtClean="0"/>
          </a:p>
          <a:p>
            <a:pPr marL="0" indent="0" algn="just">
              <a:buNone/>
            </a:pP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2438400"/>
            <a:ext cx="649605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1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 ways of initializing arrays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1 : </a:t>
            </a:r>
            <a:r>
              <a:rPr lang="en-US" sz="3600" dirty="0" err="1"/>
              <a:t>Initilizing</a:t>
            </a:r>
            <a:r>
              <a:rPr lang="en-US" sz="3600" dirty="0"/>
              <a:t> all specified memory locations</a:t>
            </a:r>
          </a:p>
          <a:p>
            <a:pPr marL="0" indent="0" algn="just">
              <a:buNone/>
            </a:pPr>
            <a:r>
              <a:rPr lang="en-US" sz="3600" dirty="0"/>
              <a:t>2 : Partial array initialization.</a:t>
            </a:r>
          </a:p>
          <a:p>
            <a:pPr marL="0" indent="0" algn="just">
              <a:buNone/>
            </a:pPr>
            <a:r>
              <a:rPr lang="en-US" sz="3600" dirty="0"/>
              <a:t>3 : </a:t>
            </a:r>
            <a:r>
              <a:rPr lang="en-US" sz="3600" dirty="0" err="1"/>
              <a:t>Intilization</a:t>
            </a:r>
            <a:r>
              <a:rPr lang="en-US" sz="3600" dirty="0"/>
              <a:t> without size.</a:t>
            </a:r>
          </a:p>
          <a:p>
            <a:pPr marL="0" indent="0" algn="just">
              <a:buNone/>
            </a:pPr>
            <a:r>
              <a:rPr lang="en-US" sz="3600" dirty="0"/>
              <a:t>4 : String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28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Initilizing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specified memory locations :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If the number of values to be initialized is </a:t>
            </a:r>
            <a:r>
              <a:rPr lang="en-US" sz="3600" dirty="0" smtClean="0"/>
              <a:t>equal to </a:t>
            </a:r>
            <a:r>
              <a:rPr lang="en-US" sz="3600" dirty="0"/>
              <a:t>size of array. Arrays can be initialized at the time of declaration. Array elements can </a:t>
            </a:r>
            <a:r>
              <a:rPr lang="en-US" sz="3600" dirty="0" smtClean="0"/>
              <a:t>be initialized </a:t>
            </a:r>
            <a:r>
              <a:rPr lang="en-US" sz="3600" dirty="0"/>
              <a:t>with data items of type </a:t>
            </a:r>
            <a:r>
              <a:rPr lang="en-US" sz="3600" dirty="0" err="1"/>
              <a:t>int,float,char</a:t>
            </a:r>
            <a:r>
              <a:rPr lang="en-US" sz="3600" dirty="0"/>
              <a:t>, etc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/>
              <a:t>Ex : consider integer initialization</a:t>
            </a:r>
          </a:p>
          <a:p>
            <a:pPr marL="0" indent="0" algn="just">
              <a:buNone/>
            </a:pPr>
            <a:r>
              <a:rPr lang="en-US" sz="3600" dirty="0" smtClean="0"/>
              <a:t>	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a[5]={10,20,30,40,50};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01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Initilizing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specified memory locations :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65467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During compilation, 5 contiguous memory locations are reserved by the compiler for </a:t>
            </a:r>
            <a:r>
              <a:rPr lang="en-US" dirty="0" smtClean="0"/>
              <a:t>the variable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dirty="0"/>
              <a:t> and all these locations are </a:t>
            </a:r>
            <a:r>
              <a:rPr lang="en-US" dirty="0" smtClean="0"/>
              <a:t>initialized. The </a:t>
            </a:r>
            <a:r>
              <a:rPr lang="en-US" dirty="0"/>
              <a:t>array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dirty="0"/>
              <a:t> is initialized </a:t>
            </a:r>
            <a:r>
              <a:rPr lang="en-US" dirty="0" smtClean="0"/>
              <a:t>as</a:t>
            </a:r>
          </a:p>
          <a:p>
            <a:pPr marL="0" indent="0" algn="just">
              <a:buNone/>
            </a:pP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If </a:t>
            </a:r>
            <a:r>
              <a:rPr lang="en-US" dirty="0"/>
              <a:t>the size of integer is 2 bytes, 10 bytes will be allocated for the variable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04" y="3048000"/>
            <a:ext cx="60483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Initilizing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specified memory locations :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 : consider character </a:t>
            </a:r>
            <a:r>
              <a:rPr lang="en-US" dirty="0" smtClean="0"/>
              <a:t>initialization</a:t>
            </a:r>
          </a:p>
          <a:p>
            <a:pPr marL="0" indent="0" algn="just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b[8] =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{‘C’,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‘O’, ‘M’, ‘P’, ‘U’, ‘T’, ‘E’, ‘R’};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array b is initialized 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3505200"/>
            <a:ext cx="57531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61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Initilizing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specified memory locations :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Other Examples :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b[5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]={‘J’, ‘B’, ‘R’, ‘E’, ‘C’, ‘B’};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/>
              <a:t>//</a:t>
            </a:r>
            <a:r>
              <a:rPr lang="en-US" dirty="0">
                <a:solidFill>
                  <a:srgbClr val="FF0000"/>
                </a:solidFill>
              </a:rPr>
              <a:t>error </a:t>
            </a:r>
            <a:r>
              <a:rPr lang="en-US" dirty="0"/>
              <a:t>: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initial values are more than the size of array.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a[5]={</a:t>
            </a:r>
            <a:r>
              <a:rPr lang="en-US" dirty="0" smtClean="0"/>
              <a:t>10,20,30,40,50,60};</a:t>
            </a:r>
          </a:p>
          <a:p>
            <a:pPr marL="0" indent="0" algn="just">
              <a:buNone/>
            </a:pPr>
            <a:r>
              <a:rPr lang="en-US" dirty="0"/>
              <a:t>//</a:t>
            </a:r>
            <a:r>
              <a:rPr lang="en-US" dirty="0">
                <a:solidFill>
                  <a:srgbClr val="FF0000"/>
                </a:solidFill>
              </a:rPr>
              <a:t>error</a:t>
            </a:r>
            <a:r>
              <a:rPr lang="en-US" dirty="0"/>
              <a:t> :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initial values are more than the size of array.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3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799"/>
                <a:ext cx="8229600" cy="528955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3600" dirty="0" smtClean="0"/>
                  <a:t>Partial </a:t>
                </a:r>
                <a:r>
                  <a:rPr lang="en-US" sz="3600" dirty="0"/>
                  <a:t>array initialization is possible in C language. </a:t>
                </a:r>
                <a:r>
                  <a:rPr lang="en-US" sz="36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 </a:t>
                </a:r>
                <a:r>
                  <a:rPr lang="en-US" sz="36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the number </a:t>
                </a:r>
                <a:r>
                  <a:rPr lang="en-US" sz="36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of values to be initialized is less than the size of the array</a:t>
                </a:r>
                <a:r>
                  <a:rPr lang="en-US" sz="3600" dirty="0"/>
                  <a:t>, then the elements </a:t>
                </a:r>
                <a:r>
                  <a:rPr lang="en-US" sz="3600" dirty="0" smtClean="0"/>
                  <a:t>are initialized </a:t>
                </a:r>
                <a:r>
                  <a:rPr lang="en-US" sz="3600" dirty="0"/>
                  <a:t>in the order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p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3600" dirty="0" smtClean="0"/>
                  <a:t>location</a:t>
                </a:r>
                <a:r>
                  <a:rPr lang="en-US" sz="3600" dirty="0"/>
                  <a:t>. </a:t>
                </a:r>
                <a:r>
                  <a:rPr lang="en-US" sz="3600" b="1" dirty="0">
                    <a:solidFill>
                      <a:srgbClr val="0000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The remaining locations will be initialized to </a:t>
                </a:r>
                <a:r>
                  <a:rPr lang="en-US" sz="3600" b="1" dirty="0" smtClean="0">
                    <a:solidFill>
                      <a:srgbClr val="0000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zero automatically</a:t>
                </a:r>
                <a:r>
                  <a:rPr lang="en-US" sz="3600" b="1" dirty="0">
                    <a:solidFill>
                      <a:srgbClr val="0000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799"/>
                <a:ext cx="8229600" cy="5289551"/>
              </a:xfrm>
              <a:blipFill>
                <a:blip r:embed="rId3"/>
                <a:stretch>
                  <a:fillRect l="-2370" t="-1728" r="-2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6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3600" dirty="0"/>
              <a:t>Ex : Consider the partial </a:t>
            </a:r>
            <a:r>
              <a:rPr lang="en-US" sz="3600" dirty="0" err="1"/>
              <a:t>initilization</a:t>
            </a: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b="1" i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i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a[5]={10,15};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err="1" smtClean="0"/>
              <a:t>Eventhough</a:t>
            </a:r>
            <a:r>
              <a:rPr lang="en-US" sz="3600" dirty="0" smtClean="0"/>
              <a:t> </a:t>
            </a:r>
            <a:r>
              <a:rPr lang="en-US" sz="3600" dirty="0"/>
              <a:t>compiler allocates 5 memory locations, using this </a:t>
            </a:r>
            <a:r>
              <a:rPr lang="en-US" sz="3600" dirty="0" smtClean="0"/>
              <a:t>declaration statement</a:t>
            </a:r>
            <a:r>
              <a:rPr lang="en-US" sz="3600" dirty="0"/>
              <a:t>, the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initializes first two locations with 10 and 15</a:t>
            </a:r>
            <a:r>
              <a:rPr lang="en-US" sz="3600" dirty="0"/>
              <a:t>, the next set of </a:t>
            </a:r>
            <a:r>
              <a:rPr lang="en-US" sz="3600" dirty="0" smtClean="0"/>
              <a:t>memory locations </a:t>
            </a:r>
            <a:r>
              <a:rPr lang="en-US" sz="3600" dirty="0"/>
              <a:t>are automatically initialized to </a:t>
            </a:r>
            <a:r>
              <a:rPr lang="en-US" sz="3600" dirty="0" smtClean="0"/>
              <a:t>zero. 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64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array a is partial initialization </a:t>
            </a:r>
            <a:r>
              <a:rPr lang="en-US" sz="3600" dirty="0" smtClean="0"/>
              <a:t>as</a:t>
            </a:r>
          </a:p>
          <a:p>
            <a:pPr marL="0" indent="0" algn="just">
              <a:buNone/>
            </a:pP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343150"/>
            <a:ext cx="69342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1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How to access the elements of an array</a:t>
            </a:r>
            <a:r>
              <a:rPr lang="en-US" sz="3600" dirty="0" smtClean="0"/>
              <a:t>?</a:t>
            </a:r>
          </a:p>
          <a:p>
            <a:pPr marL="0" indent="0" algn="just">
              <a:buNone/>
            </a:pPr>
            <a:r>
              <a:rPr lang="en-US" sz="3600" dirty="0"/>
              <a:t>You can access elements of an array by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indices/index</a:t>
            </a:r>
            <a:r>
              <a:rPr lang="en-US" sz="3600" dirty="0"/>
              <a:t>. You can use array subscript (or index) </a:t>
            </a:r>
            <a:r>
              <a:rPr lang="en-US" sz="3600" dirty="0" smtClean="0"/>
              <a:t>to access </a:t>
            </a:r>
            <a:r>
              <a:rPr lang="en-US" sz="3600" dirty="0"/>
              <a:t>any element stored in array. Subscript starts with 0, which means </a:t>
            </a:r>
            <a:r>
              <a:rPr lang="en-US" sz="3600" dirty="0" err="1"/>
              <a:t>array_name</a:t>
            </a:r>
            <a:r>
              <a:rPr lang="en-US" sz="3600" dirty="0"/>
              <a:t>[0] would </a:t>
            </a:r>
            <a:r>
              <a:rPr lang="en-US" sz="3600" dirty="0" smtClean="0"/>
              <a:t>be used </a:t>
            </a:r>
            <a:r>
              <a:rPr lang="en-US" sz="3600" dirty="0"/>
              <a:t>to access first element in an array.</a:t>
            </a:r>
          </a:p>
          <a:p>
            <a:pPr marL="0" indent="0" algn="just">
              <a:buNone/>
            </a:pPr>
            <a:r>
              <a:rPr lang="en-US" sz="3600" dirty="0"/>
              <a:t>In general </a:t>
            </a:r>
            <a:r>
              <a:rPr lang="en-US" sz="36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array_name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[n-1]</a:t>
            </a:r>
            <a:r>
              <a:rPr lang="en-US" sz="3600" dirty="0"/>
              <a:t> can be used to access nth element of an array. where n is any </a:t>
            </a:r>
            <a:r>
              <a:rPr lang="en-US" sz="3600" dirty="0" smtClean="0"/>
              <a:t>integer number</a:t>
            </a:r>
            <a:r>
              <a:rPr lang="en-US" sz="36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16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Example</a:t>
            </a:r>
          </a:p>
          <a:p>
            <a:pPr marL="0" indent="0" algn="just">
              <a:buNone/>
            </a:pPr>
            <a:r>
              <a:rPr lang="en-US" sz="3600" dirty="0"/>
              <a:t>float mark[5];</a:t>
            </a:r>
          </a:p>
          <a:p>
            <a:pPr marL="0" indent="0" algn="just">
              <a:buNone/>
            </a:pPr>
            <a:r>
              <a:rPr lang="en-US" sz="3600" dirty="0"/>
              <a:t>Suppose you declared an array mark as above. The first element is mark[0], second </a:t>
            </a:r>
            <a:r>
              <a:rPr lang="en-US" sz="3600" dirty="0" smtClean="0"/>
              <a:t>element is </a:t>
            </a:r>
            <a:r>
              <a:rPr lang="en-US" sz="3600" dirty="0"/>
              <a:t>mark[1] and so on</a:t>
            </a:r>
            <a:r>
              <a:rPr lang="en-US" sz="3600" dirty="0" smtClean="0"/>
              <a:t>.</a:t>
            </a: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191000"/>
            <a:ext cx="52863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0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Partial Array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Initilization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Few key notes: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Arrays </a:t>
            </a:r>
            <a:r>
              <a:rPr lang="en-US" sz="2400" dirty="0"/>
              <a:t>have 0 as the first index not 1. In this example, mark[0]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If </a:t>
            </a:r>
            <a:r>
              <a:rPr lang="en-US" sz="2400" dirty="0"/>
              <a:t>the size of an array is n, to access the last element, (n-1) index is used. In </a:t>
            </a:r>
            <a:r>
              <a:rPr lang="en-US" sz="2400" dirty="0" smtClean="0"/>
              <a:t>this example</a:t>
            </a:r>
            <a:r>
              <a:rPr lang="en-US" sz="2400" dirty="0"/>
              <a:t>, mark[4]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Suppose </a:t>
            </a:r>
            <a:r>
              <a:rPr lang="en-US" sz="2400" dirty="0"/>
              <a:t>the starting address of mark[0] is 2120d. Then, the next address, a[1], will </a:t>
            </a:r>
            <a:r>
              <a:rPr lang="en-US" sz="2400" dirty="0" smtClean="0"/>
              <a:t>be 2124d</a:t>
            </a:r>
            <a:r>
              <a:rPr lang="en-US" sz="2400" dirty="0"/>
              <a:t>, address of a[2] will be 2128d and so on. It's because the size of a float is 4 bytes.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343400"/>
            <a:ext cx="52863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6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data into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Code:</a:t>
            </a:r>
          </a:p>
          <a:p>
            <a:pPr marL="0" indent="0" algn="just">
              <a:buNone/>
            </a:pPr>
            <a:r>
              <a:rPr lang="en-US" dirty="0"/>
              <a:t>for (x=0; x&lt;=19;x++)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 smtClean="0"/>
              <a:t>printf</a:t>
            </a:r>
            <a:r>
              <a:rPr lang="en-US" dirty="0"/>
              <a:t>("enter the integer number %d\n", x);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 &amp;</a:t>
            </a:r>
            <a:r>
              <a:rPr lang="en-US" dirty="0" err="1"/>
              <a:t>num</a:t>
            </a:r>
            <a:r>
              <a:rPr lang="en-US" dirty="0"/>
              <a:t>[x]);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32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Reading out data from an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For example you want to read and display array elements, you can do it just by using </a:t>
            </a:r>
            <a:r>
              <a:rPr lang="en-US" dirty="0" smtClean="0"/>
              <a:t>any loop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Suppose </a:t>
            </a:r>
            <a:r>
              <a:rPr lang="en-US" dirty="0"/>
              <a:t>array is </a:t>
            </a:r>
            <a:r>
              <a:rPr lang="en-US" dirty="0" err="1"/>
              <a:t>mydata</a:t>
            </a:r>
            <a:r>
              <a:rPr lang="en-US" dirty="0"/>
              <a:t>[20</a:t>
            </a:r>
            <a:r>
              <a:rPr lang="en-US" dirty="0" smtClean="0"/>
              <a:t>].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&lt;20;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("%d\n", </a:t>
            </a:r>
            <a:r>
              <a:rPr lang="en-US" dirty="0" err="1"/>
              <a:t>mydata</a:t>
            </a:r>
            <a:r>
              <a:rPr lang="en-US" dirty="0"/>
              <a:t>[x]);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97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Exmaple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[]={2,3,4}; //Compile time array initialization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 ; </a:t>
            </a:r>
            <a:r>
              <a:rPr lang="en-US" dirty="0" err="1"/>
              <a:t>i</a:t>
            </a:r>
            <a:r>
              <a:rPr lang="en-US" dirty="0"/>
              <a:t>&lt;3 ; </a:t>
            </a:r>
            <a:r>
              <a:rPr lang="en-US" dirty="0" err="1"/>
              <a:t>i</a:t>
            </a:r>
            <a:r>
              <a:rPr lang="en-US" dirty="0" smtClean="0"/>
              <a:t>++)</a:t>
            </a:r>
          </a:p>
          <a:p>
            <a:pPr marL="0" indent="0" algn="just">
              <a:buNone/>
            </a:pPr>
            <a:r>
              <a:rPr lang="en-US" dirty="0" smtClean="0"/>
              <a:t>	{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	</a:t>
            </a:r>
            <a:r>
              <a:rPr lang="en-US" dirty="0" err="1" smtClean="0"/>
              <a:t>printf</a:t>
            </a:r>
            <a:r>
              <a:rPr lang="en-US" dirty="0"/>
              <a:t>("%d\t",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 algn="just">
              <a:buNone/>
            </a:pPr>
            <a:r>
              <a:rPr lang="en-US" dirty="0" smtClean="0"/>
              <a:t>	}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2 3 4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47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#include </a:t>
            </a:r>
            <a:r>
              <a:rPr lang="en-US" dirty="0"/>
              <a:t>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smtClean="0"/>
              <a:t>#include </a:t>
            </a:r>
            <a:r>
              <a:rPr lang="en-US" dirty="0"/>
              <a:t>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smtClean="0"/>
              <a:t>void </a:t>
            </a:r>
            <a:r>
              <a:rPr lang="en-US" dirty="0"/>
              <a:t>main</a:t>
            </a:r>
            <a:r>
              <a:rPr lang="en-US" dirty="0" smtClean="0"/>
              <a:t>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=0;</a:t>
            </a:r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marks[5]={20,30,40,50,60</a:t>
            </a:r>
            <a:r>
              <a:rPr lang="en-US" sz="2600" dirty="0"/>
              <a:t>};//declaration and initialization of </a:t>
            </a:r>
            <a:r>
              <a:rPr lang="en-US" sz="2600" dirty="0" smtClean="0"/>
              <a:t>array </a:t>
            </a:r>
          </a:p>
          <a:p>
            <a:pPr marL="0" indent="0" algn="just">
              <a:buNone/>
            </a:pPr>
            <a:r>
              <a:rPr lang="en-US" dirty="0" err="1" smtClean="0"/>
              <a:t>clrscr</a:t>
            </a:r>
            <a:r>
              <a:rPr lang="en-US" dirty="0" smtClean="0"/>
              <a:t>(); </a:t>
            </a:r>
          </a:p>
          <a:p>
            <a:pPr marL="0" indent="0" algn="just">
              <a:buNone/>
            </a:pPr>
            <a:r>
              <a:rPr lang="en-US" dirty="0" smtClean="0"/>
              <a:t>//</a:t>
            </a:r>
            <a:r>
              <a:rPr lang="en-US" dirty="0"/>
              <a:t>traversal of array</a:t>
            </a:r>
          </a:p>
          <a:p>
            <a:pPr marL="0" indent="0" algn="just">
              <a:buNone/>
            </a:pPr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=0;i&lt;5;i++)</a:t>
            </a:r>
          </a:p>
          <a:p>
            <a:pPr marL="0" indent="0" algn="just">
              <a:buNone/>
            </a:pPr>
            <a:r>
              <a:rPr lang="en-US" dirty="0" smtClean="0"/>
              <a:t>	{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 err="1"/>
              <a:t>printf</a:t>
            </a:r>
            <a:r>
              <a:rPr lang="en-US" dirty="0"/>
              <a:t>("%d \</a:t>
            </a:r>
            <a:r>
              <a:rPr lang="en-US" dirty="0" err="1"/>
              <a:t>n",marks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 smtClean="0"/>
              <a:t>]);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dirty="0" err="1" smtClean="0"/>
              <a:t>getch</a:t>
            </a:r>
            <a:r>
              <a:rPr lang="en-US" dirty="0" smtClean="0"/>
              <a:t>();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435121"/>
            <a:ext cx="1371600" cy="178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3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Runtime Array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An array can also be initialized at runtime using </a:t>
            </a:r>
            <a:r>
              <a:rPr lang="en-US" dirty="0" err="1"/>
              <a:t>scanf</a:t>
            </a:r>
            <a:r>
              <a:rPr lang="en-US" dirty="0"/>
              <a:t>() function. This approach is </a:t>
            </a:r>
            <a:r>
              <a:rPr lang="en-US" dirty="0" smtClean="0"/>
              <a:t>usually used </a:t>
            </a:r>
            <a:r>
              <a:rPr lang="en-US" dirty="0"/>
              <a:t>for initializing large array, or to initialize array with user specified values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[4];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j;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array element");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56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Runtime Array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=0;i&lt;4;i++)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("%d",&amp;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 </a:t>
            </a:r>
            <a:r>
              <a:rPr lang="en-US" sz="2400" dirty="0"/>
              <a:t>//Run time array initialization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for(j=0;j&lt;4;j++)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("%d\n",</a:t>
            </a:r>
            <a:r>
              <a:rPr lang="en-US" dirty="0" err="1"/>
              <a:t>arr</a:t>
            </a:r>
            <a:r>
              <a:rPr lang="en-US" dirty="0"/>
              <a:t>[j]);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 smtClean="0"/>
              <a:t>();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5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1. In 1-D arrays it is optional to specify the size of the array. If size is omitted </a:t>
            </a:r>
            <a:r>
              <a:rPr lang="en-US" dirty="0" smtClean="0"/>
              <a:t>during initialization </a:t>
            </a:r>
            <a:r>
              <a:rPr lang="en-US" dirty="0"/>
              <a:t>then the compiler assumes the size of array equal to the number </a:t>
            </a:r>
            <a:r>
              <a:rPr lang="en-US" dirty="0" smtClean="0"/>
              <a:t>of initializers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Example:.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marks[]={10,2,0,23,4</a:t>
            </a:r>
            <a:r>
              <a:rPr lang="en-US" dirty="0" smtClean="0"/>
              <a:t>};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Here the size of array marks is initialized to 5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7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2. We can’t copy the elements of one array to another array by simply assigning it.</a:t>
            </a:r>
          </a:p>
          <a:p>
            <a:pPr marL="0" indent="0" algn="just">
              <a:buNone/>
            </a:pPr>
            <a:r>
              <a:rPr lang="en-US" dirty="0" smtClean="0"/>
              <a:t>Example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a[5]={9,8,7,6,5};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b[5];</a:t>
            </a:r>
          </a:p>
          <a:p>
            <a:pPr marL="0" indent="0" algn="just">
              <a:buNone/>
            </a:pPr>
            <a:r>
              <a:rPr lang="en-US" dirty="0"/>
              <a:t>b=a; //not valid</a:t>
            </a:r>
          </a:p>
          <a:p>
            <a:pPr marL="0" indent="0" algn="just">
              <a:buNone/>
            </a:pPr>
            <a:r>
              <a:rPr lang="en-US" dirty="0" smtClean="0"/>
              <a:t>we </a:t>
            </a:r>
            <a:r>
              <a:rPr lang="en-US" dirty="0"/>
              <a:t>have to copy all the elements by using for loop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nn-NO" dirty="0"/>
              <a:t>for(a=i; i&lt;5; i++)</a:t>
            </a:r>
          </a:p>
          <a:p>
            <a:pPr marL="0" indent="0" algn="just">
              <a:buNone/>
            </a:pPr>
            <a:r>
              <a:rPr lang="nn-NO" dirty="0"/>
              <a:t>b[i]=a[i];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06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For processing arrays we mostly use for loop. The total no. of passes is equal to the </a:t>
            </a:r>
            <a:r>
              <a:rPr lang="en-US" dirty="0" smtClean="0"/>
              <a:t>no. of </a:t>
            </a:r>
            <a:r>
              <a:rPr lang="en-US" dirty="0"/>
              <a:t>elements present in the array and in each pass </a:t>
            </a:r>
            <a:r>
              <a:rPr lang="en-US" dirty="0" smtClean="0"/>
              <a:t>one </a:t>
            </a:r>
            <a:r>
              <a:rPr lang="en-US" dirty="0"/>
              <a:t>element is processed.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5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a[3],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=0;i&lt;=2;i++) //Reading the array values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(“enter the elements”);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(“%</a:t>
            </a:r>
            <a:r>
              <a:rPr lang="en-US" dirty="0" err="1"/>
              <a:t>d”,&amp;a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6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=0;i&lt;=2;i++) //display the array values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(“%</a:t>
            </a:r>
            <a:r>
              <a:rPr lang="en-US" dirty="0" err="1"/>
              <a:t>d”,a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(“\n”);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This program reads and displays 3 elements of integer type.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93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C Program to Increment every Element of the Array by one &amp; Print Incremented Array</a:t>
            </a:r>
            <a:r>
              <a:rPr lang="en-US" sz="2800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155481"/>
            <a:ext cx="3514725" cy="453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Example-2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67055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800" dirty="0"/>
              <a:t>C program to accept N numbers and arrange them in an ascending </a:t>
            </a:r>
            <a:r>
              <a:rPr lang="en-US" sz="2800" dirty="0" smtClean="0"/>
              <a:t>order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i, j, a, n, number[30];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("Enter the value of N \n");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scanf</a:t>
            </a:r>
            <a:r>
              <a:rPr lang="en-US" dirty="0"/>
              <a:t>("%d", &amp;n);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("Enter the numbers \n");</a:t>
            </a:r>
          </a:p>
          <a:p>
            <a:pPr marL="0" indent="0" algn="just">
              <a:buNone/>
            </a:pPr>
            <a:r>
              <a:rPr lang="en-US" dirty="0" smtClean="0"/>
              <a:t>	for </a:t>
            </a:r>
            <a:r>
              <a:rPr lang="en-US" dirty="0"/>
              <a:t>(i = 0; i &lt; n; ++i)</a:t>
            </a:r>
          </a:p>
          <a:p>
            <a:pPr marL="0" indent="0" algn="just">
              <a:buNone/>
            </a:pPr>
            <a:r>
              <a:rPr lang="en-US" dirty="0" smtClean="0"/>
              <a:t>		</a:t>
            </a:r>
            <a:r>
              <a:rPr lang="en-US" dirty="0" err="1" smtClean="0"/>
              <a:t>scanf</a:t>
            </a:r>
            <a:r>
              <a:rPr lang="en-US" dirty="0"/>
              <a:t>("%d", &amp;number[i]);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97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67055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800" dirty="0"/>
              <a:t>for (i = 0; i &lt; n; ++i)</a:t>
            </a:r>
          </a:p>
          <a:p>
            <a:pPr marL="0" indent="0" algn="just">
              <a:buNone/>
            </a:pPr>
            <a:r>
              <a:rPr lang="en-US" sz="2800" dirty="0"/>
              <a:t>{</a:t>
            </a:r>
          </a:p>
          <a:p>
            <a:pPr marL="0" indent="0" algn="just">
              <a:buNone/>
            </a:pPr>
            <a:r>
              <a:rPr lang="en-US" sz="2800" dirty="0" smtClean="0"/>
              <a:t>	for </a:t>
            </a:r>
            <a:r>
              <a:rPr lang="en-US" sz="2800" dirty="0"/>
              <a:t>(j = i + 1; j &lt; n; ++j)</a:t>
            </a:r>
          </a:p>
          <a:p>
            <a:pPr marL="0" indent="0" algn="just">
              <a:buNone/>
            </a:pPr>
            <a:r>
              <a:rPr lang="en-US" sz="2800" dirty="0" smtClean="0"/>
              <a:t>	{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		if </a:t>
            </a:r>
            <a:r>
              <a:rPr lang="en-US" sz="2800" dirty="0"/>
              <a:t>(number[i] &gt; number[j])</a:t>
            </a:r>
          </a:p>
          <a:p>
            <a:pPr marL="0" indent="0" algn="just">
              <a:buNone/>
            </a:pPr>
            <a:r>
              <a:rPr lang="en-US" sz="2800" dirty="0" smtClean="0"/>
              <a:t>		{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			a </a:t>
            </a:r>
            <a:r>
              <a:rPr lang="en-US" sz="2800" dirty="0"/>
              <a:t>=number[i];</a:t>
            </a:r>
          </a:p>
          <a:p>
            <a:pPr marL="0" indent="0" algn="just">
              <a:buNone/>
            </a:pPr>
            <a:r>
              <a:rPr lang="en-US" sz="2800" dirty="0" smtClean="0"/>
              <a:t>			number[i</a:t>
            </a:r>
            <a:r>
              <a:rPr lang="en-US" sz="2800" dirty="0"/>
              <a:t>] = number[j];</a:t>
            </a:r>
          </a:p>
          <a:p>
            <a:pPr marL="0" indent="0" algn="just">
              <a:buNone/>
            </a:pPr>
            <a:r>
              <a:rPr lang="en-US" sz="2800" dirty="0" smtClean="0"/>
              <a:t>			number[j</a:t>
            </a:r>
            <a:r>
              <a:rPr lang="en-US" sz="2800" dirty="0"/>
              <a:t>] = a;</a:t>
            </a:r>
          </a:p>
          <a:p>
            <a:pPr marL="0" indent="0" algn="just">
              <a:buNone/>
            </a:pPr>
            <a:r>
              <a:rPr lang="en-US" sz="2800" dirty="0" smtClean="0"/>
              <a:t>		}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	}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/>
              <a:t>}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07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6705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 err="1" smtClean="0"/>
              <a:t>printf</a:t>
            </a:r>
            <a:r>
              <a:rPr lang="en-US" sz="2800" dirty="0"/>
              <a:t>("The numbers arranged in ascending order are given below \n");</a:t>
            </a:r>
          </a:p>
          <a:p>
            <a:pPr marL="0" indent="0" algn="just">
              <a:buNone/>
            </a:pPr>
            <a:r>
              <a:rPr lang="en-US" sz="2800" dirty="0"/>
              <a:t>for (i = 0; i &lt; n; ++i)</a:t>
            </a:r>
          </a:p>
          <a:p>
            <a:pPr marL="0" indent="0" algn="just">
              <a:buNone/>
            </a:pPr>
            <a:r>
              <a:rPr lang="en-US" sz="2800" dirty="0" err="1"/>
              <a:t>printf</a:t>
            </a:r>
            <a:r>
              <a:rPr lang="en-US" sz="2800" dirty="0"/>
              <a:t>("%d\n", number[i]);</a:t>
            </a:r>
          </a:p>
          <a:p>
            <a:pPr marL="0" indent="0" algn="just">
              <a:buNone/>
            </a:pPr>
            <a:r>
              <a:rPr lang="en-US" sz="2800" dirty="0"/>
              <a:t>}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16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two dimensional array in C language is represented in the form of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rows and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columns</a:t>
            </a:r>
            <a:r>
              <a:rPr lang="en-US" sz="3600" dirty="0" smtClean="0"/>
              <a:t>, also </a:t>
            </a:r>
            <a:r>
              <a:rPr lang="en-US" sz="3600" dirty="0"/>
              <a:t>known as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matrix</a:t>
            </a:r>
            <a:r>
              <a:rPr lang="en-US" sz="3600" dirty="0"/>
              <a:t>.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also known as array of arrays or list of arrays</a:t>
            </a:r>
            <a:r>
              <a:rPr lang="en-US" sz="3600" dirty="0"/>
              <a:t>.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The </a:t>
            </a:r>
            <a:r>
              <a:rPr lang="en-US" sz="3600" dirty="0"/>
              <a:t>two dimensional, three dimensional or other dimensional arrays are also </a:t>
            </a:r>
            <a:r>
              <a:rPr lang="en-US" sz="3600" dirty="0" smtClean="0"/>
              <a:t>known as </a:t>
            </a:r>
            <a:r>
              <a:rPr lang="en-US" sz="3600" b="1" dirty="0">
                <a:solidFill>
                  <a:srgbClr val="0000CC"/>
                </a:solidFill>
              </a:rPr>
              <a:t>multidimensional arrays</a:t>
            </a:r>
            <a:r>
              <a:rPr lang="en-US" sz="3600" dirty="0"/>
              <a:t>.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23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Declaration of two dimensional </a:t>
            </a:r>
            <a:r>
              <a:rPr lang="en-US" sz="3600" dirty="0" smtClean="0"/>
              <a:t>Array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</a:t>
            </a:r>
          </a:p>
          <a:p>
            <a:pPr marL="0" indent="0" algn="just">
              <a:buNone/>
            </a:pP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data_type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array_name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rowsize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][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columnsize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];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Rowsize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specifies the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no.of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rows 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Columnsize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specifies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no.of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columns.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a[4][5];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51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This is a 2-D array of 4 rows and 5 columns. Here the first element of the array is a[0][0] and </a:t>
            </a:r>
            <a:r>
              <a:rPr lang="en-US" sz="3600" dirty="0" smtClean="0"/>
              <a:t>last element </a:t>
            </a:r>
            <a:r>
              <a:rPr lang="en-US" sz="3600" dirty="0"/>
              <a:t>of the array is a[3][4] and total </a:t>
            </a:r>
            <a:r>
              <a:rPr lang="en-US" sz="3600" dirty="0" err="1"/>
              <a:t>no.of</a:t>
            </a:r>
            <a:r>
              <a:rPr lang="en-US" sz="3600" dirty="0"/>
              <a:t> elements is 4*5=20.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03946"/>
            <a:ext cx="8077200" cy="2890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187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Initialization:</a:t>
            </a:r>
          </a:p>
          <a:p>
            <a:pPr marL="0" indent="0" algn="just">
              <a:buNone/>
            </a:pPr>
            <a:r>
              <a:rPr lang="en-US" sz="3600" dirty="0"/>
              <a:t>2-D arrays can be initialized in a way similar to 1-D arrays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m[4][3]={1,2,3,4,5,6,7,8,9,10,11,12};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19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values are assigned as follows</a:t>
            </a:r>
            <a:r>
              <a:rPr lang="en-US" sz="3600" dirty="0" smtClean="0"/>
              <a:t>: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8039098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291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initialization of group of elements as follows:</a:t>
            </a:r>
          </a:p>
          <a:p>
            <a:pPr marL="0" indent="0" algn="just">
              <a:buNone/>
            </a:pPr>
            <a:r>
              <a:rPr lang="en-US" sz="3600" dirty="0" err="1"/>
              <a:t>int</a:t>
            </a:r>
            <a:r>
              <a:rPr lang="en-US" sz="3600" dirty="0"/>
              <a:t> </a:t>
            </a:r>
            <a:r>
              <a:rPr lang="en-US" sz="3600" dirty="0" err="1"/>
              <a:t>arr</a:t>
            </a:r>
            <a:r>
              <a:rPr lang="en-US" sz="3600" dirty="0"/>
              <a:t>[4][3]={{1,2,3},{2,3,4},{3,4,5},{4,5,6}};</a:t>
            </a: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50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initialization of group of elements as follows:</a:t>
            </a:r>
          </a:p>
          <a:p>
            <a:pPr marL="0" indent="0" algn="just">
              <a:buNone/>
            </a:pPr>
            <a:r>
              <a:rPr lang="en-US" sz="3600" dirty="0" err="1"/>
              <a:t>int</a:t>
            </a:r>
            <a:r>
              <a:rPr lang="en-US" sz="3600" dirty="0"/>
              <a:t> m[4][3]={{11},{12,13},{14,15,16},{17</a:t>
            </a:r>
            <a:r>
              <a:rPr lang="en-US" sz="3600" dirty="0" smtClean="0"/>
              <a:t>}};</a:t>
            </a:r>
          </a:p>
          <a:p>
            <a:pPr marL="0" indent="0" algn="just">
              <a:buNone/>
            </a:pPr>
            <a:r>
              <a:rPr lang="en-US" sz="3600" dirty="0"/>
              <a:t>The values are assigned as: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621505"/>
            <a:ext cx="6096000" cy="287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345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Processing:</a:t>
            </a:r>
          </a:p>
          <a:p>
            <a:pPr marL="0" indent="0" algn="just">
              <a:buNone/>
            </a:pPr>
            <a:r>
              <a:rPr lang="en-US" sz="3600" dirty="0"/>
              <a:t>For processing of 2-D arrays we need two nested for loops. The outer loop indicates the rows </a:t>
            </a:r>
            <a:r>
              <a:rPr lang="en-US" sz="3600" dirty="0" smtClean="0"/>
              <a:t>and the </a:t>
            </a:r>
            <a:r>
              <a:rPr lang="en-US" sz="3600" dirty="0"/>
              <a:t>inner loop indicates the columns.</a:t>
            </a:r>
            <a:endParaRPr lang="en-US" sz="3600" dirty="0" smtClean="0"/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95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Processing: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6629400" cy="502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900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Example 1:</a:t>
            </a:r>
          </a:p>
          <a:p>
            <a:pPr marL="0" indent="0" algn="just">
              <a:buNone/>
            </a:pPr>
            <a:r>
              <a:rPr lang="en-US" sz="3600" dirty="0"/>
              <a:t>Write a C program to find sum of two </a:t>
            </a:r>
            <a:r>
              <a:rPr lang="en-US" sz="3600" dirty="0" smtClean="0"/>
              <a:t>matrices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65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2895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#include&lt;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conio.h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main()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 a[2][2], b[2][2], c[2][2];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i,j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clrscr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("Enter the elements of 1st matrix\n");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17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486401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for(i=0;i&lt;2;I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for(j=0;j&lt;2;j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{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f",&amp;a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[i][j]);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}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("Enter the elements of 2nd matrix\n");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for(i=0;i&lt;2;i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for(j=0;j&lt;2;j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{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f",&amp;b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[i][j]);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1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4864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accessing corresponding elements of two arrays. */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for(i=0;i&lt;2;i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for(j=0;j&lt;2;j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{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c[i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][j]=a[i][j]+b[i][j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61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48640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To display matrix sum in order. */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("\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nSum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Matrix:");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for(i=0;i&lt;2;++i)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for(j=0;j&lt;2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;++j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{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("%f", c[i][j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]);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}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("\n");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70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Two‐Dimensional Arrays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4864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2: Program for multiplication of two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matrices</a:t>
            </a:r>
          </a:p>
          <a:p>
            <a:pPr marL="0" indent="0" algn="just">
              <a:buNone/>
            </a:pPr>
            <a:r>
              <a:rPr lang="en-US" b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3: Program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find transpose of a matrix.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29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4032</TotalTime>
  <Words>2366</Words>
  <Application>Microsoft Office PowerPoint</Application>
  <PresentationFormat>On-screen Show (4:3)</PresentationFormat>
  <Paragraphs>480</Paragraphs>
  <Slides>58</Slides>
  <Notes>55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ARRAYS</vt:lpstr>
      <vt:lpstr>PowerPoint Presentation</vt:lpstr>
      <vt:lpstr>Array : Defination</vt:lpstr>
      <vt:lpstr>What’s the need of an array?</vt:lpstr>
      <vt:lpstr>Where arrays are used</vt:lpstr>
      <vt:lpstr>Advantage of C Array</vt:lpstr>
      <vt:lpstr>Disadvantage of  Array</vt:lpstr>
      <vt:lpstr>Declaration of an Array</vt:lpstr>
      <vt:lpstr>Declaration of an Array</vt:lpstr>
      <vt:lpstr>Declaration of an Array</vt:lpstr>
      <vt:lpstr>Declaration of an Array</vt:lpstr>
      <vt:lpstr>Initialization of an Array</vt:lpstr>
      <vt:lpstr>Initialization of an Array</vt:lpstr>
      <vt:lpstr>Initialization of an Array</vt:lpstr>
      <vt:lpstr>Different ways of initializing arrays </vt:lpstr>
      <vt:lpstr>1 : Initilizing all specified memory locations :  </vt:lpstr>
      <vt:lpstr>1 : Initilizing all specified memory locations :  </vt:lpstr>
      <vt:lpstr>1 : Initilizing all specified memory locations :  </vt:lpstr>
      <vt:lpstr>1 : Initilizing all specified memory locations :  </vt:lpstr>
      <vt:lpstr>2 : Partial Array Initilization :  </vt:lpstr>
      <vt:lpstr>2 : Partial Array Initilization :  </vt:lpstr>
      <vt:lpstr>2 : Partial Array Initilization :  </vt:lpstr>
      <vt:lpstr>2 : Partial Array Initilization :  </vt:lpstr>
      <vt:lpstr>2 : Partial Array Initilization :  </vt:lpstr>
      <vt:lpstr>2 : Partial Array Initilization :  </vt:lpstr>
      <vt:lpstr>Input data into array</vt:lpstr>
      <vt:lpstr>Reading out data from an array</vt:lpstr>
      <vt:lpstr>Example</vt:lpstr>
      <vt:lpstr>Example</vt:lpstr>
      <vt:lpstr>Runtime Array initialization</vt:lpstr>
      <vt:lpstr>Runtime Array initialization</vt:lpstr>
      <vt:lpstr>NOTE</vt:lpstr>
      <vt:lpstr>NOTE</vt:lpstr>
      <vt:lpstr>Processing</vt:lpstr>
      <vt:lpstr>Processing</vt:lpstr>
      <vt:lpstr>Processing</vt:lpstr>
      <vt:lpstr>Example:1</vt:lpstr>
      <vt:lpstr>Example-2</vt:lpstr>
      <vt:lpstr>PowerPoint Presentation</vt:lpstr>
      <vt:lpstr>PowerPoint Presentation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Two‐Dimensional Arrays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437</cp:revision>
  <dcterms:created xsi:type="dcterms:W3CDTF">2019-09-20T11:10:00Z</dcterms:created>
  <dcterms:modified xsi:type="dcterms:W3CDTF">2025-02-06T08:14:07Z</dcterms:modified>
</cp:coreProperties>
</file>