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  <p:sldMasterId id="2147483890" r:id="rId3"/>
  </p:sldMasterIdLst>
  <p:notesMasterIdLst>
    <p:notesMasterId r:id="rId118"/>
  </p:notesMasterIdLst>
  <p:sldIdLst>
    <p:sldId id="463" r:id="rId4"/>
    <p:sldId id="467" r:id="rId5"/>
    <p:sldId id="534" r:id="rId6"/>
    <p:sldId id="892" r:id="rId7"/>
    <p:sldId id="623" r:id="rId8"/>
    <p:sldId id="782" r:id="rId9"/>
    <p:sldId id="783" r:id="rId10"/>
    <p:sldId id="784" r:id="rId11"/>
    <p:sldId id="785" r:id="rId12"/>
    <p:sldId id="786" r:id="rId13"/>
    <p:sldId id="787" r:id="rId14"/>
    <p:sldId id="788" r:id="rId15"/>
    <p:sldId id="789" r:id="rId16"/>
    <p:sldId id="790" r:id="rId17"/>
    <p:sldId id="895" r:id="rId18"/>
    <p:sldId id="791" r:id="rId19"/>
    <p:sldId id="792" r:id="rId20"/>
    <p:sldId id="793" r:id="rId21"/>
    <p:sldId id="794" r:id="rId22"/>
    <p:sldId id="795" r:id="rId23"/>
    <p:sldId id="796" r:id="rId24"/>
    <p:sldId id="797" r:id="rId25"/>
    <p:sldId id="798" r:id="rId26"/>
    <p:sldId id="799" r:id="rId27"/>
    <p:sldId id="800" r:id="rId28"/>
    <p:sldId id="801" r:id="rId29"/>
    <p:sldId id="802" r:id="rId30"/>
    <p:sldId id="803" r:id="rId31"/>
    <p:sldId id="804" r:id="rId32"/>
    <p:sldId id="805" r:id="rId33"/>
    <p:sldId id="806" r:id="rId34"/>
    <p:sldId id="807" r:id="rId35"/>
    <p:sldId id="808" r:id="rId36"/>
    <p:sldId id="809" r:id="rId37"/>
    <p:sldId id="810" r:id="rId38"/>
    <p:sldId id="811" r:id="rId39"/>
    <p:sldId id="812" r:id="rId40"/>
    <p:sldId id="813" r:id="rId41"/>
    <p:sldId id="814" r:id="rId42"/>
    <p:sldId id="815" r:id="rId43"/>
    <p:sldId id="816" r:id="rId44"/>
    <p:sldId id="817" r:id="rId45"/>
    <p:sldId id="818" r:id="rId46"/>
    <p:sldId id="819" r:id="rId47"/>
    <p:sldId id="820" r:id="rId48"/>
    <p:sldId id="821" r:id="rId49"/>
    <p:sldId id="822" r:id="rId50"/>
    <p:sldId id="823" r:id="rId51"/>
    <p:sldId id="824" r:id="rId52"/>
    <p:sldId id="825" r:id="rId53"/>
    <p:sldId id="826" r:id="rId54"/>
    <p:sldId id="827" r:id="rId55"/>
    <p:sldId id="828" r:id="rId56"/>
    <p:sldId id="830" r:id="rId57"/>
    <p:sldId id="893" r:id="rId58"/>
    <p:sldId id="829" r:id="rId59"/>
    <p:sldId id="831" r:id="rId60"/>
    <p:sldId id="832" r:id="rId61"/>
    <p:sldId id="833" r:id="rId62"/>
    <p:sldId id="834" r:id="rId63"/>
    <p:sldId id="836" r:id="rId64"/>
    <p:sldId id="837" r:id="rId65"/>
    <p:sldId id="838" r:id="rId66"/>
    <p:sldId id="839" r:id="rId67"/>
    <p:sldId id="841" r:id="rId68"/>
    <p:sldId id="842" r:id="rId69"/>
    <p:sldId id="843" r:id="rId70"/>
    <p:sldId id="844" r:id="rId71"/>
    <p:sldId id="846" r:id="rId72"/>
    <p:sldId id="847" r:id="rId73"/>
    <p:sldId id="848" r:id="rId74"/>
    <p:sldId id="894" r:id="rId75"/>
    <p:sldId id="849" r:id="rId76"/>
    <p:sldId id="850" r:id="rId77"/>
    <p:sldId id="851" r:id="rId78"/>
    <p:sldId id="852" r:id="rId79"/>
    <p:sldId id="853" r:id="rId80"/>
    <p:sldId id="854" r:id="rId81"/>
    <p:sldId id="855" r:id="rId82"/>
    <p:sldId id="857" r:id="rId83"/>
    <p:sldId id="858" r:id="rId84"/>
    <p:sldId id="859" r:id="rId85"/>
    <p:sldId id="860" r:id="rId86"/>
    <p:sldId id="861" r:id="rId87"/>
    <p:sldId id="862" r:id="rId88"/>
    <p:sldId id="863" r:id="rId89"/>
    <p:sldId id="865" r:id="rId90"/>
    <p:sldId id="867" r:id="rId91"/>
    <p:sldId id="868" r:id="rId92"/>
    <p:sldId id="869" r:id="rId93"/>
    <p:sldId id="870" r:id="rId94"/>
    <p:sldId id="866" r:id="rId95"/>
    <p:sldId id="871" r:id="rId96"/>
    <p:sldId id="872" r:id="rId97"/>
    <p:sldId id="873" r:id="rId98"/>
    <p:sldId id="874" r:id="rId99"/>
    <p:sldId id="875" r:id="rId100"/>
    <p:sldId id="876" r:id="rId101"/>
    <p:sldId id="877" r:id="rId102"/>
    <p:sldId id="883" r:id="rId103"/>
    <p:sldId id="884" r:id="rId104"/>
    <p:sldId id="885" r:id="rId105"/>
    <p:sldId id="886" r:id="rId106"/>
    <p:sldId id="887" r:id="rId107"/>
    <p:sldId id="888" r:id="rId108"/>
    <p:sldId id="889" r:id="rId109"/>
    <p:sldId id="890" r:id="rId110"/>
    <p:sldId id="891" r:id="rId111"/>
    <p:sldId id="878" r:id="rId112"/>
    <p:sldId id="879" r:id="rId113"/>
    <p:sldId id="880" r:id="rId114"/>
    <p:sldId id="881" r:id="rId115"/>
    <p:sldId id="882" r:id="rId116"/>
    <p:sldId id="461" r:id="rId1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3BD57"/>
    <a:srgbClr val="06661F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71" d="100"/>
          <a:sy n="71" d="100"/>
        </p:scale>
        <p:origin x="179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13" Type="http://schemas.openxmlformats.org/officeDocument/2006/relationships/slide" Target="slides/slide110.xml"/><Relationship Id="rId118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16" Type="http://schemas.openxmlformats.org/officeDocument/2006/relationships/slide" Target="slides/slide11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11" Type="http://schemas.openxmlformats.org/officeDocument/2006/relationships/slide" Target="slides/slide10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14" Type="http://schemas.openxmlformats.org/officeDocument/2006/relationships/slide" Target="slides/slide111.xml"/><Relationship Id="rId119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viewProps" Target="view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3/15/2025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9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060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834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5691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622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947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37856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3345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1098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4164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4689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5397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9440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6108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9503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28607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4804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7773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352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4275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0244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52613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73350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1216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3666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5181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16635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65928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3502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7779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7085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67840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54FB36-99AC-4CD3-8A8F-04DE1EFF5B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53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8397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5910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0685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48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8570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08698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147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26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03468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82784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22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934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Lecture-20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Structures and Unions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802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4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755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Structure is a user defined data type which hold or store </a:t>
            </a:r>
            <a:r>
              <a:rPr lang="en-US" b="1" dirty="0">
                <a:solidFill>
                  <a:srgbClr val="FF0000"/>
                </a:solidFill>
              </a:rPr>
              <a:t>heterogeneous/different types data </a:t>
            </a:r>
            <a:r>
              <a:rPr lang="en-US" dirty="0" smtClean="0"/>
              <a:t>item or </a:t>
            </a:r>
            <a:r>
              <a:rPr lang="en-US" dirty="0"/>
              <a:t>element in a single variable. It is a Combination of primitive and derived data type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Or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is a collection of one or more data items of different data types, grouped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together under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single name.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 the structure are called members of structure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Each </a:t>
            </a:r>
            <a:r>
              <a:rPr lang="en-US" dirty="0"/>
              <a:t>element of a structure is called a member.</a:t>
            </a:r>
          </a:p>
        </p:txBody>
      </p:sp>
    </p:spTree>
    <p:extLst>
      <p:ext uri="{BB962C8B-B14F-4D97-AF65-F5344CB8AC3E}">
        <p14:creationId xmlns:p14="http://schemas.microsoft.com/office/powerpoint/2010/main" val="391355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smtClean="0"/>
              <a:t>variable within </a:t>
            </a:r>
            <a:r>
              <a:rPr lang="en-US" dirty="0"/>
              <a:t>a structure are of different data types and each has a name that is used to select it from </a:t>
            </a:r>
            <a:r>
              <a:rPr lang="en-US" dirty="0" smtClean="0"/>
              <a:t>the structure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C </a:t>
            </a:r>
            <a:r>
              <a:rPr lang="en-US" dirty="0"/>
              <a:t>arrays allow you to define type of variables that can hold several data items of </a:t>
            </a:r>
            <a:r>
              <a:rPr lang="en-US" dirty="0" smtClean="0"/>
              <a:t>the same </a:t>
            </a:r>
            <a:r>
              <a:rPr lang="en-US" dirty="0"/>
              <a:t>kind but structure is another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defined data type</a:t>
            </a:r>
            <a:r>
              <a:rPr lang="en-US" dirty="0"/>
              <a:t> available in C programming, </a:t>
            </a:r>
            <a:r>
              <a:rPr lang="en-US" dirty="0" smtClean="0"/>
              <a:t>which allows </a:t>
            </a:r>
            <a:r>
              <a:rPr lang="en-US" dirty="0"/>
              <a:t>you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combine data items of different kinds.</a:t>
            </a:r>
          </a:p>
        </p:txBody>
      </p:sp>
    </p:spTree>
    <p:extLst>
      <p:ext uri="{BB962C8B-B14F-4D97-AF65-F5344CB8AC3E}">
        <p14:creationId xmlns:p14="http://schemas.microsoft.com/office/powerpoint/2010/main" val="374564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Structures are used to represent a record, Suppose you want to keep track of your books in </a:t>
            </a:r>
            <a:r>
              <a:rPr lang="en-US" dirty="0" smtClean="0"/>
              <a:t>a library</a:t>
            </a:r>
            <a:r>
              <a:rPr lang="en-US" dirty="0"/>
              <a:t>. You might want to track the following attributes about each book:</a:t>
            </a:r>
          </a:p>
          <a:p>
            <a:pPr marL="0" indent="0" algn="just">
              <a:buNone/>
            </a:pPr>
            <a:r>
              <a:rPr lang="en-US" dirty="0"/>
              <a:t>• Title</a:t>
            </a:r>
          </a:p>
          <a:p>
            <a:pPr marL="0" indent="0" algn="just">
              <a:buNone/>
            </a:pPr>
            <a:r>
              <a:rPr lang="en-US" dirty="0"/>
              <a:t>• Author</a:t>
            </a:r>
          </a:p>
          <a:p>
            <a:pPr marL="0" indent="0" algn="just">
              <a:buNone/>
            </a:pPr>
            <a:r>
              <a:rPr lang="en-US" dirty="0"/>
              <a:t>• Subject</a:t>
            </a:r>
          </a:p>
          <a:p>
            <a:pPr marL="0" indent="0" algn="just">
              <a:buNone/>
            </a:pPr>
            <a:r>
              <a:rPr lang="en-US" dirty="0"/>
              <a:t>• Book ID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097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</a:t>
            </a:r>
            <a:r>
              <a:rPr lang="en-US" dirty="0"/>
              <a:t> keyword is used to define/create a structure.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</a:t>
            </a:r>
            <a:r>
              <a:rPr lang="en-US" dirty="0" smtClean="0"/>
              <a:t> </a:t>
            </a:r>
            <a:r>
              <a:rPr lang="en-US" dirty="0"/>
              <a:t>define a new data type which is </a:t>
            </a:r>
            <a:r>
              <a:rPr lang="en-US" dirty="0" smtClean="0"/>
              <a:t>a collection </a:t>
            </a:r>
            <a:r>
              <a:rPr lang="en-US" dirty="0"/>
              <a:t>of different type of data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6971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Declaration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 smtClean="0"/>
              <a:t>Syntax: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structure_name</a:t>
            </a:r>
            <a:r>
              <a:rPr lang="en-US" dirty="0"/>
              <a:t> /tag name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data_type</a:t>
            </a:r>
            <a:r>
              <a:rPr lang="en-US" dirty="0" smtClean="0"/>
              <a:t> </a:t>
            </a:r>
            <a:r>
              <a:rPr lang="en-US" dirty="0"/>
              <a:t>member1;</a:t>
            </a:r>
          </a:p>
          <a:p>
            <a:pPr marL="0" indent="0" algn="just"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data_type</a:t>
            </a:r>
            <a:r>
              <a:rPr lang="en-US" dirty="0" smtClean="0"/>
              <a:t> </a:t>
            </a:r>
            <a:r>
              <a:rPr lang="en-US" dirty="0"/>
              <a:t>member2;</a:t>
            </a:r>
          </a:p>
          <a:p>
            <a:pPr marL="0" indent="0" algn="just">
              <a:buNone/>
            </a:pPr>
            <a:r>
              <a:rPr lang="en-US" dirty="0" smtClean="0"/>
              <a:t>       .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   .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   </a:t>
            </a:r>
            <a:r>
              <a:rPr lang="en-US" dirty="0" err="1" smtClean="0"/>
              <a:t>data_type</a:t>
            </a:r>
            <a:r>
              <a:rPr lang="en-US" dirty="0" smtClean="0"/>
              <a:t> </a:t>
            </a:r>
            <a:r>
              <a:rPr lang="en-US" dirty="0"/>
              <a:t>member n;</a:t>
            </a:r>
          </a:p>
          <a:p>
            <a:pPr marL="0" indent="0" algn="just">
              <a:buNone/>
            </a:pPr>
            <a:r>
              <a:rPr lang="en-US" dirty="0" smtClean="0"/>
              <a:t>};</a:t>
            </a:r>
          </a:p>
          <a:p>
            <a:pPr marL="0" indent="0" algn="just">
              <a:buNone/>
            </a:pP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>
                <a:solidFill>
                  <a:srgbClr val="FF0000"/>
                </a:solidFill>
              </a:rPr>
              <a:t>Don't forget the semicolon }; in the ending line.</a:t>
            </a:r>
          </a:p>
        </p:txBody>
      </p:sp>
    </p:spTree>
    <p:extLst>
      <p:ext uri="{BB962C8B-B14F-4D97-AF65-F5344CB8AC3E}">
        <p14:creationId xmlns:p14="http://schemas.microsoft.com/office/powerpoint/2010/main" val="300026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Declaration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employee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 </a:t>
            </a: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pPr marL="0" indent="0" algn="just">
              <a:buNone/>
            </a:pPr>
            <a:r>
              <a:rPr lang="en-US" dirty="0" smtClean="0"/>
              <a:t>	char </a:t>
            </a:r>
            <a:r>
              <a:rPr lang="en-US" dirty="0"/>
              <a:t>name[50];</a:t>
            </a:r>
          </a:p>
          <a:p>
            <a:pPr marL="0" indent="0" algn="just">
              <a:buNone/>
            </a:pPr>
            <a:r>
              <a:rPr lang="en-US" dirty="0" smtClean="0"/>
              <a:t>	float </a:t>
            </a:r>
            <a:r>
              <a:rPr lang="en-US" dirty="0"/>
              <a:t>salary;</a:t>
            </a:r>
          </a:p>
          <a:p>
            <a:pPr marL="0" indent="0" algn="just">
              <a:buNone/>
            </a:pPr>
            <a:r>
              <a:rPr lang="en-US" dirty="0"/>
              <a:t>};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788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Declaration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Here</a:t>
            </a:r>
            <a:r>
              <a:rPr lang="en-US" dirty="0"/>
              <a:t>,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</a:t>
            </a:r>
            <a:r>
              <a:rPr lang="en-US" dirty="0"/>
              <a:t> is the keyword, employee is the tag name </a:t>
            </a:r>
            <a:r>
              <a:rPr lang="en-US" dirty="0" smtClean="0"/>
              <a:t>of structure</a:t>
            </a:r>
            <a:r>
              <a:rPr lang="en-US" dirty="0"/>
              <a:t>; id, name and salary are the members or fields of the structure. </a:t>
            </a:r>
            <a:r>
              <a:rPr lang="en-US" dirty="0" smtClean="0"/>
              <a:t>Let's understand </a:t>
            </a:r>
            <a:r>
              <a:rPr lang="en-US" dirty="0"/>
              <a:t>it by the diagram given below: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3248380"/>
            <a:ext cx="4829175" cy="311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32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tructure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Syntax to create structure </a:t>
            </a:r>
            <a:r>
              <a:rPr lang="en-US" dirty="0" smtClean="0"/>
              <a:t>variable</a:t>
            </a:r>
          </a:p>
          <a:p>
            <a:pPr marL="0" indent="0" algn="just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struct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tagname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structure_name</a:t>
            </a:r>
            <a:r>
              <a:rPr lang="en-US" dirty="0">
                <a:solidFill>
                  <a:srgbClr val="FF0000"/>
                </a:solidFill>
              </a:rPr>
              <a:t> variable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1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tructure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variable:</a:t>
            </a:r>
          </a:p>
          <a:p>
            <a:pPr marL="0" indent="0" algn="just">
              <a:buNone/>
            </a:pPr>
            <a:r>
              <a:rPr lang="en-US" dirty="0"/>
              <a:t>We can declare variable for the structure, so that we can access the member of structure </a:t>
            </a:r>
            <a:r>
              <a:rPr lang="en-US" dirty="0" smtClean="0"/>
              <a:t>easily. There </a:t>
            </a:r>
            <a:r>
              <a:rPr lang="en-US" dirty="0"/>
              <a:t>are two ways to declare structure variable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1</a:t>
            </a:r>
            <a:r>
              <a:rPr lang="en-US" dirty="0"/>
              <a:t>. By </a:t>
            </a:r>
            <a:r>
              <a:rPr lang="en-US" dirty="0" err="1"/>
              <a:t>struct</a:t>
            </a:r>
            <a:r>
              <a:rPr lang="en-US" dirty="0"/>
              <a:t> keyword within main() function/ Declaring Structure variables separately</a:t>
            </a:r>
          </a:p>
          <a:p>
            <a:pPr marL="0" indent="0" algn="just">
              <a:buNone/>
            </a:pPr>
            <a:r>
              <a:rPr lang="en-US" dirty="0"/>
              <a:t>2. By declaring variable at the time of defining structure/ Declaring Structure </a:t>
            </a:r>
            <a:r>
              <a:rPr lang="en-US" dirty="0" smtClean="0"/>
              <a:t>Variables with </a:t>
            </a:r>
            <a:r>
              <a:rPr lang="en-US" dirty="0"/>
              <a:t>Structure definition</a:t>
            </a:r>
            <a:endParaRPr lang="en-US" dirty="0" smtClean="0"/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52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tructure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1st way:</a:t>
            </a:r>
          </a:p>
          <a:p>
            <a:pPr marL="0" indent="0" algn="just">
              <a:buNone/>
            </a:pPr>
            <a:r>
              <a:rPr lang="en-US" dirty="0"/>
              <a:t>Let's see the example to declare structure variable by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keyword. It should be declared</a:t>
            </a:r>
          </a:p>
          <a:p>
            <a:pPr marL="0" indent="0" algn="just">
              <a:buNone/>
            </a:pPr>
            <a:r>
              <a:rPr lang="en-US" dirty="0"/>
              <a:t>within the main function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employee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{ </a:t>
            </a: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id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char name[50];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float salary;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};</a:t>
            </a:r>
          </a:p>
          <a:p>
            <a:pPr marL="0" indent="0" algn="just">
              <a:buNone/>
            </a:pPr>
            <a:r>
              <a:rPr lang="en-US" dirty="0"/>
              <a:t>Now write given code inside the main() function.</a:t>
            </a:r>
          </a:p>
          <a:p>
            <a:pPr marL="0" indent="0" algn="just">
              <a:buNone/>
            </a:pPr>
            <a:r>
              <a:rPr lang="en-US" b="1" i="1" dirty="0" err="1"/>
              <a:t>struct</a:t>
            </a:r>
            <a:r>
              <a:rPr lang="en-US" b="1" i="1" dirty="0"/>
              <a:t> employee e1, e2;</a:t>
            </a:r>
          </a:p>
          <a:p>
            <a:pPr marL="0" indent="0" algn="just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97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tructure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2nd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way:</a:t>
            </a:r>
          </a:p>
          <a:p>
            <a:pPr marL="0" indent="0" algn="just">
              <a:buNone/>
            </a:pPr>
            <a:r>
              <a:rPr lang="en-US" dirty="0"/>
              <a:t>Let's see another way to declare variable at the time of defining structure.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employee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{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id;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char name[50];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float salary;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} e1,e2</a:t>
            </a:r>
            <a:r>
              <a:rPr lang="en-US" dirty="0">
                <a:solidFill>
                  <a:srgbClr val="FF0000"/>
                </a:solidFill>
              </a:rPr>
              <a:t>;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48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tructure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approach is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good?</a:t>
            </a: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If no</a:t>
            </a:r>
            <a:r>
              <a:rPr lang="en-US" dirty="0"/>
              <a:t>. of variable are not fixed, use 1st approach. It provides you flexibility to declare </a:t>
            </a:r>
            <a:r>
              <a:rPr lang="en-US" dirty="0" smtClean="0"/>
              <a:t>the structure </a:t>
            </a:r>
            <a:r>
              <a:rPr lang="en-US" dirty="0"/>
              <a:t>variable many times.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 smtClean="0"/>
              <a:t>If </a:t>
            </a:r>
            <a:r>
              <a:rPr lang="en-US" dirty="0"/>
              <a:t>no. of variables are fixed, use 2nd approach. It saves your code to declare variable in main</a:t>
            </a:r>
            <a:r>
              <a:rPr lang="en-US" dirty="0" smtClean="0"/>
              <a:t>() function</a:t>
            </a:r>
            <a:r>
              <a:rPr lang="en-US" dirty="0"/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42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Initialization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Assigning constants to the members of the structure is called initializing of structure.</a:t>
            </a:r>
          </a:p>
          <a:p>
            <a:pPr marL="0" indent="0" algn="just">
              <a:buNone/>
            </a:pPr>
            <a:r>
              <a:rPr lang="en-US" dirty="0"/>
              <a:t>Syntax:</a:t>
            </a:r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struct_name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data _type member_name1;</a:t>
            </a:r>
          </a:p>
          <a:p>
            <a:pPr marL="0" indent="0" algn="just">
              <a:buNone/>
            </a:pPr>
            <a:r>
              <a:rPr lang="en-US" dirty="0"/>
              <a:t>data _type member_name2;</a:t>
            </a:r>
          </a:p>
          <a:p>
            <a:pPr marL="0" indent="0" algn="just">
              <a:buNone/>
            </a:pPr>
            <a:r>
              <a:rPr lang="en-US" dirty="0"/>
              <a:t>}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 smtClean="0"/>
              <a:t>struct_name</a:t>
            </a:r>
            <a:r>
              <a:rPr lang="en-US" dirty="0" smtClean="0"/>
              <a:t> </a:t>
            </a:r>
            <a:r>
              <a:rPr lang="en-US" dirty="0" err="1" smtClean="0"/>
              <a:t>var</a:t>
            </a:r>
            <a:r>
              <a:rPr lang="en-US" dirty="0"/>
              <a:t>={constant1,constant2};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971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Initialization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Example: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Patient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float height;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weight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0" indent="0" algn="just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age;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FF0000"/>
                </a:solidFill>
              </a:rPr>
              <a:t>};</a:t>
            </a:r>
          </a:p>
          <a:p>
            <a:pPr marL="0" indent="0" algn="just">
              <a:buNone/>
            </a:pPr>
            <a:r>
              <a:rPr lang="en-US" sz="2800" dirty="0" err="1">
                <a:solidFill>
                  <a:srgbClr val="FF0000"/>
                </a:solidFill>
              </a:rPr>
              <a:t>struct</a:t>
            </a:r>
            <a:r>
              <a:rPr lang="en-US" sz="2800" dirty="0">
                <a:solidFill>
                  <a:srgbClr val="FF0000"/>
                </a:solidFill>
              </a:rPr>
              <a:t> Patient p1 = { 180.75 , 73, 23 }; //initialization</a:t>
            </a:r>
          </a:p>
        </p:txBody>
      </p:sp>
    </p:spTree>
    <p:extLst>
      <p:ext uri="{BB962C8B-B14F-4D97-AF65-F5344CB8AC3E}">
        <p14:creationId xmlns:p14="http://schemas.microsoft.com/office/powerpoint/2010/main" val="411375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Initialization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Example: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or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Patient </a:t>
            </a:r>
            <a:r>
              <a:rPr lang="en-US" dirty="0">
                <a:solidFill>
                  <a:srgbClr val="FF0000"/>
                </a:solidFill>
              </a:rPr>
              <a:t>p1;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p1.height = 180.75; </a:t>
            </a:r>
            <a:r>
              <a:rPr lang="en-US" sz="2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//initialization of each member separately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p1.weight = 73;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p1.age = 23;</a:t>
            </a:r>
          </a:p>
        </p:txBody>
      </p:sp>
    </p:spTree>
    <p:extLst>
      <p:ext uri="{BB962C8B-B14F-4D97-AF65-F5344CB8AC3E}">
        <p14:creationId xmlns:p14="http://schemas.microsoft.com/office/powerpoint/2010/main" val="1559021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Accessing Structures/ Accessing members of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There are two ways to access structure members:</a:t>
            </a:r>
          </a:p>
          <a:p>
            <a:pPr marL="0" indent="0" algn="just">
              <a:buNone/>
            </a:pPr>
            <a:r>
              <a:rPr lang="en-US" dirty="0"/>
              <a:t>1. By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/>
              <a:t> (member or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dot operator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2. By -&gt; (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pointer operator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the variable is normal type then go for </a:t>
            </a:r>
            <a:r>
              <a:rPr lang="en-US" dirty="0" err="1"/>
              <a:t>struct</a:t>
            </a:r>
            <a:r>
              <a:rPr lang="en-US" dirty="0"/>
              <a:t> to member operator.</a:t>
            </a:r>
          </a:p>
          <a:p>
            <a:pPr algn="just"/>
            <a:r>
              <a:rPr lang="en-US" dirty="0"/>
              <a:t>When the variable is pointer type then go for pointer to member operator.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00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Accessing Structures/ Accessing members of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Any member of a structure can be accessed as:</a:t>
            </a:r>
          </a:p>
          <a:p>
            <a:pPr marL="0" indent="0" algn="just">
              <a:buNone/>
            </a:pPr>
            <a:r>
              <a:rPr lang="en-US" dirty="0" err="1" smtClean="0"/>
              <a:t>structure_variable_name.member_name</a:t>
            </a:r>
            <a:endParaRPr lang="en-US" dirty="0" smtClean="0"/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book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char name[20];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char author[20];</a:t>
            </a:r>
          </a:p>
          <a:p>
            <a:pPr marL="0" indent="0" algn="just">
              <a:buNone/>
            </a:pP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pages;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</a:rPr>
              <a:t>}; </a:t>
            </a:r>
            <a:r>
              <a:rPr lang="en-US" dirty="0" err="1">
                <a:solidFill>
                  <a:srgbClr val="FF0000"/>
                </a:solidFill>
              </a:rPr>
              <a:t>struct</a:t>
            </a:r>
            <a:r>
              <a:rPr lang="en-US" dirty="0">
                <a:solidFill>
                  <a:srgbClr val="FF0000"/>
                </a:solidFill>
              </a:rPr>
              <a:t> book b1;</a:t>
            </a:r>
          </a:p>
          <a:p>
            <a:pPr marL="0" indent="0" algn="just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dirty="0" smtClean="0"/>
              <a:t>for </a:t>
            </a:r>
            <a:r>
              <a:rPr lang="en-US" dirty="0"/>
              <a:t>accessing the structure members from the above example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b1.name, b1.author, b1.pages: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789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Accessing Structures/ Accessing members of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Data members of the structure variable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</a:t>
            </a:r>
            <a:r>
              <a:rPr lang="en-US" dirty="0"/>
              <a:t>, we write,</a:t>
            </a:r>
          </a:p>
          <a:p>
            <a:pPr marL="0" indent="0" algn="just">
              <a:buNone/>
            </a:pPr>
            <a:r>
              <a:rPr lang="en-US" dirty="0" err="1"/>
              <a:t>stud.roll</a:t>
            </a:r>
            <a:r>
              <a:rPr lang="en-US" dirty="0"/>
              <a:t>=01;</a:t>
            </a:r>
          </a:p>
          <a:p>
            <a:pPr marL="0" indent="0" algn="just">
              <a:buNone/>
            </a:pPr>
            <a:r>
              <a:rPr lang="en-US" dirty="0"/>
              <a:t>stud.name=”Rahul</a:t>
            </a:r>
            <a:r>
              <a:rPr lang="en-US" dirty="0" smtClean="0"/>
              <a:t>”;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To input values for data members of the structure variable stud, can be written as,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(“%d”,&amp;</a:t>
            </a:r>
            <a:r>
              <a:rPr lang="en-US" dirty="0" err="1"/>
              <a:t>stud.roll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(‘’%</a:t>
            </a:r>
            <a:r>
              <a:rPr lang="en-US" dirty="0" err="1"/>
              <a:t>s”,&amp;stud.name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To </a:t>
            </a:r>
            <a:r>
              <a:rPr lang="en-US" dirty="0"/>
              <a:t>print the values of structure variable stud, can be written as: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 smtClean="0"/>
              <a:t>(“%d”,</a:t>
            </a:r>
            <a:r>
              <a:rPr lang="en-US" dirty="0" err="1"/>
              <a:t>stud.roll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 smtClean="0"/>
              <a:t>(“%</a:t>
            </a:r>
            <a:r>
              <a:rPr lang="en-US" dirty="0" err="1" smtClean="0"/>
              <a:t>s”,</a:t>
            </a:r>
            <a:r>
              <a:rPr lang="en-US" dirty="0" err="1"/>
              <a:t>stud.name</a:t>
            </a:r>
            <a:r>
              <a:rPr lang="en-US" dirty="0"/>
              <a:t>);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532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Accessing Structures/ Accessing members of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emp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id;</a:t>
            </a:r>
          </a:p>
          <a:p>
            <a:pPr marL="0" indent="0" algn="just">
              <a:buNone/>
            </a:pPr>
            <a:r>
              <a:rPr lang="en-US" dirty="0" smtClean="0"/>
              <a:t>    char </a:t>
            </a:r>
            <a:r>
              <a:rPr lang="en-US" dirty="0"/>
              <a:t>name[36];</a:t>
            </a:r>
          </a:p>
          <a:p>
            <a:pPr marL="0" indent="0" algn="just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sal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};</a:t>
            </a:r>
          </a:p>
          <a:p>
            <a:pPr marL="0" indent="0" algn="just">
              <a:buNone/>
            </a:pP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emp</a:t>
            </a:r>
            <a:r>
              <a:rPr lang="en-US" dirty="0"/>
              <a:t>) // </a:t>
            </a:r>
            <a:r>
              <a:rPr lang="en-US" sz="2400" b="1" dirty="0"/>
              <a:t>--&gt; 40 byte (2byte+36byte+2byte)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22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in C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502275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01: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400" dirty="0"/>
              <a:t>#include&lt;</a:t>
            </a:r>
            <a:r>
              <a:rPr lang="en-US" sz="3400" dirty="0" err="1"/>
              <a:t>stdio.h</a:t>
            </a:r>
            <a:r>
              <a:rPr lang="en-US" sz="3400" dirty="0"/>
              <a:t>&gt;</a:t>
            </a:r>
          </a:p>
          <a:p>
            <a:pPr marL="0" indent="0" algn="just">
              <a:buNone/>
            </a:pPr>
            <a:r>
              <a:rPr lang="en-US" sz="3400" dirty="0"/>
              <a:t>#include&lt;</a:t>
            </a:r>
            <a:r>
              <a:rPr lang="en-US" sz="3400" dirty="0" err="1"/>
              <a:t>conio.h</a:t>
            </a:r>
            <a:r>
              <a:rPr lang="en-US" sz="3400" dirty="0"/>
              <a:t>&gt;</a:t>
            </a:r>
          </a:p>
          <a:p>
            <a:pPr marL="0" indent="0" algn="just">
              <a:buNone/>
            </a:pPr>
            <a:r>
              <a:rPr lang="en-US" sz="3400" dirty="0" err="1"/>
              <a:t>struct</a:t>
            </a:r>
            <a:r>
              <a:rPr lang="en-US" sz="3400" dirty="0"/>
              <a:t> </a:t>
            </a:r>
            <a:r>
              <a:rPr lang="en-US" sz="3400" dirty="0" err="1"/>
              <a:t>emp</a:t>
            </a:r>
            <a:endParaRPr lang="en-US" sz="3400" dirty="0"/>
          </a:p>
          <a:p>
            <a:pPr marL="0" indent="0" algn="just">
              <a:buNone/>
            </a:pPr>
            <a:r>
              <a:rPr lang="en-US" sz="3400" dirty="0"/>
              <a:t>{</a:t>
            </a:r>
          </a:p>
          <a:p>
            <a:pPr marL="0" indent="0" algn="just">
              <a:buNone/>
            </a:pPr>
            <a:r>
              <a:rPr lang="en-US" sz="3400" dirty="0" err="1"/>
              <a:t>int</a:t>
            </a:r>
            <a:r>
              <a:rPr lang="en-US" sz="3400" dirty="0"/>
              <a:t> id;</a:t>
            </a:r>
          </a:p>
          <a:p>
            <a:pPr marL="0" indent="0" algn="just">
              <a:buNone/>
            </a:pPr>
            <a:r>
              <a:rPr lang="en-US" sz="3400" dirty="0"/>
              <a:t>char name[36];</a:t>
            </a:r>
          </a:p>
          <a:p>
            <a:pPr marL="0" indent="0" algn="just">
              <a:buNone/>
            </a:pPr>
            <a:r>
              <a:rPr lang="en-US" sz="3400" dirty="0"/>
              <a:t>float </a:t>
            </a:r>
            <a:r>
              <a:rPr lang="en-US" sz="3400" dirty="0" err="1"/>
              <a:t>sal</a:t>
            </a:r>
            <a:r>
              <a:rPr lang="en-US" sz="3400" dirty="0"/>
              <a:t>;</a:t>
            </a:r>
          </a:p>
          <a:p>
            <a:pPr marL="0" indent="0" algn="just">
              <a:buNone/>
            </a:pPr>
            <a:r>
              <a:rPr lang="en-US" sz="3400" dirty="0"/>
              <a:t>};</a:t>
            </a:r>
          </a:p>
          <a:p>
            <a:pPr marL="0" indent="0" algn="just">
              <a:buNone/>
            </a:pPr>
            <a:r>
              <a:rPr lang="en-US" sz="3400" dirty="0"/>
              <a:t>void main()</a:t>
            </a:r>
          </a:p>
          <a:p>
            <a:pPr marL="0" indent="0" algn="just">
              <a:buNone/>
            </a:pPr>
            <a:r>
              <a:rPr lang="en-US" sz="3400" dirty="0"/>
              <a:t>{</a:t>
            </a:r>
          </a:p>
          <a:p>
            <a:pPr marL="0" indent="0" algn="just">
              <a:buNone/>
            </a:pPr>
            <a:r>
              <a:rPr lang="en-US" sz="3400" dirty="0" err="1"/>
              <a:t>struct</a:t>
            </a:r>
            <a:r>
              <a:rPr lang="en-US" sz="3400" dirty="0"/>
              <a:t> </a:t>
            </a:r>
            <a:r>
              <a:rPr lang="en-US" sz="3400" dirty="0" err="1"/>
              <a:t>emp</a:t>
            </a:r>
            <a:r>
              <a:rPr lang="en-US" sz="3400" dirty="0"/>
              <a:t> e;</a:t>
            </a:r>
          </a:p>
          <a:p>
            <a:pPr marL="0" indent="0" algn="just">
              <a:buNone/>
            </a:pPr>
            <a:r>
              <a:rPr lang="en-US" sz="3400" dirty="0" err="1"/>
              <a:t>clrscr</a:t>
            </a:r>
            <a:r>
              <a:rPr lang="en-US" sz="3400" dirty="0"/>
              <a:t>();</a:t>
            </a:r>
          </a:p>
          <a:p>
            <a:pPr marL="0" indent="0" algn="just">
              <a:buNone/>
            </a:pPr>
            <a:r>
              <a:rPr lang="en-US" sz="3400" dirty="0" err="1"/>
              <a:t>printf</a:t>
            </a:r>
            <a:r>
              <a:rPr lang="en-US" sz="3400" dirty="0"/>
              <a:t>("Enter employee Id, Name, Salary: </a:t>
            </a:r>
            <a:r>
              <a:rPr lang="en-US" sz="3400" dirty="0" smtClean="0"/>
              <a:t>");</a:t>
            </a:r>
          </a:p>
          <a:p>
            <a:pPr marL="0" indent="0" algn="just">
              <a:buNone/>
            </a:pPr>
            <a:r>
              <a:rPr lang="en-US" sz="3400" dirty="0" err="1"/>
              <a:t>scanf</a:t>
            </a:r>
            <a:r>
              <a:rPr lang="en-US" sz="3400" dirty="0"/>
              <a:t>("%</a:t>
            </a:r>
            <a:r>
              <a:rPr lang="en-US" sz="3400" dirty="0" err="1"/>
              <a:t>d",&amp;e.id</a:t>
            </a:r>
            <a:r>
              <a:rPr lang="en-US" sz="3400" dirty="0"/>
              <a:t>);</a:t>
            </a:r>
          </a:p>
          <a:p>
            <a:pPr marL="0" indent="0" algn="just">
              <a:buNone/>
            </a:pPr>
            <a:r>
              <a:rPr lang="en-US" sz="3400" dirty="0" err="1"/>
              <a:t>scanf</a:t>
            </a:r>
            <a:r>
              <a:rPr lang="en-US" sz="3400" dirty="0"/>
              <a:t>("%</a:t>
            </a:r>
            <a:r>
              <a:rPr lang="en-US" sz="3400" dirty="0" err="1"/>
              <a:t>s",&amp;e.name</a:t>
            </a:r>
            <a:r>
              <a:rPr lang="en-US" sz="3400" dirty="0"/>
              <a:t>);</a:t>
            </a:r>
          </a:p>
          <a:p>
            <a:pPr marL="0" indent="0" algn="just">
              <a:buNone/>
            </a:pPr>
            <a:r>
              <a:rPr lang="en-US" sz="3400" dirty="0" err="1"/>
              <a:t>scanf</a:t>
            </a:r>
            <a:r>
              <a:rPr lang="en-US" sz="3400" dirty="0"/>
              <a:t>("%f",&amp;</a:t>
            </a:r>
            <a:r>
              <a:rPr lang="en-US" sz="3400" dirty="0" err="1"/>
              <a:t>e.sal</a:t>
            </a:r>
            <a:r>
              <a:rPr lang="en-US" sz="3400" dirty="0"/>
              <a:t>);</a:t>
            </a:r>
          </a:p>
          <a:p>
            <a:pPr marL="0" indent="0" algn="just">
              <a:buNone/>
            </a:pPr>
            <a:r>
              <a:rPr lang="en-US" sz="3400" dirty="0" err="1"/>
              <a:t>printf</a:t>
            </a:r>
            <a:r>
              <a:rPr lang="en-US" sz="3400" dirty="0"/>
              <a:t>("Id: %</a:t>
            </a:r>
            <a:r>
              <a:rPr lang="en-US" sz="3400" dirty="0" err="1"/>
              <a:t>d",e.id</a:t>
            </a:r>
            <a:r>
              <a:rPr lang="en-US" sz="3400" dirty="0"/>
              <a:t>);</a:t>
            </a:r>
          </a:p>
          <a:p>
            <a:pPr marL="0" indent="0" algn="just">
              <a:buNone/>
            </a:pPr>
            <a:r>
              <a:rPr lang="en-US" sz="3400" dirty="0" err="1"/>
              <a:t>printf</a:t>
            </a:r>
            <a:r>
              <a:rPr lang="en-US" sz="3400" dirty="0"/>
              <a:t>("\</a:t>
            </a:r>
            <a:r>
              <a:rPr lang="en-US" sz="3400" dirty="0" err="1"/>
              <a:t>nName</a:t>
            </a:r>
            <a:r>
              <a:rPr lang="en-US" sz="3400" dirty="0"/>
              <a:t>: %</a:t>
            </a:r>
            <a:r>
              <a:rPr lang="en-US" sz="3400" dirty="0" err="1"/>
              <a:t>s",e.name</a:t>
            </a:r>
            <a:r>
              <a:rPr lang="en-US" sz="3400" dirty="0"/>
              <a:t>);</a:t>
            </a:r>
          </a:p>
          <a:p>
            <a:pPr marL="0" indent="0" algn="just">
              <a:buNone/>
            </a:pPr>
            <a:r>
              <a:rPr lang="en-US" sz="3400" dirty="0" err="1"/>
              <a:t>printf</a:t>
            </a:r>
            <a:r>
              <a:rPr lang="en-US" sz="3400" dirty="0"/>
              <a:t>("\</a:t>
            </a:r>
            <a:r>
              <a:rPr lang="en-US" sz="3400" dirty="0" err="1"/>
              <a:t>nSalary</a:t>
            </a:r>
            <a:r>
              <a:rPr lang="en-US" sz="3400" dirty="0"/>
              <a:t>: %f",</a:t>
            </a:r>
            <a:r>
              <a:rPr lang="en-US" sz="3400" dirty="0" err="1"/>
              <a:t>e.sal</a:t>
            </a:r>
            <a:r>
              <a:rPr lang="en-US" sz="3400" dirty="0"/>
              <a:t>);</a:t>
            </a:r>
          </a:p>
          <a:p>
            <a:pPr marL="0" indent="0" algn="just">
              <a:buNone/>
            </a:pPr>
            <a:r>
              <a:rPr lang="en-US" sz="3400" dirty="0" err="1"/>
              <a:t>getch</a:t>
            </a:r>
            <a:r>
              <a:rPr lang="en-US" sz="3400" dirty="0"/>
              <a:t>();</a:t>
            </a:r>
          </a:p>
          <a:p>
            <a:pPr marL="0" indent="0" algn="just">
              <a:buNone/>
            </a:pPr>
            <a:r>
              <a:rPr lang="en-US" sz="3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041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in C 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502275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02:</a:t>
            </a:r>
            <a:endParaRPr lang="en-US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400" dirty="0"/>
              <a:t>#include &lt;</a:t>
            </a:r>
            <a:r>
              <a:rPr lang="en-US" sz="3400" dirty="0" err="1"/>
              <a:t>stdio.h</a:t>
            </a:r>
            <a:r>
              <a:rPr lang="en-US" sz="3400" dirty="0"/>
              <a:t>&gt;</a:t>
            </a:r>
          </a:p>
          <a:p>
            <a:pPr marL="0" indent="0" algn="just">
              <a:buNone/>
            </a:pPr>
            <a:r>
              <a:rPr lang="en-US" sz="3400" dirty="0"/>
              <a:t>#include &lt;</a:t>
            </a:r>
            <a:r>
              <a:rPr lang="en-US" sz="3400" dirty="0" err="1"/>
              <a:t>string.h</a:t>
            </a:r>
            <a:r>
              <a:rPr lang="en-US" sz="3400" dirty="0"/>
              <a:t>&gt;</a:t>
            </a:r>
          </a:p>
          <a:p>
            <a:pPr marL="0" indent="0" algn="just">
              <a:buNone/>
            </a:pPr>
            <a:r>
              <a:rPr lang="en-US" sz="3400" dirty="0" err="1"/>
              <a:t>struct</a:t>
            </a:r>
            <a:r>
              <a:rPr lang="en-US" sz="3400" dirty="0"/>
              <a:t> employee</a:t>
            </a:r>
          </a:p>
          <a:p>
            <a:pPr marL="0" indent="0" algn="just">
              <a:buNone/>
            </a:pPr>
            <a:r>
              <a:rPr lang="en-US" sz="3400" dirty="0"/>
              <a:t>{ </a:t>
            </a:r>
            <a:r>
              <a:rPr lang="en-US" sz="3400" dirty="0" err="1"/>
              <a:t>int</a:t>
            </a:r>
            <a:r>
              <a:rPr lang="en-US" sz="3400" dirty="0"/>
              <a:t> id;</a:t>
            </a:r>
          </a:p>
          <a:p>
            <a:pPr marL="0" indent="0" algn="just">
              <a:buNone/>
            </a:pPr>
            <a:r>
              <a:rPr lang="en-US" sz="3400" dirty="0"/>
              <a:t>char name[50];</a:t>
            </a:r>
          </a:p>
          <a:p>
            <a:pPr marL="0" indent="0" algn="just">
              <a:buNone/>
            </a:pPr>
            <a:r>
              <a:rPr lang="en-US" sz="3400" dirty="0"/>
              <a:t>}e1; </a:t>
            </a:r>
            <a:r>
              <a:rPr lang="en-US" sz="3400" dirty="0" smtClean="0"/>
              <a:t>                           //</a:t>
            </a:r>
            <a:r>
              <a:rPr lang="en-US" sz="3400" dirty="0"/>
              <a:t>declaring e1 variable for structure</a:t>
            </a:r>
          </a:p>
          <a:p>
            <a:pPr marL="0" indent="0" algn="just">
              <a:buNone/>
            </a:pPr>
            <a:r>
              <a:rPr lang="en-US" sz="3400" dirty="0" err="1"/>
              <a:t>int</a:t>
            </a:r>
            <a:r>
              <a:rPr lang="en-US" sz="3400" dirty="0"/>
              <a:t> main( )</a:t>
            </a:r>
          </a:p>
          <a:p>
            <a:pPr marL="0" indent="0" algn="just">
              <a:buNone/>
            </a:pPr>
            <a:r>
              <a:rPr lang="en-US" sz="3400" dirty="0"/>
              <a:t>{</a:t>
            </a:r>
          </a:p>
          <a:p>
            <a:pPr marL="0" indent="0" algn="just">
              <a:buNone/>
            </a:pPr>
            <a:r>
              <a:rPr lang="en-US" sz="3400" dirty="0"/>
              <a:t>//store first employee </a:t>
            </a:r>
            <a:r>
              <a:rPr lang="en-US" sz="3400" dirty="0" smtClean="0"/>
              <a:t>information</a:t>
            </a:r>
          </a:p>
          <a:p>
            <a:pPr marL="0" indent="0" algn="just">
              <a:buNone/>
            </a:pPr>
            <a:r>
              <a:rPr lang="en-US" sz="3400" dirty="0"/>
              <a:t>e1.id=101;</a:t>
            </a:r>
          </a:p>
          <a:p>
            <a:pPr marL="0" indent="0" algn="just">
              <a:buNone/>
            </a:pPr>
            <a:r>
              <a:rPr lang="en-US" sz="3400" dirty="0" err="1"/>
              <a:t>strcpy</a:t>
            </a:r>
            <a:r>
              <a:rPr lang="en-US" sz="3400" dirty="0"/>
              <a:t>(e1.name, </a:t>
            </a:r>
            <a:r>
              <a:rPr lang="en-US" sz="3400" dirty="0" smtClean="0"/>
              <a:t>“Abdul Karim");//</a:t>
            </a:r>
            <a:r>
              <a:rPr lang="en-US" sz="3400" dirty="0"/>
              <a:t>copying string into char array</a:t>
            </a:r>
          </a:p>
          <a:p>
            <a:pPr marL="0" indent="0" algn="just">
              <a:buNone/>
            </a:pPr>
            <a:r>
              <a:rPr lang="en-US" sz="3400" dirty="0"/>
              <a:t>//printing first employee information</a:t>
            </a:r>
          </a:p>
          <a:p>
            <a:pPr marL="0" indent="0" algn="just">
              <a:buNone/>
            </a:pPr>
            <a:r>
              <a:rPr lang="en-US" sz="3400" dirty="0" err="1"/>
              <a:t>printf</a:t>
            </a:r>
            <a:r>
              <a:rPr lang="en-US" sz="3400" dirty="0"/>
              <a:t>( "employee 1 id : %d\n", e1.id);</a:t>
            </a:r>
          </a:p>
          <a:p>
            <a:pPr marL="0" indent="0" algn="just">
              <a:buNone/>
            </a:pPr>
            <a:r>
              <a:rPr lang="en-US" sz="3400" dirty="0" err="1"/>
              <a:t>printf</a:t>
            </a:r>
            <a:r>
              <a:rPr lang="en-US" sz="3400" dirty="0"/>
              <a:t>( "employee 1 name : %s\n", e1.name);</a:t>
            </a:r>
          </a:p>
          <a:p>
            <a:pPr marL="0" indent="0" algn="just">
              <a:buNone/>
            </a:pPr>
            <a:r>
              <a:rPr lang="en-US" sz="3400" dirty="0"/>
              <a:t>return 0;</a:t>
            </a:r>
          </a:p>
          <a:p>
            <a:pPr marL="0" indent="0" algn="just">
              <a:buNone/>
            </a:pPr>
            <a:r>
              <a:rPr lang="en-US" sz="3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109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Difference Between Array and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200" y="1676400"/>
            <a:ext cx="9067800" cy="277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7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The structure that contains another structure as its members is called a nested </a:t>
            </a:r>
            <a:r>
              <a:rPr lang="en-US" dirty="0" smtClean="0"/>
              <a:t>structure. </a:t>
            </a:r>
          </a:p>
          <a:p>
            <a:pPr marL="0" indent="0" algn="just">
              <a:buNone/>
            </a:pPr>
            <a:r>
              <a:rPr lang="en-US" dirty="0" smtClean="0"/>
              <a:t>or </a:t>
            </a:r>
          </a:p>
          <a:p>
            <a:pPr marL="0" indent="0" algn="just">
              <a:buNone/>
            </a:pPr>
            <a:r>
              <a:rPr lang="en-US" dirty="0"/>
              <a:t>A</a:t>
            </a:r>
            <a:r>
              <a:rPr lang="en-US" dirty="0" smtClean="0"/>
              <a:t> structure </a:t>
            </a:r>
            <a:r>
              <a:rPr lang="en-US" dirty="0"/>
              <a:t>within a structure is called </a:t>
            </a:r>
            <a:r>
              <a:rPr lang="en-US" dirty="0" smtClean="0"/>
              <a:t>nested structure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structure should be declared </a:t>
            </a:r>
            <a:r>
              <a:rPr lang="en-US" dirty="0" smtClean="0"/>
              <a:t>separately and </a:t>
            </a:r>
            <a:r>
              <a:rPr lang="en-US" dirty="0"/>
              <a:t>then be grouped into high level structure.</a:t>
            </a:r>
          </a:p>
        </p:txBody>
      </p:sp>
    </p:spTree>
    <p:extLst>
      <p:ext uri="{BB962C8B-B14F-4D97-AF65-F5344CB8AC3E}">
        <p14:creationId xmlns:p14="http://schemas.microsoft.com/office/powerpoint/2010/main" val="142885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Nested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There are two ways to define nested structure</a:t>
            </a:r>
          </a:p>
          <a:p>
            <a:pPr marL="0" indent="0" algn="just">
              <a:buNone/>
            </a:pPr>
            <a:r>
              <a:rPr lang="en-US" dirty="0"/>
              <a:t>in c language:</a:t>
            </a:r>
          </a:p>
          <a:p>
            <a:pPr marL="0" indent="0" algn="just">
              <a:buNone/>
            </a:pPr>
            <a:r>
              <a:rPr lang="en-US" dirty="0"/>
              <a:t>1. By separate structure</a:t>
            </a:r>
          </a:p>
          <a:p>
            <a:pPr marL="0" indent="0" algn="just">
              <a:buNone/>
            </a:pPr>
            <a:r>
              <a:rPr lang="en-US" dirty="0"/>
              <a:t>2. By Embedded </a:t>
            </a:r>
            <a:r>
              <a:rPr lang="en-US" dirty="0" smtClean="0"/>
              <a:t>structure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51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Separate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We </a:t>
            </a:r>
            <a:r>
              <a:rPr lang="en-US" dirty="0"/>
              <a:t>can create 2 structures, but dependent structure should be used inside the main structure as </a:t>
            </a:r>
            <a:r>
              <a:rPr lang="en-US" dirty="0" smtClean="0"/>
              <a:t>a member</a:t>
            </a:r>
            <a:r>
              <a:rPr lang="en-US" dirty="0"/>
              <a:t>. Let's see the code of nested structure.</a:t>
            </a:r>
          </a:p>
        </p:txBody>
      </p:sp>
    </p:spTree>
    <p:extLst>
      <p:ext uri="{BB962C8B-B14F-4D97-AF65-F5344CB8AC3E}">
        <p14:creationId xmlns:p14="http://schemas.microsoft.com/office/powerpoint/2010/main" val="300396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Separate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Date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dd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mm;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yyyy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};</a:t>
            </a:r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Employee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pPr marL="0" indent="0" algn="just">
              <a:buNone/>
            </a:pPr>
            <a:r>
              <a:rPr lang="en-US" dirty="0"/>
              <a:t>char name[20];</a:t>
            </a:r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Date </a:t>
            </a:r>
            <a:r>
              <a:rPr lang="en-US" dirty="0" err="1"/>
              <a:t>doj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}emp1;</a:t>
            </a:r>
          </a:p>
        </p:txBody>
      </p:sp>
    </p:spTree>
    <p:extLst>
      <p:ext uri="{BB962C8B-B14F-4D97-AF65-F5344CB8AC3E}">
        <p14:creationId xmlns:p14="http://schemas.microsoft.com/office/powerpoint/2010/main" val="380463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Embedded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Employee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pPr marL="0" indent="0" algn="just">
              <a:buNone/>
            </a:pPr>
            <a:r>
              <a:rPr lang="en-US" dirty="0"/>
              <a:t>char name[20];</a:t>
            </a:r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Date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dd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mm;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yyyy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r>
              <a:rPr lang="en-US" dirty="0" err="1"/>
              <a:t>doj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}emp1;</a:t>
            </a:r>
          </a:p>
        </p:txBody>
      </p:sp>
    </p:spTree>
    <p:extLst>
      <p:ext uri="{BB962C8B-B14F-4D97-AF65-F5344CB8AC3E}">
        <p14:creationId xmlns:p14="http://schemas.microsoft.com/office/powerpoint/2010/main" val="227477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Accessing Nested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We can access the member of nested structure by </a:t>
            </a:r>
            <a:r>
              <a:rPr lang="en-US" dirty="0" err="1"/>
              <a:t>Outer_Structure.Nested_Structure.member</a:t>
            </a:r>
            <a:r>
              <a:rPr lang="en-US" dirty="0"/>
              <a:t> as</a:t>
            </a:r>
          </a:p>
          <a:p>
            <a:pPr marL="0" indent="0" algn="just">
              <a:buNone/>
            </a:pPr>
            <a:r>
              <a:rPr lang="en-US" dirty="0"/>
              <a:t>given below:</a:t>
            </a:r>
          </a:p>
          <a:p>
            <a:pPr marL="0" indent="0" algn="just">
              <a:buNone/>
            </a:pPr>
            <a:r>
              <a:rPr lang="en-US" dirty="0"/>
              <a:t>e1.doj.dd</a:t>
            </a:r>
          </a:p>
          <a:p>
            <a:pPr marL="0" indent="0" algn="just">
              <a:buNone/>
            </a:pPr>
            <a:r>
              <a:rPr lang="en-US" dirty="0"/>
              <a:t>e1.doj.mm</a:t>
            </a:r>
          </a:p>
          <a:p>
            <a:pPr marL="0" indent="0" algn="just">
              <a:buNone/>
            </a:pPr>
            <a:r>
              <a:rPr lang="en-US" dirty="0"/>
              <a:t>e1.doj.yyyy</a:t>
            </a:r>
          </a:p>
        </p:txBody>
      </p:sp>
    </p:spTree>
    <p:extLst>
      <p:ext uri="{BB962C8B-B14F-4D97-AF65-F5344CB8AC3E}">
        <p14:creationId xmlns:p14="http://schemas.microsoft.com/office/powerpoint/2010/main" val="1909861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of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Array of structures to store much information of different data types. Each element of the array</a:t>
            </a:r>
          </a:p>
          <a:p>
            <a:pPr marL="0" indent="0" algn="just">
              <a:buNone/>
            </a:pPr>
            <a:r>
              <a:rPr lang="en-US" dirty="0"/>
              <a:t>representing a structure variable.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array of structures is also known as collection </a:t>
            </a:r>
            <a:r>
              <a:rPr lang="en-US" dirty="0" smtClean="0"/>
              <a:t>of structures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77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of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 : if you want to handle more records within one structure, we need not specify the number </a:t>
            </a:r>
            <a:r>
              <a:rPr lang="en-US" dirty="0" smtClean="0"/>
              <a:t>of structure </a:t>
            </a:r>
            <a:r>
              <a:rPr lang="en-US" dirty="0"/>
              <a:t>variable. Simply we can use array of structure variable to store them in one structure</a:t>
            </a:r>
          </a:p>
          <a:p>
            <a:pPr marL="0" indent="0" algn="just">
              <a:buNone/>
            </a:pPr>
            <a:r>
              <a:rPr lang="en-US" dirty="0"/>
              <a:t>variable.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Example </a:t>
            </a:r>
            <a:r>
              <a:rPr lang="en-US" dirty="0"/>
              <a:t>: </a:t>
            </a:r>
            <a:r>
              <a:rPr lang="en-US" dirty="0" err="1"/>
              <a:t>struct</a:t>
            </a:r>
            <a:r>
              <a:rPr lang="en-US" dirty="0"/>
              <a:t> employee </a:t>
            </a:r>
            <a:r>
              <a:rPr lang="en-US" dirty="0" err="1"/>
              <a:t>emp</a:t>
            </a:r>
            <a:r>
              <a:rPr lang="en-US" dirty="0"/>
              <a:t>[5];</a:t>
            </a:r>
          </a:p>
        </p:txBody>
      </p:sp>
    </p:spTree>
    <p:extLst>
      <p:ext uri="{BB962C8B-B14F-4D97-AF65-F5344CB8AC3E}">
        <p14:creationId xmlns:p14="http://schemas.microsoft.com/office/powerpoint/2010/main" val="283945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of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 of structure with array that stores information of 5 students and prints it.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student{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rollno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char name[10];</a:t>
            </a:r>
          </a:p>
          <a:p>
            <a:pPr marL="0" indent="0" algn="just">
              <a:buNone/>
            </a:pPr>
            <a:r>
              <a:rPr lang="en-US" dirty="0"/>
              <a:t>};</a:t>
            </a:r>
          </a:p>
          <a:p>
            <a:pPr marL="0" indent="0" algn="just">
              <a:buNone/>
            </a:pPr>
            <a:r>
              <a:rPr lang="en-US" dirty="0"/>
              <a:t>void main(){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struct</a:t>
            </a:r>
            <a:r>
              <a:rPr lang="en-US" dirty="0"/>
              <a:t> student </a:t>
            </a:r>
            <a:r>
              <a:rPr lang="en-US" dirty="0" err="1"/>
              <a:t>st</a:t>
            </a:r>
            <a:r>
              <a:rPr lang="en-US" dirty="0"/>
              <a:t>[5];</a:t>
            </a:r>
          </a:p>
          <a:p>
            <a:pPr marL="0" indent="0" algn="just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409332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Arrays of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Records of 5 students");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=0;i&lt;5;i</a:t>
            </a:r>
            <a:r>
              <a:rPr lang="en-US" dirty="0" smtClean="0"/>
              <a:t>++)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nEnter</a:t>
            </a:r>
            <a:r>
              <a:rPr lang="en-US" dirty="0"/>
              <a:t> </a:t>
            </a:r>
            <a:r>
              <a:rPr lang="en-US" dirty="0" err="1"/>
              <a:t>Rollno</a:t>
            </a:r>
            <a:r>
              <a:rPr lang="en-US" dirty="0"/>
              <a:t>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("%d",&amp;</a:t>
            </a:r>
            <a:r>
              <a:rPr lang="en-US" dirty="0" err="1"/>
              <a:t>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rollno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nEnter</a:t>
            </a:r>
            <a:r>
              <a:rPr lang="en-US" dirty="0"/>
              <a:t> Name:");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("%s",&amp;</a:t>
            </a:r>
            <a:r>
              <a:rPr lang="en-US" dirty="0" err="1"/>
              <a:t>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].name);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nStudent</a:t>
            </a:r>
            <a:r>
              <a:rPr lang="en-US" dirty="0"/>
              <a:t> Information List:");</a:t>
            </a:r>
          </a:p>
          <a:p>
            <a:pPr marL="0" indent="0" algn="just">
              <a:buNone/>
            </a:pPr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=0;i&lt;5;i</a:t>
            </a:r>
            <a:r>
              <a:rPr lang="en-US" dirty="0" smtClean="0"/>
              <a:t>++)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nRollno</a:t>
            </a:r>
            <a:r>
              <a:rPr lang="en-US" dirty="0"/>
              <a:t>:%d, Name:%s",</a:t>
            </a:r>
            <a:r>
              <a:rPr lang="en-US" dirty="0" err="1"/>
              <a:t>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</a:t>
            </a:r>
            <a:r>
              <a:rPr lang="en-US" dirty="0" err="1"/>
              <a:t>rollno,st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].name);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39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Structures and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A structure can be passed as a function argument just like any other variable. This raises a </a:t>
            </a:r>
            <a:r>
              <a:rPr lang="en-US" dirty="0" smtClean="0"/>
              <a:t>few practical </a:t>
            </a:r>
            <a:r>
              <a:rPr lang="en-US" dirty="0"/>
              <a:t>issues.</a:t>
            </a:r>
          </a:p>
          <a:p>
            <a:pPr marL="0" indent="0" algn="just">
              <a:buNone/>
            </a:pPr>
            <a:r>
              <a:rPr lang="en-US" b="1" dirty="0"/>
              <a:t>PASSING STRUCTURE TO FUNCTION IN C:</a:t>
            </a:r>
          </a:p>
          <a:p>
            <a:pPr marL="0" indent="0" algn="just">
              <a:buNone/>
            </a:pPr>
            <a:r>
              <a:rPr lang="en-US" dirty="0"/>
              <a:t>It can be done in below 3 ways.</a:t>
            </a:r>
          </a:p>
          <a:p>
            <a:pPr marL="0" indent="0" algn="just">
              <a:buNone/>
            </a:pPr>
            <a:r>
              <a:rPr lang="en-US" dirty="0"/>
              <a:t>1. Passing structure to a function by value</a:t>
            </a:r>
          </a:p>
          <a:p>
            <a:pPr marL="0" indent="0" algn="just">
              <a:buNone/>
            </a:pPr>
            <a:r>
              <a:rPr lang="en-US" dirty="0"/>
              <a:t>2. Passing structure to a function by address(reference)</a:t>
            </a:r>
          </a:p>
          <a:p>
            <a:pPr marL="0" indent="0" algn="just">
              <a:buNone/>
            </a:pPr>
            <a:r>
              <a:rPr lang="en-US" dirty="0"/>
              <a:t>3. No need to pass a structure – Declare structure variable as </a:t>
            </a:r>
            <a:r>
              <a:rPr lang="en-US" dirty="0" smtClean="0"/>
              <a:t>global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56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Structures and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The general format of sending a copy of a structure to the called function is:</a:t>
            </a:r>
          </a:p>
          <a:p>
            <a:pPr marL="0" indent="0" algn="just">
              <a:buNone/>
            </a:pPr>
            <a:r>
              <a:rPr lang="en-US" b="1" dirty="0" err="1"/>
              <a:t>Function_name</a:t>
            </a:r>
            <a:r>
              <a:rPr lang="en-US" b="1" dirty="0"/>
              <a:t>(</a:t>
            </a:r>
            <a:r>
              <a:rPr lang="en-US" b="1" dirty="0" err="1"/>
              <a:t>structure_variable_name</a:t>
            </a:r>
            <a:r>
              <a:rPr lang="en-US" b="1" dirty="0"/>
              <a:t>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called function takes the following form:</a:t>
            </a:r>
          </a:p>
          <a:p>
            <a:pPr marL="0" indent="0" algn="just">
              <a:buNone/>
            </a:pPr>
            <a:r>
              <a:rPr lang="en-US" dirty="0" err="1"/>
              <a:t>data_type</a:t>
            </a:r>
            <a:r>
              <a:rPr lang="en-US" dirty="0"/>
              <a:t> </a:t>
            </a:r>
            <a:r>
              <a:rPr lang="en-US" dirty="0" err="1"/>
              <a:t>function_name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tag_name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</a:p>
          <a:p>
            <a:pPr marL="0" indent="0" algn="just">
              <a:buNone/>
            </a:pPr>
            <a:r>
              <a:rPr lang="en-US" dirty="0"/>
              <a:t>----------</a:t>
            </a:r>
          </a:p>
          <a:p>
            <a:pPr marL="0" indent="0" algn="just">
              <a:buNone/>
            </a:pPr>
            <a:r>
              <a:rPr lang="en-US" dirty="0"/>
              <a:t>----------</a:t>
            </a:r>
          </a:p>
          <a:p>
            <a:pPr marL="0" indent="0" algn="just">
              <a:buNone/>
            </a:pPr>
            <a:r>
              <a:rPr lang="en-US" dirty="0"/>
              <a:t>return(</a:t>
            </a:r>
            <a:r>
              <a:rPr lang="en-US" dirty="0" err="1"/>
              <a:t>exp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4822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Passing structure to function by </a:t>
            </a:r>
            <a:r>
              <a:rPr lang="en-US" sz="3600" b="1" dirty="0" smtClean="0"/>
              <a:t>value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student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pPr marL="0" indent="0">
              <a:buNone/>
            </a:pPr>
            <a:r>
              <a:rPr lang="en-US" dirty="0"/>
              <a:t>char name[20];</a:t>
            </a:r>
          </a:p>
          <a:p>
            <a:pPr marL="0" indent="0">
              <a:buNone/>
            </a:pPr>
            <a:r>
              <a:rPr lang="en-US" dirty="0"/>
              <a:t>float percentage;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491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Passing structure to function by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1" y="1613254"/>
            <a:ext cx="8229600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student record);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student record;</a:t>
            </a:r>
          </a:p>
          <a:p>
            <a:pPr marL="0" indent="0">
              <a:buNone/>
            </a:pPr>
            <a:r>
              <a:rPr lang="en-US" dirty="0"/>
              <a:t>record.id=1;</a:t>
            </a:r>
          </a:p>
          <a:p>
            <a:pPr marL="0" indent="0">
              <a:buNone/>
            </a:pPr>
            <a:r>
              <a:rPr lang="en-US" dirty="0" err="1"/>
              <a:t>strcpy</a:t>
            </a:r>
            <a:r>
              <a:rPr lang="en-US" dirty="0"/>
              <a:t>(record.name, "Raju");</a:t>
            </a:r>
          </a:p>
          <a:p>
            <a:pPr marL="0" indent="0">
              <a:buNone/>
            </a:pPr>
            <a:r>
              <a:rPr lang="en-US" dirty="0" err="1"/>
              <a:t>record.percentage</a:t>
            </a:r>
            <a:r>
              <a:rPr lang="en-US" dirty="0"/>
              <a:t> = 86.5;</a:t>
            </a:r>
          </a:p>
          <a:p>
            <a:pPr marL="0" indent="0">
              <a:buNone/>
            </a:pPr>
            <a:r>
              <a:rPr lang="en-US" dirty="0" err="1"/>
              <a:t>func</a:t>
            </a:r>
            <a:r>
              <a:rPr lang="en-US" dirty="0"/>
              <a:t>(record);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940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Passing structure to function by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613254"/>
            <a:ext cx="8430409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student record)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 Id is: %d \n", record.id);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 Name is: %s \n", record.name);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 Percentage is: %f \n</a:t>
            </a:r>
            <a:r>
              <a:rPr lang="en-US" dirty="0" smtClean="0"/>
              <a:t>", </a:t>
            </a:r>
            <a:r>
              <a:rPr lang="en-US" dirty="0" err="1" smtClean="0"/>
              <a:t>record.percentage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271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/>
              <a:t>Passing structure to function by reference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613254"/>
            <a:ext cx="8430409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student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id;</a:t>
            </a:r>
          </a:p>
          <a:p>
            <a:pPr marL="0" indent="0">
              <a:buNone/>
            </a:pPr>
            <a:r>
              <a:rPr lang="en-US" dirty="0" smtClean="0"/>
              <a:t>	char </a:t>
            </a:r>
            <a:r>
              <a:rPr lang="en-US" dirty="0"/>
              <a:t>name[20];</a:t>
            </a:r>
          </a:p>
          <a:p>
            <a:pPr marL="0" indent="0">
              <a:buNone/>
            </a:pPr>
            <a:r>
              <a:rPr lang="en-US" dirty="0" smtClean="0"/>
              <a:t>	float </a:t>
            </a:r>
            <a:r>
              <a:rPr lang="en-US" dirty="0"/>
              <a:t>percentage;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1982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/>
              <a:t>Passing structure to function by reference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613254"/>
            <a:ext cx="8430409" cy="47430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student *record);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/>
              <a:t>student record;</a:t>
            </a:r>
          </a:p>
          <a:p>
            <a:pPr marL="0" indent="0">
              <a:buNone/>
            </a:pPr>
            <a:r>
              <a:rPr lang="en-US" dirty="0" smtClean="0"/>
              <a:t>	record.id=1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strcpy</a:t>
            </a:r>
            <a:r>
              <a:rPr lang="en-US" dirty="0" smtClean="0"/>
              <a:t>(record.name</a:t>
            </a:r>
            <a:r>
              <a:rPr lang="en-US" dirty="0"/>
              <a:t>, "Raju");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record.percentage</a:t>
            </a:r>
            <a:r>
              <a:rPr lang="en-US" dirty="0" smtClean="0"/>
              <a:t> </a:t>
            </a:r>
            <a:r>
              <a:rPr lang="en-US" dirty="0"/>
              <a:t>= 86.5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func</a:t>
            </a:r>
            <a:r>
              <a:rPr lang="en-US" dirty="0"/>
              <a:t>(&amp;record);</a:t>
            </a:r>
          </a:p>
          <a:p>
            <a:pPr marL="0" indent="0">
              <a:buNone/>
            </a:pPr>
            <a:r>
              <a:rPr lang="en-US" dirty="0" smtClean="0"/>
              <a:t>	return </a:t>
            </a:r>
            <a:r>
              <a:rPr lang="en-US" dirty="0"/>
              <a:t>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9382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/>
              <a:t>Passing structure to function by reference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613254"/>
            <a:ext cx="8430410" cy="47430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struct</a:t>
            </a:r>
            <a:r>
              <a:rPr lang="en-US" dirty="0"/>
              <a:t> student *record)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 Id is: %d \n", record-&gt;id);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 Name is: %s \n", record-&gt;name);</a:t>
            </a:r>
          </a:p>
          <a:p>
            <a:pPr marL="0" indent="0">
              <a:buNone/>
            </a:pPr>
            <a:r>
              <a:rPr lang="en-US" sz="2800" dirty="0" err="1"/>
              <a:t>printf</a:t>
            </a:r>
            <a:r>
              <a:rPr lang="en-US" sz="2800" dirty="0"/>
              <a:t>(" Percentage is: %f \n", record-&gt;percentage);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3436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Declare a structure variable as global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student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id;</a:t>
            </a:r>
          </a:p>
          <a:p>
            <a:pPr marL="0" indent="0">
              <a:buNone/>
            </a:pPr>
            <a:r>
              <a:rPr lang="en-US" dirty="0" smtClean="0"/>
              <a:t>    char </a:t>
            </a:r>
            <a:r>
              <a:rPr lang="en-US" dirty="0"/>
              <a:t>name[20];</a:t>
            </a:r>
          </a:p>
          <a:p>
            <a:pPr marL="0" indent="0">
              <a:buNone/>
            </a:pPr>
            <a:r>
              <a:rPr lang="en-US" dirty="0" smtClean="0"/>
              <a:t>    float </a:t>
            </a:r>
            <a:r>
              <a:rPr lang="en-US" dirty="0"/>
              <a:t>percentage;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student record; </a:t>
            </a:r>
            <a:r>
              <a:rPr lang="en-US" sz="2600" b="1" dirty="0"/>
              <a:t>// Global declaration of structure</a:t>
            </a:r>
          </a:p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structure_demo</a:t>
            </a:r>
            <a:r>
              <a:rPr lang="en-US" dirty="0"/>
              <a:t>();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754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Declare a structure variable as global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     record.id=1;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strcpy</a:t>
            </a:r>
            <a:r>
              <a:rPr lang="en-US" dirty="0" smtClean="0"/>
              <a:t>(record.name</a:t>
            </a:r>
            <a:r>
              <a:rPr lang="en-US" dirty="0"/>
              <a:t>, "Raju");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record.percentage</a:t>
            </a:r>
            <a:r>
              <a:rPr lang="en-US" dirty="0" smtClean="0"/>
              <a:t> </a:t>
            </a:r>
            <a:r>
              <a:rPr lang="en-US" dirty="0"/>
              <a:t>= 86.5;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structure_demo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     return </a:t>
            </a:r>
            <a:r>
              <a:rPr lang="en-US" dirty="0"/>
              <a:t>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427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Declare a structure variable as global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void </a:t>
            </a:r>
            <a:r>
              <a:rPr lang="en-US" dirty="0" err="1"/>
              <a:t>structure_demo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/>
              <a:t>(" Id is: %d \n", record.id);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/>
              <a:t>(" Name is: %s \n", record.name);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sz="2800" dirty="0" err="1" smtClean="0"/>
              <a:t>printf</a:t>
            </a:r>
            <a:r>
              <a:rPr lang="en-US" sz="2800" dirty="0"/>
              <a:t>(" Percentage is: %f \n", </a:t>
            </a:r>
            <a:r>
              <a:rPr lang="en-US" sz="2800" dirty="0" err="1"/>
              <a:t>record.percentage</a:t>
            </a:r>
            <a:r>
              <a:rPr lang="en-US" sz="2800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2617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r>
              <a:rPr lang="en-US" sz="3600" b="1" dirty="0"/>
              <a:t>Passing a copy of entire structure to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std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no;</a:t>
            </a:r>
          </a:p>
          <a:p>
            <a:pPr marL="0" indent="0">
              <a:buNone/>
            </a:pPr>
            <a:r>
              <a:rPr lang="en-US" dirty="0" smtClean="0"/>
              <a:t>    float </a:t>
            </a:r>
            <a:r>
              <a:rPr lang="en-US" dirty="0" err="1"/>
              <a:t>avg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std</a:t>
            </a:r>
            <a:r>
              <a:rPr lang="en-US" dirty="0"/>
              <a:t> a;</a:t>
            </a:r>
          </a:p>
          <a:p>
            <a:pPr marL="0" indent="0">
              <a:buNone/>
            </a:pPr>
            <a:r>
              <a:rPr lang="en-US" dirty="0"/>
              <a:t>void fun(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std</a:t>
            </a:r>
            <a:r>
              <a:rPr lang="en-US" dirty="0"/>
              <a:t> p);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1101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r>
              <a:rPr lang="en-US" sz="3600" b="1" dirty="0"/>
              <a:t>Passing a copy of entire structure to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void main</a:t>
            </a:r>
            <a:r>
              <a:rPr lang="en-US" dirty="0" smtClean="0"/>
              <a:t>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clrscr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 smtClean="0"/>
              <a:t>   a.no=12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a.avg</a:t>
            </a:r>
            <a:r>
              <a:rPr lang="en-US" dirty="0" smtClean="0"/>
              <a:t>=13.76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fun(a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getch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fun(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std</a:t>
            </a:r>
            <a:r>
              <a:rPr lang="en-US" dirty="0"/>
              <a:t> p)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printf</a:t>
            </a:r>
            <a:r>
              <a:rPr lang="en-US" dirty="0"/>
              <a:t>("number </a:t>
            </a:r>
            <a:r>
              <a:rPr lang="en-US" dirty="0" err="1"/>
              <a:t>is%d</a:t>
            </a:r>
            <a:r>
              <a:rPr lang="en-US" dirty="0"/>
              <a:t>\</a:t>
            </a:r>
            <a:r>
              <a:rPr lang="en-US" dirty="0" err="1"/>
              <a:t>n",p.no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dirty="0" err="1" smtClean="0"/>
              <a:t>printf</a:t>
            </a:r>
            <a:r>
              <a:rPr lang="en-US" dirty="0"/>
              <a:t>("average </a:t>
            </a:r>
            <a:r>
              <a:rPr lang="en-US" dirty="0" err="1"/>
              <a:t>is%f</a:t>
            </a:r>
            <a:r>
              <a:rPr lang="en-US" dirty="0"/>
              <a:t>\n",</a:t>
            </a:r>
            <a:r>
              <a:rPr lang="en-US" dirty="0" err="1"/>
              <a:t>p.avg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0837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Passing Structures through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struct</a:t>
            </a:r>
            <a:r>
              <a:rPr lang="en-US" dirty="0"/>
              <a:t> student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pPr marL="0" indent="0">
              <a:buNone/>
            </a:pPr>
            <a:r>
              <a:rPr lang="en-US" dirty="0"/>
              <a:t>char name[30];</a:t>
            </a:r>
          </a:p>
          <a:p>
            <a:pPr marL="0" indent="0">
              <a:buNone/>
            </a:pPr>
            <a:r>
              <a:rPr lang="en-US" dirty="0"/>
              <a:t>float percentage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957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Passing Structures through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/>
              <a:t>student record1 = {1, "Raju", 90.5};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/>
              <a:t>student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ptr</a:t>
            </a:r>
            <a:r>
              <a:rPr lang="en-US" dirty="0" smtClean="0"/>
              <a:t> </a:t>
            </a:r>
            <a:r>
              <a:rPr lang="en-US" dirty="0"/>
              <a:t>= &amp;record1;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/>
              <a:t>("Records of STUDENT1: \n");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/>
              <a:t>(" Id is: %d \n", </a:t>
            </a:r>
            <a:r>
              <a:rPr lang="en-US" dirty="0" err="1"/>
              <a:t>ptr</a:t>
            </a:r>
            <a:r>
              <a:rPr lang="en-US" dirty="0"/>
              <a:t>-&gt;id);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/>
              <a:t>(" Name is: %s \n", </a:t>
            </a:r>
            <a:r>
              <a:rPr lang="en-US" dirty="0" err="1"/>
              <a:t>ptr</a:t>
            </a:r>
            <a:r>
              <a:rPr lang="en-US" dirty="0"/>
              <a:t>-&gt;name);</a:t>
            </a:r>
          </a:p>
          <a:p>
            <a:pPr marL="0" indent="0">
              <a:buNone/>
            </a:pPr>
            <a:r>
              <a:rPr lang="en-US" dirty="0" smtClean="0"/>
              <a:t>   </a:t>
            </a:r>
            <a:r>
              <a:rPr lang="en-US" dirty="0" err="1" smtClean="0"/>
              <a:t>printf</a:t>
            </a:r>
            <a:r>
              <a:rPr lang="en-US" dirty="0"/>
              <a:t>(" Percentage is: %f \n\n", </a:t>
            </a:r>
            <a:r>
              <a:rPr lang="en-US" dirty="0" err="1"/>
              <a:t>ptr</a:t>
            </a:r>
            <a:r>
              <a:rPr lang="en-US" dirty="0"/>
              <a:t>-&gt;percentage);</a:t>
            </a:r>
          </a:p>
          <a:p>
            <a:pPr marL="0" indent="0">
              <a:buNone/>
            </a:pPr>
            <a:r>
              <a:rPr lang="en-US" dirty="0" smtClean="0"/>
              <a:t>   return </a:t>
            </a:r>
            <a:r>
              <a:rPr lang="en-US" dirty="0"/>
              <a:t>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6736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Passing Structures through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OUTPUT:</a:t>
            </a:r>
          </a:p>
          <a:p>
            <a:pPr marL="0" indent="0">
              <a:buNone/>
            </a:pPr>
            <a:r>
              <a:rPr lang="en-US" dirty="0"/>
              <a:t>Records of STUDENT1:</a:t>
            </a:r>
          </a:p>
          <a:p>
            <a:pPr marL="0" indent="0">
              <a:buNone/>
            </a:pPr>
            <a:r>
              <a:rPr lang="en-US" dirty="0"/>
              <a:t>Id is: 1</a:t>
            </a:r>
          </a:p>
          <a:p>
            <a:pPr marL="0" indent="0">
              <a:buNone/>
            </a:pPr>
            <a:r>
              <a:rPr lang="en-US" dirty="0"/>
              <a:t>Name is: Raju</a:t>
            </a:r>
          </a:p>
          <a:p>
            <a:pPr marL="0" indent="0">
              <a:buNone/>
            </a:pPr>
            <a:r>
              <a:rPr lang="en-US" dirty="0"/>
              <a:t>Percentage is: 90.500000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7447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Self‐referential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Self –referential structures are those structures that contain a reference to data of its same type </a:t>
            </a:r>
            <a:r>
              <a:rPr lang="en-US" dirty="0" smtClean="0"/>
              <a:t>as that </a:t>
            </a:r>
            <a:r>
              <a:rPr lang="en-US" dirty="0"/>
              <a:t>of structure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A linked </a:t>
            </a:r>
            <a:r>
              <a:rPr lang="en-US" dirty="0"/>
              <a:t>list is supposed to be a </a:t>
            </a:r>
            <a:r>
              <a:rPr lang="en-US" dirty="0" smtClean="0"/>
              <a:t>self-referential data </a:t>
            </a:r>
            <a:r>
              <a:rPr lang="en-US" dirty="0"/>
              <a:t>structure. The next node of a node is being pointed, which is of the same </a:t>
            </a:r>
            <a:r>
              <a:rPr lang="en-US" dirty="0" err="1"/>
              <a:t>struct</a:t>
            </a:r>
            <a:r>
              <a:rPr lang="en-US" dirty="0"/>
              <a:t>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2615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Self‐referential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Syntax : </a:t>
            </a:r>
            <a:r>
              <a:rPr lang="en-US" dirty="0" err="1"/>
              <a:t>struct</a:t>
            </a:r>
            <a:r>
              <a:rPr lang="en-US" dirty="0"/>
              <a:t> </a:t>
            </a:r>
            <a:r>
              <a:rPr lang="en-US" dirty="0" err="1"/>
              <a:t>tag_name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    type </a:t>
            </a:r>
            <a:r>
              <a:rPr lang="en-US" dirty="0"/>
              <a:t>member1;</a:t>
            </a:r>
          </a:p>
          <a:p>
            <a:pPr marL="0" indent="0" algn="just">
              <a:buNone/>
            </a:pPr>
            <a:r>
              <a:rPr lang="en-US" dirty="0" smtClean="0"/>
              <a:t>    type </a:t>
            </a:r>
            <a:r>
              <a:rPr lang="en-US" dirty="0"/>
              <a:t>membere2;</a:t>
            </a:r>
          </a:p>
          <a:p>
            <a:pPr marL="0" indent="0" algn="just">
              <a:buNone/>
            </a:pPr>
            <a:r>
              <a:rPr lang="en-US" dirty="0" smtClean="0"/>
              <a:t>     : 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     : 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typeN</a:t>
            </a:r>
            <a:r>
              <a:rPr lang="en-US" dirty="0" smtClean="0"/>
              <a:t> </a:t>
            </a:r>
            <a:r>
              <a:rPr lang="en-US" dirty="0" err="1"/>
              <a:t>memberN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 err="1"/>
              <a:t>tag_name</a:t>
            </a:r>
            <a:r>
              <a:rPr lang="en-US" dirty="0"/>
              <a:t> *name;</a:t>
            </a:r>
          </a:p>
          <a:p>
            <a:pPr marL="0" indent="0" algn="just">
              <a:buNone/>
            </a:pPr>
            <a:r>
              <a:rPr lang="en-US" dirty="0" smtClean="0"/>
              <a:t>} ;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Where *name refers to the name of a pointer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6171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Unions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55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3950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union is a special data type available in C that allows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 different data types in the same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location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You </a:t>
            </a:r>
            <a:r>
              <a:rPr lang="en-US" dirty="0"/>
              <a:t>can define a union with </a:t>
            </a:r>
            <a:r>
              <a:rPr lang="en-US" dirty="0" smtClean="0"/>
              <a:t>many members</a:t>
            </a:r>
            <a:r>
              <a:rPr lang="en-US" dirty="0"/>
              <a:t>, but only one member can contain a value at </a:t>
            </a:r>
            <a:r>
              <a:rPr lang="en-US" dirty="0" smtClean="0"/>
              <a:t>any given </a:t>
            </a:r>
            <a:r>
              <a:rPr lang="en-US" dirty="0"/>
              <a:t>time. Unions provide an </a:t>
            </a:r>
            <a:r>
              <a:rPr lang="en-US" dirty="0" smtClean="0"/>
              <a:t>efficient way </a:t>
            </a:r>
            <a:r>
              <a:rPr lang="en-US" dirty="0"/>
              <a:t>of using the same memory location for multi-purpose.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2996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Unions</a:t>
            </a:r>
            <a:r>
              <a:rPr lang="en-US" dirty="0"/>
              <a:t> are conceptually similar to </a:t>
            </a:r>
            <a:r>
              <a:rPr lang="en-US" b="1" dirty="0"/>
              <a:t>structures</a:t>
            </a:r>
            <a:r>
              <a:rPr lang="en-US" dirty="0"/>
              <a:t>. </a:t>
            </a:r>
            <a:r>
              <a:rPr lang="en-US" dirty="0" smtClean="0"/>
              <a:t>The syntax </a:t>
            </a:r>
            <a:r>
              <a:rPr lang="en-US" dirty="0"/>
              <a:t>of </a:t>
            </a:r>
            <a:r>
              <a:rPr lang="en-US" b="1" dirty="0"/>
              <a:t>union</a:t>
            </a:r>
            <a:r>
              <a:rPr lang="en-US" dirty="0"/>
              <a:t> is also similar to that </a:t>
            </a:r>
            <a:r>
              <a:rPr lang="en-US" dirty="0" smtClean="0"/>
              <a:t>of </a:t>
            </a:r>
            <a:r>
              <a:rPr lang="en-US" b="1" dirty="0" smtClean="0"/>
              <a:t>structure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difference is in terms of storage</a:t>
            </a:r>
            <a:r>
              <a:rPr lang="en-US" dirty="0"/>
              <a:t>. 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In </a:t>
            </a:r>
            <a:r>
              <a:rPr lang="en-US" b="1" dirty="0" smtClean="0"/>
              <a:t>structure</a:t>
            </a: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each member has its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own storage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location</a:t>
            </a:r>
            <a:r>
              <a:rPr lang="en-US" dirty="0"/>
              <a:t>, whereas all members of </a:t>
            </a:r>
            <a:r>
              <a:rPr lang="en-US" b="1" dirty="0"/>
              <a:t>union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use a single shared memory location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equal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the size of its largest data 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0481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We can access only one member of union at a time. We </a:t>
            </a:r>
            <a:r>
              <a:rPr lang="en-US" dirty="0" smtClean="0"/>
              <a:t>can’t </a:t>
            </a:r>
            <a:r>
              <a:rPr lang="en-US" dirty="0"/>
              <a:t>access all member values at </a:t>
            </a:r>
            <a:r>
              <a:rPr lang="en-US" dirty="0" smtClean="0"/>
              <a:t>the same </a:t>
            </a:r>
            <a:r>
              <a:rPr lang="en-US" dirty="0"/>
              <a:t>time in union. But, structure can access all member values at the same time. This </a:t>
            </a:r>
            <a:r>
              <a:rPr lang="en-US" dirty="0" smtClean="0"/>
              <a:t>is because</a:t>
            </a:r>
            <a:r>
              <a:rPr lang="en-US" dirty="0"/>
              <a:t>, Union allocates one common storage space for all its members. Where as </a:t>
            </a:r>
            <a:r>
              <a:rPr lang="en-US" dirty="0" smtClean="0"/>
              <a:t>Structure allocates </a:t>
            </a:r>
            <a:r>
              <a:rPr lang="en-US" dirty="0"/>
              <a:t>storage space for all its members separately.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9376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95039"/>
            <a:ext cx="7989268" cy="513715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619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524000"/>
            <a:ext cx="8318655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248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union union-name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data_type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-name;</a:t>
            </a:r>
          </a:p>
          <a:p>
            <a:pPr marL="0" indent="0" algn="just">
              <a:buNone/>
            </a:pPr>
            <a:r>
              <a:rPr lang="en-US" dirty="0" err="1"/>
              <a:t>data_type</a:t>
            </a:r>
            <a:r>
              <a:rPr lang="en-US" dirty="0"/>
              <a:t> </a:t>
            </a:r>
            <a:r>
              <a:rPr lang="en-US" dirty="0" err="1"/>
              <a:t>var</a:t>
            </a:r>
            <a:r>
              <a:rPr lang="en-US" dirty="0"/>
              <a:t>-name;</a:t>
            </a:r>
          </a:p>
          <a:p>
            <a:pPr marL="0" indent="0" algn="just">
              <a:buNone/>
            </a:pPr>
            <a:r>
              <a:rPr lang="en-US" dirty="0" smtClean="0"/>
              <a:t>};</a:t>
            </a: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7996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The union tag is optional and each member definition is a normal variable definition, such as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/>
              <a:t>; or float f; or any other valid variable definition. At the end of the union's definition, before </a:t>
            </a:r>
            <a:r>
              <a:rPr lang="en-US" dirty="0" smtClean="0"/>
              <a:t>the final </a:t>
            </a:r>
            <a:r>
              <a:rPr lang="en-US" dirty="0"/>
              <a:t>semicolon, you can specify one or more union variables but it is optional. Here is the </a:t>
            </a:r>
            <a:r>
              <a:rPr lang="en-US" dirty="0" smtClean="0"/>
              <a:t>way you </a:t>
            </a:r>
            <a:r>
              <a:rPr lang="en-US" dirty="0"/>
              <a:t>would define a union type named Data which has the three members </a:t>
            </a:r>
            <a:r>
              <a:rPr lang="en-US" dirty="0" err="1"/>
              <a:t>i</a:t>
            </a:r>
            <a:r>
              <a:rPr lang="en-US" dirty="0"/>
              <a:t>, f, and str. Now, </a:t>
            </a:r>
            <a:r>
              <a:rPr lang="en-US" dirty="0" smtClean="0"/>
              <a:t>a variable </a:t>
            </a:r>
            <a:r>
              <a:rPr lang="en-US" dirty="0"/>
              <a:t>of Data type can store an integer, a floating-point number, or a string of characters. </a:t>
            </a:r>
            <a:r>
              <a:rPr lang="en-US" dirty="0" smtClean="0"/>
              <a:t>This means </a:t>
            </a:r>
            <a:r>
              <a:rPr lang="en-US" dirty="0"/>
              <a:t>that a single variable </a:t>
            </a:r>
            <a:r>
              <a:rPr lang="en-US" dirty="0" err="1"/>
              <a:t>ie</a:t>
            </a:r>
            <a:r>
              <a:rPr lang="en-US" dirty="0"/>
              <a:t>. same memory location can be used to store multiple types of </a:t>
            </a:r>
            <a:r>
              <a:rPr lang="en-US" dirty="0" smtClean="0"/>
              <a:t>data. You </a:t>
            </a:r>
            <a:r>
              <a:rPr lang="en-US" dirty="0"/>
              <a:t>can use any built-in or user defined data types inside a union based on your requirement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11613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memory occupied by a union will be large enough to hold the largest member of the </a:t>
            </a:r>
            <a:r>
              <a:rPr lang="en-US" dirty="0" smtClean="0"/>
              <a:t>union. For </a:t>
            </a:r>
            <a:r>
              <a:rPr lang="en-US" dirty="0"/>
              <a:t>example, in above example Data type will occupy 20 bytes of memory space because this </a:t>
            </a:r>
            <a:r>
              <a:rPr lang="en-US" dirty="0" smtClean="0"/>
              <a:t>is the </a:t>
            </a:r>
            <a:r>
              <a:rPr lang="en-US" dirty="0"/>
              <a:t>maximum space which can be occupied by character string. Following is the example </a:t>
            </a:r>
            <a:r>
              <a:rPr lang="en-US" dirty="0" smtClean="0"/>
              <a:t>which will </a:t>
            </a:r>
            <a:r>
              <a:rPr lang="en-US" dirty="0"/>
              <a:t>display total memory size occupied by the above union: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51979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 fontScale="47500" lnSpcReduction="20000"/>
          </a:bodyPr>
          <a:lstStyle/>
          <a:p>
            <a:pPr marL="0" indent="0" algn="just">
              <a:buNone/>
            </a:pPr>
            <a:r>
              <a:rPr lang="en-US" dirty="0"/>
              <a:t>Accessing a Member of a Union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union Data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float f;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/>
              <a:t>str</a:t>
            </a:r>
            <a:r>
              <a:rPr lang="en-US" dirty="0"/>
              <a:t>[20];</a:t>
            </a:r>
          </a:p>
          <a:p>
            <a:pPr marL="0" indent="0" algn="just">
              <a:buNone/>
            </a:pPr>
            <a:r>
              <a:rPr lang="en-US" dirty="0"/>
              <a:t>};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 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union Data </a:t>
            </a:r>
            <a:r>
              <a:rPr lang="en-US" dirty="0" err="1"/>
              <a:t>data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data.i</a:t>
            </a:r>
            <a:r>
              <a:rPr lang="en-US" dirty="0"/>
              <a:t> = 10;</a:t>
            </a:r>
          </a:p>
          <a:p>
            <a:pPr marL="0" indent="0" algn="just">
              <a:buNone/>
            </a:pPr>
            <a:r>
              <a:rPr lang="en-US" dirty="0" err="1"/>
              <a:t>data.f</a:t>
            </a:r>
            <a:r>
              <a:rPr lang="en-US" dirty="0"/>
              <a:t> = 220.5;</a:t>
            </a:r>
          </a:p>
          <a:p>
            <a:pPr marL="0" indent="0" algn="just">
              <a:buNone/>
            </a:pPr>
            <a:r>
              <a:rPr lang="en-US" dirty="0" err="1"/>
              <a:t>strcpy</a:t>
            </a:r>
            <a:r>
              <a:rPr lang="en-US" dirty="0"/>
              <a:t>( </a:t>
            </a:r>
            <a:r>
              <a:rPr lang="en-US" dirty="0" err="1"/>
              <a:t>data.str</a:t>
            </a:r>
            <a:r>
              <a:rPr lang="en-US" dirty="0"/>
              <a:t>, "C Programming");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 "</a:t>
            </a:r>
            <a:r>
              <a:rPr lang="en-US" dirty="0" err="1"/>
              <a:t>data.i</a:t>
            </a:r>
            <a:r>
              <a:rPr lang="en-US" dirty="0"/>
              <a:t> : %d\n", </a:t>
            </a:r>
            <a:r>
              <a:rPr lang="en-US" dirty="0" err="1"/>
              <a:t>data.i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 "</a:t>
            </a:r>
            <a:r>
              <a:rPr lang="en-US" dirty="0" err="1"/>
              <a:t>data.f</a:t>
            </a:r>
            <a:r>
              <a:rPr lang="en-US" dirty="0"/>
              <a:t> : %f\n", </a:t>
            </a:r>
            <a:r>
              <a:rPr lang="en-US" dirty="0" err="1"/>
              <a:t>data.f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 "</a:t>
            </a:r>
            <a:r>
              <a:rPr lang="en-US" dirty="0" err="1"/>
              <a:t>data.str</a:t>
            </a:r>
            <a:r>
              <a:rPr lang="en-US" dirty="0"/>
              <a:t> : %s\n", </a:t>
            </a:r>
            <a:r>
              <a:rPr lang="en-US" dirty="0" err="1"/>
              <a:t>data.str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7245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Dot operator can be used to access a member of the union . he member access operator is </a:t>
            </a:r>
            <a:r>
              <a:rPr lang="en-US" dirty="0" smtClean="0"/>
              <a:t>coded as </a:t>
            </a:r>
            <a:r>
              <a:rPr lang="en-US" dirty="0"/>
              <a:t>a period between the union variable name and the union member that we wish to access. </a:t>
            </a:r>
            <a:r>
              <a:rPr lang="en-US" dirty="0" smtClean="0"/>
              <a:t>You would </a:t>
            </a:r>
            <a:r>
              <a:rPr lang="en-US" dirty="0"/>
              <a:t>use union keyword to define variables of union type. Following is the example to explain</a:t>
            </a:r>
          </a:p>
          <a:p>
            <a:pPr marL="0" indent="0" algn="just">
              <a:buNone/>
            </a:pPr>
            <a:r>
              <a:rPr lang="en-US" dirty="0"/>
              <a:t>usage of union: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62366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</a:t>
            </a:r>
          </a:p>
          <a:p>
            <a:pPr marL="0" indent="0" algn="just">
              <a:buNone/>
            </a:pPr>
            <a:r>
              <a:rPr lang="en-US" dirty="0"/>
              <a:t>union employee</a:t>
            </a:r>
          </a:p>
          <a:p>
            <a:pPr marL="0" indent="0" algn="just">
              <a:buNone/>
            </a:pPr>
            <a:r>
              <a:rPr lang="en-US" dirty="0"/>
              <a:t>{ </a:t>
            </a: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pPr marL="0" indent="0" algn="just">
              <a:buNone/>
            </a:pPr>
            <a:r>
              <a:rPr lang="en-US" dirty="0"/>
              <a:t>char name[50];</a:t>
            </a:r>
          </a:p>
          <a:p>
            <a:pPr marL="0" indent="0" algn="just">
              <a:buNone/>
            </a:pPr>
            <a:r>
              <a:rPr lang="en-US" dirty="0"/>
              <a:t>float salary;</a:t>
            </a:r>
          </a:p>
          <a:p>
            <a:pPr marL="0" indent="0" algn="just">
              <a:buNone/>
            </a:pPr>
            <a:r>
              <a:rPr lang="en-US" dirty="0"/>
              <a:t>};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7816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string.h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union employee</a:t>
            </a:r>
          </a:p>
          <a:p>
            <a:pPr marL="0" indent="0" algn="just">
              <a:buNone/>
            </a:pPr>
            <a:r>
              <a:rPr lang="en-US" dirty="0"/>
              <a:t>{ </a:t>
            </a:r>
            <a:r>
              <a:rPr lang="en-US" dirty="0" err="1"/>
              <a:t>int</a:t>
            </a:r>
            <a:r>
              <a:rPr lang="en-US" dirty="0"/>
              <a:t> id;</a:t>
            </a:r>
          </a:p>
          <a:p>
            <a:pPr marL="0" indent="0" algn="just">
              <a:buNone/>
            </a:pPr>
            <a:r>
              <a:rPr lang="en-US" dirty="0"/>
              <a:t>char name[50];</a:t>
            </a:r>
          </a:p>
          <a:p>
            <a:pPr marL="0" indent="0" algn="just">
              <a:buNone/>
            </a:pPr>
            <a:r>
              <a:rPr lang="en-US" dirty="0"/>
              <a:t>}e1; //declaring e1 variable for union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8825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 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//store first employee information</a:t>
            </a:r>
          </a:p>
          <a:p>
            <a:pPr marL="0" indent="0" algn="just">
              <a:buNone/>
            </a:pPr>
            <a:r>
              <a:rPr lang="en-US" dirty="0"/>
              <a:t>e1.id=101;</a:t>
            </a:r>
          </a:p>
          <a:p>
            <a:pPr marL="0" indent="0" algn="just">
              <a:buNone/>
            </a:pPr>
            <a:r>
              <a:rPr lang="en-US" dirty="0" err="1"/>
              <a:t>strcpy</a:t>
            </a:r>
            <a:r>
              <a:rPr lang="en-US" dirty="0"/>
              <a:t>(e1.name, </a:t>
            </a:r>
            <a:r>
              <a:rPr lang="en-US" dirty="0" smtClean="0"/>
              <a:t>“Abdul Karim");//</a:t>
            </a:r>
            <a:r>
              <a:rPr lang="en-US" dirty="0"/>
              <a:t>copying string into char array</a:t>
            </a:r>
          </a:p>
          <a:p>
            <a:pPr marL="0" indent="0" algn="just">
              <a:buNone/>
            </a:pPr>
            <a:r>
              <a:rPr lang="en-US" dirty="0"/>
              <a:t>//printing first employee information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 "employee 1 id : %d\n", e1.id);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 "employee 1 name : %s\n", e1.name);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96651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union </a:t>
            </a:r>
            <a:r>
              <a:rPr lang="en-US" dirty="0" smtClean="0"/>
              <a:t>item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pPr marL="0" indent="0" algn="just">
              <a:buNone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a;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 b;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5938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Unions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790" y="1219200"/>
            <a:ext cx="8430410" cy="513715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 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union item it;</a:t>
            </a:r>
          </a:p>
          <a:p>
            <a:pPr marL="0" indent="0" algn="just">
              <a:buNone/>
            </a:pPr>
            <a:r>
              <a:rPr lang="en-US" dirty="0" err="1"/>
              <a:t>it.a</a:t>
            </a:r>
            <a:r>
              <a:rPr lang="en-US" dirty="0"/>
              <a:t> = 12;</a:t>
            </a:r>
          </a:p>
          <a:p>
            <a:pPr marL="0" indent="0" algn="just">
              <a:buNone/>
            </a:pPr>
            <a:r>
              <a:rPr lang="en-US" dirty="0" err="1"/>
              <a:t>it.b</a:t>
            </a:r>
            <a:r>
              <a:rPr lang="en-US" dirty="0"/>
              <a:t> = 20.2;</a:t>
            </a:r>
          </a:p>
          <a:p>
            <a:pPr marL="0" indent="0" algn="just">
              <a:buNone/>
            </a:pPr>
            <a:r>
              <a:rPr lang="en-US" dirty="0"/>
              <a:t>it.ch='z';</a:t>
            </a:r>
          </a:p>
          <a:p>
            <a:pPr marL="0" indent="0" algn="just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("%d\n",</a:t>
            </a:r>
            <a:r>
              <a:rPr lang="en-US" dirty="0" err="1"/>
              <a:t>it.a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("%f\n",</a:t>
            </a:r>
            <a:r>
              <a:rPr lang="en-US" dirty="0" err="1"/>
              <a:t>it.b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("%c\</a:t>
            </a:r>
            <a:r>
              <a:rPr lang="en-US" dirty="0" err="1"/>
              <a:t>n",it.ch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777031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Difference between Structure and Union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575" y="1360551"/>
            <a:ext cx="8429625" cy="4854447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0183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43200"/>
            <a:ext cx="6511925" cy="1143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File</a:t>
            </a:r>
            <a:endParaRPr lang="en-US" sz="4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72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3950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File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/>
              <a:t>A File is a collection of data stored on a secondary </a:t>
            </a:r>
            <a:r>
              <a:rPr lang="en-US" dirty="0" smtClean="0"/>
              <a:t>storage device </a:t>
            </a:r>
            <a:r>
              <a:rPr lang="en-US" dirty="0"/>
              <a:t>like hard disk. File operation </a:t>
            </a:r>
            <a:r>
              <a:rPr lang="en-US" dirty="0" smtClean="0"/>
              <a:t>is to </a:t>
            </a:r>
            <a:r>
              <a:rPr lang="en-US" dirty="0"/>
              <a:t>combine all the input data into a file and then to operate through the C program. </a:t>
            </a:r>
            <a:r>
              <a:rPr lang="en-US" dirty="0" smtClean="0"/>
              <a:t>Various operations </a:t>
            </a:r>
            <a:r>
              <a:rPr lang="en-US" dirty="0"/>
              <a:t>like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insertion, deletion,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opening, closing </a:t>
            </a:r>
            <a:r>
              <a:rPr lang="en-US" dirty="0" err="1"/>
              <a:t>etc</a:t>
            </a:r>
            <a:r>
              <a:rPr lang="en-US" dirty="0"/>
              <a:t> can be done upon a file. When the </a:t>
            </a:r>
            <a:r>
              <a:rPr lang="en-US" dirty="0" smtClean="0"/>
              <a:t>program is </a:t>
            </a:r>
            <a:r>
              <a:rPr lang="en-US" dirty="0"/>
              <a:t>terminated, the entire data is lost in C programming. If you want to keep large volume of </a:t>
            </a:r>
            <a:r>
              <a:rPr lang="en-US" dirty="0" smtClean="0"/>
              <a:t>data, it </a:t>
            </a:r>
            <a:r>
              <a:rPr lang="en-US" dirty="0"/>
              <a:t>is time consuming to enter the entire data. But, if file is created these information can </a:t>
            </a:r>
            <a:r>
              <a:rPr lang="en-US" dirty="0" smtClean="0"/>
              <a:t>be accessed </a:t>
            </a:r>
            <a:r>
              <a:rPr lang="en-US" dirty="0"/>
              <a:t>using few commands.</a:t>
            </a:r>
          </a:p>
        </p:txBody>
      </p:sp>
    </p:spTree>
    <p:extLst>
      <p:ext uri="{BB962C8B-B14F-4D97-AF65-F5344CB8AC3E}">
        <p14:creationId xmlns:p14="http://schemas.microsoft.com/office/powerpoint/2010/main" val="152252059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Why files are needed?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When </a:t>
            </a:r>
            <a:r>
              <a:rPr lang="en-US" dirty="0"/>
              <a:t>a program is terminated, the entire data is lost. Storing in a file will preserve </a:t>
            </a:r>
            <a:r>
              <a:rPr lang="en-US" dirty="0" smtClean="0"/>
              <a:t>your data </a:t>
            </a:r>
            <a:r>
              <a:rPr lang="en-US" dirty="0"/>
              <a:t>even if the program terminates.</a:t>
            </a:r>
          </a:p>
          <a:p>
            <a:pPr algn="just"/>
            <a:r>
              <a:rPr lang="en-US" dirty="0" smtClean="0"/>
              <a:t>If </a:t>
            </a:r>
            <a:r>
              <a:rPr lang="en-US" dirty="0"/>
              <a:t>you have to enter a large number of data, it will take a lot of time to enter them </a:t>
            </a:r>
            <a:r>
              <a:rPr lang="en-US" dirty="0" smtClean="0"/>
              <a:t>all. However</a:t>
            </a:r>
            <a:r>
              <a:rPr lang="en-US" dirty="0"/>
              <a:t>, if you have a file containing all the data, you can easily access the contents </a:t>
            </a:r>
            <a:r>
              <a:rPr lang="en-US" dirty="0" smtClean="0"/>
              <a:t>of the </a:t>
            </a:r>
            <a:r>
              <a:rPr lang="en-US" dirty="0"/>
              <a:t>file using few commands in C.</a:t>
            </a:r>
          </a:p>
          <a:p>
            <a:pPr algn="just"/>
            <a:r>
              <a:rPr lang="en-US" dirty="0" smtClean="0"/>
              <a:t>You </a:t>
            </a:r>
            <a:r>
              <a:rPr lang="en-US" dirty="0"/>
              <a:t>can easily move your data from one computer to another without any changes.</a:t>
            </a:r>
          </a:p>
        </p:txBody>
      </p:sp>
    </p:spTree>
    <p:extLst>
      <p:ext uri="{BB962C8B-B14F-4D97-AF65-F5344CB8AC3E}">
        <p14:creationId xmlns:p14="http://schemas.microsoft.com/office/powerpoint/2010/main" val="1441210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err="1" smtClean="0"/>
              <a:t>Defination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File is a collection of bytes that is stored on secondary storage devices like Hard disk.</a:t>
            </a:r>
          </a:p>
          <a:p>
            <a:pPr marL="0" indent="0" algn="just">
              <a:buNone/>
            </a:pPr>
            <a:r>
              <a:rPr lang="en-US" dirty="0"/>
              <a:t>OR</a:t>
            </a:r>
          </a:p>
          <a:p>
            <a:pPr algn="just"/>
            <a:r>
              <a:rPr lang="en-US" dirty="0"/>
              <a:t>A file represents a sequence of bytes on the disk where a group of related data is stored. File </a:t>
            </a:r>
            <a:r>
              <a:rPr lang="en-US" dirty="0" smtClean="0"/>
              <a:t>is created </a:t>
            </a:r>
            <a:r>
              <a:rPr lang="en-US" dirty="0"/>
              <a:t>for permanent storage of data. It is a ready made structure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/>
              <a:t>Note: All files related function are available in </a:t>
            </a:r>
            <a:r>
              <a:rPr lang="en-US" b="1" dirty="0" err="1"/>
              <a:t>stdio.h</a:t>
            </a:r>
            <a:r>
              <a:rPr lang="en-US" b="1" dirty="0"/>
              <a:t> header file.</a:t>
            </a:r>
          </a:p>
        </p:txBody>
      </p:sp>
    </p:spTree>
    <p:extLst>
      <p:ext uri="{BB962C8B-B14F-4D97-AF65-F5344CB8AC3E}">
        <p14:creationId xmlns:p14="http://schemas.microsoft.com/office/powerpoint/2010/main" val="3113277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Types of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When dealing with files, there are two types of files you should know about:</a:t>
            </a:r>
          </a:p>
          <a:p>
            <a:pPr marL="0" indent="0" algn="just">
              <a:buNone/>
            </a:pPr>
            <a:r>
              <a:rPr lang="en-US" dirty="0"/>
              <a:t>1. Text files</a:t>
            </a:r>
          </a:p>
          <a:p>
            <a:pPr marL="0" indent="0" algn="just">
              <a:buNone/>
            </a:pPr>
            <a:r>
              <a:rPr lang="en-US" dirty="0"/>
              <a:t>2. Binary files</a:t>
            </a:r>
          </a:p>
        </p:txBody>
      </p:sp>
    </p:spTree>
    <p:extLst>
      <p:ext uri="{BB962C8B-B14F-4D97-AF65-F5344CB8AC3E}">
        <p14:creationId xmlns:p14="http://schemas.microsoft.com/office/powerpoint/2010/main" val="329659823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 smtClean="0"/>
              <a:t>Text </a:t>
            </a:r>
            <a:r>
              <a:rPr lang="en-US" sz="3600" b="1" dirty="0"/>
              <a:t>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Text </a:t>
            </a:r>
            <a:r>
              <a:rPr lang="en-US" dirty="0"/>
              <a:t>files are the normal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.txt </a:t>
            </a:r>
            <a:r>
              <a:rPr lang="en-US" dirty="0"/>
              <a:t>files that you can easily create using Notepad or any simple </a:t>
            </a:r>
            <a:r>
              <a:rPr lang="en-US" dirty="0" smtClean="0"/>
              <a:t>text editors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When you open those files, you'll see all the contents within the file as plain text. You can </a:t>
            </a:r>
            <a:r>
              <a:rPr lang="en-US" dirty="0" smtClean="0"/>
              <a:t>easily edit </a:t>
            </a:r>
            <a:r>
              <a:rPr lang="en-US" dirty="0"/>
              <a:t>or delete the contents.</a:t>
            </a:r>
          </a:p>
          <a:p>
            <a:pPr marL="0" indent="0" algn="just">
              <a:buNone/>
            </a:pPr>
            <a:r>
              <a:rPr lang="en-US" dirty="0"/>
              <a:t>They take minimum effort to maintain, are easily readable, and provide least security and </a:t>
            </a:r>
            <a:r>
              <a:rPr lang="en-US" dirty="0" smtClean="0"/>
              <a:t>takes bigger </a:t>
            </a:r>
            <a:r>
              <a:rPr lang="en-US" dirty="0"/>
              <a:t>storage space</a:t>
            </a:r>
          </a:p>
        </p:txBody>
      </p:sp>
    </p:spTree>
    <p:extLst>
      <p:ext uri="{BB962C8B-B14F-4D97-AF65-F5344CB8AC3E}">
        <p14:creationId xmlns:p14="http://schemas.microsoft.com/office/powerpoint/2010/main" val="23594689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Binary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Binary files are mostly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.bin</a:t>
            </a:r>
            <a:r>
              <a:rPr lang="en-US" dirty="0"/>
              <a:t> files in your computer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Instead of storing data in plain text, they store it in the binary form (0's and 1's</a:t>
            </a:r>
            <a:r>
              <a:rPr lang="en-US" dirty="0" smtClean="0"/>
              <a:t>).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They can hold higher amount of data, are not readable easily and provides a better security </a:t>
            </a:r>
            <a:r>
              <a:rPr lang="en-US" dirty="0" smtClean="0"/>
              <a:t>than text </a:t>
            </a:r>
            <a:r>
              <a:rPr lang="en-US" dirty="0"/>
              <a:t>files.</a:t>
            </a:r>
          </a:p>
        </p:txBody>
      </p:sp>
    </p:spTree>
    <p:extLst>
      <p:ext uri="{BB962C8B-B14F-4D97-AF65-F5344CB8AC3E}">
        <p14:creationId xmlns:p14="http://schemas.microsoft.com/office/powerpoint/2010/main" val="401978600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File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In C, you can perform four major operations on the file, either text or binary: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file/Creation of new file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existing file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from file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into file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Closing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file</a:t>
            </a:r>
          </a:p>
        </p:txBody>
      </p:sp>
    </p:spTree>
    <p:extLst>
      <p:ext uri="{BB962C8B-B14F-4D97-AF65-F5344CB8AC3E}">
        <p14:creationId xmlns:p14="http://schemas.microsoft.com/office/powerpoint/2010/main" val="347944823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Steps for processing a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Declare </a:t>
            </a:r>
            <a:r>
              <a:rPr lang="en-US" dirty="0"/>
              <a:t>a file pointer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O</a:t>
            </a:r>
            <a:r>
              <a:rPr lang="en-US" dirty="0" smtClean="0"/>
              <a:t>pen </a:t>
            </a:r>
            <a:r>
              <a:rPr lang="en-US" dirty="0"/>
              <a:t>a file using </a:t>
            </a:r>
            <a:r>
              <a:rPr lang="en-US" dirty="0" err="1"/>
              <a:t>fopen</a:t>
            </a:r>
            <a:r>
              <a:rPr lang="en-US" dirty="0"/>
              <a:t>() function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/>
              <a:t>Process </a:t>
            </a:r>
            <a:r>
              <a:rPr lang="en-US" dirty="0"/>
              <a:t>the file using suitable file functions.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/>
              <a:t>C</a:t>
            </a:r>
            <a:r>
              <a:rPr lang="en-US" dirty="0" smtClean="0"/>
              <a:t>lose </a:t>
            </a:r>
            <a:r>
              <a:rPr lang="en-US" dirty="0"/>
              <a:t>the file using </a:t>
            </a:r>
            <a:r>
              <a:rPr lang="en-US" dirty="0" err="1"/>
              <a:t>fclose</a:t>
            </a:r>
            <a:r>
              <a:rPr lang="en-US" dirty="0"/>
              <a:t>() function.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28797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Declaration of a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When working with files, you need to declare a pointer of type file. This declaration is </a:t>
            </a:r>
            <a:r>
              <a:rPr lang="en-US" dirty="0" smtClean="0"/>
              <a:t>needed for </a:t>
            </a:r>
            <a:r>
              <a:rPr lang="en-US" dirty="0"/>
              <a:t>communication between the file and program.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</a:t>
            </a:r>
            <a:endParaRPr lang="en-US" dirty="0"/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*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269326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Opening a file - for creation and 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err="1">
                <a:solidFill>
                  <a:srgbClr val="FF0000"/>
                </a:solidFill>
              </a:rPr>
              <a:t>fopen</a:t>
            </a:r>
            <a:r>
              <a:rPr lang="en-US" dirty="0">
                <a:solidFill>
                  <a:srgbClr val="FF0000"/>
                </a:solidFill>
              </a:rPr>
              <a:t>()</a:t>
            </a:r>
            <a:r>
              <a:rPr lang="en-US" dirty="0"/>
              <a:t> function is used to create a new file or to open an existing file.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General </a:t>
            </a:r>
            <a:r>
              <a:rPr lang="en-US" dirty="0"/>
              <a:t>Syntax :</a:t>
            </a:r>
          </a:p>
          <a:p>
            <a:pPr marL="0" indent="0" algn="just">
              <a:buNone/>
            </a:pP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fopen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b="1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fileopen</a:t>
            </a:r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","mode")</a:t>
            </a:r>
          </a:p>
        </p:txBody>
      </p:sp>
    </p:spTree>
    <p:extLst>
      <p:ext uri="{BB962C8B-B14F-4D97-AF65-F5344CB8AC3E}">
        <p14:creationId xmlns:p14="http://schemas.microsoft.com/office/powerpoint/2010/main" val="274764815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Closing a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file (both text and binary) should be closed after reading/writing.</a:t>
            </a:r>
          </a:p>
          <a:p>
            <a:pPr marL="0" indent="0" algn="just">
              <a:buNone/>
            </a:pPr>
            <a:r>
              <a:rPr lang="en-US" dirty="0"/>
              <a:t>Closing a file is performed using library function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fclose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.</a:t>
            </a:r>
            <a:endParaRPr lang="en-U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21962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File Opening Modes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834019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71015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/>
              <a:t>File Opening Modes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149798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516498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/>
              <a:t>Difference between Append and Write 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Write (w) mode and Append (a) mode, while opening a file are almost the same. Both are used </a:t>
            </a:r>
            <a:r>
              <a:rPr lang="en-US" dirty="0" smtClean="0"/>
              <a:t>to write </a:t>
            </a:r>
            <a:r>
              <a:rPr lang="en-US" dirty="0"/>
              <a:t>in a file. In both the modes, new file is created if it doesn't exists already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20361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/>
              <a:t>Difference between Append and Write 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only difference they have is, when you open a file in the write mode,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file is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reset, resulting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deletion of any data already present in the file. 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dirty="0" smtClean="0"/>
              <a:t>While </a:t>
            </a:r>
            <a:r>
              <a:rPr lang="en-US" dirty="0"/>
              <a:t>in append mode this will </a:t>
            </a:r>
            <a:r>
              <a:rPr lang="en-US" dirty="0" smtClean="0"/>
              <a:t>not happen</a:t>
            </a:r>
            <a:r>
              <a:rPr lang="en-US" dirty="0"/>
              <a:t>. Append mode is used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append or add data to the existing data of file(if any).</a:t>
            </a:r>
            <a:r>
              <a:rPr lang="en-US" dirty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5984444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/>
              <a:t>Difference between Append and Write 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Hence, when </a:t>
            </a:r>
            <a:r>
              <a:rPr lang="en-US" dirty="0"/>
              <a:t>you open a file in Append(a) mode, the cursor is positioned at the end of the present data </a:t>
            </a:r>
            <a:r>
              <a:rPr lang="en-US" dirty="0" smtClean="0"/>
              <a:t>in the </a:t>
            </a:r>
            <a:r>
              <a:rPr lang="en-US" dirty="0"/>
              <a:t>file.</a:t>
            </a:r>
          </a:p>
        </p:txBody>
      </p:sp>
    </p:spTree>
    <p:extLst>
      <p:ext uri="{BB962C8B-B14F-4D97-AF65-F5344CB8AC3E}">
        <p14:creationId xmlns:p14="http://schemas.microsoft.com/office/powerpoint/2010/main" val="33404587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/>
              <a:t>Formatted File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89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Syntax of </a:t>
            </a:r>
            <a:r>
              <a:rPr lang="en-US" b="1" dirty="0" err="1"/>
              <a:t>fprintf</a:t>
            </a:r>
            <a:r>
              <a:rPr lang="en-US" b="1" dirty="0"/>
              <a:t> is</a:t>
            </a:r>
          </a:p>
          <a:p>
            <a:pPr marL="0" indent="0" algn="just">
              <a:buNone/>
            </a:pPr>
            <a:r>
              <a:rPr lang="en-US" dirty="0" err="1"/>
              <a:t>fprintf</a:t>
            </a:r>
            <a:r>
              <a:rPr lang="en-US" dirty="0"/>
              <a:t> (</a:t>
            </a:r>
            <a:r>
              <a:rPr lang="en-US" dirty="0" err="1"/>
              <a:t>fp</a:t>
            </a:r>
            <a:r>
              <a:rPr lang="en-US" dirty="0"/>
              <a:t>, “control string”, list);</a:t>
            </a:r>
          </a:p>
          <a:p>
            <a:pPr marL="0" indent="0" algn="just">
              <a:buNone/>
            </a:pPr>
            <a:r>
              <a:rPr lang="en-US" dirty="0"/>
              <a:t>Example: </a:t>
            </a:r>
            <a:r>
              <a:rPr lang="en-US" dirty="0" err="1"/>
              <a:t>fprintf</a:t>
            </a:r>
            <a:r>
              <a:rPr lang="en-US" dirty="0"/>
              <a:t>(fp1, “%s %d”, name, age);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/>
              <a:t>Syntax </a:t>
            </a:r>
            <a:r>
              <a:rPr lang="en-US" b="1" dirty="0"/>
              <a:t>of </a:t>
            </a:r>
            <a:r>
              <a:rPr lang="en-US" b="1" dirty="0" err="1"/>
              <a:t>fscanf</a:t>
            </a:r>
            <a:r>
              <a:rPr lang="en-US" b="1" dirty="0"/>
              <a:t> is,</a:t>
            </a:r>
          </a:p>
          <a:p>
            <a:pPr marL="0" indent="0" algn="just">
              <a:buNone/>
            </a:pPr>
            <a:r>
              <a:rPr lang="en-US" dirty="0" err="1"/>
              <a:t>fscanf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, “control string”, list);</a:t>
            </a:r>
          </a:p>
          <a:p>
            <a:pPr marL="0" indent="0" algn="just">
              <a:buNone/>
            </a:pPr>
            <a:r>
              <a:rPr lang="en-US" dirty="0"/>
              <a:t>Example: </a:t>
            </a:r>
            <a:r>
              <a:rPr lang="en-US" dirty="0" err="1"/>
              <a:t>fscanf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, “%s %d”, name, &amp; age);</a:t>
            </a:r>
          </a:p>
        </p:txBody>
      </p:sp>
    </p:spTree>
    <p:extLst>
      <p:ext uri="{BB962C8B-B14F-4D97-AF65-F5344CB8AC3E}">
        <p14:creationId xmlns:p14="http://schemas.microsoft.com/office/powerpoint/2010/main" val="7923722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/>
              <a:t>Formatted File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Note:</a:t>
            </a:r>
          </a:p>
          <a:p>
            <a:pPr algn="just"/>
            <a:r>
              <a:rPr lang="en-US" b="1" dirty="0" err="1" smtClean="0"/>
              <a:t>fscanf</a:t>
            </a:r>
            <a:r>
              <a:rPr lang="en-US" b="1" dirty="0" smtClean="0"/>
              <a:t> </a:t>
            </a:r>
            <a:r>
              <a:rPr lang="en-US" b="1" dirty="0"/>
              <a:t>is used to read list of items from a file</a:t>
            </a:r>
          </a:p>
          <a:p>
            <a:pPr algn="just"/>
            <a:r>
              <a:rPr lang="en-US" b="1" dirty="0" err="1" smtClean="0"/>
              <a:t>fprintf</a:t>
            </a:r>
            <a:r>
              <a:rPr lang="en-US" b="1" dirty="0" smtClean="0"/>
              <a:t> </a:t>
            </a:r>
            <a:r>
              <a:rPr lang="en-US" b="1" dirty="0"/>
              <a:t>is used to write a list of items to a file.</a:t>
            </a:r>
          </a:p>
          <a:p>
            <a:pPr marL="0" indent="0" algn="just">
              <a:buNone/>
            </a:pPr>
            <a:endParaRPr lang="en-US" b="1" dirty="0" smtClean="0"/>
          </a:p>
          <a:p>
            <a:pPr marL="0" indent="0" algn="just">
              <a:buNone/>
            </a:pPr>
            <a:r>
              <a:rPr lang="en-US" b="1" dirty="0" smtClean="0"/>
              <a:t>Note</a:t>
            </a:r>
            <a:r>
              <a:rPr lang="en-US" b="1" dirty="0"/>
              <a:t>:</a:t>
            </a:r>
          </a:p>
          <a:p>
            <a:pPr marL="0" indent="0" algn="just">
              <a:buNone/>
            </a:pPr>
            <a:r>
              <a:rPr lang="en-US" b="1" dirty="0"/>
              <a:t>EOF – End of file (when EOF encountered the reading / writing should be terminated)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3490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/>
              <a:t>Formatted File I/O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Example:</a:t>
            </a:r>
          </a:p>
          <a:p>
            <a:pPr marL="0" indent="0" algn="just">
              <a:buNone/>
            </a:pPr>
            <a:r>
              <a:rPr lang="en-US" b="1" dirty="0"/>
              <a:t>#include &lt;</a:t>
            </a:r>
            <a:r>
              <a:rPr lang="en-US" b="1" dirty="0" err="1"/>
              <a:t>stdio.h</a:t>
            </a:r>
            <a:r>
              <a:rPr lang="en-US" b="1" dirty="0"/>
              <a:t>&gt;</a:t>
            </a:r>
          </a:p>
          <a:p>
            <a:pPr marL="0" indent="0" algn="just">
              <a:buNone/>
            </a:pPr>
            <a:r>
              <a:rPr lang="en-US" b="1" dirty="0"/>
              <a:t>main(){</a:t>
            </a:r>
          </a:p>
          <a:p>
            <a:pPr marL="0" indent="0" algn="just">
              <a:buNone/>
            </a:pPr>
            <a:r>
              <a:rPr lang="en-US" b="1" dirty="0"/>
              <a:t>FILE *</a:t>
            </a:r>
            <a:r>
              <a:rPr lang="en-US" b="1" dirty="0" err="1"/>
              <a:t>fp</a:t>
            </a:r>
            <a:r>
              <a:rPr lang="en-US" b="1" dirty="0"/>
              <a:t>;</a:t>
            </a:r>
          </a:p>
          <a:p>
            <a:pPr marL="0" indent="0" algn="just">
              <a:buNone/>
            </a:pPr>
            <a:r>
              <a:rPr lang="en-US" b="1" dirty="0" err="1"/>
              <a:t>fp</a:t>
            </a:r>
            <a:r>
              <a:rPr lang="en-US" b="1" dirty="0"/>
              <a:t> = </a:t>
            </a:r>
            <a:r>
              <a:rPr lang="en-US" b="1" dirty="0" err="1"/>
              <a:t>fopen</a:t>
            </a:r>
            <a:r>
              <a:rPr lang="en-US" b="1" dirty="0"/>
              <a:t>("file.txt", "w");//opening file</a:t>
            </a:r>
          </a:p>
          <a:p>
            <a:pPr marL="0" indent="0" algn="just">
              <a:buNone/>
            </a:pPr>
            <a:r>
              <a:rPr lang="en-US" b="1" dirty="0" err="1"/>
              <a:t>fprintf</a:t>
            </a:r>
            <a:r>
              <a:rPr lang="en-US" b="1" dirty="0"/>
              <a:t>(</a:t>
            </a:r>
            <a:r>
              <a:rPr lang="en-US" b="1" dirty="0" err="1"/>
              <a:t>fp</a:t>
            </a:r>
            <a:r>
              <a:rPr lang="en-US" b="1" dirty="0"/>
              <a:t>, "Hello file by </a:t>
            </a:r>
            <a:r>
              <a:rPr lang="en-US" b="1" dirty="0" err="1"/>
              <a:t>fprintf</a:t>
            </a:r>
            <a:r>
              <a:rPr lang="en-US" b="1" dirty="0"/>
              <a:t>...\n");//writing data into file</a:t>
            </a:r>
          </a:p>
          <a:p>
            <a:pPr marL="0" indent="0" algn="just">
              <a:buNone/>
            </a:pPr>
            <a:r>
              <a:rPr lang="en-US" b="1" dirty="0" err="1"/>
              <a:t>fclose</a:t>
            </a:r>
            <a:r>
              <a:rPr lang="en-US" b="1" dirty="0"/>
              <a:t>(</a:t>
            </a:r>
            <a:r>
              <a:rPr lang="en-US" b="1" dirty="0" err="1"/>
              <a:t>fp</a:t>
            </a:r>
            <a:r>
              <a:rPr lang="en-US" b="1" dirty="0"/>
              <a:t>);//closing file</a:t>
            </a:r>
          </a:p>
          <a:p>
            <a:pPr marL="0" indent="0" algn="just">
              <a:buNone/>
            </a:pPr>
            <a:r>
              <a:rPr lang="en-US" b="1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80970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1</a:t>
            </a:r>
            <a:r>
              <a:rPr lang="en-US" sz="2800" b="1" dirty="0"/>
              <a:t>. Write a program to open a file using </a:t>
            </a:r>
            <a:r>
              <a:rPr lang="en-US" sz="2800" b="1" dirty="0" err="1"/>
              <a:t>fopen</a:t>
            </a:r>
            <a:r>
              <a:rPr lang="en-US" sz="2800" b="1" dirty="0"/>
              <a:t>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 void</a:t>
            </a:r>
          </a:p>
          <a:p>
            <a:pPr marL="0" indent="0" algn="just">
              <a:buNone/>
            </a:pPr>
            <a:r>
              <a:rPr lang="en-US" dirty="0"/>
              <a:t>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fopen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file *</a:t>
            </a:r>
            <a:r>
              <a:rPr lang="en-US" dirty="0" err="1"/>
              <a:t>fp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fp</a:t>
            </a:r>
            <a:r>
              <a:rPr lang="en-US" dirty="0"/>
              <a:t>=</a:t>
            </a:r>
            <a:r>
              <a:rPr lang="en-US" dirty="0" err="1"/>
              <a:t>fopen</a:t>
            </a:r>
            <a:r>
              <a:rPr lang="en-US" dirty="0"/>
              <a:t>(“student.DAT”, “r</a:t>
            </a:r>
            <a:r>
              <a:rPr lang="en-US" dirty="0" smtClean="0"/>
              <a:t>”);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if(</a:t>
            </a:r>
            <a:r>
              <a:rPr lang="en-US" dirty="0" err="1"/>
              <a:t>fp</a:t>
            </a:r>
            <a:r>
              <a:rPr lang="en-US" dirty="0"/>
              <a:t>==NULL)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(“The file could not be open”);</a:t>
            </a:r>
          </a:p>
          <a:p>
            <a:pPr marL="0" indent="0" algn="just">
              <a:buNone/>
            </a:pPr>
            <a:r>
              <a:rPr lang="en-US" dirty="0"/>
              <a:t>exit(0);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4611940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/>
              <a:t>Example </a:t>
            </a:r>
            <a:r>
              <a:rPr lang="en-US" sz="2800" b="1" dirty="0" smtClean="0"/>
              <a:t>2: </a:t>
            </a:r>
            <a:r>
              <a:rPr lang="en-US" sz="2800" b="1" dirty="0"/>
              <a:t>Write to a text file using </a:t>
            </a:r>
            <a:r>
              <a:rPr lang="en-US" sz="2800" b="1" dirty="0" err="1"/>
              <a:t>fprintf</a:t>
            </a:r>
            <a:r>
              <a:rPr lang="en-US" sz="2800" b="1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num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	FILE </a:t>
            </a:r>
            <a:r>
              <a:rPr lang="en-US" dirty="0"/>
              <a:t>*</a:t>
            </a:r>
            <a:r>
              <a:rPr lang="en-US" dirty="0" err="1"/>
              <a:t>fptr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fptr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fopen</a:t>
            </a:r>
            <a:r>
              <a:rPr lang="en-US" dirty="0"/>
              <a:t>("C:\\</a:t>
            </a:r>
            <a:r>
              <a:rPr lang="en-US" dirty="0" err="1"/>
              <a:t>program.txt","w</a:t>
            </a:r>
            <a:r>
              <a:rPr lang="en-US" dirty="0"/>
              <a:t>");</a:t>
            </a:r>
          </a:p>
          <a:p>
            <a:pPr marL="0" indent="0" algn="just">
              <a:buNone/>
            </a:pPr>
            <a:r>
              <a:rPr lang="en-US" dirty="0" smtClean="0"/>
              <a:t>	if(</a:t>
            </a:r>
            <a:r>
              <a:rPr lang="en-US" dirty="0" err="1" smtClean="0"/>
              <a:t>fptr</a:t>
            </a:r>
            <a:r>
              <a:rPr lang="en-US" dirty="0" smtClean="0"/>
              <a:t> </a:t>
            </a:r>
            <a:r>
              <a:rPr lang="en-US" dirty="0"/>
              <a:t>== NULL)</a:t>
            </a:r>
          </a:p>
          <a:p>
            <a:pPr marL="0" indent="0" algn="just">
              <a:buNone/>
            </a:pPr>
            <a:r>
              <a:rPr lang="en-US" dirty="0" smtClean="0"/>
              <a:t>	{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	</a:t>
            </a:r>
            <a:r>
              <a:rPr lang="en-US" dirty="0" err="1" smtClean="0"/>
              <a:t>printf</a:t>
            </a:r>
            <a:r>
              <a:rPr lang="en-US" dirty="0"/>
              <a:t>("Error!");</a:t>
            </a:r>
          </a:p>
          <a:p>
            <a:pPr marL="0" indent="0" algn="just">
              <a:buNone/>
            </a:pPr>
            <a:r>
              <a:rPr lang="en-US" dirty="0" smtClean="0"/>
              <a:t>		exit(1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}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("Enter </a:t>
            </a:r>
            <a:r>
              <a:rPr lang="en-US" dirty="0" err="1"/>
              <a:t>num</a:t>
            </a:r>
            <a:r>
              <a:rPr lang="en-US" dirty="0"/>
              <a:t>: ");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scanf</a:t>
            </a:r>
            <a:r>
              <a:rPr lang="en-US" dirty="0"/>
              <a:t>("%d",&amp;</a:t>
            </a:r>
            <a:r>
              <a:rPr lang="en-US" dirty="0" err="1"/>
              <a:t>num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fprintf</a:t>
            </a:r>
            <a:r>
              <a:rPr lang="en-US" dirty="0" smtClean="0"/>
              <a:t>(</a:t>
            </a:r>
            <a:r>
              <a:rPr lang="en-US" dirty="0" err="1" smtClean="0"/>
              <a:t>fptr</a:t>
            </a:r>
            <a:r>
              <a:rPr lang="en-US" dirty="0"/>
              <a:t>,"%d",</a:t>
            </a:r>
            <a:r>
              <a:rPr lang="en-US" dirty="0" err="1"/>
              <a:t>num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fclose</a:t>
            </a:r>
            <a:r>
              <a:rPr lang="en-US" dirty="0" smtClean="0"/>
              <a:t>(</a:t>
            </a:r>
            <a:r>
              <a:rPr lang="en-US" dirty="0" err="1" smtClean="0"/>
              <a:t>fptr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return </a:t>
            </a:r>
            <a:r>
              <a:rPr lang="en-US" dirty="0"/>
              <a:t>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68844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/>
              <a:t>Example </a:t>
            </a:r>
            <a:r>
              <a:rPr lang="en-US" sz="2800" b="1" dirty="0" smtClean="0"/>
              <a:t>3: </a:t>
            </a:r>
            <a:r>
              <a:rPr lang="en-US" sz="2800" b="1" dirty="0"/>
              <a:t>Read from a text file using </a:t>
            </a:r>
            <a:r>
              <a:rPr lang="en-US" sz="2800" b="1" dirty="0" err="1"/>
              <a:t>fscanf</a:t>
            </a:r>
            <a:r>
              <a:rPr lang="en-US" sz="2800" b="1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num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	FILE </a:t>
            </a:r>
            <a:r>
              <a:rPr lang="en-US" dirty="0"/>
              <a:t>*</a:t>
            </a:r>
            <a:r>
              <a:rPr lang="en-US" dirty="0" err="1"/>
              <a:t>fptr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	if </a:t>
            </a:r>
            <a:r>
              <a:rPr lang="en-US" dirty="0"/>
              <a:t>((</a:t>
            </a:r>
            <a:r>
              <a:rPr lang="en-US" dirty="0" err="1"/>
              <a:t>fptr</a:t>
            </a:r>
            <a:r>
              <a:rPr lang="en-US" dirty="0"/>
              <a:t> = </a:t>
            </a:r>
            <a:r>
              <a:rPr lang="en-US" dirty="0" err="1"/>
              <a:t>fopen</a:t>
            </a:r>
            <a:r>
              <a:rPr lang="en-US" dirty="0"/>
              <a:t>("C:\\</a:t>
            </a:r>
            <a:r>
              <a:rPr lang="en-US" dirty="0" err="1"/>
              <a:t>program.txt","r</a:t>
            </a:r>
            <a:r>
              <a:rPr lang="en-US" dirty="0"/>
              <a:t>")) == NULL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	</a:t>
            </a:r>
            <a:r>
              <a:rPr lang="en-US" dirty="0" err="1" smtClean="0"/>
              <a:t>printf</a:t>
            </a:r>
            <a:r>
              <a:rPr lang="en-US" dirty="0"/>
              <a:t>("Error! opening file</a:t>
            </a:r>
            <a:r>
              <a:rPr lang="en-US" dirty="0" smtClean="0"/>
              <a:t>"); // </a:t>
            </a:r>
            <a:r>
              <a:rPr lang="en-US" dirty="0"/>
              <a:t>Program exits if the file </a:t>
            </a:r>
            <a:r>
              <a:rPr lang="en-US" dirty="0" smtClean="0"/>
              <a:t>						pointer </a:t>
            </a:r>
            <a:r>
              <a:rPr lang="en-US" dirty="0"/>
              <a:t>returns NULL.</a:t>
            </a:r>
          </a:p>
          <a:p>
            <a:pPr marL="0" indent="0" algn="just">
              <a:buNone/>
            </a:pPr>
            <a:r>
              <a:rPr lang="en-US" dirty="0" smtClean="0"/>
              <a:t>		exit(1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}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fscanf</a:t>
            </a:r>
            <a:r>
              <a:rPr lang="en-US" dirty="0" smtClean="0"/>
              <a:t>(</a:t>
            </a:r>
            <a:r>
              <a:rPr lang="en-US" dirty="0" err="1" smtClean="0"/>
              <a:t>fptr</a:t>
            </a:r>
            <a:r>
              <a:rPr lang="en-US" dirty="0"/>
              <a:t>,"%d", &amp;</a:t>
            </a:r>
            <a:r>
              <a:rPr lang="en-US" dirty="0" err="1"/>
              <a:t>num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("Value of n=%d", </a:t>
            </a:r>
            <a:r>
              <a:rPr lang="en-US" dirty="0" err="1"/>
              <a:t>num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fclose</a:t>
            </a:r>
            <a:r>
              <a:rPr lang="en-US" dirty="0" smtClean="0"/>
              <a:t>(</a:t>
            </a:r>
            <a:r>
              <a:rPr lang="en-US" dirty="0" err="1" smtClean="0"/>
              <a:t>fptr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return </a:t>
            </a:r>
            <a:r>
              <a:rPr lang="en-US" dirty="0"/>
              <a:t>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8442351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4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Write </a:t>
            </a:r>
            <a:r>
              <a:rPr lang="en-US" dirty="0"/>
              <a:t>a C program to read name and marks of n number of students from user and store </a:t>
            </a:r>
            <a:r>
              <a:rPr lang="en-US" dirty="0" smtClean="0"/>
              <a:t>them in </a:t>
            </a:r>
            <a:r>
              <a:rPr lang="en-US" dirty="0"/>
              <a:t>a file. If the file previously exits, add the information of n students.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209903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4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	char </a:t>
            </a:r>
            <a:r>
              <a:rPr lang="en-US" dirty="0"/>
              <a:t>name[50];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marks, </a:t>
            </a:r>
            <a:r>
              <a:rPr lang="en-US" dirty="0" err="1"/>
              <a:t>i,n</a:t>
            </a:r>
            <a:r>
              <a:rPr lang="en-US" dirty="0" smtClean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(“Enter number of students”);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scanf</a:t>
            </a:r>
            <a:r>
              <a:rPr lang="en-US" dirty="0"/>
              <a:t>(“%d”, &amp;n);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FILE </a:t>
            </a:r>
            <a:r>
              <a:rPr lang="en-US" dirty="0"/>
              <a:t>*</a:t>
            </a:r>
            <a:r>
              <a:rPr lang="en-US" dirty="0" err="1"/>
              <a:t>fptr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smtClean="0"/>
              <a:t>	</a:t>
            </a:r>
            <a:r>
              <a:rPr lang="en-US" dirty="0" err="1" smtClean="0"/>
              <a:t>fptr</a:t>
            </a:r>
            <a:r>
              <a:rPr lang="en-US" dirty="0"/>
              <a:t>=(</a:t>
            </a:r>
            <a:r>
              <a:rPr lang="en-US" dirty="0" err="1"/>
              <a:t>fopen</a:t>
            </a:r>
            <a:r>
              <a:rPr lang="en-US" dirty="0"/>
              <a:t>(“C:\\</a:t>
            </a:r>
            <a:r>
              <a:rPr lang="en-US" dirty="0" err="1"/>
              <a:t>student.txt”,”a</a:t>
            </a:r>
            <a:r>
              <a:rPr lang="en-US" dirty="0"/>
              <a:t>”));</a:t>
            </a:r>
          </a:p>
          <a:p>
            <a:pPr marL="0" indent="0" algn="just">
              <a:buNone/>
            </a:pPr>
            <a:r>
              <a:rPr lang="en-US" dirty="0" smtClean="0"/>
              <a:t>	if </a:t>
            </a:r>
            <a:r>
              <a:rPr lang="en-US" dirty="0"/>
              <a:t>(</a:t>
            </a:r>
            <a:r>
              <a:rPr lang="en-US" dirty="0" err="1"/>
              <a:t>fptr</a:t>
            </a:r>
            <a:r>
              <a:rPr lang="en-US" dirty="0"/>
              <a:t>==NULL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	{ 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r>
              <a:rPr lang="en-US" dirty="0" err="1" smtClean="0"/>
              <a:t>printf</a:t>
            </a:r>
            <a:r>
              <a:rPr lang="en-US" dirty="0"/>
              <a:t>("Error!");</a:t>
            </a:r>
          </a:p>
          <a:p>
            <a:pPr marL="0" indent="0" algn="just">
              <a:buNone/>
            </a:pPr>
            <a:r>
              <a:rPr lang="en-US" dirty="0" smtClean="0"/>
              <a:t>		exit(1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52204831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4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for(i=0;i&lt;n;++i)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 err="1"/>
              <a:t>printf</a:t>
            </a:r>
            <a:r>
              <a:rPr lang="en-US" dirty="0"/>
              <a:t>("For </a:t>
            </a:r>
            <a:r>
              <a:rPr lang="en-US" dirty="0" err="1"/>
              <a:t>student%d</a:t>
            </a:r>
            <a:r>
              <a:rPr lang="en-US" dirty="0"/>
              <a:t>\</a:t>
            </a:r>
            <a:r>
              <a:rPr lang="en-US" dirty="0" err="1"/>
              <a:t>nEnter</a:t>
            </a:r>
            <a:r>
              <a:rPr lang="en-US" dirty="0"/>
              <a:t> name: ",i+1);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s",name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(“Enter marks”);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(“%d”, &amp;marks);</a:t>
            </a:r>
          </a:p>
          <a:p>
            <a:pPr marL="0" indent="0" algn="just">
              <a:buNone/>
            </a:pPr>
            <a:r>
              <a:rPr lang="en-US" dirty="0" err="1"/>
              <a:t>fprintf</a:t>
            </a:r>
            <a:r>
              <a:rPr lang="en-US" dirty="0"/>
              <a:t>(</a:t>
            </a:r>
            <a:r>
              <a:rPr lang="en-US" dirty="0" err="1"/>
              <a:t>fptr</a:t>
            </a:r>
            <a:r>
              <a:rPr lang="en-US" dirty="0"/>
              <a:t>, “\</a:t>
            </a:r>
            <a:r>
              <a:rPr lang="en-US" dirty="0" err="1"/>
              <a:t>nName</a:t>
            </a:r>
            <a:r>
              <a:rPr lang="en-US" dirty="0"/>
              <a:t>: %s\</a:t>
            </a:r>
            <a:r>
              <a:rPr lang="en-US" dirty="0" err="1"/>
              <a:t>nMarks</a:t>
            </a:r>
            <a:r>
              <a:rPr lang="en-US" dirty="0"/>
              <a:t>=%d\n”, name, marks);</a:t>
            </a:r>
          </a:p>
          <a:p>
            <a:pPr marL="0" indent="0" algn="just">
              <a:buNone/>
            </a:pPr>
            <a:r>
              <a:rPr lang="en-US" dirty="0"/>
              <a:t>}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fclose</a:t>
            </a:r>
            <a:r>
              <a:rPr lang="en-US" dirty="0" smtClean="0"/>
              <a:t>(</a:t>
            </a:r>
            <a:r>
              <a:rPr lang="en-US" dirty="0" err="1" smtClean="0"/>
              <a:t>fptr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return </a:t>
            </a:r>
            <a:r>
              <a:rPr lang="en-US" dirty="0"/>
              <a:t>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616199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5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Write a program to read data from file and close using </a:t>
            </a:r>
            <a:r>
              <a:rPr lang="en-US" dirty="0" err="1"/>
              <a:t>fclose</a:t>
            </a:r>
            <a:r>
              <a:rPr lang="en-US" dirty="0"/>
              <a:t> function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</a:t>
            </a:r>
            <a:r>
              <a:rPr lang="en-US" dirty="0" smtClean="0"/>
              <a:t>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smtClean="0"/>
              <a:t>n</a:t>
            </a:r>
          </a:p>
          <a:p>
            <a:pPr marL="0" indent="0" algn="just">
              <a:buNone/>
            </a:pPr>
            <a:r>
              <a:rPr lang="en-US" dirty="0"/>
              <a:t>FILE *</a:t>
            </a:r>
            <a:r>
              <a:rPr lang="en-US" dirty="0" err="1"/>
              <a:t>fptr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if ((</a:t>
            </a:r>
            <a:r>
              <a:rPr lang="en-US" dirty="0" err="1"/>
              <a:t>fptr</a:t>
            </a:r>
            <a:r>
              <a:rPr lang="en-US" dirty="0"/>
              <a:t>=</a:t>
            </a:r>
            <a:r>
              <a:rPr lang="en-US" dirty="0" err="1"/>
              <a:t>fopen</a:t>
            </a:r>
            <a:r>
              <a:rPr lang="en-US" dirty="0"/>
              <a:t>("C:\\</a:t>
            </a:r>
            <a:r>
              <a:rPr lang="en-US" dirty="0" err="1"/>
              <a:t>program.txt","r</a:t>
            </a:r>
            <a:r>
              <a:rPr lang="en-US" dirty="0"/>
              <a:t>"))==NULL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("Error! opening file");</a:t>
            </a:r>
          </a:p>
          <a:p>
            <a:pPr marL="0" indent="0" algn="just">
              <a:buNone/>
            </a:pPr>
            <a:r>
              <a:rPr lang="en-US" dirty="0"/>
              <a:t>exit(1); // Program exits if file pointer returns NULL.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3843111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5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fscanf</a:t>
            </a:r>
            <a:r>
              <a:rPr lang="en-US" dirty="0"/>
              <a:t>(</a:t>
            </a:r>
            <a:r>
              <a:rPr lang="en-US" dirty="0" err="1"/>
              <a:t>fptr</a:t>
            </a:r>
            <a:r>
              <a:rPr lang="en-US" dirty="0"/>
              <a:t>,"%</a:t>
            </a:r>
            <a:r>
              <a:rPr lang="en-US" dirty="0" err="1"/>
              <a:t>d",&amp;n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("Value of n=%</a:t>
            </a:r>
            <a:r>
              <a:rPr lang="en-US" dirty="0" err="1"/>
              <a:t>d",n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fclose</a:t>
            </a:r>
            <a:r>
              <a:rPr lang="en-US" dirty="0"/>
              <a:t>(</a:t>
            </a:r>
            <a:r>
              <a:rPr lang="en-US" dirty="0" err="1"/>
              <a:t>fptr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68290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To perform </a:t>
            </a:r>
            <a:r>
              <a:rPr lang="en-US" dirty="0" err="1"/>
              <a:t>Input/Output</a:t>
            </a:r>
            <a:r>
              <a:rPr lang="en-US" dirty="0"/>
              <a:t> Operation on files we need below functions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362200"/>
            <a:ext cx="6803357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82" y="4044114"/>
            <a:ext cx="669607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410726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fputc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function</a:t>
            </a:r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err="1"/>
              <a:t>fputc</a:t>
            </a:r>
            <a:r>
              <a:rPr lang="en-US" dirty="0"/>
              <a:t>() function is used to write a single character into file.</a:t>
            </a:r>
          </a:p>
          <a:p>
            <a:pPr marL="0" indent="0" algn="just">
              <a:buNone/>
            </a:pPr>
            <a:r>
              <a:rPr lang="en-US" dirty="0" err="1"/>
              <a:t>putc</a:t>
            </a:r>
            <a:r>
              <a:rPr lang="en-US" dirty="0"/>
              <a:t> ( ):-Putting a character in to the file. It works with only character data type.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 at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time can write into a file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Ex: char </a:t>
            </a:r>
            <a:r>
              <a:rPr lang="en-US" dirty="0" err="1"/>
              <a:t>ch</a:t>
            </a:r>
            <a:r>
              <a:rPr lang="en-US" dirty="0"/>
              <a:t> </a:t>
            </a:r>
            <a:r>
              <a:rPr lang="en-US" dirty="0" smtClean="0"/>
              <a:t>=‘a’;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putc</a:t>
            </a:r>
            <a:r>
              <a:rPr lang="en-US" dirty="0"/>
              <a:t> (</a:t>
            </a:r>
            <a:r>
              <a:rPr lang="en-US" dirty="0" err="1"/>
              <a:t>ch</a:t>
            </a:r>
            <a:r>
              <a:rPr lang="en-US" dirty="0"/>
              <a:t>, </a:t>
            </a:r>
            <a:r>
              <a:rPr lang="en-US" dirty="0" err="1"/>
              <a:t>fp</a:t>
            </a:r>
            <a:r>
              <a:rPr lang="en-US" dirty="0"/>
              <a:t>);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5865780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main</a:t>
            </a:r>
            <a:r>
              <a:rPr lang="en-US" dirty="0" smtClean="0"/>
              <a:t>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FILE *</a:t>
            </a:r>
            <a:r>
              <a:rPr lang="en-US" dirty="0" err="1"/>
              <a:t>fp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fp</a:t>
            </a:r>
            <a:r>
              <a:rPr lang="en-US" dirty="0"/>
              <a:t> = </a:t>
            </a:r>
            <a:r>
              <a:rPr lang="en-US" dirty="0" err="1"/>
              <a:t>fopen</a:t>
            </a:r>
            <a:r>
              <a:rPr lang="en-US" dirty="0"/>
              <a:t>("file1.txt", "w");//opening file</a:t>
            </a:r>
          </a:p>
          <a:p>
            <a:pPr marL="0" indent="0" algn="just">
              <a:buNone/>
            </a:pPr>
            <a:r>
              <a:rPr lang="en-US" dirty="0" err="1"/>
              <a:t>fputc</a:t>
            </a:r>
            <a:r>
              <a:rPr lang="en-US" dirty="0"/>
              <a:t>('a',</a:t>
            </a:r>
            <a:r>
              <a:rPr lang="en-US" dirty="0" err="1"/>
              <a:t>fp</a:t>
            </a:r>
            <a:r>
              <a:rPr lang="en-US" dirty="0"/>
              <a:t>);//writing single character into file</a:t>
            </a:r>
          </a:p>
          <a:p>
            <a:pPr marL="0" indent="0" algn="just">
              <a:buNone/>
            </a:pPr>
            <a:r>
              <a:rPr lang="en-US" dirty="0" err="1"/>
              <a:t>fclose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);//closing file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u="sng" dirty="0" smtClean="0"/>
              <a:t>Output:</a:t>
            </a:r>
          </a:p>
          <a:p>
            <a:pPr marL="0" indent="0" algn="just">
              <a:buNone/>
            </a:pPr>
            <a:r>
              <a:rPr lang="en-US" dirty="0" smtClean="0"/>
              <a:t>file1.txt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7267827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fgetc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function</a:t>
            </a:r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err="1"/>
              <a:t>fgetc</a:t>
            </a:r>
            <a:r>
              <a:rPr lang="en-US" dirty="0"/>
              <a:t>() function returns/read a single character from the file. It gets a character from </a:t>
            </a:r>
            <a:r>
              <a:rPr lang="en-US" dirty="0" smtClean="0"/>
              <a:t>the stream</a:t>
            </a:r>
            <a:r>
              <a:rPr lang="en-US" dirty="0"/>
              <a:t>. It returns EOF at the end of file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 err="1" smtClean="0"/>
              <a:t>getc</a:t>
            </a:r>
            <a:r>
              <a:rPr lang="en-US" dirty="0" smtClean="0"/>
              <a:t> </a:t>
            </a:r>
            <a:r>
              <a:rPr lang="en-US" dirty="0"/>
              <a:t>( ): getting a character from the file, or reading the file information character by character </a:t>
            </a:r>
            <a:r>
              <a:rPr lang="en-US" dirty="0" smtClean="0"/>
              <a:t>at a </a:t>
            </a:r>
            <a:r>
              <a:rPr lang="en-US" dirty="0"/>
              <a:t>time, </a:t>
            </a:r>
            <a:r>
              <a:rPr lang="en-US" dirty="0" err="1"/>
              <a:t>upto</a:t>
            </a:r>
            <a:r>
              <a:rPr lang="en-US" dirty="0"/>
              <a:t> the end of the file by using this function.</a:t>
            </a:r>
          </a:p>
          <a:p>
            <a:pPr marL="0" indent="0" algn="just">
              <a:buNone/>
            </a:pPr>
            <a:r>
              <a:rPr lang="en-US" dirty="0"/>
              <a:t>Ex: char </a:t>
            </a:r>
            <a:r>
              <a:rPr lang="en-US" dirty="0" err="1"/>
              <a:t>ch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ch</a:t>
            </a:r>
            <a:r>
              <a:rPr lang="en-US" dirty="0"/>
              <a:t> = </a:t>
            </a:r>
            <a:r>
              <a:rPr lang="en-US" dirty="0" err="1"/>
              <a:t>getc</a:t>
            </a:r>
            <a:r>
              <a:rPr lang="en-US" dirty="0"/>
              <a:t> (</a:t>
            </a:r>
            <a:r>
              <a:rPr lang="en-US" dirty="0" err="1"/>
              <a:t>fp</a:t>
            </a:r>
            <a:r>
              <a:rPr lang="en-US" dirty="0"/>
              <a:t>);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48210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main(){</a:t>
            </a:r>
          </a:p>
          <a:p>
            <a:pPr marL="0" indent="0" algn="just">
              <a:buNone/>
            </a:pPr>
            <a:r>
              <a:rPr lang="en-US" dirty="0"/>
              <a:t>FILE *</a:t>
            </a:r>
            <a:r>
              <a:rPr lang="en-US" dirty="0" err="1"/>
              <a:t>fp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char c;</a:t>
            </a:r>
          </a:p>
          <a:p>
            <a:pPr marL="0" indent="0" algn="just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err="1"/>
              <a:t>fp</a:t>
            </a:r>
            <a:r>
              <a:rPr lang="en-US" dirty="0"/>
              <a:t>=</a:t>
            </a:r>
            <a:r>
              <a:rPr lang="en-US" dirty="0" err="1"/>
              <a:t>fopen</a:t>
            </a:r>
            <a:r>
              <a:rPr lang="en-US" dirty="0"/>
              <a:t>("</a:t>
            </a:r>
            <a:r>
              <a:rPr lang="en-US" dirty="0" err="1"/>
              <a:t>myfile.txt","r</a:t>
            </a:r>
            <a:r>
              <a:rPr lang="en-US" dirty="0"/>
              <a:t>");</a:t>
            </a:r>
          </a:p>
          <a:p>
            <a:pPr marL="0" indent="0" algn="just">
              <a:buNone/>
            </a:pPr>
            <a:r>
              <a:rPr lang="en-US" dirty="0"/>
              <a:t>while((c=</a:t>
            </a:r>
            <a:r>
              <a:rPr lang="en-US" dirty="0" err="1"/>
              <a:t>fgetc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))!=EOF</a:t>
            </a:r>
            <a:r>
              <a:rPr lang="en-US" dirty="0" smtClean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</a:t>
            </a:r>
            <a:r>
              <a:rPr lang="en-US" dirty="0" err="1"/>
              <a:t>c",c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err="1"/>
              <a:t>fclose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 smtClean="0"/>
              <a:t>myfile.txt</a:t>
            </a:r>
          </a:p>
          <a:p>
            <a:pPr marL="0" indent="0" algn="just">
              <a:buNone/>
            </a:pPr>
            <a:r>
              <a:rPr lang="en-US" dirty="0"/>
              <a:t>this is simple text message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2547268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fputs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err="1"/>
              <a:t>fputs</a:t>
            </a:r>
            <a:r>
              <a:rPr lang="en-US" dirty="0"/>
              <a:t>() function writes a line of characters into </a:t>
            </a:r>
            <a:r>
              <a:rPr lang="en-US" dirty="0" smtClean="0"/>
              <a:t>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70315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 smtClean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</a:t>
            </a:r>
            <a:r>
              <a:rPr lang="en-US" dirty="0" smtClean="0"/>
              <a:t>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FILE *</a:t>
            </a:r>
            <a:r>
              <a:rPr lang="en-US" dirty="0" err="1"/>
              <a:t>fp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err="1"/>
              <a:t>fp</a:t>
            </a:r>
            <a:r>
              <a:rPr lang="en-US" dirty="0"/>
              <a:t>=</a:t>
            </a:r>
            <a:r>
              <a:rPr lang="en-US" dirty="0" err="1"/>
              <a:t>fopen</a:t>
            </a:r>
            <a:r>
              <a:rPr lang="en-US" dirty="0"/>
              <a:t>("myfile2.txt","w");</a:t>
            </a:r>
          </a:p>
          <a:p>
            <a:pPr marL="0" indent="0" algn="just">
              <a:buNone/>
            </a:pPr>
            <a:r>
              <a:rPr lang="en-US" dirty="0" err="1"/>
              <a:t>fputs</a:t>
            </a:r>
            <a:r>
              <a:rPr lang="en-US" dirty="0"/>
              <a:t>("hello c programming",</a:t>
            </a:r>
            <a:r>
              <a:rPr lang="en-US" dirty="0" err="1"/>
              <a:t>fp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fclose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myfile2.txt</a:t>
            </a:r>
          </a:p>
          <a:p>
            <a:pPr marL="0" indent="0" algn="just">
              <a:buNone/>
            </a:pPr>
            <a:r>
              <a:rPr lang="en-US" dirty="0"/>
              <a:t>hello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43040832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fgets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</a:p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dirty="0" err="1"/>
              <a:t>fgets</a:t>
            </a:r>
            <a:r>
              <a:rPr lang="en-US" dirty="0"/>
              <a:t>() function reads a line of characters from file.</a:t>
            </a:r>
          </a:p>
        </p:txBody>
      </p:sp>
    </p:spTree>
    <p:extLst>
      <p:ext uri="{BB962C8B-B14F-4D97-AF65-F5344CB8AC3E}">
        <p14:creationId xmlns:p14="http://schemas.microsoft.com/office/powerpoint/2010/main" val="273794503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err="1"/>
              <a:t>Input/Output</a:t>
            </a:r>
            <a:r>
              <a:rPr lang="en-US" sz="2800" b="1" dirty="0"/>
              <a:t> Operation on 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Example: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</a:t>
            </a:r>
            <a:r>
              <a:rPr lang="en-US" dirty="0" smtClean="0"/>
              <a:t>()</a:t>
            </a:r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FILE *</a:t>
            </a:r>
            <a:r>
              <a:rPr lang="en-US" dirty="0" err="1"/>
              <a:t>fp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char text[300];</a:t>
            </a:r>
          </a:p>
          <a:p>
            <a:pPr marL="0" indent="0" algn="just">
              <a:buNone/>
            </a:pPr>
            <a:r>
              <a:rPr lang="en-US" dirty="0" err="1"/>
              <a:t>clrscr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 err="1"/>
              <a:t>fp</a:t>
            </a:r>
            <a:r>
              <a:rPr lang="en-US" dirty="0"/>
              <a:t>=</a:t>
            </a:r>
            <a:r>
              <a:rPr lang="en-US" dirty="0" err="1"/>
              <a:t>fopen</a:t>
            </a:r>
            <a:r>
              <a:rPr lang="en-US" dirty="0"/>
              <a:t>("myfile2.txt","r");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("%s",</a:t>
            </a:r>
            <a:r>
              <a:rPr lang="en-US" dirty="0" err="1"/>
              <a:t>fgets</a:t>
            </a:r>
            <a:r>
              <a:rPr lang="en-US" dirty="0"/>
              <a:t>(text,200,fp));</a:t>
            </a:r>
          </a:p>
          <a:p>
            <a:pPr marL="0" indent="0" algn="just">
              <a:buNone/>
            </a:pPr>
            <a:r>
              <a:rPr lang="en-US" dirty="0" err="1"/>
              <a:t>fclose</a:t>
            </a:r>
            <a:r>
              <a:rPr lang="en-US" dirty="0"/>
              <a:t>(</a:t>
            </a:r>
            <a:r>
              <a:rPr lang="en-US" dirty="0" err="1"/>
              <a:t>fp</a:t>
            </a:r>
            <a:r>
              <a:rPr lang="en-US" dirty="0" smtClean="0"/>
              <a:t>);</a:t>
            </a:r>
          </a:p>
          <a:p>
            <a:pPr marL="0" indent="0" algn="just">
              <a:buNone/>
            </a:pPr>
            <a:r>
              <a:rPr lang="en-US" dirty="0" err="1"/>
              <a:t>getch</a:t>
            </a:r>
            <a:r>
              <a:rPr lang="en-US" dirty="0"/>
              <a:t>();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Output:</a:t>
            </a:r>
          </a:p>
          <a:p>
            <a:pPr marL="0" indent="0" algn="just">
              <a:buNone/>
            </a:pPr>
            <a:r>
              <a:rPr lang="en-US" dirty="0"/>
              <a:t>hello c programming</a:t>
            </a:r>
          </a:p>
        </p:txBody>
      </p:sp>
    </p:spTree>
    <p:extLst>
      <p:ext uri="{BB962C8B-B14F-4D97-AF65-F5344CB8AC3E}">
        <p14:creationId xmlns:p14="http://schemas.microsoft.com/office/powerpoint/2010/main" val="20036217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6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Write a C program to write all the members of an array of </a:t>
            </a:r>
            <a:r>
              <a:rPr lang="en-US" dirty="0" err="1" smtClean="0"/>
              <a:t>strucures</a:t>
            </a:r>
            <a:r>
              <a:rPr lang="en-US" dirty="0" smtClean="0"/>
              <a:t> </a:t>
            </a:r>
            <a:r>
              <a:rPr lang="en-US" dirty="0"/>
              <a:t>to a file using </a:t>
            </a:r>
            <a:r>
              <a:rPr lang="en-US" dirty="0" err="1"/>
              <a:t>fwrite</a:t>
            </a:r>
            <a:r>
              <a:rPr lang="en-US" dirty="0" smtClean="0"/>
              <a:t>(). Read </a:t>
            </a:r>
            <a:r>
              <a:rPr lang="en-US" dirty="0"/>
              <a:t>the array from the file and display on the screen.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2356307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6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/>
              <a:t>s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smtClean="0"/>
              <a:t>char </a:t>
            </a:r>
            <a:r>
              <a:rPr lang="en-US" dirty="0"/>
              <a:t>name[50];</a:t>
            </a:r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height;</a:t>
            </a:r>
          </a:p>
          <a:p>
            <a:pPr marL="0" indent="0" algn="just">
              <a:buNone/>
            </a:pPr>
            <a:r>
              <a:rPr lang="en-US" dirty="0"/>
              <a:t>};</a:t>
            </a:r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 smtClean="0"/>
              <a:t>struct</a:t>
            </a:r>
            <a:r>
              <a:rPr lang="en-US" dirty="0" smtClean="0"/>
              <a:t> </a:t>
            </a:r>
            <a:r>
              <a:rPr lang="en-US" dirty="0"/>
              <a:t>s a[5], b[5];</a:t>
            </a:r>
          </a:p>
          <a:p>
            <a:pPr marL="0" indent="0" algn="just">
              <a:buNone/>
            </a:pPr>
            <a:r>
              <a:rPr lang="en-US" dirty="0"/>
              <a:t>FILE *</a:t>
            </a:r>
            <a:r>
              <a:rPr lang="en-US" dirty="0" err="1"/>
              <a:t>fptr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/>
              <a:t>I;</a:t>
            </a:r>
          </a:p>
          <a:p>
            <a:pPr marL="0" indent="0" algn="just">
              <a:buNone/>
            </a:pPr>
            <a:r>
              <a:rPr lang="en-US" dirty="0" err="1" smtClean="0"/>
              <a:t>fptr</a:t>
            </a:r>
            <a:r>
              <a:rPr lang="en-US" dirty="0" smtClean="0"/>
              <a:t>=</a:t>
            </a:r>
            <a:r>
              <a:rPr lang="en-US" dirty="0" err="1" smtClean="0"/>
              <a:t>fopen</a:t>
            </a:r>
            <a:r>
              <a:rPr lang="en-US" dirty="0"/>
              <a:t>(“file.txt”, “</a:t>
            </a:r>
            <a:r>
              <a:rPr lang="en-US" dirty="0" err="1"/>
              <a:t>wb</a:t>
            </a:r>
            <a:r>
              <a:rPr lang="en-US" dirty="0" smtClean="0"/>
              <a:t>”);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61425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6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for(i=0; i&lt;5; ++i)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 smtClean="0"/>
              <a:t>fflush</a:t>
            </a:r>
            <a:r>
              <a:rPr lang="en-US" dirty="0" smtClean="0"/>
              <a:t>(</a:t>
            </a:r>
            <a:r>
              <a:rPr lang="en-US" dirty="0" err="1" smtClean="0"/>
              <a:t>stdin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name: ") ;</a:t>
            </a:r>
          </a:p>
          <a:p>
            <a:pPr marL="0" indent="0" algn="just">
              <a:buNone/>
            </a:pPr>
            <a:r>
              <a:rPr lang="en-US" dirty="0"/>
              <a:t>gets(a[i].name);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height: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d",&amp;a</a:t>
            </a:r>
            <a:r>
              <a:rPr lang="en-US" dirty="0"/>
              <a:t>[i].height);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470573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6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err="1"/>
              <a:t>fwrite</a:t>
            </a:r>
            <a:r>
              <a:rPr lang="en-US" dirty="0"/>
              <a:t>(</a:t>
            </a:r>
            <a:r>
              <a:rPr lang="en-US" dirty="0" err="1"/>
              <a:t>a,sizeof</a:t>
            </a:r>
            <a:r>
              <a:rPr lang="en-US" dirty="0"/>
              <a:t>(a),1,fptr);</a:t>
            </a:r>
          </a:p>
          <a:p>
            <a:pPr marL="0" indent="0" algn="just">
              <a:buNone/>
            </a:pPr>
            <a:r>
              <a:rPr lang="en-US" dirty="0" err="1"/>
              <a:t>fclose</a:t>
            </a:r>
            <a:r>
              <a:rPr lang="en-US" dirty="0"/>
              <a:t>(</a:t>
            </a:r>
            <a:r>
              <a:rPr lang="en-US" dirty="0" err="1"/>
              <a:t>fptr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fptr</a:t>
            </a:r>
            <a:r>
              <a:rPr lang="en-US" dirty="0"/>
              <a:t>=</a:t>
            </a:r>
            <a:r>
              <a:rPr lang="en-US" dirty="0" err="1"/>
              <a:t>fopen</a:t>
            </a:r>
            <a:r>
              <a:rPr lang="en-US" dirty="0"/>
              <a:t>("file.txt","</a:t>
            </a:r>
            <a:r>
              <a:rPr lang="en-US" dirty="0" err="1"/>
              <a:t>rb</a:t>
            </a:r>
            <a:r>
              <a:rPr lang="en-US" dirty="0"/>
              <a:t>");</a:t>
            </a:r>
          </a:p>
          <a:p>
            <a:pPr marL="0" indent="0" algn="just">
              <a:buNone/>
            </a:pPr>
            <a:r>
              <a:rPr lang="en-US" dirty="0" err="1"/>
              <a:t>fread</a:t>
            </a:r>
            <a:r>
              <a:rPr lang="en-US" dirty="0"/>
              <a:t>(</a:t>
            </a:r>
            <a:r>
              <a:rPr lang="en-US" dirty="0" err="1"/>
              <a:t>b,sizeof</a:t>
            </a:r>
            <a:r>
              <a:rPr lang="en-US" dirty="0"/>
              <a:t>(b),1,fptr);</a:t>
            </a:r>
          </a:p>
          <a:p>
            <a:pPr marL="0" indent="0" algn="just">
              <a:buNone/>
            </a:pPr>
            <a:r>
              <a:rPr lang="en-US" dirty="0"/>
              <a:t>for(i=0;i&lt;5;++i)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sz="2800" dirty="0" err="1"/>
              <a:t>printf</a:t>
            </a:r>
            <a:r>
              <a:rPr lang="en-US" sz="2800" dirty="0"/>
              <a:t>("Name</a:t>
            </a:r>
            <a:r>
              <a:rPr lang="en-US" sz="2800" dirty="0" smtClean="0"/>
              <a:t>:%</a:t>
            </a:r>
            <a:r>
              <a:rPr lang="en-US" sz="2800" dirty="0"/>
              <a:t>s\</a:t>
            </a:r>
            <a:r>
              <a:rPr lang="en-US" sz="2800" dirty="0" err="1"/>
              <a:t>nHeight</a:t>
            </a:r>
            <a:r>
              <a:rPr lang="en-US" sz="2800" dirty="0" smtClean="0"/>
              <a:t>:%</a:t>
            </a:r>
            <a:r>
              <a:rPr lang="en-US" sz="2800" dirty="0" err="1"/>
              <a:t>d",b</a:t>
            </a:r>
            <a:r>
              <a:rPr lang="en-US" sz="2800" dirty="0"/>
              <a:t>[i].</a:t>
            </a:r>
            <a:r>
              <a:rPr lang="en-US" sz="2800" dirty="0" err="1"/>
              <a:t>name,b</a:t>
            </a:r>
            <a:r>
              <a:rPr lang="en-US" sz="2800" dirty="0"/>
              <a:t>[i].height);</a:t>
            </a:r>
          </a:p>
          <a:p>
            <a:pPr marL="0" indent="0" algn="just">
              <a:buNone/>
            </a:pPr>
            <a:r>
              <a:rPr lang="en-US" dirty="0"/>
              <a:t>}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fclose</a:t>
            </a:r>
            <a:r>
              <a:rPr lang="en-US" dirty="0" smtClean="0"/>
              <a:t>(</a:t>
            </a:r>
            <a:r>
              <a:rPr lang="en-US" dirty="0" err="1" smtClean="0"/>
              <a:t>fptr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44758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Example 6</a:t>
            </a:r>
            <a:endParaRPr lang="en-US" sz="28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03B96-19A4-4ABF-B819-5478AC45EB2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458200" cy="54102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err="1"/>
              <a:t>fwrite</a:t>
            </a:r>
            <a:r>
              <a:rPr lang="en-US" dirty="0"/>
              <a:t>(</a:t>
            </a:r>
            <a:r>
              <a:rPr lang="en-US" dirty="0" err="1"/>
              <a:t>a,sizeof</a:t>
            </a:r>
            <a:r>
              <a:rPr lang="en-US" dirty="0"/>
              <a:t>(a),1,fptr);</a:t>
            </a:r>
          </a:p>
          <a:p>
            <a:pPr marL="0" indent="0" algn="just">
              <a:buNone/>
            </a:pPr>
            <a:r>
              <a:rPr lang="en-US" dirty="0" err="1"/>
              <a:t>fclose</a:t>
            </a:r>
            <a:r>
              <a:rPr lang="en-US" dirty="0"/>
              <a:t>(</a:t>
            </a:r>
            <a:r>
              <a:rPr lang="en-US" dirty="0" err="1"/>
              <a:t>fptr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fptr</a:t>
            </a:r>
            <a:r>
              <a:rPr lang="en-US" dirty="0"/>
              <a:t>=</a:t>
            </a:r>
            <a:r>
              <a:rPr lang="en-US" dirty="0" err="1"/>
              <a:t>fopen</a:t>
            </a:r>
            <a:r>
              <a:rPr lang="en-US" dirty="0"/>
              <a:t>("file.txt","</a:t>
            </a:r>
            <a:r>
              <a:rPr lang="en-US" dirty="0" err="1"/>
              <a:t>rb</a:t>
            </a:r>
            <a:r>
              <a:rPr lang="en-US" dirty="0"/>
              <a:t>");</a:t>
            </a:r>
          </a:p>
          <a:p>
            <a:pPr marL="0" indent="0" algn="just">
              <a:buNone/>
            </a:pPr>
            <a:r>
              <a:rPr lang="en-US" dirty="0" err="1"/>
              <a:t>fread</a:t>
            </a:r>
            <a:r>
              <a:rPr lang="en-US" dirty="0"/>
              <a:t>(</a:t>
            </a:r>
            <a:r>
              <a:rPr lang="en-US" dirty="0" err="1"/>
              <a:t>b,sizeof</a:t>
            </a:r>
            <a:r>
              <a:rPr lang="en-US" dirty="0"/>
              <a:t>(b),1,fptr);</a:t>
            </a:r>
          </a:p>
          <a:p>
            <a:pPr marL="0" indent="0" algn="just">
              <a:buNone/>
            </a:pPr>
            <a:r>
              <a:rPr lang="en-US" dirty="0"/>
              <a:t>for(i=0;i&lt;5;++i)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sz="2800" dirty="0" err="1"/>
              <a:t>printf</a:t>
            </a:r>
            <a:r>
              <a:rPr lang="en-US" sz="2800" dirty="0"/>
              <a:t>("Name</a:t>
            </a:r>
            <a:r>
              <a:rPr lang="en-US" sz="2800" dirty="0" smtClean="0"/>
              <a:t>:%</a:t>
            </a:r>
            <a:r>
              <a:rPr lang="en-US" sz="2800" dirty="0"/>
              <a:t>s\</a:t>
            </a:r>
            <a:r>
              <a:rPr lang="en-US" sz="2800" dirty="0" err="1"/>
              <a:t>nHeight</a:t>
            </a:r>
            <a:r>
              <a:rPr lang="en-US" sz="2800" dirty="0" smtClean="0"/>
              <a:t>:%</a:t>
            </a:r>
            <a:r>
              <a:rPr lang="en-US" sz="2800" dirty="0" err="1"/>
              <a:t>d",b</a:t>
            </a:r>
            <a:r>
              <a:rPr lang="en-US" sz="2800" dirty="0"/>
              <a:t>[i].</a:t>
            </a:r>
            <a:r>
              <a:rPr lang="en-US" sz="2800" dirty="0" err="1"/>
              <a:t>name,b</a:t>
            </a:r>
            <a:r>
              <a:rPr lang="en-US" sz="2800" dirty="0"/>
              <a:t>[i].height);</a:t>
            </a:r>
          </a:p>
          <a:p>
            <a:pPr marL="0" indent="0" algn="just">
              <a:buNone/>
            </a:pPr>
            <a:r>
              <a:rPr lang="en-US" dirty="0"/>
              <a:t>}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err="1" smtClean="0"/>
              <a:t>fclose</a:t>
            </a:r>
            <a:r>
              <a:rPr lang="en-US" dirty="0" smtClean="0"/>
              <a:t>(</a:t>
            </a:r>
            <a:r>
              <a:rPr lang="en-US" dirty="0" err="1" smtClean="0"/>
              <a:t>fptr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3072657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114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5114</TotalTime>
  <Words>4870</Words>
  <Application>Microsoft Office PowerPoint</Application>
  <PresentationFormat>On-screen Show (4:3)</PresentationFormat>
  <Paragraphs>1004</Paragraphs>
  <Slides>114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114</vt:i4>
      </vt:variant>
    </vt:vector>
  </HeadingPairs>
  <TitlesOfParts>
    <vt:vector size="123" baseType="lpstr">
      <vt:lpstr>Arial</vt:lpstr>
      <vt:lpstr>Calibri</vt:lpstr>
      <vt:lpstr>Georgia</vt:lpstr>
      <vt:lpstr>Times New Roman</vt:lpstr>
      <vt:lpstr>Trebuchet MS</vt:lpstr>
      <vt:lpstr>Wingdings</vt:lpstr>
      <vt:lpstr>Office Theme</vt:lpstr>
      <vt:lpstr>1_Slipstream</vt:lpstr>
      <vt:lpstr>1_Office Theme</vt:lpstr>
      <vt:lpstr>Structure Programming  ICT-1105  Information and Communication Technology</vt:lpstr>
      <vt:lpstr>PowerPoint Presentation</vt:lpstr>
      <vt:lpstr>Structures and Unions</vt:lpstr>
      <vt:lpstr>Structures</vt:lpstr>
      <vt:lpstr>Structure Definition</vt:lpstr>
      <vt:lpstr>Structure Definition</vt:lpstr>
      <vt:lpstr>Structure Definition</vt:lpstr>
      <vt:lpstr>Structure Definition</vt:lpstr>
      <vt:lpstr>Structure Declaration</vt:lpstr>
      <vt:lpstr>Structure Declaration</vt:lpstr>
      <vt:lpstr>Structure Declaration</vt:lpstr>
      <vt:lpstr>Structure variable</vt:lpstr>
      <vt:lpstr>Structure variable</vt:lpstr>
      <vt:lpstr>Structure variable</vt:lpstr>
      <vt:lpstr>Structure variable</vt:lpstr>
      <vt:lpstr>Structure variable</vt:lpstr>
      <vt:lpstr>Structure Initialization</vt:lpstr>
      <vt:lpstr>Structure Initialization</vt:lpstr>
      <vt:lpstr>Structure Initialization</vt:lpstr>
      <vt:lpstr>Accessing Structures/ Accessing members of structure</vt:lpstr>
      <vt:lpstr>Accessing Structures/ Accessing members of structure</vt:lpstr>
      <vt:lpstr>Accessing Structures/ Accessing members of structure</vt:lpstr>
      <vt:lpstr>Accessing Structures/ Accessing members of structure</vt:lpstr>
      <vt:lpstr>Structure in C </vt:lpstr>
      <vt:lpstr>Structure in C </vt:lpstr>
      <vt:lpstr>Difference Between Array and Structure</vt:lpstr>
      <vt:lpstr>Nested Structures</vt:lpstr>
      <vt:lpstr>Nested Structures</vt:lpstr>
      <vt:lpstr>Separate structure</vt:lpstr>
      <vt:lpstr>Separate structure</vt:lpstr>
      <vt:lpstr>Embedded structure</vt:lpstr>
      <vt:lpstr>Accessing Nested Structure</vt:lpstr>
      <vt:lpstr>Arrays of Structures</vt:lpstr>
      <vt:lpstr>Arrays of Structures</vt:lpstr>
      <vt:lpstr>Arrays of Structures</vt:lpstr>
      <vt:lpstr>Arrays of Structures</vt:lpstr>
      <vt:lpstr>Structures and Functions</vt:lpstr>
      <vt:lpstr>Structures and Functions</vt:lpstr>
      <vt:lpstr>Passing structure to function by value</vt:lpstr>
      <vt:lpstr>Passing structure to function by value</vt:lpstr>
      <vt:lpstr>Passing structure to function by value</vt:lpstr>
      <vt:lpstr>Passing structure to function by reference</vt:lpstr>
      <vt:lpstr>Passing structure to function by reference</vt:lpstr>
      <vt:lpstr>Passing structure to function by reference</vt:lpstr>
      <vt:lpstr>Declare a structure variable as global</vt:lpstr>
      <vt:lpstr>Declare a structure variable as global</vt:lpstr>
      <vt:lpstr>Declare a structure variable as global</vt:lpstr>
      <vt:lpstr>Passing a copy of entire structure to a function</vt:lpstr>
      <vt:lpstr>Passing a copy of entire structure to a function</vt:lpstr>
      <vt:lpstr>Passing Structures through Pointers</vt:lpstr>
      <vt:lpstr>Passing Structures through Pointers</vt:lpstr>
      <vt:lpstr>Passing Structures through Pointers</vt:lpstr>
      <vt:lpstr>Self‐referential Structures</vt:lpstr>
      <vt:lpstr>Self‐referential Structures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Unions</vt:lpstr>
      <vt:lpstr>Difference between Structure and Union</vt:lpstr>
      <vt:lpstr>File</vt:lpstr>
      <vt:lpstr>File</vt:lpstr>
      <vt:lpstr>Why files are needed?</vt:lpstr>
      <vt:lpstr>Defination</vt:lpstr>
      <vt:lpstr>Types of Files</vt:lpstr>
      <vt:lpstr>Text files</vt:lpstr>
      <vt:lpstr>Binary files</vt:lpstr>
      <vt:lpstr>File Operations</vt:lpstr>
      <vt:lpstr>Steps for processing a file</vt:lpstr>
      <vt:lpstr>Declaration of a file</vt:lpstr>
      <vt:lpstr>Opening a file - for creation and edit</vt:lpstr>
      <vt:lpstr>Closing a File</vt:lpstr>
      <vt:lpstr>File Opening Modes</vt:lpstr>
      <vt:lpstr>File Opening Modes</vt:lpstr>
      <vt:lpstr>Difference between Append and Write Mode</vt:lpstr>
      <vt:lpstr>Difference between Append and Write Mode</vt:lpstr>
      <vt:lpstr>Difference between Append and Write Mode</vt:lpstr>
      <vt:lpstr>Formatted File I/O Functions</vt:lpstr>
      <vt:lpstr>Formatted File I/O Functions</vt:lpstr>
      <vt:lpstr>Formatted File I/O Functions</vt:lpstr>
      <vt:lpstr>Example 1. Write a program to open a file using fopen().</vt:lpstr>
      <vt:lpstr>Example 2: Write to a text file using fprintf()</vt:lpstr>
      <vt:lpstr>Example 3: Read from a text file using fscanf()</vt:lpstr>
      <vt:lpstr>Example 4</vt:lpstr>
      <vt:lpstr>Example 4</vt:lpstr>
      <vt:lpstr>Example 4</vt:lpstr>
      <vt:lpstr>Example 5</vt:lpstr>
      <vt:lpstr>Example 5</vt:lpstr>
      <vt:lpstr>Input/Output Operation on files</vt:lpstr>
      <vt:lpstr>Input/Output Operation on files</vt:lpstr>
      <vt:lpstr>Input/Output Operation on files</vt:lpstr>
      <vt:lpstr>Input/Output Operation on files</vt:lpstr>
      <vt:lpstr>Input/Output Operation on files</vt:lpstr>
      <vt:lpstr>Input/Output Operation on files</vt:lpstr>
      <vt:lpstr>Input/Output Operation on files</vt:lpstr>
      <vt:lpstr>Input/Output Operation on files</vt:lpstr>
      <vt:lpstr>Input/Output Operation on files</vt:lpstr>
      <vt:lpstr>Example 6</vt:lpstr>
      <vt:lpstr>Example 6</vt:lpstr>
      <vt:lpstr>Example 6</vt:lpstr>
      <vt:lpstr>Example 6</vt:lpstr>
      <vt:lpstr>Example 6</vt:lpstr>
      <vt:lpstr>Thank you….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ICT CHAIRMAN</cp:lastModifiedBy>
  <cp:revision>539</cp:revision>
  <dcterms:created xsi:type="dcterms:W3CDTF">2019-09-20T11:10:00Z</dcterms:created>
  <dcterms:modified xsi:type="dcterms:W3CDTF">2025-03-15T06:50:10Z</dcterms:modified>
</cp:coreProperties>
</file>