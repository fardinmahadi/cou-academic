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79"/>
  </p:notesMasterIdLst>
  <p:sldIdLst>
    <p:sldId id="463" r:id="rId4"/>
    <p:sldId id="467" r:id="rId5"/>
    <p:sldId id="534" r:id="rId6"/>
    <p:sldId id="623" r:id="rId7"/>
    <p:sldId id="624" r:id="rId8"/>
    <p:sldId id="625" r:id="rId9"/>
    <p:sldId id="626" r:id="rId10"/>
    <p:sldId id="627" r:id="rId11"/>
    <p:sldId id="628" r:id="rId12"/>
    <p:sldId id="629" r:id="rId13"/>
    <p:sldId id="630" r:id="rId14"/>
    <p:sldId id="631" r:id="rId15"/>
    <p:sldId id="633" r:id="rId16"/>
    <p:sldId id="634" r:id="rId17"/>
    <p:sldId id="635" r:id="rId18"/>
    <p:sldId id="637" r:id="rId19"/>
    <p:sldId id="636" r:id="rId20"/>
    <p:sldId id="638" r:id="rId21"/>
    <p:sldId id="639" r:id="rId22"/>
    <p:sldId id="640" r:id="rId23"/>
    <p:sldId id="641" r:id="rId24"/>
    <p:sldId id="642" r:id="rId25"/>
    <p:sldId id="643" r:id="rId26"/>
    <p:sldId id="645" r:id="rId27"/>
    <p:sldId id="646" r:id="rId28"/>
    <p:sldId id="648" r:id="rId29"/>
    <p:sldId id="649" r:id="rId30"/>
    <p:sldId id="650" r:id="rId31"/>
    <p:sldId id="651" r:id="rId32"/>
    <p:sldId id="652" r:id="rId33"/>
    <p:sldId id="654" r:id="rId34"/>
    <p:sldId id="655" r:id="rId35"/>
    <p:sldId id="656" r:id="rId36"/>
    <p:sldId id="657" r:id="rId37"/>
    <p:sldId id="658" r:id="rId38"/>
    <p:sldId id="659" r:id="rId39"/>
    <p:sldId id="660" r:id="rId40"/>
    <p:sldId id="661" r:id="rId41"/>
    <p:sldId id="662" r:id="rId42"/>
    <p:sldId id="663" r:id="rId43"/>
    <p:sldId id="664" r:id="rId44"/>
    <p:sldId id="665" r:id="rId45"/>
    <p:sldId id="666" r:id="rId46"/>
    <p:sldId id="667" r:id="rId47"/>
    <p:sldId id="668" r:id="rId48"/>
    <p:sldId id="669" r:id="rId49"/>
    <p:sldId id="670" r:id="rId50"/>
    <p:sldId id="690" r:id="rId51"/>
    <p:sldId id="674" r:id="rId52"/>
    <p:sldId id="675" r:id="rId53"/>
    <p:sldId id="677" r:id="rId54"/>
    <p:sldId id="678" r:id="rId55"/>
    <p:sldId id="679" r:id="rId56"/>
    <p:sldId id="680" r:id="rId57"/>
    <p:sldId id="681" r:id="rId58"/>
    <p:sldId id="682" r:id="rId59"/>
    <p:sldId id="683" r:id="rId60"/>
    <p:sldId id="684" r:id="rId61"/>
    <p:sldId id="676" r:id="rId62"/>
    <p:sldId id="685" r:id="rId63"/>
    <p:sldId id="686" r:id="rId64"/>
    <p:sldId id="688" r:id="rId65"/>
    <p:sldId id="689" r:id="rId66"/>
    <p:sldId id="691" r:id="rId67"/>
    <p:sldId id="692" r:id="rId68"/>
    <p:sldId id="693" r:id="rId69"/>
    <p:sldId id="694" r:id="rId70"/>
    <p:sldId id="695" r:id="rId71"/>
    <p:sldId id="696" r:id="rId72"/>
    <p:sldId id="697" r:id="rId73"/>
    <p:sldId id="698" r:id="rId74"/>
    <p:sldId id="699" r:id="rId75"/>
    <p:sldId id="687" r:id="rId76"/>
    <p:sldId id="700" r:id="rId77"/>
    <p:sldId id="461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953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061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289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743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044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633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733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368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28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8584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405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801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60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1691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651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9074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490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020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0684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643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7977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1245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34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32214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1489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5611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8429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876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1375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2977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3691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4086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1477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435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75224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6726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6331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1068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01100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5007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1562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1215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02141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7896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0752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5432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3343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4226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0798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0433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6152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277787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76889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3252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1634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6034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6185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0576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98591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50108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4905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4037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15736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65249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9514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05287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30329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62722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90048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26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Lecture-19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Strings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A string is a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series of characters </a:t>
            </a:r>
            <a:r>
              <a:rPr lang="en-US" dirty="0"/>
              <a:t>treated as a single unit. A string may include letters, digits </a:t>
            </a:r>
            <a:r>
              <a:rPr lang="en-US" dirty="0" smtClean="0"/>
              <a:t>and various </a:t>
            </a:r>
            <a:r>
              <a:rPr lang="en-US" dirty="0"/>
              <a:t>special characters such as +, -, *, / and $.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String </a:t>
            </a:r>
            <a:r>
              <a:rPr lang="en-US" dirty="0"/>
              <a:t>literals or string constants in C </a:t>
            </a:r>
            <a:r>
              <a:rPr lang="en-US" dirty="0" smtClean="0"/>
              <a:t>are written </a:t>
            </a:r>
            <a:r>
              <a:rPr lang="en-US" dirty="0"/>
              <a:t>in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 quotation marks</a:t>
            </a:r>
            <a:r>
              <a:rPr lang="en-US" dirty="0"/>
              <a:t> as follows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“1000 Main Street” (a street address)</a:t>
            </a:r>
          </a:p>
          <a:p>
            <a:pPr marL="0" indent="0" algn="just">
              <a:buNone/>
            </a:pPr>
            <a:r>
              <a:rPr lang="en-US" dirty="0" smtClean="0"/>
              <a:t>“080329-7082</a:t>
            </a:r>
            <a:r>
              <a:rPr lang="en-US" dirty="0"/>
              <a:t>” (a telephone number)</a:t>
            </a:r>
          </a:p>
          <a:p>
            <a:pPr marL="0" indent="0" algn="just">
              <a:buNone/>
            </a:pPr>
            <a:r>
              <a:rPr lang="en-US" dirty="0" smtClean="0"/>
              <a:t>“</a:t>
            </a:r>
            <a:r>
              <a:rPr lang="en-US" dirty="0" err="1" smtClean="0"/>
              <a:t>Cumilla</a:t>
            </a:r>
            <a:r>
              <a:rPr lang="en-US" dirty="0" smtClean="0"/>
              <a:t>” </a:t>
            </a:r>
            <a:r>
              <a:rPr lang="en-US" dirty="0"/>
              <a:t>(a city).</a:t>
            </a:r>
          </a:p>
        </p:txBody>
      </p:sp>
    </p:spTree>
    <p:extLst>
      <p:ext uri="{BB962C8B-B14F-4D97-AF65-F5344CB8AC3E}">
        <p14:creationId xmlns:p14="http://schemas.microsoft.com/office/powerpoint/2010/main" val="39135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String is an array of characters that is terminated by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\0</a:t>
            </a:r>
            <a:r>
              <a:rPr lang="en-US" dirty="0"/>
              <a:t> (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 character</a:t>
            </a:r>
            <a:r>
              <a:rPr lang="en-US" dirty="0"/>
              <a:t>). This </a:t>
            </a:r>
            <a:r>
              <a:rPr lang="en-US" dirty="0" smtClean="0"/>
              <a:t>null character </a:t>
            </a:r>
            <a:r>
              <a:rPr lang="en-US" dirty="0"/>
              <a:t>indicates the end of the string.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Strings are always enclosed by double quotes (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 “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Whereas, character is enclosed by single quotes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3799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In “C” language </a:t>
            </a:r>
            <a:r>
              <a:rPr lang="en-US" dirty="0"/>
              <a:t>the group of characters, digits, and symbols enclosed within </a:t>
            </a:r>
            <a:r>
              <a:rPr lang="en-US" dirty="0" smtClean="0"/>
              <a:t>double quotation </a:t>
            </a:r>
          </a:p>
          <a:p>
            <a:pPr marL="0" indent="0" algn="just">
              <a:buNone/>
            </a:pPr>
            <a:r>
              <a:rPr lang="en-US" dirty="0" smtClean="0"/>
              <a:t>( </a:t>
            </a:r>
            <a:r>
              <a:rPr lang="en-US" dirty="0"/>
              <a:t>" " ) marks are called as string otherwise a string is an array of characters </a:t>
            </a:r>
            <a:r>
              <a:rPr lang="en-US" dirty="0" smtClean="0"/>
              <a:t>and terminated </a:t>
            </a:r>
            <a:r>
              <a:rPr lang="en-US" dirty="0"/>
              <a:t>by NULL character which is denoted by the escape sequence </a:t>
            </a:r>
            <a:r>
              <a:rPr lang="en-US" dirty="0" smtClean="0"/>
              <a:t>“\0”.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1762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In C language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strings are stored in array of char type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along with null terminating character ‘\0’</a:t>
            </a:r>
          </a:p>
          <a:p>
            <a:pPr marL="0" indent="0" algn="just">
              <a:buNone/>
            </a:pPr>
            <a:r>
              <a:rPr lang="en-US" dirty="0"/>
              <a:t>at the </a:t>
            </a:r>
            <a:r>
              <a:rPr lang="en-US" dirty="0" smtClean="0"/>
              <a:t>end.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When </a:t>
            </a:r>
            <a:r>
              <a:rPr lang="en-US" dirty="0"/>
              <a:t>sizing the string array we need to add plus one to the actual size of the string to </a:t>
            </a:r>
            <a:r>
              <a:rPr lang="en-US" dirty="0" smtClean="0"/>
              <a:t>make space </a:t>
            </a:r>
            <a:r>
              <a:rPr lang="en-US" dirty="0"/>
              <a:t>for the null terminating character, ‘\0’.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073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Declaration of String: </a:t>
            </a:r>
            <a:endParaRPr lang="en-US" b="1" dirty="0" smtClean="0"/>
          </a:p>
          <a:p>
            <a:pPr marL="0" indent="0" algn="just">
              <a:buNone/>
            </a:pPr>
            <a:r>
              <a:rPr lang="en-US" dirty="0" smtClean="0"/>
              <a:t>C </a:t>
            </a:r>
            <a:r>
              <a:rPr lang="en-US" dirty="0"/>
              <a:t>does not support string as a data type. However, it allows us </a:t>
            </a:r>
            <a:r>
              <a:rPr lang="en-US" dirty="0" smtClean="0"/>
              <a:t>to represent </a:t>
            </a:r>
            <a:r>
              <a:rPr lang="en-US" dirty="0"/>
              <a:t>strings as character arrays. In C, a string variable is any valid C variable name and it </a:t>
            </a:r>
            <a:r>
              <a:rPr lang="en-US" dirty="0" smtClean="0"/>
              <a:t>is always </a:t>
            </a:r>
            <a:r>
              <a:rPr lang="en-US" dirty="0"/>
              <a:t>declared as an array of characters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89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The general form of declaration of a string variable is 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 char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string_name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[size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size determines the number of characters in the string name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Note: 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declaration of string size must be required to mention otherwise it gives an error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088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 </a:t>
            </a:r>
            <a:r>
              <a:rPr lang="en-US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fname</a:t>
            </a:r>
            <a:r>
              <a:rPr lang="en-US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[4</a:t>
            </a:r>
            <a:r>
              <a:rPr lang="en-US" b="1" i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];</a:t>
            </a:r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above statement declares a string called </a:t>
            </a:r>
            <a:r>
              <a:rPr lang="en-US" b="1" dirty="0" err="1"/>
              <a:t>fname</a:t>
            </a:r>
            <a:r>
              <a:rPr lang="en-US" b="1" dirty="0"/>
              <a:t> </a:t>
            </a:r>
            <a:r>
              <a:rPr lang="en-US" dirty="0"/>
              <a:t>that can take up to </a:t>
            </a:r>
            <a:r>
              <a:rPr lang="en-US" b="1" dirty="0">
                <a:solidFill>
                  <a:srgbClr val="FF0000"/>
                </a:solidFill>
              </a:rPr>
              <a:t>3 characters</a:t>
            </a:r>
            <a:r>
              <a:rPr lang="en-US" dirty="0"/>
              <a:t>. It can be</a:t>
            </a:r>
          </a:p>
          <a:p>
            <a:pPr marL="0" indent="0" algn="just">
              <a:buNone/>
            </a:pPr>
            <a:r>
              <a:rPr lang="en-US" dirty="0"/>
              <a:t>indexed just as a regular array as well.</a:t>
            </a:r>
          </a:p>
          <a:p>
            <a:pPr marL="0" indent="0" algn="just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62400"/>
            <a:ext cx="8411902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6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when we declare the string in this way, we </a:t>
            </a:r>
            <a:r>
              <a:rPr lang="en-US" dirty="0" smtClean="0"/>
              <a:t>can store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size-1 </a:t>
            </a:r>
            <a:r>
              <a:rPr lang="en-US" dirty="0"/>
              <a:t>characters in the array because </a:t>
            </a:r>
            <a:r>
              <a:rPr lang="en-US" dirty="0" smtClean="0"/>
              <a:t>the last </a:t>
            </a:r>
            <a:r>
              <a:rPr lang="en-US" dirty="0"/>
              <a:t>character would be the null character.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For </a:t>
            </a:r>
            <a:r>
              <a:rPr lang="en-US" dirty="0"/>
              <a:t>example,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mesg</a:t>
            </a:r>
            <a:r>
              <a:rPr lang="en-US" dirty="0"/>
              <a:t>[10];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can </a:t>
            </a:r>
            <a:r>
              <a:rPr lang="en-US" dirty="0"/>
              <a:t>store maximum of 9 characters.</a:t>
            </a:r>
          </a:p>
        </p:txBody>
      </p:sp>
    </p:spTree>
    <p:extLst>
      <p:ext uri="{BB962C8B-B14F-4D97-AF65-F5344CB8AC3E}">
        <p14:creationId xmlns:p14="http://schemas.microsoft.com/office/powerpoint/2010/main" val="109450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Note: In declaration of string size must be required to mention otherwise it gives an error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Ex: char </a:t>
            </a:r>
            <a:r>
              <a:rPr lang="en-US" dirty="0" err="1"/>
              <a:t>str</a:t>
            </a:r>
            <a:r>
              <a:rPr lang="en-US" dirty="0"/>
              <a:t>[]; // Invalid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[0]; // Invalid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[-1]; // Invalid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[10]; // Valid</a:t>
            </a:r>
          </a:p>
          <a:p>
            <a:pPr marL="0" indent="0" algn="just">
              <a:buNone/>
            </a:pPr>
            <a:r>
              <a:rPr lang="en-US" dirty="0"/>
              <a:t>char a[9]; //Valid</a:t>
            </a:r>
          </a:p>
        </p:txBody>
      </p:sp>
    </p:spTree>
    <p:extLst>
      <p:ext uri="{BB962C8B-B14F-4D97-AF65-F5344CB8AC3E}">
        <p14:creationId xmlns:p14="http://schemas.microsoft.com/office/powerpoint/2010/main" val="119059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Concepts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A string is an array of characters. Hence it can be indexed like an array.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ourstr</a:t>
            </a:r>
            <a:r>
              <a:rPr lang="en-US" dirty="0"/>
              <a:t>[6] = “EED”;</a:t>
            </a:r>
          </a:p>
          <a:p>
            <a:pPr marL="0" indent="0" algn="just">
              <a:buNone/>
            </a:pPr>
            <a:r>
              <a:rPr lang="en-US" dirty="0"/>
              <a:t>– </a:t>
            </a:r>
            <a:r>
              <a:rPr lang="en-US" dirty="0" err="1"/>
              <a:t>ourstr</a:t>
            </a:r>
            <a:r>
              <a:rPr lang="en-US" dirty="0"/>
              <a:t>[0] is ‘E’</a:t>
            </a:r>
          </a:p>
          <a:p>
            <a:pPr marL="0" indent="0" algn="just">
              <a:buNone/>
            </a:pPr>
            <a:r>
              <a:rPr lang="en-US" dirty="0"/>
              <a:t>– </a:t>
            </a:r>
            <a:r>
              <a:rPr lang="en-US" dirty="0" err="1"/>
              <a:t>ourstr</a:t>
            </a:r>
            <a:r>
              <a:rPr lang="en-US" dirty="0"/>
              <a:t>[1] is ‘E’</a:t>
            </a:r>
          </a:p>
          <a:p>
            <a:pPr marL="0" indent="0" algn="just">
              <a:buNone/>
            </a:pPr>
            <a:r>
              <a:rPr lang="en-US" dirty="0"/>
              <a:t>– </a:t>
            </a:r>
            <a:r>
              <a:rPr lang="en-US" dirty="0" err="1"/>
              <a:t>ourstr</a:t>
            </a:r>
            <a:r>
              <a:rPr lang="en-US" dirty="0"/>
              <a:t>[2] is ‘D’</a:t>
            </a:r>
          </a:p>
          <a:p>
            <a:pPr marL="0" indent="0" algn="just">
              <a:buNone/>
            </a:pPr>
            <a:r>
              <a:rPr lang="en-US" dirty="0"/>
              <a:t>– </a:t>
            </a:r>
            <a:r>
              <a:rPr lang="en-US" dirty="0" err="1"/>
              <a:t>ourstr</a:t>
            </a:r>
            <a:r>
              <a:rPr lang="en-US" dirty="0"/>
              <a:t>[3] is ‘\0’</a:t>
            </a:r>
          </a:p>
          <a:p>
            <a:pPr marL="0" indent="0" algn="just">
              <a:buNone/>
            </a:pPr>
            <a:r>
              <a:rPr lang="en-US" dirty="0"/>
              <a:t>– </a:t>
            </a:r>
            <a:r>
              <a:rPr lang="en-US" dirty="0" err="1"/>
              <a:t>ourstr</a:t>
            </a:r>
            <a:r>
              <a:rPr lang="en-US" dirty="0"/>
              <a:t>[4] is ‘\0’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– </a:t>
            </a:r>
            <a:r>
              <a:rPr lang="en-US" dirty="0" err="1"/>
              <a:t>ourstr</a:t>
            </a:r>
            <a:r>
              <a:rPr lang="en-US" dirty="0"/>
              <a:t>[5] is ‘\0</a:t>
            </a:r>
            <a:r>
              <a:rPr lang="en-US" dirty="0" smtClean="0"/>
              <a:t>’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5793582"/>
            <a:ext cx="896302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3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 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793"/>
            <a:ext cx="8229600" cy="50593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Syntax : </a:t>
            </a:r>
            <a:r>
              <a:rPr lang="en-US" b="1" i="1" dirty="0"/>
              <a:t>char </a:t>
            </a:r>
            <a:r>
              <a:rPr lang="en-US" b="1" i="1" dirty="0" err="1"/>
              <a:t>string_name</a:t>
            </a:r>
            <a:r>
              <a:rPr lang="en-US" b="1" i="1" dirty="0"/>
              <a:t>[size]={“string” };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</a:t>
            </a:r>
            <a:r>
              <a:rPr lang="en-US" dirty="0"/>
              <a:t>: In Initialization of the string if the specific number of character is not initialized it </a:t>
            </a:r>
            <a:r>
              <a:rPr lang="en-US" dirty="0" smtClean="0"/>
              <a:t>then rest </a:t>
            </a:r>
            <a:r>
              <a:rPr lang="en-US" dirty="0"/>
              <a:t>of all character will be initialized with NULL.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Note: </a:t>
            </a:r>
            <a:r>
              <a:rPr lang="en-US" b="1" i="1" dirty="0">
                <a:solidFill>
                  <a:srgbClr val="0000CC"/>
                </a:solidFill>
              </a:rPr>
              <a:t>In initialization of the string we can not initialized more than size of string elements.</a:t>
            </a:r>
          </a:p>
          <a:p>
            <a:pPr marL="0" indent="0" algn="just">
              <a:buNone/>
            </a:pPr>
            <a:r>
              <a:rPr lang="en-US" dirty="0"/>
              <a:t>Ex: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[2]={'5','+','A','B'}; // Invalid</a:t>
            </a:r>
          </a:p>
        </p:txBody>
      </p:sp>
    </p:spTree>
    <p:extLst>
      <p:ext uri="{BB962C8B-B14F-4D97-AF65-F5344CB8AC3E}">
        <p14:creationId xmlns:p14="http://schemas.microsoft.com/office/powerpoint/2010/main" val="113593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 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793"/>
            <a:ext cx="8229600" cy="5059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Different ways of initialization can be done in various ways :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Initilizing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locations character by character.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initialization.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: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Intilization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without size.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: Array initialization with a string .</a:t>
            </a:r>
          </a:p>
        </p:txBody>
      </p:sp>
    </p:spTree>
    <p:extLst>
      <p:ext uri="{BB962C8B-B14F-4D97-AF65-F5344CB8AC3E}">
        <p14:creationId xmlns:p14="http://schemas.microsoft.com/office/powerpoint/2010/main" val="193905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 string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793"/>
            <a:ext cx="8229600" cy="5059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locations character by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</a:t>
            </a:r>
          </a:p>
          <a:p>
            <a:pPr marL="0" indent="0" algn="just">
              <a:buNone/>
            </a:pPr>
            <a:r>
              <a:rPr lang="en-US" dirty="0" smtClean="0"/>
              <a:t>Consider </a:t>
            </a:r>
            <a:r>
              <a:rPr lang="en-US" dirty="0"/>
              <a:t>the following declaration with initialization,</a:t>
            </a:r>
          </a:p>
          <a:p>
            <a:pPr marL="0" indent="0" algn="just">
              <a:buNone/>
            </a:pPr>
            <a:r>
              <a:rPr lang="en-US" b="1" dirty="0"/>
              <a:t>Char b[9</a:t>
            </a:r>
            <a:r>
              <a:rPr lang="en-US" b="1" dirty="0" smtClean="0"/>
              <a:t>]={‘C’, ’O’, ’M’, ’P’,’U’, ’T’, ’E’, ’R’};</a:t>
            </a:r>
            <a:endParaRPr lang="en-US" b="1" dirty="0"/>
          </a:p>
          <a:p>
            <a:pPr marL="0" indent="0" algn="just">
              <a:buNone/>
            </a:pPr>
            <a:r>
              <a:rPr lang="en-US" dirty="0" smtClean="0"/>
              <a:t>from </a:t>
            </a:r>
            <a:r>
              <a:rPr lang="en-US" dirty="0"/>
              <a:t>0 to 8 and these locations </a:t>
            </a:r>
            <a:r>
              <a:rPr lang="en-US" dirty="0" smtClean="0"/>
              <a:t>are initialized </a:t>
            </a:r>
            <a:r>
              <a:rPr lang="en-US" dirty="0"/>
              <a:t>with the characters in the order specified. The remaining locations are </a:t>
            </a:r>
            <a:r>
              <a:rPr lang="en-US" dirty="0" smtClean="0"/>
              <a:t>automatically initialized </a:t>
            </a:r>
            <a:r>
              <a:rPr lang="en-US" dirty="0"/>
              <a:t>to null characters.</a:t>
            </a:r>
            <a:endParaRPr lang="en-US" dirty="0" smtClean="0"/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266231"/>
            <a:ext cx="5105400" cy="130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1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 string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793"/>
            <a:ext cx="8229600" cy="5059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Initilization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If </a:t>
            </a:r>
            <a:r>
              <a:rPr lang="en-US" dirty="0"/>
              <a:t>the characters to be initialized is less than the size of </a:t>
            </a:r>
            <a:r>
              <a:rPr lang="en-US" dirty="0" smtClean="0"/>
              <a:t>the array</a:t>
            </a:r>
            <a:r>
              <a:rPr lang="en-US" dirty="0"/>
              <a:t>, then the characters are stored sequentially from left to </a:t>
            </a:r>
            <a:r>
              <a:rPr lang="en-US" dirty="0" err="1"/>
              <a:t>right.The</a:t>
            </a:r>
            <a:r>
              <a:rPr lang="en-US" dirty="0"/>
              <a:t> remaining locations will</a:t>
            </a:r>
          </a:p>
          <a:p>
            <a:pPr marL="0" indent="0" algn="just">
              <a:buNone/>
            </a:pPr>
            <a:r>
              <a:rPr lang="en-US" dirty="0"/>
              <a:t>be initialized to NULL characters automatically.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378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 string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Initilization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Ex : Consider the partial </a:t>
            </a:r>
            <a:r>
              <a:rPr lang="en-US" dirty="0" err="1"/>
              <a:t>initilization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a[10</a:t>
            </a:r>
            <a:r>
              <a:rPr lang="en-US" dirty="0" smtClean="0"/>
              <a:t>]={ ‘I’, ‘C’, ‘T’ </a:t>
            </a:r>
            <a:r>
              <a:rPr lang="en-US" dirty="0"/>
              <a:t>};</a:t>
            </a:r>
          </a:p>
          <a:p>
            <a:pPr marL="0" indent="0" algn="just">
              <a:buNone/>
            </a:pPr>
            <a:r>
              <a:rPr lang="en-US" dirty="0"/>
              <a:t>The compiler allocates 10 bytes for the variable a ranging from 0 to 9 </a:t>
            </a:r>
            <a:r>
              <a:rPr lang="en-US" dirty="0" smtClean="0"/>
              <a:t>and initializes </a:t>
            </a:r>
            <a:r>
              <a:rPr lang="en-US" dirty="0"/>
              <a:t>first four locations with the ASCII characters of ‘I’, ‘C’, ‘T’ </a:t>
            </a:r>
            <a:r>
              <a:rPr lang="en-US" dirty="0" smtClean="0"/>
              <a:t>. The remaining locations </a:t>
            </a:r>
            <a:r>
              <a:rPr lang="en-US" dirty="0"/>
              <a:t>are automatically filled with NULL characters (</a:t>
            </a:r>
            <a:r>
              <a:rPr lang="en-US" dirty="0" err="1"/>
              <a:t>i.e</a:t>
            </a:r>
            <a:r>
              <a:rPr lang="en-US" dirty="0"/>
              <a:t>,\0</a:t>
            </a:r>
            <a:r>
              <a:rPr lang="en-US" dirty="0" smtClean="0"/>
              <a:t>).</a:t>
            </a:r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749825"/>
              </p:ext>
            </p:extLst>
          </p:nvPr>
        </p:nvGraphicFramePr>
        <p:xfrm>
          <a:off x="1447800" y="5614669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14339666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9444244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2198140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3503294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8592534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6776649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40908379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265380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33298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497996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\0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\0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\0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\0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\0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\0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\0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07489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56711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46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 string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: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size 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consider the declaration along with the </a:t>
            </a:r>
            <a:r>
              <a:rPr lang="en-US" dirty="0" smtClean="0"/>
              <a:t>initialization</a:t>
            </a:r>
          </a:p>
          <a:p>
            <a:pPr marL="0" indent="0" algn="just">
              <a:buNone/>
            </a:pPr>
            <a:r>
              <a:rPr lang="en-US" b="1" dirty="0"/>
              <a:t>Char b</a:t>
            </a:r>
            <a:r>
              <a:rPr lang="en-US" b="1" dirty="0" smtClean="0"/>
              <a:t>[ ]={‘</a:t>
            </a:r>
            <a:r>
              <a:rPr lang="en-US" b="1" dirty="0"/>
              <a:t>C’, ’O’, ’M’, ’P’,’U’, ’T’, ’E’, ’R’};</a:t>
            </a:r>
          </a:p>
          <a:p>
            <a:pPr marL="0" indent="0" algn="just">
              <a:buNone/>
            </a:pPr>
            <a:r>
              <a:rPr lang="en-US" dirty="0" smtClean="0"/>
              <a:t>In </a:t>
            </a:r>
            <a:r>
              <a:rPr lang="en-US" dirty="0"/>
              <a:t>this declaration, The compiler will set the array size to the total number </a:t>
            </a:r>
            <a:r>
              <a:rPr lang="en-US" dirty="0" smtClean="0"/>
              <a:t>of initial </a:t>
            </a:r>
            <a:r>
              <a:rPr lang="en-US" dirty="0"/>
              <a:t>values </a:t>
            </a:r>
            <a:r>
              <a:rPr lang="en-US" dirty="0" err="1"/>
              <a:t>i.e</a:t>
            </a:r>
            <a:r>
              <a:rPr lang="en-US" dirty="0"/>
              <a:t> 8. The character will be stored in these memory locations in the order </a:t>
            </a:r>
            <a:r>
              <a:rPr lang="en-US" dirty="0" smtClean="0"/>
              <a:t>specified.</a:t>
            </a:r>
          </a:p>
          <a:p>
            <a:pPr marL="0" indent="0" algn="just">
              <a:buNone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737" y="5330153"/>
            <a:ext cx="648652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5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 string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4) Array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a String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indent="0" algn="just">
              <a:buNone/>
            </a:pPr>
            <a:r>
              <a:rPr lang="en-US" dirty="0" smtClean="0"/>
              <a:t>Consider </a:t>
            </a:r>
            <a:r>
              <a:rPr lang="en-US" dirty="0"/>
              <a:t>the declaration with string initialization.</a:t>
            </a:r>
          </a:p>
          <a:p>
            <a:pPr marL="0" indent="0" algn="just">
              <a:buNone/>
            </a:pPr>
            <a:r>
              <a:rPr lang="en-US" dirty="0"/>
              <a:t>char b[ ] = “COMPUTER</a:t>
            </a:r>
            <a:r>
              <a:rPr lang="en-US" dirty="0" smtClean="0"/>
              <a:t>”;</a:t>
            </a:r>
          </a:p>
          <a:p>
            <a:pPr marL="0" indent="0" algn="just">
              <a:buNone/>
            </a:pPr>
            <a:r>
              <a:rPr lang="en-US" dirty="0"/>
              <a:t>Here, the string length is 8 bytes. But , string size is 9 bytes. So the compiler </a:t>
            </a:r>
            <a:r>
              <a:rPr lang="en-US" dirty="0" smtClean="0"/>
              <a:t>reserves 8+1 </a:t>
            </a:r>
            <a:r>
              <a:rPr lang="en-US" dirty="0"/>
              <a:t>memory locations and these locations are initialized with the characters in the </a:t>
            </a:r>
            <a:r>
              <a:rPr lang="en-US" dirty="0" smtClean="0"/>
              <a:t>order specified</a:t>
            </a:r>
            <a:r>
              <a:rPr lang="en-US" dirty="0"/>
              <a:t>. The string is terminated by \0 by the compiler.</a:t>
            </a:r>
          </a:p>
        </p:txBody>
      </p:sp>
    </p:spTree>
    <p:extLst>
      <p:ext uri="{BB962C8B-B14F-4D97-AF65-F5344CB8AC3E}">
        <p14:creationId xmlns:p14="http://schemas.microsoft.com/office/powerpoint/2010/main" val="112108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Initializing Array string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4) Array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a String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string “COMPUTER” </a:t>
            </a:r>
            <a:r>
              <a:rPr lang="en-US" dirty="0" err="1"/>
              <a:t>contin</a:t>
            </a:r>
            <a:r>
              <a:rPr lang="en-US" dirty="0"/>
              <a:t> 8 </a:t>
            </a:r>
            <a:r>
              <a:rPr lang="en-US" dirty="0" err="1"/>
              <a:t>charactes</a:t>
            </a:r>
            <a:r>
              <a:rPr lang="en-US" dirty="0"/>
              <a:t>, because it is a string. It always ends </a:t>
            </a:r>
            <a:r>
              <a:rPr lang="en-US" dirty="0" smtClean="0"/>
              <a:t>with null </a:t>
            </a:r>
            <a:r>
              <a:rPr lang="en-US" dirty="0"/>
              <a:t>character. So, the array is 9 bytes (</a:t>
            </a:r>
            <a:r>
              <a:rPr lang="en-US" dirty="0" err="1"/>
              <a:t>i.e</a:t>
            </a:r>
            <a:r>
              <a:rPr lang="en-US" dirty="0"/>
              <a:t> string length+1 byte for null character).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76399"/>
            <a:ext cx="6705600" cy="167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6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Reading strings: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If we declare a string by writing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[100];</a:t>
            </a:r>
          </a:p>
          <a:p>
            <a:pPr marL="0" indent="0" algn="just">
              <a:buNone/>
            </a:pPr>
            <a:r>
              <a:rPr lang="en-US" dirty="0"/>
              <a:t>then </a:t>
            </a:r>
            <a:r>
              <a:rPr lang="en-US" dirty="0" err="1"/>
              <a:t>str</a:t>
            </a:r>
            <a:r>
              <a:rPr lang="en-US" dirty="0"/>
              <a:t> can be read from the user by using three ways;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Using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function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Using gets() function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Using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getchar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(),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(), or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function repeatedly</a:t>
            </a:r>
          </a:p>
        </p:txBody>
      </p:sp>
    </p:spTree>
    <p:extLst>
      <p:ext uri="{BB962C8B-B14F-4D97-AF65-F5344CB8AC3E}">
        <p14:creationId xmlns:p14="http://schemas.microsoft.com/office/powerpoint/2010/main" val="59450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Reading strings: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The string can be read using </a:t>
            </a:r>
            <a:r>
              <a:rPr lang="en-US" dirty="0" err="1"/>
              <a:t>scanf</a:t>
            </a:r>
            <a:r>
              <a:rPr lang="en-US" dirty="0"/>
              <a:t>() by writing</a:t>
            </a:r>
          </a:p>
          <a:p>
            <a:pPr marL="0" indent="0" algn="just">
              <a:buNone/>
            </a:pPr>
            <a:r>
              <a:rPr lang="en-US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(“%s</a:t>
            </a:r>
            <a:r>
              <a:rPr lang="en-US" b="1" i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”, </a:t>
            </a:r>
            <a:r>
              <a:rPr lang="en-US" b="1" i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</a:t>
            </a:r>
            <a:r>
              <a:rPr lang="en-US" b="1" i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Although the syntax of </a:t>
            </a:r>
            <a:r>
              <a:rPr lang="en-US" dirty="0" err="1"/>
              <a:t>scanf</a:t>
            </a:r>
            <a:r>
              <a:rPr lang="en-US" dirty="0"/>
              <a:t>() function is well known and easy to use, the main pitfall with </a:t>
            </a:r>
            <a:r>
              <a:rPr lang="en-US" dirty="0" smtClean="0"/>
              <a:t>this function </a:t>
            </a:r>
            <a:r>
              <a:rPr lang="en-US" dirty="0"/>
              <a:t>is that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terminates as soon as it finds a blank space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For </a:t>
            </a:r>
            <a:r>
              <a:rPr lang="en-US" dirty="0"/>
              <a:t>example, if the user </a:t>
            </a:r>
            <a:r>
              <a:rPr lang="en-US" dirty="0" smtClean="0"/>
              <a:t>enters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en-US" dirty="0"/>
              <a:t>, then </a:t>
            </a:r>
            <a:r>
              <a:rPr lang="en-US" dirty="0" err="1"/>
              <a:t>str</a:t>
            </a:r>
            <a:r>
              <a:rPr lang="en-US" dirty="0"/>
              <a:t> will contain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</a:t>
            </a:r>
            <a:r>
              <a:rPr lang="en-US" dirty="0">
                <a:solidFill>
                  <a:srgbClr val="0000CC"/>
                </a:solidFill>
              </a:rPr>
              <a:t> Hello</a:t>
            </a:r>
            <a:r>
              <a:rPr lang="en-US" dirty="0"/>
              <a:t>. This is because the moment a blank space </a:t>
            </a:r>
            <a:r>
              <a:rPr lang="en-US" dirty="0" smtClean="0"/>
              <a:t>is encountered</a:t>
            </a:r>
            <a:r>
              <a:rPr lang="en-US" dirty="0"/>
              <a:t>, the string is terminated by the </a:t>
            </a:r>
            <a:r>
              <a:rPr lang="en-US" dirty="0" err="1"/>
              <a:t>scanf</a:t>
            </a:r>
            <a:r>
              <a:rPr lang="en-US" dirty="0"/>
              <a:t>() function.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44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Reading strings: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 smtClean="0"/>
              <a:t>#include </a:t>
            </a:r>
            <a:r>
              <a:rPr lang="en-US" dirty="0"/>
              <a:t>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smtClean="0"/>
              <a:t>void </a:t>
            </a:r>
            <a:r>
              <a:rPr lang="en-US" dirty="0"/>
              <a:t>main </a:t>
            </a:r>
            <a:r>
              <a:rPr lang="en-US" dirty="0" smtClean="0"/>
              <a:t>()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char </a:t>
            </a:r>
            <a:r>
              <a:rPr lang="en-US" dirty="0" err="1"/>
              <a:t>ch</a:t>
            </a:r>
            <a:r>
              <a:rPr lang="en-US" dirty="0"/>
              <a:t>[13]={'c', 'p', 'r', 'o', 'g', 'r', 'a', 'm', 'm', </a:t>
            </a:r>
            <a:r>
              <a:rPr lang="en-US" dirty="0" smtClean="0"/>
              <a:t>‘</a:t>
            </a:r>
            <a:r>
              <a:rPr lang="en-US" dirty="0" err="1" smtClean="0"/>
              <a:t>i</a:t>
            </a:r>
            <a:r>
              <a:rPr lang="en-US" dirty="0"/>
              <a:t>', </a:t>
            </a:r>
            <a:r>
              <a:rPr lang="en-US" dirty="0" smtClean="0"/>
              <a:t>‘n’, ‘g’, ‘\0’};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char </a:t>
            </a:r>
            <a:r>
              <a:rPr lang="en-US" dirty="0"/>
              <a:t>ch2[13]="</a:t>
            </a:r>
            <a:r>
              <a:rPr lang="en-US" dirty="0" err="1"/>
              <a:t>cprogramming</a:t>
            </a:r>
            <a:r>
              <a:rPr lang="en-US" dirty="0"/>
              <a:t>";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/>
              <a:t>printf</a:t>
            </a:r>
            <a:r>
              <a:rPr lang="en-US" dirty="0"/>
              <a:t>("Char Array Value is: %s\n", </a:t>
            </a:r>
            <a:r>
              <a:rPr lang="en-US" dirty="0" err="1"/>
              <a:t>ch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/>
              <a:t>printf</a:t>
            </a:r>
            <a:r>
              <a:rPr lang="en-US" dirty="0"/>
              <a:t>("String Literal Value is: %s\n", ch2);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Char Array Value is: </a:t>
            </a:r>
            <a:r>
              <a:rPr lang="en-US" dirty="0" err="1"/>
              <a:t>cprogramming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String Literal Value is: </a:t>
            </a:r>
            <a:r>
              <a:rPr lang="en-US" dirty="0" err="1"/>
              <a:t>cprogramming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813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Reading strings: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name[20];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name: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("%s", name</a:t>
            </a:r>
            <a:r>
              <a:rPr lang="en-US" dirty="0" smtClean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("Your name is %s.", name);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Enter name: Dennis Ritchie</a:t>
            </a:r>
          </a:p>
          <a:p>
            <a:pPr marL="0" indent="0" algn="just">
              <a:buNone/>
            </a:pPr>
            <a:r>
              <a:rPr lang="en-US" dirty="0"/>
              <a:t>Your name is Dennis.</a:t>
            </a:r>
          </a:p>
        </p:txBody>
      </p:sp>
    </p:spTree>
    <p:extLst>
      <p:ext uri="{BB962C8B-B14F-4D97-AF65-F5344CB8AC3E}">
        <p14:creationId xmlns:p14="http://schemas.microsoft.com/office/powerpoint/2010/main" val="66771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Input/output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666"/>
            <a:ext cx="8229600" cy="54094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strings can be read from the keyboard and can be displayed onto the </a:t>
            </a:r>
            <a:r>
              <a:rPr lang="en-US" dirty="0" smtClean="0"/>
              <a:t>monitor using </a:t>
            </a:r>
            <a:r>
              <a:rPr lang="en-US" dirty="0"/>
              <a:t>various functions.</a:t>
            </a:r>
          </a:p>
          <a:p>
            <a:pPr marL="0" indent="0" algn="just">
              <a:buNone/>
            </a:pPr>
            <a:r>
              <a:rPr lang="en-US" dirty="0"/>
              <a:t>The various input and output functions that are associated with can be </a:t>
            </a:r>
            <a:r>
              <a:rPr lang="en-US" dirty="0" smtClean="0"/>
              <a:t>classified as: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96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Input/output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4733" y="1023938"/>
            <a:ext cx="7774533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3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 : </a:t>
            </a:r>
            <a:r>
              <a:rPr lang="en-US" dirty="0" err="1"/>
              <a:t>getchar</a:t>
            </a:r>
            <a:r>
              <a:rPr lang="en-US" dirty="0"/>
              <a:t>() function 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single character can </a:t>
            </a:r>
            <a:r>
              <a:rPr lang="en-US" dirty="0" smtClean="0"/>
              <a:t>be given </a:t>
            </a:r>
            <a:r>
              <a:rPr lang="en-US" dirty="0"/>
              <a:t>to the computer using </a:t>
            </a:r>
            <a:r>
              <a:rPr lang="en-US" dirty="0" smtClean="0"/>
              <a:t>‘C’ </a:t>
            </a:r>
            <a:r>
              <a:rPr lang="en-US" dirty="0"/>
              <a:t>input </a:t>
            </a:r>
            <a:r>
              <a:rPr lang="en-US" dirty="0" smtClean="0"/>
              <a:t>library function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getchar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().</a:t>
            </a:r>
          </a:p>
          <a:p>
            <a:pPr marL="0" indent="0">
              <a:buNone/>
            </a:pPr>
            <a:r>
              <a:rPr lang="en-US" dirty="0"/>
              <a:t>Syntax : char variable=</a:t>
            </a:r>
            <a:r>
              <a:rPr lang="en-US" dirty="0" err="1"/>
              <a:t>getchar</a:t>
            </a:r>
            <a:r>
              <a:rPr lang="en-US" dirty="0" smtClean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err="1"/>
              <a:t>getchar</a:t>
            </a:r>
            <a:r>
              <a:rPr lang="en-US" dirty="0"/>
              <a:t>() function is written in </a:t>
            </a:r>
            <a:r>
              <a:rPr lang="en-US" dirty="0" err="1"/>
              <a:t>standared</a:t>
            </a:r>
            <a:r>
              <a:rPr lang="en-US" dirty="0"/>
              <a:t> I/O library. It reads a single character from </a:t>
            </a:r>
            <a:r>
              <a:rPr lang="en-US" dirty="0" smtClean="0"/>
              <a:t>a </a:t>
            </a:r>
            <a:r>
              <a:rPr lang="en-US" dirty="0" err="1" smtClean="0"/>
              <a:t>standared</a:t>
            </a:r>
            <a:r>
              <a:rPr lang="en-US" dirty="0" smtClean="0"/>
              <a:t> </a:t>
            </a:r>
            <a:r>
              <a:rPr lang="en-US" dirty="0"/>
              <a:t>input device. This function do not require any arguments, through a pair </a:t>
            </a:r>
            <a:r>
              <a:rPr lang="en-US" dirty="0" smtClean="0"/>
              <a:t>of </a:t>
            </a:r>
            <a:r>
              <a:rPr lang="en-US" dirty="0" err="1" smtClean="0"/>
              <a:t>parantheses</a:t>
            </a:r>
            <a:r>
              <a:rPr lang="en-US" dirty="0"/>
              <a:t>, must follow the statements </a:t>
            </a:r>
            <a:r>
              <a:rPr lang="en-US" dirty="0" err="1"/>
              <a:t>getchar</a:t>
            </a:r>
            <a:r>
              <a:rPr lang="en-U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343173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ctype.h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ch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("Enter any character/digit:");</a:t>
            </a:r>
          </a:p>
          <a:p>
            <a:pPr marL="0" indent="0">
              <a:buNone/>
            </a:pPr>
            <a:r>
              <a:rPr lang="en-US" dirty="0" err="1"/>
              <a:t>ch</a:t>
            </a:r>
            <a:r>
              <a:rPr lang="en-US" dirty="0"/>
              <a:t>=</a:t>
            </a:r>
            <a:r>
              <a:rPr lang="en-US" dirty="0" err="1"/>
              <a:t>getchar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isalpha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)&gt;0)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("it is a alphabet:%c\n",</a:t>
            </a:r>
            <a:r>
              <a:rPr lang="en-US" dirty="0" err="1"/>
              <a:t>ch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else if(</a:t>
            </a:r>
            <a:r>
              <a:rPr lang="en-US" dirty="0" err="1"/>
              <a:t>isdigit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)&gt;0)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("it is a digit:%c\n",</a:t>
            </a:r>
            <a:r>
              <a:rPr lang="en-US" dirty="0" err="1"/>
              <a:t>ch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("it is a alphanumeric:%c\n",</a:t>
            </a:r>
            <a:r>
              <a:rPr lang="en-US" dirty="0" err="1"/>
              <a:t>ch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getch</a:t>
            </a:r>
            <a:r>
              <a:rPr lang="en-US" dirty="0" smtClean="0"/>
              <a:t>();</a:t>
            </a:r>
          </a:p>
          <a:p>
            <a:pPr marL="0" indent="0">
              <a:buNone/>
            </a:pPr>
            <a:r>
              <a:rPr lang="en-US" dirty="0"/>
              <a:t>}.</a:t>
            </a:r>
          </a:p>
          <a:p>
            <a:pPr marL="0" indent="0">
              <a:buNone/>
            </a:pPr>
            <a:r>
              <a:rPr lang="en-US" dirty="0"/>
              <a:t>OUTPUT : Enter any character/Digit : </a:t>
            </a:r>
            <a:r>
              <a:rPr lang="en-US" dirty="0" smtClean="0"/>
              <a:t>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is a </a:t>
            </a:r>
            <a:r>
              <a:rPr lang="en-US" dirty="0" smtClean="0"/>
              <a:t>alphabet: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7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 : </a:t>
            </a:r>
            <a:r>
              <a:rPr lang="en-US" dirty="0" err="1"/>
              <a:t>putchar</a:t>
            </a:r>
            <a:r>
              <a:rPr lang="en-US" dirty="0"/>
              <a:t>() function 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 err="1"/>
              <a:t>putchar</a:t>
            </a:r>
            <a:r>
              <a:rPr lang="en-US" dirty="0"/>
              <a:t>() function is used to display one character at a time on </a:t>
            </a:r>
            <a:r>
              <a:rPr lang="en-US" dirty="0" smtClean="0"/>
              <a:t>the </a:t>
            </a:r>
            <a:r>
              <a:rPr lang="en-US" dirty="0" smtClean="0"/>
              <a:t>standard </a:t>
            </a:r>
            <a:r>
              <a:rPr lang="en-US" dirty="0"/>
              <a:t>output device. This function does the reverse operation of the single character </a:t>
            </a:r>
            <a:r>
              <a:rPr lang="en-US" dirty="0" smtClean="0"/>
              <a:t>input function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95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Syntax : </a:t>
            </a:r>
            <a:r>
              <a:rPr lang="en-US" dirty="0" err="1"/>
              <a:t>putchar</a:t>
            </a:r>
            <a:r>
              <a:rPr lang="en-US" dirty="0"/>
              <a:t>(character </a:t>
            </a:r>
            <a:r>
              <a:rPr lang="en-US" dirty="0" err="1"/>
              <a:t>varaiable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ctype.h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ch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("Enter any alphabet either in lower or uppercase:");</a:t>
            </a:r>
          </a:p>
          <a:p>
            <a:pPr marL="0" indent="0">
              <a:buNone/>
            </a:pPr>
            <a:r>
              <a:rPr lang="en-US" dirty="0" err="1"/>
              <a:t>ch</a:t>
            </a:r>
            <a:r>
              <a:rPr lang="en-US" dirty="0"/>
              <a:t>=</a:t>
            </a:r>
            <a:r>
              <a:rPr lang="en-US" dirty="0" err="1"/>
              <a:t>getchar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islower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 err="1"/>
              <a:t>putchar</a:t>
            </a:r>
            <a:r>
              <a:rPr lang="en-US" dirty="0"/>
              <a:t>(</a:t>
            </a:r>
            <a:r>
              <a:rPr lang="en-US" dirty="0" err="1"/>
              <a:t>toupper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));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 err="1"/>
              <a:t>putchar</a:t>
            </a:r>
            <a:r>
              <a:rPr lang="en-US" dirty="0"/>
              <a:t>(</a:t>
            </a:r>
            <a:r>
              <a:rPr lang="en-US" dirty="0" err="1"/>
              <a:t>tolower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));</a:t>
            </a:r>
          </a:p>
          <a:p>
            <a:pPr marL="0" indent="0">
              <a:buNone/>
            </a:pPr>
            <a:r>
              <a:rPr lang="en-US" dirty="0" err="1"/>
              <a:t>getch</a:t>
            </a:r>
            <a:r>
              <a:rPr lang="en-US" dirty="0" smtClean="0"/>
              <a:t>();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smtClean="0"/>
              <a:t>OUTPUT </a:t>
            </a:r>
            <a:r>
              <a:rPr lang="en-US" dirty="0"/>
              <a:t>:Enter any alphabet either in lower or uppercase :a</a:t>
            </a:r>
          </a:p>
          <a:p>
            <a:pPr marL="0" indent="0">
              <a:buNone/>
            </a:pPr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2179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 : gets() :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gets() function is used to read the </a:t>
            </a:r>
            <a:r>
              <a:rPr lang="en-US" dirty="0" smtClean="0"/>
              <a:t>string (String </a:t>
            </a:r>
            <a:r>
              <a:rPr lang="en-US" dirty="0"/>
              <a:t>is a group of characters) from </a:t>
            </a:r>
            <a:r>
              <a:rPr lang="en-US" dirty="0" smtClean="0"/>
              <a:t>the standard </a:t>
            </a:r>
            <a:r>
              <a:rPr lang="en-US" dirty="0"/>
              <a:t>input device (keyboard</a:t>
            </a:r>
            <a:r>
              <a:rPr lang="en-US" dirty="0" smtClean="0"/>
              <a:t>).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 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gets(char type of array variable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[10];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(“Enter a string\n”);</a:t>
            </a:r>
          </a:p>
          <a:p>
            <a:pPr marL="0" indent="0" algn="just">
              <a:buNone/>
            </a:pPr>
            <a:r>
              <a:rPr lang="en-US" dirty="0"/>
              <a:t>gets(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0163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gets() is a function that overcomes </a:t>
            </a:r>
            <a:r>
              <a:rPr lang="en-US" dirty="0" smtClean="0"/>
              <a:t>the drawbacks </a:t>
            </a:r>
            <a:r>
              <a:rPr lang="en-US" dirty="0"/>
              <a:t>of </a:t>
            </a:r>
            <a:r>
              <a:rPr lang="en-US" dirty="0" err="1"/>
              <a:t>scanf</a:t>
            </a:r>
            <a:r>
              <a:rPr lang="en-US" dirty="0"/>
              <a:t>(). The gets() function takes </a:t>
            </a:r>
            <a:r>
              <a:rPr lang="en-US" dirty="0" smtClean="0"/>
              <a:t>the starting </a:t>
            </a:r>
            <a:r>
              <a:rPr lang="en-US" dirty="0"/>
              <a:t>address of the string which will hold the input. The string inputted using gets() </a:t>
            </a:r>
            <a:r>
              <a:rPr lang="en-US" dirty="0" smtClean="0"/>
              <a:t>is automatically </a:t>
            </a:r>
            <a:r>
              <a:rPr lang="en-US" dirty="0"/>
              <a:t>terminated with a null character.</a:t>
            </a:r>
          </a:p>
        </p:txBody>
      </p:sp>
    </p:spTree>
    <p:extLst>
      <p:ext uri="{BB962C8B-B14F-4D97-AF65-F5344CB8AC3E}">
        <p14:creationId xmlns:p14="http://schemas.microsoft.com/office/powerpoint/2010/main" val="255021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gets() is a function that overcomes </a:t>
            </a:r>
            <a:r>
              <a:rPr lang="en-US" dirty="0" smtClean="0"/>
              <a:t>the drawbacks </a:t>
            </a:r>
            <a:r>
              <a:rPr lang="en-US" dirty="0"/>
              <a:t>of </a:t>
            </a:r>
            <a:r>
              <a:rPr lang="en-US" dirty="0" err="1"/>
              <a:t>scanf</a:t>
            </a:r>
            <a:r>
              <a:rPr lang="en-US" dirty="0"/>
              <a:t>(). The gets() function takes </a:t>
            </a:r>
            <a:r>
              <a:rPr lang="en-US" dirty="0" smtClean="0"/>
              <a:t>the starting </a:t>
            </a:r>
            <a:r>
              <a:rPr lang="en-US" dirty="0"/>
              <a:t>address of the string which will hold the input. The string inputted using gets() </a:t>
            </a:r>
            <a:r>
              <a:rPr lang="en-US" dirty="0" smtClean="0"/>
              <a:t>is automatically </a:t>
            </a:r>
            <a:r>
              <a:rPr lang="en-US" dirty="0"/>
              <a:t>terminated with a null character.</a:t>
            </a:r>
          </a:p>
        </p:txBody>
      </p:sp>
    </p:spTree>
    <p:extLst>
      <p:ext uri="{BB962C8B-B14F-4D97-AF65-F5344CB8AC3E}">
        <p14:creationId xmlns:p14="http://schemas.microsoft.com/office/powerpoint/2010/main" val="360110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string can also be read by calling the </a:t>
            </a:r>
            <a:r>
              <a:rPr lang="en-US" dirty="0" err="1"/>
              <a:t>getchar</a:t>
            </a:r>
            <a:r>
              <a:rPr lang="en-US" dirty="0"/>
              <a:t>() repeatedly to read a sequence of </a:t>
            </a:r>
            <a:r>
              <a:rPr lang="en-US" dirty="0" smtClean="0"/>
              <a:t>single characters </a:t>
            </a:r>
            <a:r>
              <a:rPr lang="en-US" dirty="0"/>
              <a:t>(unless a terminating character is encountered) and simultaneously storing it in </a:t>
            </a:r>
            <a:r>
              <a:rPr lang="en-US" dirty="0" smtClean="0"/>
              <a:t>a character </a:t>
            </a:r>
            <a:r>
              <a:rPr lang="en-US" dirty="0"/>
              <a:t>array as follows:</a:t>
            </a:r>
          </a:p>
        </p:txBody>
      </p:sp>
    </p:spTree>
    <p:extLst>
      <p:ext uri="{BB962C8B-B14F-4D97-AF65-F5344CB8AC3E}">
        <p14:creationId xmlns:p14="http://schemas.microsoft.com/office/powerpoint/2010/main" val="280602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7551" y="1066800"/>
            <a:ext cx="5622849" cy="534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0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 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#</a:t>
            </a:r>
            <a:r>
              <a:rPr lang="en-US" dirty="0"/>
              <a:t>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[40];</a:t>
            </a:r>
          </a:p>
          <a:p>
            <a:pPr marL="0" indent="0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("Enter String name:");</a:t>
            </a:r>
          </a:p>
          <a:p>
            <a:pPr marL="0" indent="0">
              <a:buNone/>
            </a:pPr>
            <a:r>
              <a:rPr lang="en-US" dirty="0"/>
              <a:t>gets(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("Print the string </a:t>
            </a:r>
            <a:r>
              <a:rPr lang="en-US" dirty="0" err="1"/>
              <a:t>name%s</a:t>
            </a:r>
            <a:r>
              <a:rPr lang="en-US" dirty="0"/>
              <a:t>:",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/>
              <a:t>OUTPUT : Enter the string : </a:t>
            </a:r>
            <a:r>
              <a:rPr lang="en-US" dirty="0" err="1"/>
              <a:t>reddy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 the string :</a:t>
            </a:r>
            <a:r>
              <a:rPr lang="en-US" dirty="0" err="1"/>
              <a:t>reddy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3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 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#</a:t>
            </a:r>
            <a:r>
              <a:rPr lang="en-US" dirty="0"/>
              <a:t>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[40];</a:t>
            </a:r>
          </a:p>
          <a:p>
            <a:pPr marL="0" indent="0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("Enter String name:");</a:t>
            </a:r>
          </a:p>
          <a:p>
            <a:pPr marL="0" indent="0">
              <a:buNone/>
            </a:pPr>
            <a:r>
              <a:rPr lang="en-US" dirty="0"/>
              <a:t>gets(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("Print the string </a:t>
            </a:r>
            <a:r>
              <a:rPr lang="en-US" dirty="0" err="1"/>
              <a:t>name%s</a:t>
            </a:r>
            <a:r>
              <a:rPr lang="en-US" dirty="0"/>
              <a:t>:",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/>
              <a:t>OUTPUT : Enter the string : </a:t>
            </a:r>
            <a:r>
              <a:rPr lang="en-US" dirty="0" err="1"/>
              <a:t>reddy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 the string :</a:t>
            </a:r>
            <a:r>
              <a:rPr lang="en-US" dirty="0" err="1"/>
              <a:t>reddy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50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string can be displayed on screen using three ways:</a:t>
            </a:r>
          </a:p>
          <a:p>
            <a:pPr marL="0" indent="0">
              <a:buNone/>
            </a:pPr>
            <a:r>
              <a:rPr lang="en-US" dirty="0"/>
              <a:t>1. Using </a:t>
            </a:r>
            <a:r>
              <a:rPr lang="en-US" dirty="0" err="1"/>
              <a:t>printf</a:t>
            </a:r>
            <a:r>
              <a:rPr lang="en-US" dirty="0"/>
              <a:t>() function</a:t>
            </a:r>
          </a:p>
          <a:p>
            <a:pPr marL="0" indent="0">
              <a:buNone/>
            </a:pPr>
            <a:r>
              <a:rPr lang="en-US" dirty="0"/>
              <a:t>2. Using puts() function</a:t>
            </a:r>
          </a:p>
          <a:p>
            <a:pPr marL="0" indent="0">
              <a:buNone/>
            </a:pPr>
            <a:r>
              <a:rPr lang="en-US" dirty="0"/>
              <a:t>3. Using </a:t>
            </a:r>
            <a:r>
              <a:rPr lang="en-US" dirty="0" err="1"/>
              <a:t>putchar</a:t>
            </a:r>
            <a:r>
              <a:rPr lang="en-US" dirty="0"/>
              <a:t>() function repeatedly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string can be displayed using </a:t>
            </a:r>
            <a:r>
              <a:rPr lang="en-US" dirty="0" err="1"/>
              <a:t>pintf</a:t>
            </a:r>
            <a:r>
              <a:rPr lang="en-US" dirty="0"/>
              <a:t>() </a:t>
            </a:r>
            <a:r>
              <a:rPr lang="en-US" dirty="0" smtClean="0"/>
              <a:t>by writing </a:t>
            </a:r>
            <a:r>
              <a:rPr lang="en-US" dirty="0" err="1" smtClean="0"/>
              <a:t>printf</a:t>
            </a:r>
            <a:r>
              <a:rPr lang="en-US" dirty="0"/>
              <a:t>(“%s”,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2618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string can be displayed on screen using three ways:</a:t>
            </a:r>
          </a:p>
          <a:p>
            <a:pPr marL="0" indent="0">
              <a:buNone/>
            </a:pPr>
            <a:r>
              <a:rPr lang="en-US" dirty="0"/>
              <a:t>1. Using </a:t>
            </a:r>
            <a:r>
              <a:rPr lang="en-US" dirty="0" err="1"/>
              <a:t>printf</a:t>
            </a:r>
            <a:r>
              <a:rPr lang="en-US" dirty="0"/>
              <a:t>() function</a:t>
            </a:r>
          </a:p>
          <a:p>
            <a:pPr marL="0" indent="0">
              <a:buNone/>
            </a:pPr>
            <a:r>
              <a:rPr lang="en-US" dirty="0"/>
              <a:t>2. Using puts() function</a:t>
            </a:r>
          </a:p>
          <a:p>
            <a:pPr marL="0" indent="0">
              <a:buNone/>
            </a:pPr>
            <a:r>
              <a:rPr lang="en-US" dirty="0"/>
              <a:t>3. Using </a:t>
            </a:r>
            <a:r>
              <a:rPr lang="en-US" dirty="0" err="1"/>
              <a:t>putchar</a:t>
            </a:r>
            <a:r>
              <a:rPr lang="en-US" dirty="0"/>
              <a:t>() function repeatedly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string can be displayed using </a:t>
            </a:r>
            <a:r>
              <a:rPr lang="en-US" dirty="0" err="1"/>
              <a:t>pintf</a:t>
            </a:r>
            <a:r>
              <a:rPr lang="en-US" dirty="0"/>
              <a:t>() </a:t>
            </a:r>
            <a:r>
              <a:rPr lang="en-US" dirty="0" smtClean="0"/>
              <a:t>by writing </a:t>
            </a:r>
            <a:r>
              <a:rPr lang="en-US" dirty="0" err="1" smtClean="0"/>
              <a:t>printf</a:t>
            </a:r>
            <a:r>
              <a:rPr lang="en-US" dirty="0"/>
              <a:t>(“%s”,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0842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We can use width and precision specification along with %s. The width specifies the </a:t>
            </a:r>
            <a:r>
              <a:rPr lang="en-US" dirty="0" smtClean="0"/>
              <a:t>minimum output </a:t>
            </a:r>
            <a:r>
              <a:rPr lang="en-US" dirty="0"/>
              <a:t>field width and the precision specifies the maximum number of characters to be displayed.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Example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 %5.3s ”, 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0" indent="0" algn="just">
              <a:buNone/>
            </a:pPr>
            <a:r>
              <a:rPr lang="en-US" dirty="0"/>
              <a:t>this statement would print only the first three characters in a total field of five </a:t>
            </a:r>
            <a:r>
              <a:rPr lang="en-US" dirty="0" smtClean="0"/>
              <a:t>characters; also these </a:t>
            </a:r>
            <a:r>
              <a:rPr lang="en-US" dirty="0"/>
              <a:t>three characters are right justified in the allocated width.</a:t>
            </a:r>
          </a:p>
        </p:txBody>
      </p:sp>
    </p:spTree>
    <p:extLst>
      <p:ext uri="{BB962C8B-B14F-4D97-AF65-F5344CB8AC3E}">
        <p14:creationId xmlns:p14="http://schemas.microsoft.com/office/powerpoint/2010/main" val="270380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next method of writing a string is by using the </a:t>
            </a:r>
            <a:r>
              <a:rPr lang="en-US" b="1" dirty="0"/>
              <a:t>puts() function</a:t>
            </a:r>
            <a:r>
              <a:rPr lang="en-US" dirty="0"/>
              <a:t>. The string can be displayed </a:t>
            </a:r>
            <a:r>
              <a:rPr lang="en-US" dirty="0" smtClean="0"/>
              <a:t>by writing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puts(char </a:t>
            </a:r>
            <a:r>
              <a:rPr lang="en-US" dirty="0"/>
              <a:t>type of array variable);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It </a:t>
            </a:r>
            <a:r>
              <a:rPr lang="en-US" dirty="0"/>
              <a:t>terminates the line with a newline character </a:t>
            </a:r>
            <a:r>
              <a:rPr lang="en-US" dirty="0" smtClean="0"/>
              <a:t>(‘\n’). </a:t>
            </a:r>
            <a:r>
              <a:rPr lang="en-US" dirty="0"/>
              <a:t>It returns an EOF(-1) if an error </a:t>
            </a:r>
            <a:r>
              <a:rPr lang="en-US" dirty="0" smtClean="0"/>
              <a:t>occurs and</a:t>
            </a:r>
          </a:p>
          <a:p>
            <a:pPr marL="0" indent="0" algn="just">
              <a:buNone/>
            </a:pPr>
            <a:r>
              <a:rPr lang="en-US" dirty="0" smtClean="0"/>
              <a:t>returns a positive number on success.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30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Program using gets() function and puts() function.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[40</a:t>
            </a:r>
            <a:r>
              <a:rPr lang="en-US" dirty="0" smtClean="0"/>
              <a:t>];</a:t>
            </a:r>
          </a:p>
          <a:p>
            <a:pPr marL="0" indent="0" algn="just">
              <a:buNone/>
            </a:pPr>
            <a:r>
              <a:rPr lang="en-US" dirty="0"/>
              <a:t>puts("Enter String name:");</a:t>
            </a:r>
          </a:p>
          <a:p>
            <a:pPr marL="0" indent="0" algn="just">
              <a:buNone/>
            </a:pPr>
            <a:r>
              <a:rPr lang="en-US" dirty="0"/>
              <a:t>gets(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puts("Print the string name:");</a:t>
            </a:r>
          </a:p>
          <a:p>
            <a:pPr marL="0" indent="0" algn="just">
              <a:buNone/>
            </a:pPr>
            <a:r>
              <a:rPr lang="en-US" dirty="0"/>
              <a:t>puts(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952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 function :The </a:t>
            </a:r>
            <a:r>
              <a:rPr lang="en-US" dirty="0" err="1"/>
              <a:t>getch</a:t>
            </a:r>
            <a:r>
              <a:rPr lang="en-US" dirty="0"/>
              <a:t> function reads a single character directly from the </a:t>
            </a:r>
            <a:r>
              <a:rPr lang="en-US" dirty="0" smtClean="0"/>
              <a:t>keyboard, without </a:t>
            </a:r>
            <a:r>
              <a:rPr lang="en-US" dirty="0"/>
              <a:t>echoing to the screen.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 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c;</a:t>
            </a:r>
          </a:p>
          <a:p>
            <a:pPr marL="0" indent="0" algn="just">
              <a:buNone/>
            </a:pPr>
            <a:r>
              <a:rPr lang="en-US" dirty="0"/>
              <a:t>c=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276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getche</a:t>
            </a:r>
            <a:r>
              <a:rPr lang="en-US" dirty="0"/>
              <a:t>() function :The </a:t>
            </a:r>
            <a:r>
              <a:rPr lang="en-US" dirty="0" err="1"/>
              <a:t>getche</a:t>
            </a:r>
            <a:r>
              <a:rPr lang="en-US" dirty="0"/>
              <a:t>() function reads a single character from the keyboard and </a:t>
            </a:r>
            <a:r>
              <a:rPr lang="en-US" dirty="0" smtClean="0"/>
              <a:t>echoes it </a:t>
            </a:r>
            <a:r>
              <a:rPr lang="en-US" dirty="0"/>
              <a:t>to the current text window.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 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getche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</a:p>
          <a:p>
            <a:pPr marL="0" indent="0" algn="just">
              <a:buNone/>
            </a:pPr>
            <a:r>
              <a:rPr lang="en-US" dirty="0"/>
              <a:t>char c;</a:t>
            </a:r>
          </a:p>
          <a:p>
            <a:pPr marL="0" indent="0" algn="just">
              <a:buNone/>
            </a:pPr>
            <a:r>
              <a:rPr lang="en-US" dirty="0"/>
              <a:t>c=</a:t>
            </a:r>
            <a:r>
              <a:rPr lang="en-US" dirty="0" err="1"/>
              <a:t>getche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033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getc</a:t>
            </a:r>
            <a:r>
              <a:rPr lang="en-US" dirty="0"/>
              <a:t>() function : This function is used to accept a single character from the </a:t>
            </a:r>
            <a:r>
              <a:rPr lang="en-US" dirty="0" err="1"/>
              <a:t>standared</a:t>
            </a:r>
            <a:r>
              <a:rPr lang="en-US" dirty="0"/>
              <a:t> input to a</a:t>
            </a:r>
          </a:p>
          <a:p>
            <a:pPr marL="0" indent="0" algn="just">
              <a:buNone/>
            </a:pPr>
            <a:r>
              <a:rPr lang="en-US" dirty="0"/>
              <a:t>character variable.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character variable=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putc</a:t>
            </a:r>
            <a:r>
              <a:rPr lang="en-US" dirty="0"/>
              <a:t>() function :This function is used to display a single character in a character variable </a:t>
            </a:r>
            <a:r>
              <a:rPr lang="en-US" dirty="0" smtClean="0"/>
              <a:t>to </a:t>
            </a:r>
            <a:r>
              <a:rPr lang="en-US" dirty="0" err="1" smtClean="0"/>
              <a:t>standared</a:t>
            </a:r>
            <a:r>
              <a:rPr lang="en-US" dirty="0" smtClean="0"/>
              <a:t> </a:t>
            </a:r>
            <a:r>
              <a:rPr lang="en-US" dirty="0"/>
              <a:t>output device.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(character variable);</a:t>
            </a:r>
          </a:p>
        </p:txBody>
      </p:sp>
    </p:spTree>
    <p:extLst>
      <p:ext uri="{BB962C8B-B14F-4D97-AF65-F5344CB8AC3E}">
        <p14:creationId xmlns:p14="http://schemas.microsoft.com/office/powerpoint/2010/main" val="221561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Unformated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Finally the string can be written by calling the </a:t>
            </a:r>
            <a:r>
              <a:rPr lang="en-US" dirty="0" err="1"/>
              <a:t>putchar</a:t>
            </a:r>
            <a:r>
              <a:rPr lang="en-US" dirty="0"/>
              <a:t>( ) function repeatedly to print a sequence</a:t>
            </a:r>
          </a:p>
          <a:p>
            <a:pPr marL="0" indent="0" algn="just">
              <a:buNone/>
            </a:pPr>
            <a:r>
              <a:rPr lang="en-US" dirty="0"/>
              <a:t>of single characters.</a:t>
            </a:r>
          </a:p>
          <a:p>
            <a:pPr marL="0" indent="0" algn="just">
              <a:buNone/>
            </a:pPr>
            <a:r>
              <a:rPr lang="en-US" i="1" dirty="0" err="1">
                <a:solidFill>
                  <a:srgbClr val="0000CC"/>
                </a:solidFill>
              </a:rPr>
              <a:t>int</a:t>
            </a:r>
            <a:r>
              <a:rPr lang="en-US" i="1" dirty="0">
                <a:solidFill>
                  <a:srgbClr val="0000CC"/>
                </a:solidFill>
              </a:rPr>
              <a:t> </a:t>
            </a:r>
            <a:r>
              <a:rPr lang="en-US" i="1" dirty="0" err="1">
                <a:solidFill>
                  <a:srgbClr val="0000CC"/>
                </a:solidFill>
              </a:rPr>
              <a:t>i</a:t>
            </a:r>
            <a:r>
              <a:rPr lang="en-US" i="1" dirty="0">
                <a:solidFill>
                  <a:srgbClr val="0000CC"/>
                </a:solidFill>
              </a:rPr>
              <a:t>=0;</a:t>
            </a:r>
          </a:p>
          <a:p>
            <a:pPr marL="0" indent="0" algn="just">
              <a:buNone/>
            </a:pPr>
            <a:r>
              <a:rPr lang="en-US" i="1" dirty="0">
                <a:solidFill>
                  <a:srgbClr val="0000CC"/>
                </a:solidFill>
              </a:rPr>
              <a:t>char </a:t>
            </a:r>
            <a:r>
              <a:rPr lang="en-US" i="1" dirty="0" err="1">
                <a:solidFill>
                  <a:srgbClr val="0000CC"/>
                </a:solidFill>
              </a:rPr>
              <a:t>str</a:t>
            </a:r>
            <a:r>
              <a:rPr lang="en-US" i="1" dirty="0">
                <a:solidFill>
                  <a:srgbClr val="0000CC"/>
                </a:solidFill>
              </a:rPr>
              <a:t>[10];</a:t>
            </a:r>
          </a:p>
          <a:p>
            <a:pPr marL="0" indent="0" algn="just">
              <a:buNone/>
            </a:pPr>
            <a:r>
              <a:rPr lang="en-US" i="1" dirty="0">
                <a:solidFill>
                  <a:srgbClr val="0000CC"/>
                </a:solidFill>
              </a:rPr>
              <a:t>while(</a:t>
            </a:r>
            <a:r>
              <a:rPr lang="en-US" i="1" dirty="0" err="1">
                <a:solidFill>
                  <a:srgbClr val="0000CC"/>
                </a:solidFill>
              </a:rPr>
              <a:t>str</a:t>
            </a:r>
            <a:r>
              <a:rPr lang="en-US" i="1" dirty="0">
                <a:solidFill>
                  <a:srgbClr val="0000CC"/>
                </a:solidFill>
              </a:rPr>
              <a:t>[</a:t>
            </a:r>
            <a:r>
              <a:rPr lang="en-US" i="1" dirty="0" err="1">
                <a:solidFill>
                  <a:srgbClr val="0000CC"/>
                </a:solidFill>
              </a:rPr>
              <a:t>i</a:t>
            </a:r>
            <a:r>
              <a:rPr lang="en-US" i="1" dirty="0">
                <a:solidFill>
                  <a:srgbClr val="0000CC"/>
                </a:solidFill>
              </a:rPr>
              <a:t>]!=’\0’)</a:t>
            </a:r>
          </a:p>
          <a:p>
            <a:pPr marL="0" indent="0" algn="just">
              <a:buNone/>
            </a:pPr>
            <a:r>
              <a:rPr lang="en-US" i="1" dirty="0">
                <a:solidFill>
                  <a:srgbClr val="0000CC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i="1" dirty="0" err="1">
                <a:solidFill>
                  <a:srgbClr val="0000CC"/>
                </a:solidFill>
              </a:rPr>
              <a:t>putchar</a:t>
            </a:r>
            <a:r>
              <a:rPr lang="en-US" i="1" dirty="0">
                <a:solidFill>
                  <a:srgbClr val="0000CC"/>
                </a:solidFill>
              </a:rPr>
              <a:t>(</a:t>
            </a:r>
            <a:r>
              <a:rPr lang="en-US" i="1" dirty="0" err="1">
                <a:solidFill>
                  <a:srgbClr val="0000CC"/>
                </a:solidFill>
              </a:rPr>
              <a:t>str</a:t>
            </a:r>
            <a:r>
              <a:rPr lang="en-US" i="1" dirty="0">
                <a:solidFill>
                  <a:srgbClr val="0000CC"/>
                </a:solidFill>
              </a:rPr>
              <a:t>[</a:t>
            </a:r>
            <a:r>
              <a:rPr lang="en-US" i="1" dirty="0" err="1">
                <a:solidFill>
                  <a:srgbClr val="0000CC"/>
                </a:solidFill>
              </a:rPr>
              <a:t>i</a:t>
            </a:r>
            <a:r>
              <a:rPr lang="en-US" i="1" dirty="0">
                <a:solidFill>
                  <a:srgbClr val="0000CC"/>
                </a:solidFill>
              </a:rPr>
              <a:t>]); // print the character on the screen</a:t>
            </a:r>
          </a:p>
          <a:p>
            <a:pPr marL="0" indent="0" algn="just">
              <a:buNone/>
            </a:pPr>
            <a:r>
              <a:rPr lang="en-US" i="1" dirty="0" err="1">
                <a:solidFill>
                  <a:srgbClr val="0000CC"/>
                </a:solidFill>
              </a:rPr>
              <a:t>i</a:t>
            </a:r>
            <a:r>
              <a:rPr lang="en-US" i="1" dirty="0">
                <a:solidFill>
                  <a:srgbClr val="0000CC"/>
                </a:solidFill>
              </a:rPr>
              <a:t>++;</a:t>
            </a:r>
          </a:p>
          <a:p>
            <a:pPr marL="0" indent="0" algn="just">
              <a:buNone/>
            </a:pPr>
            <a:r>
              <a:rPr lang="en-US" i="1" dirty="0">
                <a:solidFill>
                  <a:srgbClr val="0000CC"/>
                </a:solidFill>
              </a:rPr>
              <a:t>}</a:t>
            </a:r>
            <a:endParaRPr lang="en-US" b="1" i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4017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Manipulation Functions/ String Handling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730875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The various string handling functions that are supported in C language are as </a:t>
            </a:r>
            <a:r>
              <a:rPr lang="en-US" dirty="0" smtClean="0"/>
              <a:t>shown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All </a:t>
            </a:r>
            <a:r>
              <a:rPr lang="en-US" dirty="0"/>
              <a:t>these functions are defined in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string.h</a:t>
            </a:r>
            <a:r>
              <a:rPr lang="en-US" dirty="0"/>
              <a:t> header file.</a:t>
            </a:r>
          </a:p>
          <a:p>
            <a:pPr marL="0" indent="0" algn="just">
              <a:buNone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523707"/>
              </p:ext>
            </p:extLst>
          </p:nvPr>
        </p:nvGraphicFramePr>
        <p:xfrm>
          <a:off x="1143000" y="2001444"/>
          <a:ext cx="6781801" cy="375221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17270">
                  <a:extLst>
                    <a:ext uri="{9D8B030D-6E8A-4147-A177-3AD203B41FA5}">
                      <a16:colId xmlns:a16="http://schemas.microsoft.com/office/drawing/2014/main" xmlns="" val="4263150955"/>
                    </a:ext>
                  </a:extLst>
                </a:gridCol>
                <a:gridCol w="1780223">
                  <a:extLst>
                    <a:ext uri="{9D8B030D-6E8A-4147-A177-3AD203B41FA5}">
                      <a16:colId xmlns:a16="http://schemas.microsoft.com/office/drawing/2014/main" xmlns="" val="4036708076"/>
                    </a:ext>
                  </a:extLst>
                </a:gridCol>
                <a:gridCol w="3984308">
                  <a:extLst>
                    <a:ext uri="{9D8B030D-6E8A-4147-A177-3AD203B41FA5}">
                      <a16:colId xmlns:a16="http://schemas.microsoft.com/office/drawing/2014/main" xmlns="" val="2601468476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40216975"/>
                  </a:ext>
                </a:extLst>
              </a:tr>
              <a:tr h="343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char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strcpy</a:t>
                      </a:r>
                      <a:r>
                        <a:rPr lang="en-US" dirty="0" smtClean="0"/>
                        <a:t>(s1, s2)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Copy string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3126979"/>
                  </a:ext>
                </a:extLst>
              </a:tr>
              <a:tr h="343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char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strcat</a:t>
                      </a:r>
                      <a:r>
                        <a:rPr lang="en-US" dirty="0" smtClean="0"/>
                        <a:t>(s1, s2)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Append string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7564862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int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strcmp</a:t>
                      </a:r>
                      <a:r>
                        <a:rPr lang="en-US" dirty="0" smtClean="0"/>
                        <a:t>(s1, s2)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Compare 2 strings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91825992"/>
                  </a:ext>
                </a:extLst>
              </a:tr>
              <a:tr h="343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int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strlen</a:t>
                      </a:r>
                      <a:r>
                        <a:rPr lang="en-US" dirty="0" smtClean="0"/>
                        <a:t>(s)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 string length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96375123"/>
                  </a:ext>
                </a:extLst>
              </a:tr>
              <a:tr h="343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char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strlwr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str</a:t>
                      </a:r>
                      <a:r>
                        <a:rPr lang="en-US" dirty="0" smtClean="0"/>
                        <a:t>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Converts the string </a:t>
                      </a:r>
                      <a:r>
                        <a:rPr lang="en-US" dirty="0" err="1" smtClean="0"/>
                        <a:t>str</a:t>
                      </a:r>
                      <a:r>
                        <a:rPr lang="en-US" dirty="0" smtClean="0"/>
                        <a:t> to lowercase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2972901"/>
                  </a:ext>
                </a:extLst>
              </a:tr>
              <a:tr h="343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char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strupr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str</a:t>
                      </a:r>
                      <a:r>
                        <a:rPr lang="en-US" dirty="0" smtClean="0"/>
                        <a:t>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Converts the string </a:t>
                      </a:r>
                      <a:r>
                        <a:rPr lang="en-US" dirty="0" err="1" smtClean="0"/>
                        <a:t>str</a:t>
                      </a:r>
                      <a:r>
                        <a:rPr lang="en-US" dirty="0" smtClean="0"/>
                        <a:t> to uppercase.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2685178"/>
                  </a:ext>
                </a:extLst>
              </a:tr>
              <a:tr h="343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char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strrev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str</a:t>
                      </a:r>
                      <a:r>
                        <a:rPr lang="en-US" dirty="0" smtClean="0"/>
                        <a:t>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Reverse the string str.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3344343"/>
                  </a:ext>
                </a:extLst>
              </a:tr>
              <a:tr h="343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char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strchr</a:t>
                      </a:r>
                      <a:r>
                        <a:rPr lang="en-US" dirty="0" smtClean="0"/>
                        <a:t>(s, </a:t>
                      </a:r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c)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 a character in string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2387782"/>
                  </a:ext>
                </a:extLst>
              </a:tr>
              <a:tr h="343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char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strstr</a:t>
                      </a:r>
                      <a:r>
                        <a:rPr lang="en-US" dirty="0" smtClean="0"/>
                        <a:t>(s1, s2)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 string s2 in string s1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390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10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It is used to copy one string to another string.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content of the second string is copied to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content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first string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  </a:t>
            </a:r>
            <a:r>
              <a:rPr lang="en-US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(string 1, string 2</a:t>
            </a: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0" indent="0" algn="just">
              <a:buNone/>
            </a:pP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</a:t>
            </a:r>
          </a:p>
          <a:p>
            <a:pPr marL="0" indent="0" algn="just">
              <a:buNone/>
            </a:pP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string1 : is the destination string.</a:t>
            </a:r>
          </a:p>
          <a:p>
            <a:pPr marL="0" indent="0" algn="just">
              <a:buNone/>
            </a:pP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2: is the source string.</a:t>
            </a:r>
          </a:p>
          <a:p>
            <a:pPr marL="0" indent="0" algn="just">
              <a:buNone/>
            </a:pP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i.e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contents of string2 is assigned to the contents of string1</a:t>
            </a:r>
          </a:p>
        </p:txBody>
      </p:sp>
    </p:spTree>
    <p:extLst>
      <p:ext uri="{BB962C8B-B14F-4D97-AF65-F5344CB8AC3E}">
        <p14:creationId xmlns:p14="http://schemas.microsoft.com/office/powerpoint/2010/main" val="290459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Ex : </a:t>
            </a:r>
            <a:r>
              <a:rPr lang="en-US" dirty="0" err="1"/>
              <a:t>Progrm</a:t>
            </a:r>
            <a:r>
              <a:rPr lang="en-US" dirty="0"/>
              <a:t> using </a:t>
            </a:r>
            <a:r>
              <a:rPr lang="en-US" dirty="0" err="1"/>
              <a:t>strcpy</a:t>
            </a:r>
            <a:r>
              <a:rPr lang="en-US" dirty="0"/>
              <a:t>() function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</a:p>
          <a:p>
            <a:pPr marL="0" indent="0" algn="just">
              <a:buNone/>
            </a:pPr>
            <a:r>
              <a:rPr lang="en-US" i="1" dirty="0"/>
              <a:t>char str1</a:t>
            </a:r>
            <a:r>
              <a:rPr lang="en-US" i="1" dirty="0" smtClean="0"/>
              <a:t>[]=“CODING";</a:t>
            </a:r>
            <a:endParaRPr lang="en-US" i="1" dirty="0"/>
          </a:p>
          <a:p>
            <a:pPr marL="0" indent="0" algn="just">
              <a:buNone/>
            </a:pPr>
            <a:r>
              <a:rPr lang="en-US" i="1" dirty="0"/>
              <a:t>char str2[10];</a:t>
            </a:r>
          </a:p>
          <a:p>
            <a:pPr marL="0" indent="0" algn="just">
              <a:buNone/>
            </a:pPr>
            <a:r>
              <a:rPr lang="en-US" i="1" dirty="0" err="1"/>
              <a:t>strcpy</a:t>
            </a:r>
            <a:r>
              <a:rPr lang="en-US" i="1" dirty="0"/>
              <a:t>(str2,str1);</a:t>
            </a:r>
          </a:p>
          <a:p>
            <a:pPr marL="0" indent="0" algn="just">
              <a:buNone/>
            </a:pPr>
            <a:r>
              <a:rPr lang="en-US" i="1" dirty="0" err="1"/>
              <a:t>printf</a:t>
            </a:r>
            <a:r>
              <a:rPr lang="en-US" i="1" dirty="0"/>
              <a:t>("The string1 is :%s\n",str1);</a:t>
            </a:r>
          </a:p>
          <a:p>
            <a:pPr marL="0" indent="0" algn="just">
              <a:buNone/>
            </a:pPr>
            <a:r>
              <a:rPr lang="en-US" i="1" dirty="0" err="1"/>
              <a:t>printf</a:t>
            </a:r>
            <a:r>
              <a:rPr lang="en-US" i="1" dirty="0"/>
              <a:t>("The string2 is :%s\n",str2);</a:t>
            </a:r>
          </a:p>
          <a:p>
            <a:pPr marL="0" indent="0" algn="just">
              <a:buNone/>
            </a:pPr>
            <a:r>
              <a:rPr lang="en-US" i="1" dirty="0" err="1"/>
              <a:t>strcpy</a:t>
            </a:r>
            <a:r>
              <a:rPr lang="en-US" i="1" dirty="0"/>
              <a:t>(str2,str1+1);</a:t>
            </a:r>
          </a:p>
          <a:p>
            <a:pPr marL="0" indent="0" algn="just">
              <a:buNone/>
            </a:pPr>
            <a:r>
              <a:rPr lang="en-US" i="1" dirty="0" err="1"/>
              <a:t>printf</a:t>
            </a:r>
            <a:r>
              <a:rPr lang="en-US" i="1" dirty="0"/>
              <a:t>("The string1 is :%s\n",str1);</a:t>
            </a:r>
          </a:p>
          <a:p>
            <a:pPr marL="0" indent="0" algn="just">
              <a:buNone/>
            </a:pPr>
            <a:r>
              <a:rPr lang="en-US" i="1" dirty="0" err="1"/>
              <a:t>printf</a:t>
            </a:r>
            <a:r>
              <a:rPr lang="en-US" i="1" dirty="0"/>
              <a:t>("The string2 is :%s",str2);</a:t>
            </a:r>
          </a:p>
          <a:p>
            <a:pPr marL="0" indent="0" algn="just">
              <a:buNone/>
            </a:pPr>
            <a:r>
              <a:rPr lang="en-US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152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OUTPUT :</a:t>
            </a:r>
          </a:p>
          <a:p>
            <a:pPr marL="0" indent="0" algn="just">
              <a:buNone/>
            </a:pPr>
            <a:r>
              <a:rPr lang="en-US" dirty="0"/>
              <a:t>The string1 is : </a:t>
            </a:r>
            <a:r>
              <a:rPr lang="en-US" dirty="0" smtClean="0"/>
              <a:t>CODING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The string2 is : </a:t>
            </a:r>
            <a:r>
              <a:rPr lang="en-US" dirty="0" smtClean="0"/>
              <a:t>CODING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The string1 is : CODING</a:t>
            </a:r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string2 is : </a:t>
            </a:r>
            <a:r>
              <a:rPr lang="en-US" dirty="0" smtClean="0"/>
              <a:t>ODING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94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Write </a:t>
            </a:r>
            <a:r>
              <a:rPr lang="en-US" dirty="0"/>
              <a:t>a program to copy contents of one string to another string.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str1[10],str2[20];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index;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the string\n");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(“%s”,str1);</a:t>
            </a:r>
          </a:p>
          <a:p>
            <a:pPr marL="0" indent="0" algn="just">
              <a:buNone/>
            </a:pPr>
            <a:r>
              <a:rPr lang="en-US" dirty="0"/>
              <a:t>for(index=0;str1[index]!='\0</a:t>
            </a:r>
            <a:r>
              <a:rPr lang="en-US" dirty="0" smtClean="0"/>
              <a:t>';index++)</a:t>
            </a:r>
          </a:p>
          <a:p>
            <a:pPr marL="0" indent="0" algn="just">
              <a:buNone/>
            </a:pPr>
            <a:r>
              <a:rPr lang="en-US" dirty="0"/>
              <a:t>str2[index]=str1[index];</a:t>
            </a:r>
          </a:p>
          <a:p>
            <a:pPr marL="0" indent="0" algn="just">
              <a:buNone/>
            </a:pPr>
            <a:r>
              <a:rPr lang="en-US" dirty="0"/>
              <a:t>str2[index]='\0';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("String1 is :%s\n",str1);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("String2 is :%s\n",str2);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98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OUTPUT :</a:t>
            </a:r>
          </a:p>
          <a:p>
            <a:pPr marL="0" indent="0" algn="just">
              <a:buNone/>
            </a:pPr>
            <a:r>
              <a:rPr lang="en-US" dirty="0"/>
              <a:t>Enter the string : </a:t>
            </a:r>
            <a:r>
              <a:rPr lang="en-US" dirty="0" err="1"/>
              <a:t>cprogramming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String1 is : </a:t>
            </a:r>
            <a:r>
              <a:rPr lang="en-US" dirty="0" err="1"/>
              <a:t>cprogramming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String2 is : </a:t>
            </a:r>
            <a:r>
              <a:rPr lang="en-US" dirty="0" err="1"/>
              <a:t>cprogramming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0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String </a:t>
            </a:r>
            <a:r>
              <a:rPr lang="en-US" dirty="0" err="1"/>
              <a:t>Comparision</a:t>
            </a:r>
            <a:r>
              <a:rPr lang="en-US" dirty="0"/>
              <a:t> </a:t>
            </a:r>
            <a:r>
              <a:rPr lang="en-US" dirty="0" smtClean="0"/>
              <a:t>:This </a:t>
            </a:r>
            <a:r>
              <a:rPr lang="en-US" dirty="0"/>
              <a:t>function is used to compares two </a:t>
            </a:r>
            <a:r>
              <a:rPr lang="en-US" dirty="0" smtClean="0"/>
              <a:t>strings to </a:t>
            </a:r>
            <a:r>
              <a:rPr lang="en-US" dirty="0"/>
              <a:t>find out whether they are same or different. If two strings are compared character by </a:t>
            </a:r>
            <a:r>
              <a:rPr lang="en-US" dirty="0" smtClean="0"/>
              <a:t>character until </a:t>
            </a:r>
            <a:r>
              <a:rPr lang="en-US" dirty="0"/>
              <a:t>the end of one of the string is reached. If the two strings are same </a:t>
            </a:r>
            <a:r>
              <a:rPr lang="en-US" dirty="0" err="1"/>
              <a:t>strcmp</a:t>
            </a:r>
            <a:r>
              <a:rPr lang="en-US" dirty="0"/>
              <a:t>() returns a </a:t>
            </a:r>
            <a:r>
              <a:rPr lang="en-US" dirty="0" smtClean="0"/>
              <a:t>value zero</a:t>
            </a:r>
            <a:r>
              <a:rPr lang="en-US" dirty="0"/>
              <a:t>. If they are not equal, it returns the numeric difference between the first </a:t>
            </a:r>
            <a:r>
              <a:rPr lang="en-US" dirty="0" smtClean="0"/>
              <a:t>non-matching characters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(string1,string2);</a:t>
            </a:r>
          </a:p>
        </p:txBody>
      </p:sp>
    </p:spTree>
    <p:extLst>
      <p:ext uri="{BB962C8B-B14F-4D97-AF65-F5344CB8AC3E}">
        <p14:creationId xmlns:p14="http://schemas.microsoft.com/office/powerpoint/2010/main" val="74556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Program using </a:t>
            </a:r>
            <a:r>
              <a:rPr lang="en-US" dirty="0" err="1"/>
              <a:t>strcmp</a:t>
            </a:r>
            <a:r>
              <a:rPr lang="en-US" dirty="0"/>
              <a:t>() function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str1[]="</a:t>
            </a:r>
            <a:r>
              <a:rPr lang="en-US" dirty="0" err="1"/>
              <a:t>reddy</a:t>
            </a:r>
            <a:r>
              <a:rPr lang="en-US" dirty="0"/>
              <a:t>";</a:t>
            </a:r>
          </a:p>
          <a:p>
            <a:pPr marL="0" indent="0" algn="just">
              <a:buNone/>
            </a:pPr>
            <a:r>
              <a:rPr lang="en-US" dirty="0"/>
              <a:t>char str2[]="</a:t>
            </a:r>
            <a:r>
              <a:rPr lang="en-US" dirty="0" err="1"/>
              <a:t>reddy</a:t>
            </a:r>
            <a:r>
              <a:rPr lang="en-US" dirty="0"/>
              <a:t>";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i,j,k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strcmp</a:t>
            </a:r>
            <a:r>
              <a:rPr lang="en-US" dirty="0"/>
              <a:t>(str1,str2);</a:t>
            </a:r>
          </a:p>
          <a:p>
            <a:pPr marL="0" indent="0" algn="just">
              <a:buNone/>
            </a:pPr>
            <a:r>
              <a:rPr lang="en-US" dirty="0"/>
              <a:t>j=</a:t>
            </a:r>
            <a:r>
              <a:rPr lang="en-US" dirty="0" err="1"/>
              <a:t>strcmp</a:t>
            </a:r>
            <a:r>
              <a:rPr lang="en-US" dirty="0"/>
              <a:t>(str1,"subba");</a:t>
            </a:r>
          </a:p>
          <a:p>
            <a:pPr marL="0" indent="0" algn="just">
              <a:buNone/>
            </a:pPr>
            <a:r>
              <a:rPr lang="en-US" dirty="0"/>
              <a:t>k=</a:t>
            </a:r>
            <a:r>
              <a:rPr lang="en-US" dirty="0" err="1"/>
              <a:t>strcmp</a:t>
            </a:r>
            <a:r>
              <a:rPr lang="en-US" dirty="0"/>
              <a:t>(str2,"Subba");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("%5d%5d%5d\n",</a:t>
            </a:r>
            <a:r>
              <a:rPr lang="en-US" dirty="0" err="1"/>
              <a:t>i,j,k</a:t>
            </a:r>
            <a:r>
              <a:rPr lang="en-US" dirty="0" smtClean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: 0 -1 32</a:t>
            </a:r>
          </a:p>
        </p:txBody>
      </p:sp>
    </p:spTree>
    <p:extLst>
      <p:ext uri="{BB962C8B-B14F-4D97-AF65-F5344CB8AC3E}">
        <p14:creationId xmlns:p14="http://schemas.microsoft.com/office/powerpoint/2010/main" val="245155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Write a C program to find the </a:t>
            </a:r>
            <a:r>
              <a:rPr lang="en-US" dirty="0" err="1"/>
              <a:t>comparision</a:t>
            </a:r>
            <a:r>
              <a:rPr lang="en-US" dirty="0"/>
              <a:t> of two strings.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str1[10],str2[20];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index,l1,l2,flag=1;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first string:");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("%s",str1);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second string:");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("%s",str2);</a:t>
            </a:r>
          </a:p>
          <a:p>
            <a:pPr marL="0" indent="0" algn="just">
              <a:buNone/>
            </a:pPr>
            <a:r>
              <a:rPr lang="en-US" dirty="0"/>
              <a:t>l1=</a:t>
            </a:r>
            <a:r>
              <a:rPr lang="en-US" dirty="0" err="1"/>
              <a:t>strlen</a:t>
            </a:r>
            <a:r>
              <a:rPr lang="en-US" dirty="0"/>
              <a:t>(str1);</a:t>
            </a:r>
          </a:p>
          <a:p>
            <a:pPr marL="0" indent="0" algn="just">
              <a:buNone/>
            </a:pPr>
            <a:r>
              <a:rPr lang="en-US" dirty="0"/>
              <a:t>l2=</a:t>
            </a:r>
            <a:r>
              <a:rPr lang="en-US" dirty="0" err="1"/>
              <a:t>strlen</a:t>
            </a:r>
            <a:r>
              <a:rPr lang="en-US" dirty="0"/>
              <a:t>(str2);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("Length of string1:%d\n",l1);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("Length of string2:%d\n",l2</a:t>
            </a:r>
            <a:r>
              <a:rPr lang="en-US" dirty="0" smtClean="0"/>
              <a:t>);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141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/>
              <a:t>if(l1==l2)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	for(index=0;str1[index</a:t>
            </a:r>
            <a:r>
              <a:rPr lang="en-US" dirty="0"/>
              <a:t>]!='\0';index++)</a:t>
            </a:r>
          </a:p>
          <a:p>
            <a:pPr marL="0" indent="0" algn="just">
              <a:buNone/>
            </a:pPr>
            <a:r>
              <a:rPr lang="en-US" dirty="0" smtClean="0"/>
              <a:t>	{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	if(str1[index</a:t>
            </a:r>
            <a:r>
              <a:rPr lang="en-US" dirty="0"/>
              <a:t>]!=str2[index])</a:t>
            </a:r>
          </a:p>
          <a:p>
            <a:pPr marL="0" indent="0" algn="just">
              <a:buNone/>
            </a:pPr>
            <a:r>
              <a:rPr lang="en-US" dirty="0" smtClean="0"/>
              <a:t>		{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		flag=0;</a:t>
            </a:r>
          </a:p>
          <a:p>
            <a:pPr marL="0" indent="0" algn="just">
              <a:buNone/>
            </a:pPr>
            <a:r>
              <a:rPr lang="en-US" dirty="0" smtClean="0"/>
              <a:t>			break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		}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}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else</a:t>
            </a:r>
          </a:p>
          <a:p>
            <a:pPr marL="400050" lvl="1" indent="0" algn="just">
              <a:buNone/>
            </a:pPr>
            <a:r>
              <a:rPr lang="en-US" dirty="0"/>
              <a:t>flag=0;</a:t>
            </a:r>
          </a:p>
          <a:p>
            <a:pPr marL="0" indent="0" algn="just">
              <a:buNone/>
            </a:pPr>
            <a:r>
              <a:rPr lang="en-US" dirty="0"/>
              <a:t>if(flag==1)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("Strings are equal");</a:t>
            </a:r>
          </a:p>
          <a:p>
            <a:pPr marL="0" indent="0" algn="just">
              <a:buNone/>
            </a:pPr>
            <a:r>
              <a:rPr lang="en-US" dirty="0"/>
              <a:t>else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("Strings are not equal");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948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OUTPUT : Enter the first string :</a:t>
            </a:r>
            <a:r>
              <a:rPr lang="en-US" dirty="0" err="1"/>
              <a:t>jbrec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Enter the second </a:t>
            </a:r>
            <a:r>
              <a:rPr lang="en-US" dirty="0" err="1"/>
              <a:t>string:jbrec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Length of string1 :5</a:t>
            </a:r>
          </a:p>
          <a:p>
            <a:pPr marL="0" indent="0" algn="just">
              <a:buNone/>
            </a:pPr>
            <a:r>
              <a:rPr lang="en-US" dirty="0"/>
              <a:t>Length of string2 :5</a:t>
            </a:r>
          </a:p>
          <a:p>
            <a:pPr marL="0" indent="0" algn="just">
              <a:buNone/>
            </a:pPr>
            <a:r>
              <a:rPr lang="en-US" dirty="0"/>
              <a:t>Strings are equal</a:t>
            </a:r>
          </a:p>
        </p:txBody>
      </p:sp>
    </p:spTree>
    <p:extLst>
      <p:ext uri="{BB962C8B-B14F-4D97-AF65-F5344CB8AC3E}">
        <p14:creationId xmlns:p14="http://schemas.microsoft.com/office/powerpoint/2010/main" val="400867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strcat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String Concatenation : This function is used to concatenate </a:t>
            </a:r>
            <a:r>
              <a:rPr lang="en-US" dirty="0" smtClean="0"/>
              <a:t>or combine</a:t>
            </a:r>
            <a:r>
              <a:rPr lang="en-US" dirty="0"/>
              <a:t>, two strings together and forms a new concatenated string.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strcat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(sting1,string2);</a:t>
            </a:r>
          </a:p>
          <a:p>
            <a:pPr marL="0" indent="0" algn="just">
              <a:buNone/>
            </a:pPr>
            <a:r>
              <a:rPr lang="en-US" dirty="0"/>
              <a:t>Where</a:t>
            </a:r>
          </a:p>
          <a:p>
            <a:pPr marL="0" indent="0" algn="just">
              <a:buNone/>
            </a:pPr>
            <a:r>
              <a:rPr lang="en-US" dirty="0"/>
              <a:t>string1 : is the </a:t>
            </a:r>
            <a:r>
              <a:rPr lang="en-US" dirty="0" smtClean="0"/>
              <a:t>first </a:t>
            </a:r>
            <a:r>
              <a:rPr lang="en-US" dirty="0"/>
              <a:t>string1.</a:t>
            </a:r>
          </a:p>
          <a:p>
            <a:pPr marL="0" indent="0" algn="just">
              <a:buNone/>
            </a:pPr>
            <a:r>
              <a:rPr lang="en-US" dirty="0"/>
              <a:t>string2 : is the second string2</a:t>
            </a:r>
          </a:p>
          <a:p>
            <a:pPr marL="0" indent="0" algn="just">
              <a:buNone/>
            </a:pPr>
            <a:r>
              <a:rPr lang="en-US" dirty="0"/>
              <a:t>when the above function is executed, string2 is combined with string1 and </a:t>
            </a:r>
            <a:r>
              <a:rPr lang="en-US" dirty="0" smtClean="0"/>
              <a:t>it removes </a:t>
            </a:r>
            <a:r>
              <a:rPr lang="en-US" dirty="0"/>
              <a:t>the null character (\0) of string1 and places string2 from there.</a:t>
            </a: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271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strcat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73087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Program using </a:t>
            </a:r>
            <a:r>
              <a:rPr lang="en-US" dirty="0" err="1"/>
              <a:t>strcat</a:t>
            </a:r>
            <a:r>
              <a:rPr lang="en-US" dirty="0"/>
              <a:t>() function.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char str1[10]="ICT";</a:t>
            </a:r>
          </a:p>
          <a:p>
            <a:pPr marL="0" indent="0" algn="just">
              <a:buNone/>
            </a:pPr>
            <a:r>
              <a:rPr lang="en-US" dirty="0"/>
              <a:t>char str2[]="Department";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("%s\n",str1);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("%s\n",str2);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("%s\n",</a:t>
            </a:r>
            <a:r>
              <a:rPr lang="en-US" dirty="0" err="1"/>
              <a:t>strcat</a:t>
            </a:r>
            <a:r>
              <a:rPr lang="en-US" dirty="0"/>
              <a:t>(str1,str2));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en-US" b="1" i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ICT</a:t>
            </a: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</a:t>
            </a:r>
          </a:p>
          <a:p>
            <a:pPr marL="0" indent="0" algn="just">
              <a:buNone/>
            </a:pPr>
            <a:r>
              <a:rPr lang="en-US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ICT</a:t>
            </a:r>
            <a:r>
              <a:rPr lang="en-US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</a:t>
            </a: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816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strlen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String Length : This function is used to count and return the number </a:t>
            </a:r>
            <a:r>
              <a:rPr lang="en-US" dirty="0" smtClean="0"/>
              <a:t>of characters </a:t>
            </a:r>
            <a:r>
              <a:rPr lang="en-US" dirty="0"/>
              <a:t>present in a string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</a:t>
            </a:r>
            <a:r>
              <a:rPr lang="en-US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strlen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(string);</a:t>
            </a:r>
          </a:p>
        </p:txBody>
      </p:sp>
    </p:spTree>
    <p:extLst>
      <p:ext uri="{BB962C8B-B14F-4D97-AF65-F5344CB8AC3E}">
        <p14:creationId xmlns:p14="http://schemas.microsoft.com/office/powerpoint/2010/main" val="333222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strlen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/>
              <a:t>Ex : </a:t>
            </a:r>
            <a:r>
              <a:rPr lang="en-US" dirty="0" err="1"/>
              <a:t>Progrm</a:t>
            </a:r>
            <a:r>
              <a:rPr lang="en-US" dirty="0"/>
              <a:t> using </a:t>
            </a:r>
            <a:r>
              <a:rPr lang="en-US" dirty="0" err="1"/>
              <a:t>strlen</a:t>
            </a:r>
            <a:r>
              <a:rPr lang="en-US" dirty="0"/>
              <a:t>() function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name</a:t>
            </a:r>
            <a:r>
              <a:rPr lang="en-US" dirty="0" smtClean="0"/>
              <a:t>[]=“</a:t>
            </a:r>
            <a:r>
              <a:rPr lang="en-US" dirty="0" smtClean="0"/>
              <a:t>ICT</a:t>
            </a:r>
            <a:r>
              <a:rPr lang="en-US" dirty="0" smtClean="0"/>
              <a:t>";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len1,len2;</a:t>
            </a:r>
          </a:p>
          <a:p>
            <a:pPr marL="0" indent="0" algn="just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len1=</a:t>
            </a:r>
            <a:r>
              <a:rPr lang="en-US" dirty="0" err="1"/>
              <a:t>strlen</a:t>
            </a:r>
            <a:r>
              <a:rPr lang="en-US" dirty="0"/>
              <a:t>(name);</a:t>
            </a:r>
          </a:p>
          <a:p>
            <a:pPr marL="0" indent="0" algn="just">
              <a:buNone/>
            </a:pPr>
            <a:r>
              <a:rPr lang="en-US" dirty="0"/>
              <a:t>len2=</a:t>
            </a:r>
            <a:r>
              <a:rPr lang="en-US" dirty="0" err="1"/>
              <a:t>strlen</a:t>
            </a:r>
            <a:r>
              <a:rPr lang="en-US" dirty="0" smtClean="0"/>
              <a:t>(“</a:t>
            </a:r>
            <a:r>
              <a:rPr lang="en-US" dirty="0" smtClean="0"/>
              <a:t>BANGLADESH</a:t>
            </a:r>
            <a:r>
              <a:rPr lang="en-US" dirty="0" smtClean="0"/>
              <a:t>");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("The string length of %s is: %d\n",name,len1);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("The string length of %s is: %d</a:t>
            </a:r>
            <a:r>
              <a:rPr lang="en-US" dirty="0"/>
              <a:t>"," </a:t>
            </a:r>
            <a:r>
              <a:rPr lang="en-US" dirty="0" smtClean="0"/>
              <a:t>BANGLADESH",</a:t>
            </a:r>
            <a:r>
              <a:rPr lang="en-US" dirty="0"/>
              <a:t>len2);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:</a:t>
            </a:r>
          </a:p>
          <a:p>
            <a:pPr marL="0" indent="0" algn="just">
              <a:buNone/>
            </a:pP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string length of </a:t>
            </a: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ICT 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: </a:t>
            </a: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string length of </a:t>
            </a: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BANGLADESH : 10</a:t>
            </a: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981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strllwr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String </a:t>
            </a:r>
            <a:r>
              <a:rPr lang="en-US" dirty="0" err="1"/>
              <a:t>LowerCase</a:t>
            </a:r>
            <a:r>
              <a:rPr lang="en-US" dirty="0"/>
              <a:t> : This function is used to converts upper case letters of </a:t>
            </a:r>
            <a:r>
              <a:rPr lang="en-US" dirty="0" smtClean="0"/>
              <a:t>the string </a:t>
            </a:r>
            <a:r>
              <a:rPr lang="en-US" dirty="0"/>
              <a:t>in to lower case letters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</a:t>
            </a:r>
            <a:r>
              <a:rPr lang="en-US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strlwr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(string);</a:t>
            </a:r>
          </a:p>
        </p:txBody>
      </p:sp>
    </p:spTree>
    <p:extLst>
      <p:ext uri="{BB962C8B-B14F-4D97-AF65-F5344CB8AC3E}">
        <p14:creationId xmlns:p14="http://schemas.microsoft.com/office/powerpoint/2010/main" val="131926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strllwr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 smtClean="0"/>
              <a:t>[]=“ICT";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err="1"/>
              <a:t>strlwr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("The lowercase is :%s\n",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: The lowercase is : </a:t>
            </a:r>
            <a:r>
              <a:rPr lang="en-US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ict</a:t>
            </a: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796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strllwr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Write a program to which converts given string in to lowercase.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[10];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index;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the string:");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("%s",</a:t>
            </a:r>
            <a:r>
              <a:rPr lang="en-US" dirty="0" err="1"/>
              <a:t>str</a:t>
            </a:r>
            <a:r>
              <a:rPr lang="en-US" dirty="0"/>
              <a:t>);</a:t>
            </a: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338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strllwr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for(index=0;str[index]!='\0';index++)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	if(</a:t>
            </a:r>
            <a:r>
              <a:rPr lang="en-US" dirty="0" err="1" smtClean="0"/>
              <a:t>str</a:t>
            </a:r>
            <a:r>
              <a:rPr lang="en-US" dirty="0" smtClean="0"/>
              <a:t>[index</a:t>
            </a:r>
            <a:r>
              <a:rPr lang="en-US" dirty="0"/>
              <a:t>]&gt;='A' &amp;&amp; </a:t>
            </a:r>
            <a:r>
              <a:rPr lang="en-US" dirty="0" err="1"/>
              <a:t>str</a:t>
            </a:r>
            <a:r>
              <a:rPr lang="en-US" dirty="0"/>
              <a:t>[index]&lt;='Z')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str</a:t>
            </a:r>
            <a:r>
              <a:rPr lang="en-US" dirty="0" smtClean="0"/>
              <a:t>[index</a:t>
            </a:r>
            <a:r>
              <a:rPr lang="en-US" dirty="0"/>
              <a:t>]=</a:t>
            </a:r>
            <a:r>
              <a:rPr lang="en-US" dirty="0" err="1"/>
              <a:t>str</a:t>
            </a:r>
            <a:r>
              <a:rPr lang="en-US" dirty="0"/>
              <a:t>[index]+32;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("After </a:t>
            </a:r>
            <a:r>
              <a:rPr lang="en-US" dirty="0" err="1"/>
              <a:t>conversionis</a:t>
            </a:r>
            <a:r>
              <a:rPr lang="en-US" dirty="0"/>
              <a:t> :%s",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OUTPUT :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Enter </a:t>
            </a:r>
            <a:r>
              <a:rPr lang="en-US" b="1" dirty="0">
                <a:solidFill>
                  <a:srgbClr val="FF0000"/>
                </a:solidFill>
              </a:rPr>
              <a:t>the string :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BANGLADESH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After conversion string is 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bangladesh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842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strupr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String </a:t>
            </a:r>
            <a:r>
              <a:rPr lang="en-US" dirty="0" err="1"/>
              <a:t>UpperCase</a:t>
            </a:r>
            <a:r>
              <a:rPr lang="en-US" dirty="0"/>
              <a:t> : This function is used to converts lower case letters of </a:t>
            </a:r>
            <a:r>
              <a:rPr lang="en-US" dirty="0" smtClean="0"/>
              <a:t>the string </a:t>
            </a:r>
            <a:r>
              <a:rPr lang="en-US" dirty="0"/>
              <a:t>in to upper case </a:t>
            </a:r>
            <a:r>
              <a:rPr lang="en-US" dirty="0" smtClean="0"/>
              <a:t>letters.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strupr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(string);</a:t>
            </a:r>
          </a:p>
        </p:txBody>
      </p:sp>
    </p:spTree>
    <p:extLst>
      <p:ext uri="{BB962C8B-B14F-4D97-AF65-F5344CB8AC3E}">
        <p14:creationId xmlns:p14="http://schemas.microsoft.com/office/powerpoint/2010/main" val="221882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strupr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Program using </a:t>
            </a:r>
            <a:r>
              <a:rPr lang="en-US" dirty="0" err="1"/>
              <a:t>strupr</a:t>
            </a:r>
            <a:r>
              <a:rPr lang="en-US" dirty="0"/>
              <a:t>() function.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 smtClean="0"/>
              <a:t>[]=“</a:t>
            </a:r>
            <a:r>
              <a:rPr lang="en-US" dirty="0" err="1" smtClean="0"/>
              <a:t>ict</a:t>
            </a:r>
            <a:r>
              <a:rPr lang="en-US" dirty="0" smtClean="0"/>
              <a:t>";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strupr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UpperCase</a:t>
            </a:r>
            <a:r>
              <a:rPr lang="en-US" dirty="0"/>
              <a:t> is :%s\n",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UpperCase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: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ICT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860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strupr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/>
              <a:t>Write a program to which converts given string in to uppercase.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[10];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index;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the string:");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("%s",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for(index=0;str[index]!='\0';index++)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</a:p>
          <a:p>
            <a:pPr marL="0" indent="0" algn="just">
              <a:buNone/>
            </a:pPr>
            <a:r>
              <a:rPr lang="en-US" dirty="0"/>
              <a:t>if(</a:t>
            </a:r>
            <a:r>
              <a:rPr lang="en-US" dirty="0" err="1"/>
              <a:t>str</a:t>
            </a:r>
            <a:r>
              <a:rPr lang="en-US" dirty="0"/>
              <a:t>[index]&gt;='a' &amp;&amp; </a:t>
            </a:r>
            <a:r>
              <a:rPr lang="en-US" dirty="0" err="1"/>
              <a:t>str</a:t>
            </a:r>
            <a:r>
              <a:rPr lang="en-US" dirty="0"/>
              <a:t>[index]&lt;='z')</a:t>
            </a:r>
          </a:p>
          <a:p>
            <a:pPr marL="0" indent="0" algn="just">
              <a:buNone/>
            </a:pPr>
            <a:r>
              <a:rPr lang="en-US" dirty="0" err="1"/>
              <a:t>str</a:t>
            </a:r>
            <a:r>
              <a:rPr lang="en-US" dirty="0"/>
              <a:t>[index]=</a:t>
            </a:r>
            <a:r>
              <a:rPr lang="en-US" dirty="0" err="1"/>
              <a:t>str</a:t>
            </a:r>
            <a:r>
              <a:rPr lang="en-US" dirty="0"/>
              <a:t>[index]-32;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("After </a:t>
            </a:r>
            <a:r>
              <a:rPr lang="en-US" dirty="0" err="1"/>
              <a:t>conversionis</a:t>
            </a:r>
            <a:r>
              <a:rPr lang="en-US" dirty="0"/>
              <a:t> :%s",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: Enter the string :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conversion string is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44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strrev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String Reverse :This function is used to reverse a string. This function </a:t>
            </a:r>
            <a:r>
              <a:rPr lang="en-US" dirty="0" smtClean="0"/>
              <a:t>takes only </a:t>
            </a:r>
            <a:r>
              <a:rPr lang="en-US" dirty="0"/>
              <a:t>one argument and return one argument.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 </a:t>
            </a:r>
            <a:r>
              <a:rPr lang="en-US" dirty="0"/>
              <a:t>: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strrev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(string);</a:t>
            </a:r>
          </a:p>
        </p:txBody>
      </p:sp>
    </p:spTree>
    <p:extLst>
      <p:ext uri="{BB962C8B-B14F-4D97-AF65-F5344CB8AC3E}">
        <p14:creationId xmlns:p14="http://schemas.microsoft.com/office/powerpoint/2010/main" val="385775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strrev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Ex : Program using </a:t>
            </a:r>
            <a:r>
              <a:rPr lang="en-US" dirty="0" err="1"/>
              <a:t>strrev</a:t>
            </a:r>
            <a:r>
              <a:rPr lang="en-US" dirty="0"/>
              <a:t>() function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char </a:t>
            </a:r>
            <a:r>
              <a:rPr lang="en-US" dirty="0" err="1"/>
              <a:t>str</a:t>
            </a:r>
            <a:r>
              <a:rPr lang="en-US" dirty="0"/>
              <a:t>[20];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the string:");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("%s",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("The string reversed is:%s",</a:t>
            </a:r>
            <a:r>
              <a:rPr lang="en-US" dirty="0" err="1"/>
              <a:t>strrev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: Enter the string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string reversed is : 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ytisrevinu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947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strchr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It is used to find a character in the string and returns the index of occurrence of the character </a:t>
            </a:r>
            <a:r>
              <a:rPr lang="en-US" dirty="0" smtClean="0"/>
              <a:t>for the </a:t>
            </a:r>
            <a:r>
              <a:rPr lang="en-US" b="1" dirty="0">
                <a:solidFill>
                  <a:srgbClr val="0000CC"/>
                </a:solidFill>
              </a:rPr>
              <a:t>first time </a:t>
            </a:r>
            <a:r>
              <a:rPr lang="en-US" dirty="0"/>
              <a:t>in the string.</a:t>
            </a:r>
          </a:p>
          <a:p>
            <a:pPr marL="0" indent="0" algn="just">
              <a:buNone/>
            </a:pP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 </a:t>
            </a:r>
            <a:r>
              <a:rPr lang="en-US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strchr</a:t>
            </a:r>
            <a:r>
              <a:rPr lang="en-US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cstr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mystr</a:t>
            </a:r>
            <a:r>
              <a:rPr lang="en-US" dirty="0"/>
              <a:t>[] = "This is a simple string";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pch</a:t>
            </a:r>
            <a:r>
              <a:rPr lang="en-US" dirty="0"/>
              <a:t> = </a:t>
            </a:r>
            <a:r>
              <a:rPr lang="en-US" dirty="0" err="1"/>
              <a:t>strchr</a:t>
            </a:r>
            <a:r>
              <a:rPr lang="en-US" dirty="0"/>
              <a:t>(</a:t>
            </a:r>
            <a:r>
              <a:rPr lang="en-US" dirty="0" err="1"/>
              <a:t>mystr</a:t>
            </a:r>
            <a:r>
              <a:rPr lang="en-US" dirty="0" smtClean="0"/>
              <a:t>, ‘</a:t>
            </a:r>
            <a:r>
              <a:rPr lang="en-US" dirty="0"/>
              <a:t>s’);</a:t>
            </a:r>
          </a:p>
          <a:p>
            <a:pPr marL="0" indent="0" algn="just">
              <a:buNone/>
            </a:pPr>
            <a:r>
              <a:rPr lang="en-US" dirty="0"/>
              <a:t>The output of </a:t>
            </a:r>
            <a:r>
              <a:rPr lang="en-US" dirty="0" err="1"/>
              <a:t>pch</a:t>
            </a:r>
            <a:r>
              <a:rPr lang="en-US" dirty="0"/>
              <a:t> is </a:t>
            </a:r>
            <a:r>
              <a:rPr lang="en-US" dirty="0" err="1"/>
              <a:t>mystr</a:t>
            </a:r>
            <a:r>
              <a:rPr lang="en-US" dirty="0"/>
              <a:t>[3]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63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strstr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53657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It is used to return the existence of one string inside another string and </a:t>
            </a:r>
            <a:r>
              <a:rPr lang="en-US" b="1" dirty="0">
                <a:solidFill>
                  <a:srgbClr val="0000CC"/>
                </a:solidFill>
              </a:rPr>
              <a:t>it results the starting </a:t>
            </a:r>
            <a:r>
              <a:rPr lang="en-US" b="1" dirty="0" smtClean="0">
                <a:solidFill>
                  <a:srgbClr val="0000CC"/>
                </a:solidFill>
              </a:rPr>
              <a:t>index of </a:t>
            </a:r>
            <a:r>
              <a:rPr lang="en-US" b="1" dirty="0">
                <a:solidFill>
                  <a:srgbClr val="0000CC"/>
                </a:solidFill>
              </a:rPr>
              <a:t>the string.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strstr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(cstr1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cstr2);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Example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mystr</a:t>
            </a:r>
            <a:r>
              <a:rPr lang="en-US" dirty="0"/>
              <a:t>[]="This is a simple string";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pch</a:t>
            </a:r>
            <a:r>
              <a:rPr lang="en-US" dirty="0"/>
              <a:t> = </a:t>
            </a:r>
            <a:r>
              <a:rPr lang="en-US" dirty="0" err="1"/>
              <a:t>strstr</a:t>
            </a:r>
            <a:r>
              <a:rPr lang="en-US" dirty="0"/>
              <a:t>(</a:t>
            </a:r>
            <a:r>
              <a:rPr lang="en-US" dirty="0" err="1"/>
              <a:t>mystr</a:t>
            </a:r>
            <a:r>
              <a:rPr lang="en-US" dirty="0"/>
              <a:t>, “simple”);</a:t>
            </a:r>
          </a:p>
          <a:p>
            <a:pPr marL="0" indent="0" algn="just">
              <a:buNone/>
            </a:pPr>
            <a:r>
              <a:rPr lang="en-US" dirty="0"/>
              <a:t>here </a:t>
            </a:r>
            <a:r>
              <a:rPr lang="en-US" dirty="0" err="1"/>
              <a:t>pch</a:t>
            </a:r>
            <a:r>
              <a:rPr lang="en-US" dirty="0"/>
              <a:t> will point to </a:t>
            </a:r>
            <a:r>
              <a:rPr lang="en-US" dirty="0" err="1" smtClean="0"/>
              <a:t>mystr</a:t>
            </a:r>
            <a:r>
              <a:rPr lang="en-US" dirty="0" smtClean="0"/>
              <a:t>[10]</a:t>
            </a:r>
            <a:endParaRPr 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612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input/output library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932" y="990600"/>
            <a:ext cx="788013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5119</TotalTime>
  <Words>3936</Words>
  <Application>Microsoft Office PowerPoint</Application>
  <PresentationFormat>On-screen Show (4:3)</PresentationFormat>
  <Paragraphs>812</Paragraphs>
  <Slides>75</Slides>
  <Notes>72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Strings</vt:lpstr>
      <vt:lpstr>String Concepts</vt:lpstr>
      <vt:lpstr>String Concepts</vt:lpstr>
      <vt:lpstr>String Concepts</vt:lpstr>
      <vt:lpstr>String Concepts</vt:lpstr>
      <vt:lpstr>String Concepts</vt:lpstr>
      <vt:lpstr>String Concepts</vt:lpstr>
      <vt:lpstr>String Concepts</vt:lpstr>
      <vt:lpstr>String Concepts</vt:lpstr>
      <vt:lpstr>String Concepts</vt:lpstr>
      <vt:lpstr>String Concepts</vt:lpstr>
      <vt:lpstr>Initializing Array string</vt:lpstr>
      <vt:lpstr>Initializing Array string</vt:lpstr>
      <vt:lpstr>Initializing Array string</vt:lpstr>
      <vt:lpstr>Initializing Array string</vt:lpstr>
      <vt:lpstr>Initializing Array string</vt:lpstr>
      <vt:lpstr>Initializing Array string</vt:lpstr>
      <vt:lpstr>Initializing Array string</vt:lpstr>
      <vt:lpstr>Initializing Array string</vt:lpstr>
      <vt:lpstr>Reading strings:</vt:lpstr>
      <vt:lpstr>Reading strings:</vt:lpstr>
      <vt:lpstr>Reading strings:</vt:lpstr>
      <vt:lpstr>Reading strings:</vt:lpstr>
      <vt:lpstr>String Input/output Functions</vt:lpstr>
      <vt:lpstr>String Input/output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Unformated I/O Functions</vt:lpstr>
      <vt:lpstr>String Manipulation Functions/ String Handling Functions</vt:lpstr>
      <vt:lpstr>strcpy()</vt:lpstr>
      <vt:lpstr>strcpy()</vt:lpstr>
      <vt:lpstr>strcpy()</vt:lpstr>
      <vt:lpstr>strcpy()</vt:lpstr>
      <vt:lpstr>strcpy()</vt:lpstr>
      <vt:lpstr>strcmp()</vt:lpstr>
      <vt:lpstr>strcmp()</vt:lpstr>
      <vt:lpstr>strcmp()</vt:lpstr>
      <vt:lpstr>strcmp()</vt:lpstr>
      <vt:lpstr>strcmp()</vt:lpstr>
      <vt:lpstr>strcat()</vt:lpstr>
      <vt:lpstr>strcat()</vt:lpstr>
      <vt:lpstr>strlen()</vt:lpstr>
      <vt:lpstr>strlen()</vt:lpstr>
      <vt:lpstr>strllwr()</vt:lpstr>
      <vt:lpstr>strllwr()</vt:lpstr>
      <vt:lpstr>strllwr()</vt:lpstr>
      <vt:lpstr>strllwr()</vt:lpstr>
      <vt:lpstr>strupr()</vt:lpstr>
      <vt:lpstr>strupr()</vt:lpstr>
      <vt:lpstr>strupr()</vt:lpstr>
      <vt:lpstr>strrev()</vt:lpstr>
      <vt:lpstr>strrev()</vt:lpstr>
      <vt:lpstr>strchr()</vt:lpstr>
      <vt:lpstr>strstr()</vt:lpstr>
      <vt:lpstr>String input/output library functions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540</cp:revision>
  <dcterms:created xsi:type="dcterms:W3CDTF">2019-09-20T11:10:00Z</dcterms:created>
  <dcterms:modified xsi:type="dcterms:W3CDTF">2025-03-12T05:51:31Z</dcterms:modified>
</cp:coreProperties>
</file>