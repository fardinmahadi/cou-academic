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</p:sldMasterIdLst>
  <p:notesMasterIdLst>
    <p:notesMasterId r:id="rId59"/>
  </p:notesMasterIdLst>
  <p:sldIdLst>
    <p:sldId id="463" r:id="rId3"/>
    <p:sldId id="467" r:id="rId4"/>
    <p:sldId id="499" r:id="rId5"/>
    <p:sldId id="645" r:id="rId6"/>
    <p:sldId id="646" r:id="rId7"/>
    <p:sldId id="647" r:id="rId8"/>
    <p:sldId id="648" r:id="rId9"/>
    <p:sldId id="649" r:id="rId10"/>
    <p:sldId id="650" r:id="rId11"/>
    <p:sldId id="651" r:id="rId12"/>
    <p:sldId id="652" r:id="rId13"/>
    <p:sldId id="653" r:id="rId14"/>
    <p:sldId id="656" r:id="rId15"/>
    <p:sldId id="657" r:id="rId16"/>
    <p:sldId id="655" r:id="rId17"/>
    <p:sldId id="658" r:id="rId18"/>
    <p:sldId id="659" r:id="rId19"/>
    <p:sldId id="660" r:id="rId20"/>
    <p:sldId id="661" r:id="rId21"/>
    <p:sldId id="662" r:id="rId22"/>
    <p:sldId id="663" r:id="rId23"/>
    <p:sldId id="664" r:id="rId24"/>
    <p:sldId id="665" r:id="rId25"/>
    <p:sldId id="666" r:id="rId26"/>
    <p:sldId id="667" r:id="rId27"/>
    <p:sldId id="668" r:id="rId28"/>
    <p:sldId id="669" r:id="rId29"/>
    <p:sldId id="670" r:id="rId30"/>
    <p:sldId id="671" r:id="rId31"/>
    <p:sldId id="673" r:id="rId32"/>
    <p:sldId id="672" r:id="rId33"/>
    <p:sldId id="674" r:id="rId34"/>
    <p:sldId id="675" r:id="rId35"/>
    <p:sldId id="676" r:id="rId36"/>
    <p:sldId id="677" r:id="rId37"/>
    <p:sldId id="678" r:id="rId38"/>
    <p:sldId id="679" r:id="rId39"/>
    <p:sldId id="680" r:id="rId40"/>
    <p:sldId id="681" r:id="rId41"/>
    <p:sldId id="682" r:id="rId42"/>
    <p:sldId id="683" r:id="rId43"/>
    <p:sldId id="684" r:id="rId44"/>
    <p:sldId id="685" r:id="rId45"/>
    <p:sldId id="686" r:id="rId46"/>
    <p:sldId id="687" r:id="rId47"/>
    <p:sldId id="688" r:id="rId48"/>
    <p:sldId id="689" r:id="rId49"/>
    <p:sldId id="690" r:id="rId50"/>
    <p:sldId id="691" r:id="rId51"/>
    <p:sldId id="692" r:id="rId52"/>
    <p:sldId id="693" r:id="rId53"/>
    <p:sldId id="694" r:id="rId54"/>
    <p:sldId id="695" r:id="rId55"/>
    <p:sldId id="696" r:id="rId56"/>
    <p:sldId id="697" r:id="rId57"/>
    <p:sldId id="461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6661F"/>
    <a:srgbClr val="03BD57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Lecture-09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An expression is a combination of </a:t>
            </a:r>
            <a:r>
              <a:rPr lang="en-US" sz="3600" dirty="0">
                <a:solidFill>
                  <a:srgbClr val="FF0000"/>
                </a:solidFill>
              </a:rPr>
              <a:t>operators</a:t>
            </a:r>
            <a:r>
              <a:rPr lang="en-US" sz="3600" dirty="0"/>
              <a:t> and </a:t>
            </a:r>
            <a:r>
              <a:rPr lang="en-US" sz="3600" dirty="0">
                <a:solidFill>
                  <a:srgbClr val="0000CC"/>
                </a:solidFill>
              </a:rPr>
              <a:t>operands</a:t>
            </a:r>
            <a:r>
              <a:rPr lang="en-US" sz="3600" dirty="0"/>
              <a:t> which reduces to </a:t>
            </a:r>
            <a:r>
              <a:rPr lang="en-US" sz="3600" dirty="0" smtClean="0"/>
              <a:t>a </a:t>
            </a:r>
            <a:r>
              <a:rPr lang="en-US" sz="3600" b="1" dirty="0" smtClean="0">
                <a:solidFill>
                  <a:srgbClr val="B606BA"/>
                </a:solidFill>
              </a:rPr>
              <a:t>single </a:t>
            </a:r>
            <a:r>
              <a:rPr lang="en-US" sz="3600" b="1" dirty="0">
                <a:solidFill>
                  <a:srgbClr val="B606BA"/>
                </a:solidFill>
              </a:rPr>
              <a:t>value</a:t>
            </a:r>
            <a:r>
              <a:rPr lang="en-US" sz="3600" dirty="0"/>
              <a:t>. An </a:t>
            </a:r>
            <a:r>
              <a:rPr lang="en-US" sz="3600" dirty="0">
                <a:solidFill>
                  <a:srgbClr val="0000CC"/>
                </a:solidFill>
              </a:rPr>
              <a:t>operator </a:t>
            </a:r>
            <a:r>
              <a:rPr lang="en-US" sz="3600" dirty="0" smtClean="0">
                <a:solidFill>
                  <a:srgbClr val="0000CC"/>
                </a:solidFill>
              </a:rPr>
              <a:t>indicates </a:t>
            </a:r>
            <a:r>
              <a:rPr lang="en-US" sz="3600" dirty="0"/>
              <a:t>an </a:t>
            </a:r>
            <a:r>
              <a:rPr lang="en-US" sz="3600" dirty="0">
                <a:solidFill>
                  <a:srgbClr val="0000CC"/>
                </a:solidFill>
              </a:rPr>
              <a:t>operation to be performed </a:t>
            </a:r>
            <a:r>
              <a:rPr lang="en-US" sz="3600" dirty="0"/>
              <a:t>on data that yields a value. </a:t>
            </a:r>
            <a:r>
              <a:rPr lang="en-US" sz="3600" dirty="0" smtClean="0">
                <a:solidFill>
                  <a:srgbClr val="FF0000"/>
                </a:solidFill>
              </a:rPr>
              <a:t>An operand </a:t>
            </a:r>
            <a:r>
              <a:rPr lang="en-US" sz="3600" dirty="0">
                <a:solidFill>
                  <a:srgbClr val="FF0000"/>
                </a:solidFill>
              </a:rPr>
              <a:t>is a data item on which an operation is performed.</a:t>
            </a:r>
            <a:endParaRPr lang="en-US" sz="3600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09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A simple expression contains only one operator.</a:t>
            </a:r>
          </a:p>
          <a:p>
            <a:pPr algn="just"/>
            <a:r>
              <a:rPr lang="en-US" sz="3600" dirty="0"/>
              <a:t>Ex : 3+5 is a simple expression which yields a value 8, </a:t>
            </a:r>
            <a:endParaRPr lang="en-US" sz="3600" dirty="0" smtClean="0"/>
          </a:p>
          <a:p>
            <a:pPr algn="just"/>
            <a:r>
              <a:rPr lang="en-US" sz="3600" dirty="0" smtClean="0"/>
              <a:t>-</a:t>
            </a:r>
            <a:r>
              <a:rPr lang="en-US" sz="3600" dirty="0"/>
              <a:t>a is also a single expression.</a:t>
            </a:r>
          </a:p>
          <a:p>
            <a:pPr algn="just"/>
            <a:r>
              <a:rPr lang="en-US" sz="3600" dirty="0"/>
              <a:t>A </a:t>
            </a:r>
            <a:r>
              <a:rPr lang="en-US" sz="3600" dirty="0">
                <a:solidFill>
                  <a:srgbClr val="0000CC"/>
                </a:solidFill>
              </a:rPr>
              <a:t>complex expression </a:t>
            </a:r>
            <a:r>
              <a:rPr lang="en-US" sz="3600" dirty="0"/>
              <a:t>contain more than one operator</a:t>
            </a:r>
            <a:r>
              <a:rPr lang="en-US" sz="3600" dirty="0" smtClean="0"/>
              <a:t>.</a:t>
            </a:r>
          </a:p>
          <a:p>
            <a:pPr algn="just"/>
            <a:r>
              <a:rPr lang="fr-FR" sz="3600" dirty="0">
                <a:solidFill>
                  <a:srgbClr val="FF0000"/>
                </a:solidFill>
              </a:rPr>
              <a:t>Ex : </a:t>
            </a:r>
            <a:r>
              <a:rPr lang="fr-FR" sz="3600" dirty="0" err="1">
                <a:solidFill>
                  <a:srgbClr val="FF0000"/>
                </a:solidFill>
              </a:rPr>
              <a:t>complex</a:t>
            </a:r>
            <a:r>
              <a:rPr lang="fr-FR" sz="3600" dirty="0">
                <a:solidFill>
                  <a:srgbClr val="FF0000"/>
                </a:solidFill>
              </a:rPr>
              <a:t> expression </a:t>
            </a:r>
            <a:r>
              <a:rPr lang="fr-FR" sz="3600" dirty="0" err="1">
                <a:solidFill>
                  <a:srgbClr val="FF0000"/>
                </a:solidFill>
              </a:rPr>
              <a:t>is</a:t>
            </a:r>
            <a:r>
              <a:rPr lang="fr-FR" sz="3600" dirty="0">
                <a:solidFill>
                  <a:srgbClr val="FF0000"/>
                </a:solidFill>
              </a:rPr>
              <a:t> 6+8*7.</a:t>
            </a:r>
            <a:endParaRPr lang="en-US" sz="3600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08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8915400" cy="220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521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 Precedence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Arithmetic Operators are </a:t>
            </a:r>
            <a:r>
              <a:rPr lang="en-US" sz="3600" dirty="0" smtClean="0"/>
              <a:t>evaluated </a:t>
            </a:r>
            <a:r>
              <a:rPr lang="en-US" sz="3600" b="1" dirty="0">
                <a:solidFill>
                  <a:srgbClr val="0000CC"/>
                </a:solidFill>
              </a:rPr>
              <a:t>left to right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FF0000"/>
                </a:solidFill>
              </a:rPr>
              <a:t>using </a:t>
            </a:r>
            <a:r>
              <a:rPr lang="en-US" sz="3600" dirty="0" smtClean="0">
                <a:solidFill>
                  <a:srgbClr val="FF0000"/>
                </a:solidFill>
              </a:rPr>
              <a:t>the precedence </a:t>
            </a:r>
            <a:r>
              <a:rPr lang="en-US" sz="3600" dirty="0">
                <a:solidFill>
                  <a:srgbClr val="FF0000"/>
                </a:solidFill>
              </a:rPr>
              <a:t>of operator </a:t>
            </a:r>
            <a:r>
              <a:rPr lang="en-US" sz="3600" dirty="0"/>
              <a:t>when the expression is written without the </a:t>
            </a:r>
            <a:r>
              <a:rPr lang="en-US" sz="3600" dirty="0" smtClean="0"/>
              <a:t>parenthesis.</a:t>
            </a:r>
          </a:p>
          <a:p>
            <a:pPr algn="just"/>
            <a:r>
              <a:rPr lang="en-US" sz="3600" dirty="0" smtClean="0"/>
              <a:t>They </a:t>
            </a:r>
            <a:r>
              <a:rPr lang="en-US" sz="3600" dirty="0"/>
              <a:t>are </a:t>
            </a:r>
            <a:r>
              <a:rPr lang="en-US" sz="3600" dirty="0" smtClean="0"/>
              <a:t>two levels </a:t>
            </a:r>
            <a:r>
              <a:rPr lang="en-US" sz="3600" dirty="0"/>
              <a:t>of arithmetic operators in C.</a:t>
            </a:r>
          </a:p>
          <a:p>
            <a:pPr algn="just"/>
            <a:r>
              <a:rPr lang="en-US" sz="3600" dirty="0"/>
              <a:t>1 : High Priority </a:t>
            </a:r>
            <a:r>
              <a:rPr lang="en-US" sz="3600" dirty="0" smtClean="0"/>
              <a:t>          </a:t>
            </a:r>
            <a:r>
              <a:rPr lang="en-US" sz="3600" b="1" dirty="0" smtClean="0">
                <a:solidFill>
                  <a:srgbClr val="0000CC"/>
                </a:solidFill>
              </a:rPr>
              <a:t>*  /  </a:t>
            </a:r>
            <a:r>
              <a:rPr lang="en-US" sz="3600" b="1" dirty="0">
                <a:solidFill>
                  <a:srgbClr val="0000CC"/>
                </a:solidFill>
              </a:rPr>
              <a:t>%</a:t>
            </a:r>
          </a:p>
          <a:p>
            <a:pPr algn="just"/>
            <a:r>
              <a:rPr lang="en-US" sz="3600" dirty="0"/>
              <a:t>2 : Low Priority </a:t>
            </a:r>
            <a:r>
              <a:rPr lang="en-US" sz="3600" dirty="0" smtClean="0"/>
              <a:t>           </a:t>
            </a:r>
            <a:r>
              <a:rPr lang="en-US" sz="3600" b="1" dirty="0" smtClean="0">
                <a:solidFill>
                  <a:srgbClr val="FF0000"/>
                </a:solidFill>
              </a:rPr>
              <a:t>+  -</a:t>
            </a:r>
            <a:endParaRPr lang="en-US" sz="3600" b="1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74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 Precedence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Arithmetic Expression evaluation is carried out using the two phases from left to right.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First phase : </a:t>
            </a:r>
            <a:r>
              <a:rPr lang="en-US" sz="3600" dirty="0"/>
              <a:t>The highest priority operator are evaluated in the 1st phase.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Second Phase : </a:t>
            </a:r>
            <a:r>
              <a:rPr lang="en-US" sz="3600" dirty="0"/>
              <a:t>The lowest priority operator are evaluated in the 2nd phase.</a:t>
            </a:r>
            <a:endParaRPr lang="en-US" sz="3600" b="1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26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 Precedence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19200"/>
            <a:ext cx="6781800" cy="5364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385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 Precedence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The order of evaluation can be changed by putting </a:t>
            </a:r>
            <a:r>
              <a:rPr lang="en-US" sz="3600" dirty="0" smtClean="0"/>
              <a:t>parenthesis </a:t>
            </a:r>
            <a:r>
              <a:rPr lang="en-US" sz="3600" dirty="0"/>
              <a:t>in an expression</a:t>
            </a:r>
            <a:r>
              <a:rPr lang="en-US" sz="3600" dirty="0" smtClean="0"/>
              <a:t>.</a:t>
            </a:r>
          </a:p>
          <a:p>
            <a:pPr marL="0" indent="0" algn="just">
              <a:buNone/>
            </a:pPr>
            <a:r>
              <a:rPr lang="en-US" sz="3600" dirty="0" smtClean="0"/>
              <a:t>Ex </a:t>
            </a:r>
            <a:r>
              <a:rPr lang="en-US" sz="3600" dirty="0"/>
              <a:t>: </a:t>
            </a:r>
            <a:r>
              <a:rPr lang="en-US" sz="3600" dirty="0">
                <a:solidFill>
                  <a:srgbClr val="0000CC"/>
                </a:solidFill>
              </a:rPr>
              <a:t>9-12/(3+3)*(</a:t>
            </a:r>
            <a:r>
              <a:rPr lang="en-US" sz="3600" dirty="0" smtClean="0">
                <a:solidFill>
                  <a:srgbClr val="0000CC"/>
                </a:solidFill>
              </a:rPr>
              <a:t>2-1)</a:t>
            </a:r>
          </a:p>
          <a:p>
            <a:pPr marL="0" indent="0" algn="just">
              <a:buNone/>
            </a:pPr>
            <a:endParaRPr lang="en-US" sz="3600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dirty="0"/>
              <a:t>Whenever parentheses are used, the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expressions within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parentheses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highest priority</a:t>
            </a:r>
            <a:r>
              <a:rPr lang="en-US" sz="3600" dirty="0">
                <a:solidFill>
                  <a:srgbClr val="FF0000"/>
                </a:solidFill>
              </a:rPr>
              <a:t>. </a:t>
            </a:r>
            <a:r>
              <a:rPr lang="en-US" sz="3600" dirty="0"/>
              <a:t>If two </a:t>
            </a:r>
            <a:r>
              <a:rPr lang="en-US" sz="3600" dirty="0" smtClean="0"/>
              <a:t>or more </a:t>
            </a:r>
            <a:r>
              <a:rPr lang="en-US" sz="3600" dirty="0"/>
              <a:t>sets of </a:t>
            </a:r>
            <a:r>
              <a:rPr lang="en-US" sz="3600" dirty="0" smtClean="0"/>
              <a:t>parenthesis </a:t>
            </a:r>
            <a:r>
              <a:rPr lang="en-US" sz="3600" dirty="0"/>
              <a:t>appear one after another. The expression contained in the left-most set </a:t>
            </a:r>
            <a:r>
              <a:rPr lang="en-US" sz="3600" dirty="0" smtClean="0"/>
              <a:t>is evaluated </a:t>
            </a:r>
            <a:r>
              <a:rPr lang="en-US" sz="3600" dirty="0"/>
              <a:t>first and the right-most in the last.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7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 Precedence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Ex </a:t>
            </a:r>
            <a:r>
              <a:rPr lang="en-US" sz="3600" dirty="0"/>
              <a:t>: </a:t>
            </a:r>
            <a:r>
              <a:rPr lang="en-US" sz="3600" dirty="0">
                <a:solidFill>
                  <a:srgbClr val="0000CC"/>
                </a:solidFill>
              </a:rPr>
              <a:t>9-12/(3+3)*(</a:t>
            </a:r>
            <a:r>
              <a:rPr lang="en-US" sz="3600" dirty="0" smtClean="0">
                <a:solidFill>
                  <a:srgbClr val="0000CC"/>
                </a:solidFill>
              </a:rPr>
              <a:t>2-1)</a:t>
            </a:r>
          </a:p>
          <a:p>
            <a:pPr marL="0" indent="0" algn="just">
              <a:buNone/>
            </a:pPr>
            <a:endParaRPr lang="en-US" sz="3600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31307"/>
            <a:ext cx="3810000" cy="2515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979" y="4334469"/>
            <a:ext cx="1981200" cy="931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203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for Evaluation of Expression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 smtClean="0"/>
              <a:t>1. Evaluate </a:t>
            </a:r>
            <a:r>
              <a:rPr lang="en-US" sz="3600" dirty="0"/>
              <a:t>the sub-expression from left to right. If parenthesized.</a:t>
            </a:r>
          </a:p>
          <a:p>
            <a:pPr marL="0" indent="0" algn="just">
              <a:buNone/>
            </a:pPr>
            <a:r>
              <a:rPr lang="en-US" sz="3600" dirty="0" smtClean="0"/>
              <a:t>2. Evaluate </a:t>
            </a:r>
            <a:r>
              <a:rPr lang="en-US" sz="3600" dirty="0"/>
              <a:t>the </a:t>
            </a:r>
            <a:r>
              <a:rPr lang="en-US" sz="3600" dirty="0" smtClean="0"/>
              <a:t>arithmetic </a:t>
            </a:r>
            <a:r>
              <a:rPr lang="en-US" sz="3600" dirty="0"/>
              <a:t>Expression from left to right using the rules of precedence.</a:t>
            </a:r>
          </a:p>
          <a:p>
            <a:pPr marL="0" indent="0" algn="just">
              <a:buNone/>
            </a:pPr>
            <a:r>
              <a:rPr lang="en-US" sz="3600" dirty="0" smtClean="0"/>
              <a:t>3. The </a:t>
            </a:r>
            <a:r>
              <a:rPr lang="en-US" sz="3600" dirty="0"/>
              <a:t>highest precedence is given to the expression with in </a:t>
            </a:r>
            <a:r>
              <a:rPr lang="en-US" sz="3600" dirty="0" smtClean="0"/>
              <a:t>parenthesis.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4. When parentheses </a:t>
            </a:r>
            <a:r>
              <a:rPr lang="en-US" sz="3600" dirty="0"/>
              <a:t>are used, the expressions within </a:t>
            </a:r>
            <a:r>
              <a:rPr lang="en-US" sz="3600" dirty="0" smtClean="0"/>
              <a:t>parentheses </a:t>
            </a:r>
            <a:r>
              <a:rPr lang="en-US" sz="3600" dirty="0"/>
              <a:t>assume highest priority.</a:t>
            </a:r>
          </a:p>
          <a:p>
            <a:pPr marL="0" indent="0" algn="just">
              <a:buNone/>
            </a:pPr>
            <a:r>
              <a:rPr lang="en-US" sz="3600" dirty="0" smtClean="0"/>
              <a:t>5. Apply </a:t>
            </a:r>
            <a:r>
              <a:rPr lang="en-US" sz="3600" dirty="0"/>
              <a:t>the associative rule, if more operators of the same precedence occurs.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00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 Precedence and Associativity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3600" dirty="0"/>
              <a:t>Every operator has a precedence value. An expression containing more than </a:t>
            </a:r>
            <a:r>
              <a:rPr lang="en-US" sz="3600" dirty="0" smtClean="0"/>
              <a:t>one operator </a:t>
            </a:r>
            <a:r>
              <a:rPr lang="en-US" sz="3600" dirty="0"/>
              <a:t>is known as complex expression. Complex expressions are executed according </a:t>
            </a:r>
            <a:r>
              <a:rPr lang="en-US" sz="3600" dirty="0" smtClean="0"/>
              <a:t>to precedence </a:t>
            </a:r>
            <a:r>
              <a:rPr lang="en-US" sz="3600" dirty="0"/>
              <a:t>of operators</a:t>
            </a:r>
            <a:r>
              <a:rPr lang="en-US" sz="3600" dirty="0" smtClean="0"/>
              <a:t>.</a:t>
            </a:r>
          </a:p>
          <a:p>
            <a:pPr algn="just">
              <a:buFont typeface="Wingdings" pitchFamily="2" charset="2"/>
              <a:buChar char="§"/>
            </a:pPr>
            <a:endParaRPr lang="en-US" sz="3600" dirty="0"/>
          </a:p>
          <a:p>
            <a:pPr algn="just">
              <a:buFont typeface="Wingdings" pitchFamily="2" charset="2"/>
              <a:buChar char="§"/>
            </a:pPr>
            <a:r>
              <a:rPr lang="en-US" sz="3600" dirty="0"/>
              <a:t>Associativity specifies the order in which the operators are evaluated with the </a:t>
            </a:r>
            <a:r>
              <a:rPr lang="en-US" sz="3600" dirty="0" smtClean="0"/>
              <a:t>same precedence </a:t>
            </a:r>
            <a:r>
              <a:rPr lang="en-US" sz="3600" dirty="0"/>
              <a:t>in a complex expression. Associativity is of two ways, </a:t>
            </a:r>
            <a:r>
              <a:rPr lang="en-US" sz="3600" dirty="0" err="1"/>
              <a:t>i.e</a:t>
            </a:r>
            <a:r>
              <a:rPr lang="en-US" sz="3600" dirty="0"/>
              <a:t> left to </a:t>
            </a:r>
            <a:r>
              <a:rPr lang="en-US" sz="3600" dirty="0" smtClean="0"/>
              <a:t>right </a:t>
            </a:r>
            <a:r>
              <a:rPr lang="en-US" sz="3600" dirty="0"/>
              <a:t>and right </a:t>
            </a:r>
            <a:r>
              <a:rPr lang="en-US" sz="3600" dirty="0" smtClean="0"/>
              <a:t>to left</a:t>
            </a:r>
            <a:r>
              <a:rPr lang="en-US" sz="3600" dirty="0"/>
              <a:t>. Left to right associativity evaluates an expression starting from left and moving </a:t>
            </a:r>
            <a:r>
              <a:rPr lang="en-US" sz="3600" dirty="0" smtClean="0"/>
              <a:t>towards right</a:t>
            </a:r>
            <a:r>
              <a:rPr lang="en-US" sz="3600" dirty="0"/>
              <a:t>. Right to left associativity </a:t>
            </a:r>
            <a:r>
              <a:rPr lang="en-US" sz="3600" dirty="0" smtClean="0"/>
              <a:t>proceeds </a:t>
            </a:r>
            <a:r>
              <a:rPr lang="en-US" sz="3600" dirty="0"/>
              <a:t>from right to left.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57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13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8763000" cy="6162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0826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14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1"/>
            <a:ext cx="8839200" cy="40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53" y="914399"/>
            <a:ext cx="8232047" cy="3962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3897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900" dirty="0"/>
              <a:t>Type conversion is used to </a:t>
            </a:r>
            <a:r>
              <a:rPr lang="en-US" sz="2900" b="1" dirty="0">
                <a:solidFill>
                  <a:srgbClr val="FF0000"/>
                </a:solidFill>
              </a:rPr>
              <a:t>convert variable </a:t>
            </a:r>
            <a:r>
              <a:rPr lang="en-US" sz="2900" b="1" dirty="0">
                <a:solidFill>
                  <a:srgbClr val="0000CC"/>
                </a:solidFill>
              </a:rPr>
              <a:t>from one data type to another data type</a:t>
            </a:r>
            <a:r>
              <a:rPr lang="en-US" sz="2900" dirty="0"/>
              <a:t>, and </a:t>
            </a:r>
            <a:r>
              <a:rPr lang="en-US" sz="2900" dirty="0" smtClean="0"/>
              <a:t>after type </a:t>
            </a:r>
            <a:r>
              <a:rPr lang="en-US" sz="2900" dirty="0"/>
              <a:t>casting complier treats the variable as of new data type.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900" dirty="0"/>
              <a:t>For example, if you want to store a 'long' value into a simple integer then you can type </a:t>
            </a:r>
            <a:r>
              <a:rPr lang="en-US" sz="2900" dirty="0" smtClean="0"/>
              <a:t>cast 'long</a:t>
            </a:r>
            <a:r>
              <a:rPr lang="en-US" sz="2900" dirty="0"/>
              <a:t>' to '</a:t>
            </a:r>
            <a:r>
              <a:rPr lang="en-US" sz="2900" dirty="0" err="1"/>
              <a:t>int</a:t>
            </a:r>
            <a:r>
              <a:rPr lang="en-US" sz="2900" dirty="0"/>
              <a:t>'. </a:t>
            </a:r>
            <a:r>
              <a:rPr lang="en-US" sz="2900" b="1" dirty="0">
                <a:solidFill>
                  <a:srgbClr val="0000CC"/>
                </a:solidFill>
              </a:rPr>
              <a:t>You can convert the values from one type to another explicitly using the </a:t>
            </a:r>
            <a:r>
              <a:rPr lang="en-US" sz="2900" b="1" dirty="0" smtClean="0">
                <a:solidFill>
                  <a:srgbClr val="FF0000"/>
                </a:solidFill>
              </a:rPr>
              <a:t>cast operator</a:t>
            </a:r>
            <a:r>
              <a:rPr lang="en-US" sz="2900" dirty="0"/>
              <a:t>. </a:t>
            </a:r>
            <a:endParaRPr lang="en-US" sz="2900" dirty="0" smtClean="0"/>
          </a:p>
          <a:p>
            <a:pPr algn="just">
              <a:buFont typeface="Wingdings" pitchFamily="2" charset="2"/>
              <a:buChar char="§"/>
            </a:pPr>
            <a:r>
              <a:rPr lang="en-US" sz="2900" dirty="0" smtClean="0"/>
              <a:t>Type </a:t>
            </a:r>
            <a:r>
              <a:rPr lang="en-US" sz="2900" dirty="0"/>
              <a:t>conversions can be implicit which is performed by the compiler </a:t>
            </a:r>
            <a:r>
              <a:rPr lang="en-US" sz="2900" dirty="0" smtClean="0"/>
              <a:t>automatically, or </a:t>
            </a:r>
            <a:r>
              <a:rPr lang="en-US" sz="2900" dirty="0"/>
              <a:t>it can be specified explicitly through the use of the cast operator.</a:t>
            </a: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3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900" dirty="0"/>
              <a:t>Syntax:</a:t>
            </a:r>
          </a:p>
          <a:p>
            <a:pPr marL="0" indent="0" algn="just">
              <a:buNone/>
            </a:pPr>
            <a:r>
              <a:rPr lang="en-US" sz="2900" b="1" dirty="0" smtClean="0">
                <a:solidFill>
                  <a:srgbClr val="0000CC"/>
                </a:solidFill>
              </a:rPr>
              <a:t>                    (</a:t>
            </a:r>
            <a:r>
              <a:rPr lang="en-US" sz="2900" b="1" dirty="0" err="1">
                <a:solidFill>
                  <a:srgbClr val="0000CC"/>
                </a:solidFill>
              </a:rPr>
              <a:t>type_name</a:t>
            </a:r>
            <a:r>
              <a:rPr lang="en-US" sz="2900" b="1" dirty="0">
                <a:solidFill>
                  <a:srgbClr val="0000CC"/>
                </a:solidFill>
              </a:rPr>
              <a:t>) expression</a:t>
            </a:r>
            <a:r>
              <a:rPr lang="en-US" sz="2900" b="1" dirty="0" smtClean="0">
                <a:solidFill>
                  <a:srgbClr val="0000CC"/>
                </a:solidFill>
              </a:rPr>
              <a:t>;</a:t>
            </a:r>
          </a:p>
          <a:p>
            <a:pPr marL="0" indent="0" algn="just">
              <a:buNone/>
            </a:pPr>
            <a:endParaRPr lang="en-US" sz="29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900" dirty="0"/>
              <a:t>Type casting refers to changing an variable of one data type into another. The compiler </a:t>
            </a:r>
            <a:r>
              <a:rPr lang="en-US" sz="2900" dirty="0" smtClean="0"/>
              <a:t>will automatically </a:t>
            </a:r>
            <a:r>
              <a:rPr lang="en-US" sz="2900" dirty="0"/>
              <a:t>change one type of data into another if it makes sense. For instance, </a:t>
            </a:r>
            <a:r>
              <a:rPr lang="en-US" sz="2900" dirty="0">
                <a:solidFill>
                  <a:srgbClr val="0000CC"/>
                </a:solidFill>
              </a:rPr>
              <a:t>if you </a:t>
            </a:r>
            <a:r>
              <a:rPr lang="en-US" sz="2900" dirty="0" smtClean="0">
                <a:solidFill>
                  <a:srgbClr val="0000CC"/>
                </a:solidFill>
              </a:rPr>
              <a:t>assign an </a:t>
            </a:r>
            <a:r>
              <a:rPr lang="en-US" sz="2900" dirty="0">
                <a:solidFill>
                  <a:srgbClr val="0000CC"/>
                </a:solidFill>
              </a:rPr>
              <a:t>integer value to a floating-point variable, the compiler will convert the </a:t>
            </a:r>
            <a:r>
              <a:rPr lang="en-US" sz="2900" dirty="0" err="1">
                <a:solidFill>
                  <a:srgbClr val="0000CC"/>
                </a:solidFill>
              </a:rPr>
              <a:t>int</a:t>
            </a:r>
            <a:r>
              <a:rPr lang="en-US" sz="2900" dirty="0">
                <a:solidFill>
                  <a:srgbClr val="0000CC"/>
                </a:solidFill>
              </a:rPr>
              <a:t> to a float</a:t>
            </a:r>
            <a:r>
              <a:rPr lang="en-US" sz="2900" dirty="0"/>
              <a:t>. </a:t>
            </a:r>
            <a:r>
              <a:rPr lang="en-US" sz="2900" dirty="0" smtClean="0"/>
              <a:t>Casting allows </a:t>
            </a:r>
            <a:r>
              <a:rPr lang="en-US" sz="2900" dirty="0"/>
              <a:t>you to make this type conversion explicit, or to force it when it </a:t>
            </a:r>
            <a:r>
              <a:rPr lang="en-US" sz="2900" dirty="0" smtClean="0"/>
              <a:t>wouldn’t normally happen</a:t>
            </a:r>
            <a:r>
              <a:rPr lang="en-US" sz="2900" dirty="0"/>
              <a:t>.</a:t>
            </a: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21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/>
              <a:t>Type conversion in c can be classified into the following two types:</a:t>
            </a:r>
          </a:p>
          <a:p>
            <a:pPr marL="514350" indent="-514350" algn="just">
              <a:buAutoNum type="arabicPeriod"/>
            </a:pPr>
            <a:r>
              <a:rPr lang="en-US" sz="2900" dirty="0" smtClean="0"/>
              <a:t>Implicit </a:t>
            </a:r>
            <a:r>
              <a:rPr lang="en-US" sz="2900" dirty="0"/>
              <a:t>Type </a:t>
            </a:r>
            <a:r>
              <a:rPr lang="en-US" sz="2900" dirty="0" smtClean="0"/>
              <a:t>Conversion</a:t>
            </a:r>
          </a:p>
          <a:p>
            <a:pPr marL="514350" indent="-514350" algn="just">
              <a:buAutoNum type="arabicPeriod"/>
            </a:pPr>
            <a:r>
              <a:rPr lang="en-US" sz="2900" dirty="0"/>
              <a:t>Explicit Type Conversion</a:t>
            </a: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78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514350" indent="-514350" algn="just">
              <a:buAutoNum type="arabicPeriod"/>
            </a:pPr>
            <a:r>
              <a:rPr lang="en-US" sz="2900" dirty="0" smtClean="0"/>
              <a:t>Implicit </a:t>
            </a:r>
            <a:r>
              <a:rPr lang="en-US" sz="2900" dirty="0"/>
              <a:t>Type </a:t>
            </a:r>
            <a:r>
              <a:rPr lang="en-US" sz="2900" dirty="0" smtClean="0"/>
              <a:t>Conversion:</a:t>
            </a:r>
          </a:p>
          <a:p>
            <a:pPr marL="0" indent="0" algn="just">
              <a:buNone/>
            </a:pPr>
            <a:r>
              <a:rPr lang="en-US" sz="2900" dirty="0" smtClean="0"/>
              <a:t>When </a:t>
            </a:r>
            <a:r>
              <a:rPr lang="en-US" sz="2900" dirty="0"/>
              <a:t>the type conversion is </a:t>
            </a:r>
            <a:r>
              <a:rPr lang="en-US" sz="2900" b="1" dirty="0">
                <a:solidFill>
                  <a:srgbClr val="0000CC"/>
                </a:solidFill>
              </a:rPr>
              <a:t>performed automatically by the compiler</a:t>
            </a:r>
            <a:r>
              <a:rPr lang="en-US" sz="2900" dirty="0"/>
              <a:t> without </a:t>
            </a:r>
            <a:r>
              <a:rPr lang="en-US" sz="2900" dirty="0" smtClean="0"/>
              <a:t>programmers intervention</a:t>
            </a:r>
            <a:r>
              <a:rPr lang="en-US" sz="2900" dirty="0"/>
              <a:t>, such type of conversion is known as </a:t>
            </a:r>
            <a:r>
              <a:rPr lang="en-US" sz="2900" dirty="0">
                <a:solidFill>
                  <a:srgbClr val="FF0000"/>
                </a:solidFill>
              </a:rPr>
              <a:t>implicit type conversion </a:t>
            </a:r>
            <a:r>
              <a:rPr lang="en-US" sz="2900" dirty="0"/>
              <a:t>or </a:t>
            </a:r>
            <a:r>
              <a:rPr lang="en-US" sz="2900" dirty="0">
                <a:solidFill>
                  <a:srgbClr val="FF0000"/>
                </a:solidFill>
              </a:rPr>
              <a:t>type promotion</a:t>
            </a:r>
            <a:r>
              <a:rPr lang="en-US" sz="2900" dirty="0" smtClean="0"/>
              <a:t>.</a:t>
            </a:r>
          </a:p>
          <a:p>
            <a:pPr marL="0" indent="0" algn="just">
              <a:buNone/>
            </a:pP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581400"/>
            <a:ext cx="8458200" cy="305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5687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/>
              <a:t>2. Explicit Type </a:t>
            </a:r>
            <a:r>
              <a:rPr lang="en-US" sz="2900" dirty="0" smtClean="0"/>
              <a:t>Conversion</a:t>
            </a:r>
          </a:p>
          <a:p>
            <a:pPr algn="just"/>
            <a:r>
              <a:rPr lang="en-US" sz="2900" dirty="0"/>
              <a:t>The </a:t>
            </a:r>
            <a:r>
              <a:rPr lang="en-US" sz="2900" dirty="0">
                <a:solidFill>
                  <a:srgbClr val="FF0000"/>
                </a:solidFill>
              </a:rPr>
              <a:t>type conversion performed by the programmer </a:t>
            </a:r>
            <a:r>
              <a:rPr lang="en-US" sz="2900" dirty="0">
                <a:solidFill>
                  <a:srgbClr val="0000CC"/>
                </a:solidFill>
              </a:rPr>
              <a:t>by posing the data type of the expression </a:t>
            </a:r>
            <a:r>
              <a:rPr lang="en-US" sz="2900" dirty="0" smtClean="0">
                <a:solidFill>
                  <a:srgbClr val="0000CC"/>
                </a:solidFill>
              </a:rPr>
              <a:t>of specific </a:t>
            </a:r>
            <a:r>
              <a:rPr lang="en-US" sz="2900" dirty="0">
                <a:solidFill>
                  <a:srgbClr val="0000CC"/>
                </a:solidFill>
              </a:rPr>
              <a:t>type is known as explicit type conversion</a:t>
            </a:r>
            <a:r>
              <a:rPr lang="en-US" sz="2900" dirty="0"/>
              <a:t>. The explicit type conversion is </a:t>
            </a:r>
            <a:r>
              <a:rPr lang="en-US" sz="2900" b="1" dirty="0">
                <a:solidFill>
                  <a:srgbClr val="FF0000"/>
                </a:solidFill>
              </a:rPr>
              <a:t>also known </a:t>
            </a:r>
            <a:r>
              <a:rPr lang="en-US" sz="2900" b="1" dirty="0" smtClean="0">
                <a:solidFill>
                  <a:srgbClr val="FF0000"/>
                </a:solidFill>
              </a:rPr>
              <a:t>as type </a:t>
            </a:r>
            <a:r>
              <a:rPr lang="en-US" sz="2900" b="1" dirty="0">
                <a:solidFill>
                  <a:srgbClr val="FF0000"/>
                </a:solidFill>
              </a:rPr>
              <a:t>casting</a:t>
            </a:r>
            <a:r>
              <a:rPr lang="en-US" sz="2900" dirty="0" smtClean="0"/>
              <a:t>.</a:t>
            </a:r>
            <a:endParaRPr lang="en-US" sz="2900" dirty="0"/>
          </a:p>
          <a:p>
            <a:pPr algn="just"/>
            <a:r>
              <a:rPr lang="en-US" sz="2900" dirty="0"/>
              <a:t>Type casting in c is done in the following form:</a:t>
            </a:r>
          </a:p>
          <a:p>
            <a:pPr marL="0" indent="0" algn="ctr">
              <a:buNone/>
            </a:pPr>
            <a:r>
              <a:rPr lang="en-US" sz="2900" b="1" dirty="0">
                <a:solidFill>
                  <a:srgbClr val="0000CC"/>
                </a:solidFill>
              </a:rPr>
              <a:t>(</a:t>
            </a:r>
            <a:r>
              <a:rPr lang="en-US" sz="2900" b="1" dirty="0" err="1">
                <a:solidFill>
                  <a:srgbClr val="0000CC"/>
                </a:solidFill>
              </a:rPr>
              <a:t>data_type</a:t>
            </a:r>
            <a:r>
              <a:rPr lang="en-US" sz="2900" b="1" dirty="0">
                <a:solidFill>
                  <a:srgbClr val="0000CC"/>
                </a:solidFill>
              </a:rPr>
              <a:t>)expression;</a:t>
            </a:r>
          </a:p>
          <a:p>
            <a:pPr marL="0" indent="0" algn="just">
              <a:buNone/>
            </a:pPr>
            <a:r>
              <a:rPr lang="en-US" sz="2900" dirty="0"/>
              <a:t>where, </a:t>
            </a:r>
            <a:r>
              <a:rPr lang="en-US" sz="2900" dirty="0" err="1"/>
              <a:t>data_type</a:t>
            </a:r>
            <a:r>
              <a:rPr lang="en-US" sz="2900" dirty="0"/>
              <a:t> is any valid c data type, and expression may be constant, variable </a:t>
            </a:r>
            <a:r>
              <a:rPr lang="en-US" sz="2900" dirty="0" smtClean="0"/>
              <a:t>or expression</a:t>
            </a:r>
            <a:r>
              <a:rPr lang="en-US" sz="2900" dirty="0"/>
              <a:t>.</a:t>
            </a: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49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/>
              <a:t>2. Explicit Type </a:t>
            </a:r>
            <a:r>
              <a:rPr lang="en-US" sz="2900" dirty="0" smtClean="0"/>
              <a:t>Conversion</a:t>
            </a:r>
          </a:p>
          <a:p>
            <a:pPr marL="0" indent="0" algn="just">
              <a:buNone/>
            </a:pPr>
            <a:r>
              <a:rPr lang="en-US" sz="2900" dirty="0"/>
              <a:t>For example</a:t>
            </a:r>
            <a:r>
              <a:rPr lang="en-US" sz="2900" dirty="0" smtClean="0"/>
              <a:t>,</a:t>
            </a:r>
            <a:endParaRPr lang="en-US" sz="2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2305050"/>
            <a:ext cx="8763001" cy="342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959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 smtClean="0"/>
              <a:t>The </a:t>
            </a:r>
            <a:r>
              <a:rPr lang="en-US" sz="2900" dirty="0"/>
              <a:t>following rules have to be followed while converting the expression from one type </a:t>
            </a:r>
            <a:r>
              <a:rPr lang="en-US" sz="2900" dirty="0" smtClean="0"/>
              <a:t>to another </a:t>
            </a:r>
            <a:r>
              <a:rPr lang="en-US" sz="2900" dirty="0"/>
              <a:t>to avoid the loss of information</a:t>
            </a:r>
            <a:r>
              <a:rPr lang="en-US" sz="2900" dirty="0" smtClean="0"/>
              <a:t>:</a:t>
            </a:r>
          </a:p>
          <a:p>
            <a:pPr marL="0" indent="0" algn="just">
              <a:buNone/>
            </a:pPr>
            <a:endParaRPr lang="en-US" sz="2900" dirty="0"/>
          </a:p>
          <a:p>
            <a:pPr algn="just">
              <a:buFont typeface="Wingdings" pitchFamily="2" charset="2"/>
              <a:buChar char="Ø"/>
            </a:pP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integer types to be converted to float.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float types to be converted to double.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character types to be converted to integer.</a:t>
            </a:r>
            <a:endParaRPr lang="en-US" sz="29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92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/>
              <a:t>Example</a:t>
            </a:r>
          </a:p>
          <a:p>
            <a:pPr marL="0" indent="0" algn="just">
              <a:buNone/>
            </a:pPr>
            <a:r>
              <a:rPr lang="en-US" sz="2900" dirty="0"/>
              <a:t>Consider the following code:</a:t>
            </a:r>
          </a:p>
          <a:p>
            <a:pPr marL="0" indent="0" algn="just">
              <a:buNone/>
            </a:pPr>
            <a:r>
              <a:rPr lang="en-US" sz="2900" dirty="0" err="1"/>
              <a:t>int</a:t>
            </a:r>
            <a:r>
              <a:rPr lang="en-US" sz="2900" dirty="0"/>
              <a:t> x=7, y=5 ;</a:t>
            </a:r>
          </a:p>
          <a:p>
            <a:pPr marL="0" indent="0" algn="just">
              <a:buNone/>
            </a:pPr>
            <a:r>
              <a:rPr lang="en-US" sz="2900" dirty="0"/>
              <a:t>float z;</a:t>
            </a:r>
          </a:p>
          <a:p>
            <a:pPr marL="0" indent="0" algn="just">
              <a:buNone/>
            </a:pPr>
            <a:endParaRPr lang="en-US" sz="2900" dirty="0" smtClean="0"/>
          </a:p>
          <a:p>
            <a:pPr marL="0" indent="0" algn="just">
              <a:buNone/>
            </a:pPr>
            <a:r>
              <a:rPr lang="en-US" sz="2900" dirty="0" smtClean="0"/>
              <a:t>z=x/y</a:t>
            </a:r>
            <a:r>
              <a:rPr lang="en-US" sz="2900" dirty="0"/>
              <a:t>; /*Here the value of z is 1*/</a:t>
            </a:r>
          </a:p>
          <a:p>
            <a:pPr marL="0" indent="0" algn="just">
              <a:buNone/>
            </a:pPr>
            <a:endParaRPr lang="en-US" sz="2900" dirty="0" smtClean="0"/>
          </a:p>
          <a:p>
            <a:pPr marL="0" indent="0" algn="just">
              <a:buNone/>
            </a:pPr>
            <a:r>
              <a:rPr lang="en-US" sz="2900" dirty="0" smtClean="0"/>
              <a:t>If </a:t>
            </a:r>
            <a:r>
              <a:rPr lang="en-US" sz="2900" dirty="0"/>
              <a:t>we want to get the exact value of 7/5 then we need explicit casting from </a:t>
            </a:r>
            <a:r>
              <a:rPr lang="en-US" sz="2900" dirty="0" err="1"/>
              <a:t>int</a:t>
            </a:r>
            <a:r>
              <a:rPr lang="en-US" sz="2900" dirty="0"/>
              <a:t> to float:</a:t>
            </a: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46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 smtClean="0"/>
              <a:t>Example</a:t>
            </a:r>
          </a:p>
          <a:p>
            <a:pPr marL="0" indent="0" algn="just">
              <a:buNone/>
            </a:pPr>
            <a:r>
              <a:rPr lang="en-US" sz="2900" dirty="0" err="1"/>
              <a:t>int</a:t>
            </a:r>
            <a:r>
              <a:rPr lang="en-US" sz="2900" dirty="0"/>
              <a:t> x=7, y=5;</a:t>
            </a:r>
          </a:p>
          <a:p>
            <a:pPr marL="0" indent="0" algn="just">
              <a:buNone/>
            </a:pPr>
            <a:r>
              <a:rPr lang="en-US" sz="2900" dirty="0"/>
              <a:t>float z;</a:t>
            </a:r>
          </a:p>
          <a:p>
            <a:pPr marL="0" indent="0" algn="just">
              <a:buNone/>
            </a:pPr>
            <a:r>
              <a:rPr lang="en-US" sz="2900" dirty="0"/>
              <a:t>z = (float)x/(float)y; /*Here the value of z is 1.4</a:t>
            </a:r>
            <a:r>
              <a:rPr lang="en-US" sz="2900" dirty="0" smtClean="0"/>
              <a:t>*/</a:t>
            </a:r>
          </a:p>
          <a:p>
            <a:pPr marL="0" indent="0" algn="just">
              <a:buNone/>
            </a:pPr>
            <a:endParaRPr lang="en-US" sz="2900" dirty="0"/>
          </a:p>
          <a:p>
            <a:pPr marL="0" indent="0" algn="just">
              <a:buNone/>
            </a:pPr>
            <a:endParaRPr lang="en-US" sz="2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36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>
                <a:solidFill>
                  <a:srgbClr val="0000CC"/>
                </a:solidFill>
              </a:rPr>
              <a:t>Integer </a:t>
            </a:r>
            <a:r>
              <a:rPr lang="en-US" sz="2900" dirty="0" smtClean="0">
                <a:solidFill>
                  <a:srgbClr val="0000CC"/>
                </a:solidFill>
              </a:rPr>
              <a:t>Promotion:</a:t>
            </a:r>
          </a:p>
          <a:p>
            <a:pPr marL="0" indent="0" algn="just">
              <a:buNone/>
            </a:pPr>
            <a:r>
              <a:rPr lang="en-US" sz="2900" dirty="0"/>
              <a:t>Integer promotion is the process by which values of integer type "smaller" than </a:t>
            </a:r>
            <a:r>
              <a:rPr lang="en-US" sz="2900" dirty="0" err="1"/>
              <a:t>int</a:t>
            </a:r>
            <a:r>
              <a:rPr lang="en-US" sz="2900" dirty="0"/>
              <a:t> or </a:t>
            </a:r>
            <a:r>
              <a:rPr lang="en-US" sz="2900" dirty="0" smtClean="0"/>
              <a:t>unsigned </a:t>
            </a:r>
            <a:r>
              <a:rPr lang="en-US" sz="2900" dirty="0" err="1" smtClean="0"/>
              <a:t>int</a:t>
            </a:r>
            <a:r>
              <a:rPr lang="en-US" sz="2900" dirty="0" smtClean="0"/>
              <a:t> </a:t>
            </a:r>
            <a:r>
              <a:rPr lang="en-US" sz="2900" dirty="0"/>
              <a:t>are converted either to </a:t>
            </a:r>
            <a:r>
              <a:rPr lang="en-US" sz="2900" dirty="0" err="1"/>
              <a:t>int</a:t>
            </a:r>
            <a:r>
              <a:rPr lang="en-US" sz="2900" dirty="0"/>
              <a:t> or unsigned int. Consider an example of adding a character </a:t>
            </a:r>
            <a:r>
              <a:rPr lang="en-US" sz="2900" dirty="0" smtClean="0"/>
              <a:t>with an integer.</a:t>
            </a:r>
            <a:endParaRPr lang="en-US" sz="2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41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>
                <a:solidFill>
                  <a:srgbClr val="0000CC"/>
                </a:solidFill>
              </a:rPr>
              <a:t>Integer </a:t>
            </a:r>
            <a:r>
              <a:rPr lang="en-US" sz="2900" dirty="0" smtClean="0">
                <a:solidFill>
                  <a:srgbClr val="0000CC"/>
                </a:solidFill>
              </a:rPr>
              <a:t>Promotion:</a:t>
            </a:r>
          </a:p>
          <a:p>
            <a:pPr marL="0" indent="0" algn="just">
              <a:buNone/>
            </a:pPr>
            <a:endParaRPr lang="en-US" sz="2900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960" y="1524000"/>
            <a:ext cx="4415840" cy="5243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417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>
                <a:solidFill>
                  <a:srgbClr val="0000CC"/>
                </a:solidFill>
              </a:rPr>
              <a:t>Integer </a:t>
            </a:r>
            <a:r>
              <a:rPr lang="en-US" sz="2900" dirty="0" smtClean="0">
                <a:solidFill>
                  <a:srgbClr val="0000CC"/>
                </a:solidFill>
              </a:rPr>
              <a:t>Promotion:</a:t>
            </a:r>
          </a:p>
          <a:p>
            <a:pPr marL="0" indent="0" algn="just">
              <a:buNone/>
            </a:pPr>
            <a:r>
              <a:rPr lang="en-US" sz="2900" dirty="0"/>
              <a:t>When the </a:t>
            </a:r>
            <a:r>
              <a:rPr lang="en-US" sz="2900" dirty="0" smtClean="0"/>
              <a:t>previous </a:t>
            </a:r>
            <a:r>
              <a:rPr lang="en-US" sz="2900" dirty="0"/>
              <a:t>code is compiled and executed, it produces the following result −</a:t>
            </a:r>
          </a:p>
          <a:p>
            <a:pPr marL="0" indent="0" algn="just">
              <a:buNone/>
            </a:pPr>
            <a:r>
              <a:rPr lang="en-US" sz="2900" b="1" dirty="0">
                <a:solidFill>
                  <a:srgbClr val="0000CC"/>
                </a:solidFill>
              </a:rPr>
              <a:t>Value of sum : 116</a:t>
            </a:r>
          </a:p>
          <a:p>
            <a:pPr marL="0" indent="0" algn="just">
              <a:buNone/>
            </a:pPr>
            <a:r>
              <a:rPr lang="en-US" sz="2900" dirty="0"/>
              <a:t>Here, the value of sum is 116 because the compiler is doing integer promotion </a:t>
            </a:r>
            <a:r>
              <a:rPr lang="en-US" sz="2900" dirty="0" smtClean="0"/>
              <a:t>and converting </a:t>
            </a:r>
            <a:r>
              <a:rPr lang="en-US" sz="2900" dirty="0"/>
              <a:t>the value of 'c' to ASCII before performing the actual addition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07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>
                <a:solidFill>
                  <a:srgbClr val="0000CC"/>
                </a:solidFill>
              </a:rPr>
              <a:t>Usual Arithmetic </a:t>
            </a:r>
            <a:r>
              <a:rPr lang="en-US" sz="2900" dirty="0" smtClean="0">
                <a:solidFill>
                  <a:srgbClr val="0000CC"/>
                </a:solidFill>
              </a:rPr>
              <a:t>Conversion</a:t>
            </a:r>
          </a:p>
          <a:p>
            <a:pPr marL="0" indent="0" algn="just">
              <a:buNone/>
            </a:pPr>
            <a:r>
              <a:rPr lang="en-US" sz="2900" dirty="0"/>
              <a:t>The usual arithmetic conversions are </a:t>
            </a:r>
            <a:r>
              <a:rPr lang="en-US" sz="2900" b="1" dirty="0">
                <a:solidFill>
                  <a:srgbClr val="FF0000"/>
                </a:solidFill>
              </a:rPr>
              <a:t>implicitly</a:t>
            </a:r>
            <a:r>
              <a:rPr lang="en-US" sz="2900" dirty="0"/>
              <a:t> performed to cast their values to a </a:t>
            </a:r>
            <a:r>
              <a:rPr lang="en-US" sz="2900" dirty="0" smtClean="0"/>
              <a:t>common type</a:t>
            </a:r>
            <a:r>
              <a:rPr lang="en-US" sz="2900" dirty="0"/>
              <a:t>. The compiler first performs integer promotion; if the operands still have different </a:t>
            </a:r>
            <a:r>
              <a:rPr lang="en-US" sz="2900" dirty="0" smtClean="0"/>
              <a:t>types, then </a:t>
            </a:r>
            <a:r>
              <a:rPr lang="en-US" sz="2900" dirty="0"/>
              <a:t>they are converted to the type that appears highest in the following hierarchy </a:t>
            </a: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37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>
                <a:solidFill>
                  <a:srgbClr val="0000CC"/>
                </a:solidFill>
              </a:rPr>
              <a:t>Usual Arithmetic </a:t>
            </a:r>
            <a:r>
              <a:rPr lang="en-US" sz="2900" dirty="0" smtClean="0">
                <a:solidFill>
                  <a:srgbClr val="0000CC"/>
                </a:solidFill>
              </a:rPr>
              <a:t>Conversion</a:t>
            </a:r>
          </a:p>
          <a:p>
            <a:pPr marL="0" indent="0" algn="just">
              <a:buNone/>
            </a:pPr>
            <a:endParaRPr lang="en-US" sz="2900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600200"/>
            <a:ext cx="1895475" cy="504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725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Conversion/Type casting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>
                <a:solidFill>
                  <a:srgbClr val="0000CC"/>
                </a:solidFill>
              </a:rPr>
              <a:t>Usual Arithmetic </a:t>
            </a:r>
            <a:r>
              <a:rPr lang="en-US" sz="2900" dirty="0" smtClean="0">
                <a:solidFill>
                  <a:srgbClr val="0000CC"/>
                </a:solidFill>
              </a:rPr>
              <a:t>Conversion</a:t>
            </a:r>
          </a:p>
          <a:p>
            <a:pPr marL="0" indent="0" algn="just">
              <a:buNone/>
            </a:pPr>
            <a:r>
              <a:rPr lang="en-US" sz="2900" dirty="0"/>
              <a:t>The usual arithmetic conversions are </a:t>
            </a:r>
            <a:r>
              <a:rPr lang="en-US" sz="2900" b="1" dirty="0">
                <a:solidFill>
                  <a:srgbClr val="FF0000"/>
                </a:solidFill>
              </a:rPr>
              <a:t>implicitly</a:t>
            </a:r>
            <a:r>
              <a:rPr lang="en-US" sz="2900" dirty="0"/>
              <a:t> performed to cast their values to a </a:t>
            </a:r>
            <a:r>
              <a:rPr lang="en-US" sz="2900" dirty="0" smtClean="0"/>
              <a:t>common type</a:t>
            </a:r>
            <a:r>
              <a:rPr lang="en-US" sz="2900" dirty="0"/>
              <a:t>. The compiler first performs integer promotion; if the operands still have different </a:t>
            </a:r>
            <a:r>
              <a:rPr lang="en-US" sz="2900" dirty="0" smtClean="0"/>
              <a:t>types, then </a:t>
            </a:r>
            <a:r>
              <a:rPr lang="en-US" sz="2900" dirty="0"/>
              <a:t>they are converted to the type that appears highest in the following hierarchy </a:t>
            </a: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67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493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/>
              <a:t>A statement causes the computer </a:t>
            </a:r>
            <a:r>
              <a:rPr lang="en-US" sz="2900" b="1" dirty="0">
                <a:solidFill>
                  <a:srgbClr val="0000CC"/>
                </a:solidFill>
              </a:rPr>
              <a:t>to carry out some definite action</a:t>
            </a:r>
            <a:r>
              <a:rPr lang="en-US" sz="2900" dirty="0"/>
              <a:t>. There are </a:t>
            </a:r>
            <a:r>
              <a:rPr lang="en-US" sz="2900" dirty="0">
                <a:solidFill>
                  <a:srgbClr val="FF0000"/>
                </a:solidFill>
              </a:rPr>
              <a:t>three </a:t>
            </a:r>
            <a:r>
              <a:rPr lang="en-US" sz="2900" dirty="0" smtClean="0">
                <a:solidFill>
                  <a:srgbClr val="FF0000"/>
                </a:solidFill>
              </a:rPr>
              <a:t>different classes </a:t>
            </a:r>
            <a:r>
              <a:rPr lang="en-US" sz="2900" dirty="0">
                <a:solidFill>
                  <a:srgbClr val="FF0000"/>
                </a:solidFill>
              </a:rPr>
              <a:t>of statements in C:</a:t>
            </a:r>
          </a:p>
          <a:p>
            <a:pPr algn="just">
              <a:buFont typeface="Wingdings" pitchFamily="2" charset="2"/>
              <a:buChar char="q"/>
            </a:pPr>
            <a:r>
              <a:rPr lang="en-US" sz="2900" dirty="0"/>
              <a:t>Expression statements, </a:t>
            </a:r>
            <a:endParaRPr lang="en-US" sz="2900" dirty="0" smtClean="0"/>
          </a:p>
          <a:p>
            <a:pPr algn="just">
              <a:buFont typeface="Wingdings" pitchFamily="2" charset="2"/>
              <a:buChar char="q"/>
            </a:pPr>
            <a:r>
              <a:rPr lang="en-US" sz="2900" dirty="0" smtClean="0"/>
              <a:t>Compound </a:t>
            </a:r>
            <a:r>
              <a:rPr lang="en-US" sz="2900" dirty="0"/>
              <a:t>statements, </a:t>
            </a:r>
            <a:endParaRPr lang="en-US" sz="2900" dirty="0" smtClean="0"/>
          </a:p>
          <a:p>
            <a:pPr algn="just">
              <a:buFont typeface="Wingdings" pitchFamily="2" charset="2"/>
              <a:buChar char="q"/>
            </a:pPr>
            <a:r>
              <a:rPr lang="en-US" sz="2900" dirty="0" smtClean="0"/>
              <a:t>and </a:t>
            </a:r>
            <a:r>
              <a:rPr lang="en-US" sz="2900" dirty="0"/>
              <a:t>Control statements.</a:t>
            </a: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11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>
                <a:solidFill>
                  <a:srgbClr val="0000CC"/>
                </a:solidFill>
              </a:rPr>
              <a:t>Null statement</a:t>
            </a:r>
          </a:p>
          <a:p>
            <a:pPr marL="0" indent="0" algn="just">
              <a:buNone/>
            </a:pPr>
            <a:r>
              <a:rPr lang="en-US" sz="2900" dirty="0"/>
              <a:t>A null statement consisting of </a:t>
            </a:r>
            <a:r>
              <a:rPr lang="en-US" sz="2900" b="1" dirty="0">
                <a:solidFill>
                  <a:srgbClr val="FF0000"/>
                </a:solidFill>
              </a:rPr>
              <a:t>only a semicolon </a:t>
            </a:r>
            <a:r>
              <a:rPr lang="en-US" sz="2900" dirty="0"/>
              <a:t>and </a:t>
            </a:r>
            <a:r>
              <a:rPr lang="en-US" sz="2900" dirty="0">
                <a:solidFill>
                  <a:srgbClr val="0000CC"/>
                </a:solidFill>
              </a:rPr>
              <a:t>performs no operations</a:t>
            </a:r>
            <a:r>
              <a:rPr lang="en-US" sz="2900" dirty="0"/>
              <a:t>. It can </a:t>
            </a:r>
            <a:r>
              <a:rPr lang="en-US" sz="2900" dirty="0" smtClean="0"/>
              <a:t>appear wherever </a:t>
            </a:r>
            <a:r>
              <a:rPr lang="en-US" sz="2900" dirty="0"/>
              <a:t>a statement is expected. Nothing happens when a null statement is executed.</a:t>
            </a:r>
          </a:p>
          <a:p>
            <a:pPr marL="0" indent="0" algn="just">
              <a:buNone/>
            </a:pPr>
            <a:endParaRPr lang="en-US" sz="2900" dirty="0"/>
          </a:p>
          <a:p>
            <a:pPr marL="0" indent="0" algn="just">
              <a:buNone/>
            </a:pPr>
            <a:r>
              <a:rPr lang="en-US" sz="2900" dirty="0" smtClean="0"/>
              <a:t>Syntax</a:t>
            </a:r>
            <a:r>
              <a:rPr lang="en-US" sz="2900" dirty="0"/>
              <a:t>: - </a:t>
            </a:r>
            <a:r>
              <a:rPr lang="en-US" sz="2900" dirty="0" smtClean="0"/>
              <a:t>       ;</a:t>
            </a:r>
          </a:p>
          <a:p>
            <a:pPr marL="0" indent="0" algn="just">
              <a:buNone/>
            </a:pPr>
            <a:endParaRPr lang="en-US" sz="2900" dirty="0"/>
          </a:p>
          <a:p>
            <a:pPr marL="0" indent="0" algn="just">
              <a:buNone/>
            </a:pP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4" y="3124199"/>
            <a:ext cx="4391025" cy="345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264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>
                <a:solidFill>
                  <a:srgbClr val="0000CC"/>
                </a:solidFill>
              </a:rPr>
              <a:t>Null statement</a:t>
            </a:r>
          </a:p>
          <a:p>
            <a:pPr marL="0" indent="0" algn="just">
              <a:buNone/>
            </a:pPr>
            <a:r>
              <a:rPr lang="en-US" sz="2900" dirty="0"/>
              <a:t>Statements such as do, for, if, and while require that an executable statement appear as </a:t>
            </a:r>
            <a:r>
              <a:rPr lang="en-US" sz="2900" dirty="0" smtClean="0"/>
              <a:t>the statement </a:t>
            </a:r>
            <a:r>
              <a:rPr lang="en-US" sz="2900" dirty="0"/>
              <a:t>body. The null statement satisfies the syntax requirement in cases that do not need </a:t>
            </a:r>
            <a:r>
              <a:rPr lang="en-US" sz="2900" dirty="0" smtClean="0"/>
              <a:t>a substantive </a:t>
            </a:r>
            <a:r>
              <a:rPr lang="en-US" sz="2900" dirty="0"/>
              <a:t>statement body</a:t>
            </a:r>
            <a:r>
              <a:rPr lang="en-US" sz="2900" dirty="0" smtClean="0"/>
              <a:t>.</a:t>
            </a:r>
          </a:p>
          <a:p>
            <a:pPr marL="0" indent="0" algn="just">
              <a:buNone/>
            </a:pPr>
            <a:endParaRPr lang="en-US" sz="2900" dirty="0"/>
          </a:p>
          <a:p>
            <a:pPr marL="0" indent="0" algn="just">
              <a:buNone/>
            </a:pPr>
            <a:r>
              <a:rPr lang="en-US" sz="2900" b="1" dirty="0"/>
              <a:t>The Null statement is nothing but, there is no body within loop or any other statements </a:t>
            </a:r>
            <a:r>
              <a:rPr lang="en-US" sz="2900" b="1" dirty="0" smtClean="0"/>
              <a:t>in C</a:t>
            </a:r>
            <a:r>
              <a:rPr lang="en-US" sz="2900" b="1" dirty="0"/>
              <a:t>.</a:t>
            </a:r>
          </a:p>
          <a:p>
            <a:pPr marL="0" indent="0" algn="just">
              <a:buNone/>
            </a:pP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24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dirty="0">
                <a:solidFill>
                  <a:srgbClr val="0000CC"/>
                </a:solidFill>
              </a:rPr>
              <a:t>Null statement</a:t>
            </a:r>
          </a:p>
          <a:p>
            <a:pPr marL="0" indent="0" algn="just">
              <a:buNone/>
            </a:pPr>
            <a:r>
              <a:rPr lang="en-US" sz="2900" dirty="0"/>
              <a:t>Example illustrates the null statement:</a:t>
            </a:r>
          </a:p>
          <a:p>
            <a:pPr marL="0" indent="0" algn="just">
              <a:buNone/>
            </a:pP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09800"/>
            <a:ext cx="3429000" cy="321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560" y="5257800"/>
            <a:ext cx="2072439" cy="1403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234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b="1" dirty="0" smtClean="0">
                <a:solidFill>
                  <a:srgbClr val="FF0000"/>
                </a:solidFill>
              </a:rPr>
              <a:t>Expression:</a:t>
            </a:r>
          </a:p>
          <a:p>
            <a:pPr marL="0" indent="0" algn="just">
              <a:buNone/>
            </a:pPr>
            <a:r>
              <a:rPr lang="en-US" sz="2900" dirty="0"/>
              <a:t>Most of the statements in a C program are </a:t>
            </a:r>
            <a:r>
              <a:rPr lang="en-US" sz="2900" b="1" dirty="0">
                <a:solidFill>
                  <a:srgbClr val="0000CC"/>
                </a:solidFill>
              </a:rPr>
              <a:t>expression statements.</a:t>
            </a:r>
            <a:r>
              <a:rPr lang="en-US" sz="2900" dirty="0"/>
              <a:t> </a:t>
            </a:r>
            <a:endParaRPr lang="en-US" sz="2900" dirty="0" smtClean="0"/>
          </a:p>
          <a:p>
            <a:pPr marL="0" indent="0" algn="just">
              <a:buNone/>
            </a:pPr>
            <a:r>
              <a:rPr lang="en-US" sz="2900" dirty="0" smtClean="0"/>
              <a:t>An </a:t>
            </a:r>
            <a:r>
              <a:rPr lang="en-US" sz="2900" dirty="0"/>
              <a:t>expression statement </a:t>
            </a:r>
            <a:r>
              <a:rPr lang="en-US" sz="2900" dirty="0" smtClean="0"/>
              <a:t>is simply </a:t>
            </a:r>
            <a:r>
              <a:rPr lang="en-US" sz="2900" b="1" dirty="0">
                <a:solidFill>
                  <a:srgbClr val="0000CC"/>
                </a:solidFill>
              </a:rPr>
              <a:t>an expression followed by a semicolon.</a:t>
            </a:r>
            <a:r>
              <a:rPr lang="en-US" sz="2900" dirty="0"/>
              <a:t> </a:t>
            </a:r>
            <a:endParaRPr lang="en-US" sz="2900" dirty="0" smtClean="0"/>
          </a:p>
          <a:p>
            <a:pPr marL="0" indent="0" algn="just">
              <a:buNone/>
            </a:pPr>
            <a:r>
              <a:rPr lang="en-US" sz="2900" dirty="0" smtClean="0"/>
              <a:t>The </a:t>
            </a:r>
            <a:r>
              <a:rPr lang="en-US" sz="2900" dirty="0"/>
              <a:t>lines</a:t>
            </a:r>
          </a:p>
          <a:p>
            <a:pPr marL="0" indent="0" algn="just">
              <a:buNone/>
            </a:pPr>
            <a:r>
              <a:rPr lang="en-US" sz="2900" dirty="0"/>
              <a:t>i = 0;</a:t>
            </a:r>
          </a:p>
          <a:p>
            <a:pPr marL="0" indent="0" algn="just">
              <a:buNone/>
            </a:pPr>
            <a:r>
              <a:rPr lang="en-US" sz="2900" dirty="0"/>
              <a:t>i = i + 1;</a:t>
            </a:r>
          </a:p>
          <a:p>
            <a:pPr marL="0" indent="0" algn="just">
              <a:buNone/>
            </a:pPr>
            <a:r>
              <a:rPr lang="en-US" sz="2900" dirty="0"/>
              <a:t>and </a:t>
            </a:r>
            <a:r>
              <a:rPr lang="en-US" sz="2900" dirty="0" err="1"/>
              <a:t>printf</a:t>
            </a:r>
            <a:r>
              <a:rPr lang="en-US" sz="2900" dirty="0"/>
              <a:t>("Hello, world!\n</a:t>
            </a:r>
            <a:r>
              <a:rPr lang="en-US" sz="2900" dirty="0" smtClean="0"/>
              <a:t>");</a:t>
            </a:r>
          </a:p>
          <a:p>
            <a:pPr marL="0" indent="0" algn="just">
              <a:buNone/>
            </a:pPr>
            <a:r>
              <a:rPr lang="en-US" sz="2900" dirty="0"/>
              <a:t>are all expression statements.</a:t>
            </a:r>
            <a:endParaRPr lang="en-US" sz="29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831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900" b="1" dirty="0" smtClean="0">
                <a:solidFill>
                  <a:srgbClr val="FF0000"/>
                </a:solidFill>
              </a:rPr>
              <a:t>Expression:</a:t>
            </a:r>
          </a:p>
          <a:p>
            <a:pPr marL="0" indent="0" algn="just">
              <a:buNone/>
            </a:pPr>
            <a:r>
              <a:rPr lang="en-US" sz="2400" dirty="0"/>
              <a:t>In C, however, the </a:t>
            </a:r>
            <a:r>
              <a:rPr lang="en-US" sz="2400" dirty="0">
                <a:solidFill>
                  <a:srgbClr val="0000CC"/>
                </a:solidFill>
              </a:rPr>
              <a:t>semicolon is a statement terminator</a:t>
            </a:r>
            <a:r>
              <a:rPr lang="en-US" sz="2400" dirty="0"/>
              <a:t>. </a:t>
            </a:r>
            <a:r>
              <a:rPr lang="en-US" sz="2400" dirty="0" smtClean="0"/>
              <a:t>Expression statements </a:t>
            </a:r>
            <a:r>
              <a:rPr lang="en-US" sz="2400" dirty="0"/>
              <a:t>do all of the real work in a C program. Whenever you need to compute new values </a:t>
            </a:r>
            <a:r>
              <a:rPr lang="en-US" sz="2400" dirty="0" smtClean="0"/>
              <a:t>for variables</a:t>
            </a:r>
            <a:r>
              <a:rPr lang="en-US" sz="2400" dirty="0"/>
              <a:t>, you'll typically use expression statements (and they'll typically contain </a:t>
            </a:r>
            <a:r>
              <a:rPr lang="en-US" sz="2400" dirty="0" smtClean="0"/>
              <a:t>assignment operators</a:t>
            </a:r>
            <a:r>
              <a:rPr lang="en-US" sz="2400" dirty="0"/>
              <a:t>). Whenever you want your program to do something visible, in the real world, </a:t>
            </a:r>
            <a:r>
              <a:rPr lang="en-US" sz="2400" dirty="0" smtClean="0"/>
              <a:t>you'll typically </a:t>
            </a:r>
            <a:r>
              <a:rPr lang="en-US" sz="2400" dirty="0"/>
              <a:t>call a function (as part of an expression statement). We've already seen the most </a:t>
            </a:r>
            <a:r>
              <a:rPr lang="en-US" sz="2400" dirty="0" smtClean="0"/>
              <a:t>basic example</a:t>
            </a:r>
            <a:r>
              <a:rPr lang="en-US" sz="2400" dirty="0"/>
              <a:t>: calling the function </a:t>
            </a:r>
            <a:r>
              <a:rPr lang="en-US" sz="2400" dirty="0" err="1"/>
              <a:t>printf</a:t>
            </a:r>
            <a:r>
              <a:rPr lang="en-US" sz="2400" dirty="0"/>
              <a:t> to print text to the screen.</a:t>
            </a:r>
          </a:p>
          <a:p>
            <a:pPr marL="0" indent="0" algn="just">
              <a:buNone/>
            </a:pPr>
            <a:r>
              <a:rPr lang="en-US" sz="2400" dirty="0"/>
              <a:t>Note -If no expression is present, the statement is often called the null statement.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3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Return</a:t>
            </a:r>
          </a:p>
          <a:p>
            <a:pPr marL="0" indent="0" algn="just">
              <a:buNone/>
            </a:pPr>
            <a:r>
              <a:rPr lang="en-US" sz="3000" dirty="0"/>
              <a:t>The return statement terminates execution of a function and returns control to the </a:t>
            </a:r>
            <a:r>
              <a:rPr lang="en-US" sz="3000" dirty="0" smtClean="0"/>
              <a:t>calling function</a:t>
            </a:r>
            <a:r>
              <a:rPr lang="en-US" sz="3000" dirty="0"/>
              <a:t>, with or without a return value. </a:t>
            </a:r>
            <a:r>
              <a:rPr lang="en-US" sz="3000" dirty="0" smtClean="0"/>
              <a:t>A </a:t>
            </a:r>
            <a:r>
              <a:rPr lang="en-US" sz="3000" dirty="0"/>
              <a:t>function may contain any </a:t>
            </a:r>
            <a:r>
              <a:rPr lang="en-US" sz="3000" dirty="0" smtClean="0"/>
              <a:t>number of </a:t>
            </a:r>
            <a:r>
              <a:rPr lang="en-US" sz="3000" dirty="0"/>
              <a:t>return statements. The return statement </a:t>
            </a:r>
            <a:r>
              <a:rPr lang="en-US" sz="3000" dirty="0" smtClean="0"/>
              <a:t>has</a:t>
            </a:r>
          </a:p>
          <a:p>
            <a:pPr marL="0" indent="0" algn="ctr">
              <a:buNone/>
            </a:pPr>
            <a:r>
              <a:rPr lang="en-US" sz="3000" dirty="0"/>
              <a:t>syntax: </a:t>
            </a:r>
            <a:r>
              <a:rPr lang="en-US" sz="3000" dirty="0">
                <a:solidFill>
                  <a:srgbClr val="0000CC"/>
                </a:solidFill>
              </a:rPr>
              <a:t>return expression(opt</a:t>
            </a:r>
            <a:r>
              <a:rPr lang="en-US" sz="3000" dirty="0" smtClean="0">
                <a:solidFill>
                  <a:srgbClr val="0000CC"/>
                </a:solidFill>
              </a:rPr>
              <a:t>);</a:t>
            </a:r>
          </a:p>
          <a:p>
            <a:pPr marL="0" indent="0" algn="just">
              <a:buNone/>
            </a:pPr>
            <a:r>
              <a:rPr lang="en-US" sz="3000" dirty="0"/>
              <a:t>If present, the expression is evaluated and its value is returned to the calling function. </a:t>
            </a:r>
            <a:r>
              <a:rPr lang="en-US" sz="3000" dirty="0" smtClean="0"/>
              <a:t>If necessary</a:t>
            </a:r>
            <a:r>
              <a:rPr lang="en-US" sz="3000" dirty="0"/>
              <a:t>, its value is converted to the declared type of </a:t>
            </a:r>
            <a:r>
              <a:rPr lang="en-US" sz="3000" dirty="0" smtClean="0"/>
              <a:t>the containing </a:t>
            </a:r>
            <a:r>
              <a:rPr lang="en-US" sz="3000" dirty="0"/>
              <a:t>function's return value.</a:t>
            </a:r>
            <a:endParaRPr lang="en-US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60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</a:rPr>
              <a:t>Return</a:t>
            </a:r>
          </a:p>
          <a:p>
            <a:pPr marL="0" indent="0" algn="just">
              <a:buNone/>
            </a:pPr>
            <a:r>
              <a:rPr lang="en-US" sz="2600" dirty="0"/>
              <a:t>A return statement with an expression cannot appear in a function whose return type is void . </a:t>
            </a:r>
            <a:endParaRPr lang="en-US" sz="2600" dirty="0" smtClean="0"/>
          </a:p>
          <a:p>
            <a:pPr marL="0" indent="0" algn="just">
              <a:buNone/>
            </a:pPr>
            <a:r>
              <a:rPr lang="en-US" sz="2600" dirty="0" smtClean="0"/>
              <a:t>If there </a:t>
            </a:r>
            <a:r>
              <a:rPr lang="en-US" sz="2600" dirty="0"/>
              <a:t>is no expression and the function is not defined as void , the return value is undefined. </a:t>
            </a:r>
            <a:endParaRPr lang="en-US" sz="2600" dirty="0" smtClean="0"/>
          </a:p>
          <a:p>
            <a:pPr marL="0" indent="0" algn="just">
              <a:buNone/>
            </a:pPr>
            <a:r>
              <a:rPr lang="en-US" sz="2600" dirty="0" smtClean="0"/>
              <a:t>For example</a:t>
            </a:r>
            <a:r>
              <a:rPr lang="en-US" sz="2600" dirty="0"/>
              <a:t>, the following main function returns an unpredictable value to the operating</a:t>
            </a:r>
          </a:p>
          <a:p>
            <a:pPr marL="0" indent="0" algn="just">
              <a:buNone/>
            </a:pPr>
            <a:r>
              <a:rPr lang="en-US" sz="2600" dirty="0"/>
              <a:t>system</a:t>
            </a:r>
            <a:r>
              <a:rPr lang="en-US" sz="2600" dirty="0" smtClean="0"/>
              <a:t>:</a:t>
            </a:r>
          </a:p>
          <a:p>
            <a:pPr marL="0" indent="0" algn="just">
              <a:buNone/>
            </a:pPr>
            <a:r>
              <a:rPr lang="en-US" sz="2600" dirty="0"/>
              <a:t>main ( )</a:t>
            </a:r>
          </a:p>
          <a:p>
            <a:pPr marL="0" indent="0" algn="just">
              <a:buNone/>
            </a:pPr>
            <a:r>
              <a:rPr lang="en-US" sz="2600" dirty="0" smtClean="0"/>
              <a:t>{</a:t>
            </a:r>
          </a:p>
          <a:p>
            <a:pPr marL="0" indent="0" algn="just">
              <a:buNone/>
            </a:pPr>
            <a:r>
              <a:rPr lang="en-US" sz="2600" dirty="0" smtClean="0"/>
              <a:t>return</a:t>
            </a:r>
            <a:r>
              <a:rPr lang="en-US" sz="2600" dirty="0"/>
              <a:t>;</a:t>
            </a:r>
          </a:p>
          <a:p>
            <a:pPr marL="0" indent="0" algn="just">
              <a:buNone/>
            </a:pPr>
            <a:r>
              <a:rPr lang="en-US" sz="2600" dirty="0"/>
              <a:t>}</a:t>
            </a:r>
            <a:endParaRPr lang="en-US" sz="2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282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Compound </a:t>
            </a:r>
            <a:r>
              <a:rPr lang="en-US" b="1" dirty="0" smtClean="0">
                <a:solidFill>
                  <a:srgbClr val="FF0000"/>
                </a:solidFill>
              </a:rPr>
              <a:t>statements</a:t>
            </a:r>
          </a:p>
          <a:p>
            <a:pPr marL="0" indent="0" algn="just">
              <a:buNone/>
            </a:pPr>
            <a:r>
              <a:rPr lang="en-US" dirty="0"/>
              <a:t>A compound statement (also called a "</a:t>
            </a:r>
            <a:r>
              <a:rPr lang="en-US" b="1" dirty="0">
                <a:solidFill>
                  <a:srgbClr val="0000CC"/>
                </a:solidFill>
              </a:rPr>
              <a:t>block</a:t>
            </a:r>
            <a:r>
              <a:rPr lang="en-US" dirty="0"/>
              <a:t>") typically appears as the body of another </a:t>
            </a:r>
            <a:r>
              <a:rPr lang="en-US" dirty="0" smtClean="0"/>
              <a:t>statement, such </a:t>
            </a:r>
            <a:r>
              <a:rPr lang="en-US" dirty="0"/>
              <a:t>as the if statement, for statement, while statement, </a:t>
            </a:r>
            <a:r>
              <a:rPr lang="en-US" dirty="0" smtClean="0"/>
              <a:t>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52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Compound </a:t>
            </a:r>
            <a:r>
              <a:rPr lang="en-US" b="1" dirty="0" smtClean="0">
                <a:solidFill>
                  <a:srgbClr val="FF0000"/>
                </a:solidFill>
              </a:rPr>
              <a:t>statements</a:t>
            </a:r>
          </a:p>
          <a:p>
            <a:pPr marL="0" indent="0" algn="just">
              <a:buNone/>
            </a:pPr>
            <a:r>
              <a:rPr lang="en-US" dirty="0" smtClean="0"/>
              <a:t>A </a:t>
            </a:r>
            <a:r>
              <a:rPr lang="en-US" dirty="0"/>
              <a:t>Compound statement consists of several individual statements enclosed within a pair of</a:t>
            </a:r>
          </a:p>
          <a:p>
            <a:pPr marL="0" indent="0" algn="just">
              <a:buNone/>
            </a:pPr>
            <a:r>
              <a:rPr lang="en-US" dirty="0"/>
              <a:t>braces { }. The individual statements may themselves be expression statements, </a:t>
            </a:r>
            <a:r>
              <a:rPr lang="en-US" dirty="0" smtClean="0"/>
              <a:t>compound statements </a:t>
            </a:r>
            <a:r>
              <a:rPr lang="en-US" dirty="0"/>
              <a:t>or control statements. Unlike expression statements, a compound statement does </a:t>
            </a:r>
            <a:r>
              <a:rPr lang="en-US" dirty="0" smtClean="0"/>
              <a:t>not end </a:t>
            </a:r>
            <a:r>
              <a:rPr lang="en-US" dirty="0"/>
              <a:t>with a semicolon. A typical Compound statement is given below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14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000" dirty="0"/>
              <a:t>In C, programs are executed sequentially in the order of which they appear. This </a:t>
            </a:r>
            <a:r>
              <a:rPr lang="en-US" sz="3000" dirty="0" smtClean="0"/>
              <a:t>condition does </a:t>
            </a:r>
            <a:r>
              <a:rPr lang="en-US" sz="3000" dirty="0"/>
              <a:t>not hold true always. Sometimes a situation may arise where we need to execute </a:t>
            </a:r>
            <a:r>
              <a:rPr lang="en-US" sz="3000" dirty="0" smtClean="0"/>
              <a:t>a certain </a:t>
            </a:r>
            <a:r>
              <a:rPr lang="en-US" sz="3000" dirty="0"/>
              <a:t>part of the program. Also it may happen that we may want to execute the same </a:t>
            </a:r>
            <a:r>
              <a:rPr lang="en-US" sz="3000" dirty="0" smtClean="0"/>
              <a:t>part more </a:t>
            </a:r>
            <a:r>
              <a:rPr lang="en-US" sz="3000" dirty="0"/>
              <a:t>than once. Control statements enable us to specify the order in which the </a:t>
            </a:r>
            <a:r>
              <a:rPr lang="en-US" sz="3000" dirty="0" smtClean="0"/>
              <a:t>various instructions </a:t>
            </a:r>
            <a:r>
              <a:rPr lang="en-US" sz="3000" dirty="0"/>
              <a:t>in the program are to be executed. They define how the control is </a:t>
            </a:r>
            <a:r>
              <a:rPr lang="en-US" sz="3000" dirty="0" smtClean="0"/>
              <a:t>transferred to </a:t>
            </a:r>
            <a:r>
              <a:rPr lang="en-US" sz="3000" dirty="0"/>
              <a:t>other parts of the program. Control statements are classified in the following ways</a:t>
            </a:r>
            <a:r>
              <a:rPr lang="en-US" dirty="0"/>
              <a:t>: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9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ctr">
              <a:buNone/>
            </a:pPr>
            <a:r>
              <a:rPr lang="en-US" sz="3000" dirty="0" smtClean="0"/>
              <a:t>Classification of control statements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14400"/>
            <a:ext cx="7086600" cy="5172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595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solidFill>
                  <a:srgbClr val="0000CC"/>
                </a:solidFill>
              </a:rPr>
              <a:t>Selection Statement/Conditional Statements/Decision </a:t>
            </a:r>
            <a:r>
              <a:rPr lang="en-US" sz="2400" b="1" dirty="0">
                <a:solidFill>
                  <a:srgbClr val="0000CC"/>
                </a:solidFill>
              </a:rPr>
              <a:t>Making </a:t>
            </a:r>
            <a:r>
              <a:rPr lang="en-US" sz="2400" b="1" dirty="0" smtClean="0">
                <a:solidFill>
                  <a:srgbClr val="0000CC"/>
                </a:solidFill>
              </a:rPr>
              <a:t>Statements:</a:t>
            </a:r>
          </a:p>
          <a:p>
            <a:pPr marL="0" indent="0" algn="just">
              <a:buNone/>
            </a:pPr>
            <a:r>
              <a:rPr lang="en-US" sz="2800" dirty="0" smtClean="0"/>
              <a:t>A </a:t>
            </a:r>
            <a:r>
              <a:rPr lang="en-US" sz="2800" dirty="0"/>
              <a:t>selection statement selects among a set of statements depending on the value of a </a:t>
            </a:r>
            <a:r>
              <a:rPr lang="en-US" sz="2800" dirty="0" smtClean="0"/>
              <a:t>controlling expression</a:t>
            </a:r>
            <a:r>
              <a:rPr lang="en-US" sz="2800" dirty="0"/>
              <a:t>. </a:t>
            </a:r>
            <a:endParaRPr lang="en-US" sz="2800" dirty="0" smtClean="0"/>
          </a:p>
          <a:p>
            <a:pPr marL="0" indent="0" algn="just">
              <a:buNone/>
            </a:pPr>
            <a:r>
              <a:rPr lang="en-US" sz="2800" dirty="0" smtClean="0"/>
              <a:t>Or</a:t>
            </a:r>
            <a:endParaRPr lang="en-US" sz="2800" dirty="0"/>
          </a:p>
          <a:p>
            <a:pPr marL="0" indent="0" algn="just">
              <a:buNone/>
            </a:pPr>
            <a:r>
              <a:rPr lang="en-US" sz="2800" dirty="0"/>
              <a:t>Moving execution control from one place/line to another line based on condition</a:t>
            </a:r>
          </a:p>
          <a:p>
            <a:pPr marL="0" indent="0" algn="just">
              <a:buNone/>
            </a:pPr>
            <a:r>
              <a:rPr lang="en-US" sz="2800" dirty="0"/>
              <a:t>Or</a:t>
            </a:r>
          </a:p>
          <a:p>
            <a:pPr marL="0" indent="0" algn="just">
              <a:buNone/>
            </a:pPr>
            <a:r>
              <a:rPr lang="en-US" sz="2800" dirty="0"/>
              <a:t>Conditional statements control the sequence of statement execution, depending on the value of </a:t>
            </a:r>
            <a:r>
              <a:rPr lang="en-US" sz="2800" dirty="0" smtClean="0"/>
              <a:t>a integer </a:t>
            </a:r>
            <a:r>
              <a:rPr lang="en-US" sz="2800" dirty="0"/>
              <a:t>expression</a:t>
            </a:r>
            <a:endParaRPr lang="en-US" sz="28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60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solidFill>
                  <a:srgbClr val="0000CC"/>
                </a:solidFill>
              </a:rPr>
              <a:t>Selection Statement/Conditional Statements/Decision </a:t>
            </a:r>
            <a:r>
              <a:rPr lang="en-US" sz="2400" b="1" dirty="0">
                <a:solidFill>
                  <a:srgbClr val="0000CC"/>
                </a:solidFill>
              </a:rPr>
              <a:t>Making </a:t>
            </a:r>
            <a:r>
              <a:rPr lang="en-US" sz="2400" b="1" dirty="0" smtClean="0">
                <a:solidFill>
                  <a:srgbClr val="0000CC"/>
                </a:solidFill>
              </a:rPr>
              <a:t>Statements:</a:t>
            </a:r>
          </a:p>
          <a:p>
            <a:pPr marL="0" indent="0" algn="just">
              <a:buNone/>
            </a:pPr>
            <a:endParaRPr lang="en-US" sz="2400" dirty="0" smtClean="0"/>
          </a:p>
          <a:p>
            <a:pPr marL="0" indent="0" algn="just">
              <a:buNone/>
            </a:pPr>
            <a:r>
              <a:rPr lang="en-US" sz="2400" dirty="0" smtClean="0"/>
              <a:t>The </a:t>
            </a:r>
            <a:r>
              <a:rPr lang="en-US" sz="2400" dirty="0"/>
              <a:t>selection statements are also known as Branching or Decision Control Statements</a:t>
            </a:r>
            <a:r>
              <a:rPr lang="en-US" sz="2400" dirty="0" smtClean="0"/>
              <a:t>.</a:t>
            </a:r>
          </a:p>
          <a:p>
            <a:pPr marL="0" indent="0" algn="just">
              <a:buNone/>
            </a:pPr>
            <a:endParaRPr lang="en-US" sz="2400" dirty="0" smtClean="0"/>
          </a:p>
          <a:p>
            <a:pPr marL="0" indent="0" algn="just">
              <a:buNone/>
            </a:pPr>
            <a:r>
              <a:rPr lang="en-US" sz="2400" dirty="0" smtClean="0"/>
              <a:t>Sometime </a:t>
            </a:r>
            <a:r>
              <a:rPr lang="en-US" sz="2400" dirty="0"/>
              <a:t>we come across situations where we have to make a decision. E.g. </a:t>
            </a:r>
            <a:r>
              <a:rPr lang="en-US" sz="2400" b="1" dirty="0">
                <a:solidFill>
                  <a:srgbClr val="0000CC"/>
                </a:solidFill>
              </a:rPr>
              <a:t>If</a:t>
            </a:r>
            <a:r>
              <a:rPr lang="en-US" sz="2400" dirty="0"/>
              <a:t> </a:t>
            </a: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weather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sunny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I will go out &amp; play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00CC"/>
                </a:solidFill>
              </a:rPr>
              <a:t>else</a:t>
            </a:r>
            <a:r>
              <a:rPr lang="en-US" sz="2400" dirty="0"/>
              <a:t>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will be at home</a:t>
            </a:r>
            <a:r>
              <a:rPr lang="en-US" sz="2400" dirty="0"/>
              <a:t>. Here my course of action </a:t>
            </a:r>
            <a:r>
              <a:rPr lang="en-US" sz="2400" dirty="0" smtClean="0"/>
              <a:t>is governed </a:t>
            </a:r>
            <a:r>
              <a:rPr lang="en-US" sz="2400" dirty="0"/>
              <a:t>by the kind of weather. If it’s sunny, I can go out &amp; play, else I have to </a:t>
            </a:r>
            <a:r>
              <a:rPr lang="en-US" sz="2400" dirty="0" smtClean="0"/>
              <a:t>stay indoors</a:t>
            </a:r>
            <a:r>
              <a:rPr lang="en-US" sz="2400" dirty="0"/>
              <a:t>.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choose an option out of 2 alternate options</a:t>
            </a:r>
            <a:r>
              <a:rPr lang="en-US" sz="2400" dirty="0"/>
              <a:t>. Likewise, we can find ourselves </a:t>
            </a:r>
            <a:r>
              <a:rPr lang="en-US" sz="2400" dirty="0" smtClean="0"/>
              <a:t>in situations </a:t>
            </a:r>
            <a:r>
              <a:rPr lang="en-US" sz="2400" dirty="0"/>
              <a:t>where we have to select among several alternatives. We have decision </a:t>
            </a:r>
            <a:r>
              <a:rPr lang="en-US" sz="2400" dirty="0" smtClean="0"/>
              <a:t>control statements </a:t>
            </a:r>
            <a:r>
              <a:rPr lang="en-US" sz="2400" dirty="0"/>
              <a:t>to implement this logic in computer programming</a:t>
            </a:r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23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solidFill>
                  <a:srgbClr val="0000CC"/>
                </a:solidFill>
              </a:rPr>
              <a:t>Selection Statement/Conditional Statements/Decision </a:t>
            </a:r>
            <a:r>
              <a:rPr lang="en-US" sz="2400" b="1" dirty="0">
                <a:solidFill>
                  <a:srgbClr val="0000CC"/>
                </a:solidFill>
              </a:rPr>
              <a:t>Making </a:t>
            </a:r>
            <a:r>
              <a:rPr lang="en-US" sz="2400" b="1" dirty="0" smtClean="0">
                <a:solidFill>
                  <a:srgbClr val="0000CC"/>
                </a:solidFill>
              </a:rPr>
              <a:t>Statements:</a:t>
            </a:r>
          </a:p>
          <a:p>
            <a:pPr marL="0" indent="0" algn="just">
              <a:buNone/>
            </a:pPr>
            <a:endParaRPr lang="en-US" sz="2400" dirty="0" smtClean="0"/>
          </a:p>
          <a:p>
            <a:pPr marL="0" indent="0" algn="just">
              <a:buNone/>
            </a:pPr>
            <a:r>
              <a:rPr lang="en-US" sz="3000" dirty="0"/>
              <a:t>Decision making structures require that the programmer specify 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or more conditions </a:t>
            </a:r>
            <a:r>
              <a:rPr lang="en-US" sz="3000" dirty="0" smtClean="0"/>
              <a:t>to be </a:t>
            </a:r>
            <a:r>
              <a:rPr lang="en-US" sz="3000" dirty="0"/>
              <a:t>evaluated or tested by the program, along with a statement or statements to be </a:t>
            </a:r>
            <a:r>
              <a:rPr lang="en-US" sz="3000" dirty="0" smtClean="0"/>
              <a:t>executed if </a:t>
            </a:r>
            <a:r>
              <a:rPr lang="en-US" sz="3000" dirty="0"/>
              <a:t>the condition is determined to be true, and optionally, other statements to be executed </a:t>
            </a:r>
            <a:r>
              <a:rPr lang="en-US" sz="3000" dirty="0" smtClean="0"/>
              <a:t>if the </a:t>
            </a:r>
            <a:r>
              <a:rPr lang="en-US" sz="3000" dirty="0"/>
              <a:t>condition is determined to be false.</a:t>
            </a: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24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solidFill>
                  <a:srgbClr val="0000CC"/>
                </a:solidFill>
              </a:rPr>
              <a:t>Selection Statement/Conditional Statements/Decision </a:t>
            </a:r>
            <a:r>
              <a:rPr lang="en-US" sz="2400" b="1" dirty="0">
                <a:solidFill>
                  <a:srgbClr val="0000CC"/>
                </a:solidFill>
              </a:rPr>
              <a:t>Making </a:t>
            </a:r>
            <a:r>
              <a:rPr lang="en-US" sz="2400" b="1" dirty="0" smtClean="0">
                <a:solidFill>
                  <a:srgbClr val="0000CC"/>
                </a:solidFill>
              </a:rPr>
              <a:t>Statements:</a:t>
            </a:r>
          </a:p>
          <a:p>
            <a:pPr marL="0" indent="0" algn="just">
              <a:buNone/>
            </a:pPr>
            <a:endParaRPr lang="en-US" sz="2400" dirty="0" smtClean="0"/>
          </a:p>
          <a:p>
            <a:pPr marL="0" indent="0" algn="just">
              <a:buNone/>
            </a:pPr>
            <a:r>
              <a:rPr lang="en-US" sz="3000" dirty="0" smtClean="0"/>
              <a:t>C’ language </a:t>
            </a:r>
            <a:r>
              <a:rPr lang="en-US" sz="3000" dirty="0"/>
              <a:t>supports two conditional statements.</a:t>
            </a:r>
          </a:p>
          <a:p>
            <a:pPr marL="0" indent="0" algn="just">
              <a:buNone/>
            </a:pPr>
            <a:r>
              <a:rPr lang="en-US" sz="3000" dirty="0"/>
              <a:t>1: if</a:t>
            </a:r>
          </a:p>
          <a:p>
            <a:pPr marL="0" indent="0" algn="just">
              <a:buNone/>
            </a:pPr>
            <a:r>
              <a:rPr lang="en-US" sz="3000" dirty="0"/>
              <a:t>2: switch.</a:t>
            </a:r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  <a:p>
            <a:pPr marL="0" indent="0" algn="just">
              <a:buNone/>
            </a:pPr>
            <a:endParaRPr lang="en-US" sz="3000" dirty="0"/>
          </a:p>
          <a:p>
            <a:pPr marL="0" indent="0" algn="just">
              <a:buNone/>
            </a:pPr>
            <a:endParaRPr lang="en-US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252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000" b="1" dirty="0">
                <a:solidFill>
                  <a:srgbClr val="0000CC"/>
                </a:solidFill>
              </a:rPr>
              <a:t>1: if Statement: </a:t>
            </a:r>
            <a:endParaRPr lang="en-US" sz="3000" b="1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000" dirty="0" smtClean="0"/>
              <a:t>The </a:t>
            </a:r>
            <a:r>
              <a:rPr lang="en-US" sz="3000" dirty="0"/>
              <a:t>if Statement may be implemented in different forms.</a:t>
            </a:r>
          </a:p>
          <a:p>
            <a:pPr algn="just">
              <a:buFont typeface="Wingdings" pitchFamily="2" charset="2"/>
              <a:buChar char="q"/>
            </a:pPr>
            <a:r>
              <a:rPr lang="en-US" sz="3000" dirty="0" smtClean="0"/>
              <a:t> </a:t>
            </a:r>
            <a:r>
              <a:rPr lang="en-US" sz="3000" dirty="0"/>
              <a:t>simple if statement.</a:t>
            </a:r>
          </a:p>
          <a:p>
            <a:pPr algn="just">
              <a:buFont typeface="Wingdings" pitchFamily="2" charset="2"/>
              <a:buChar char="q"/>
            </a:pPr>
            <a:r>
              <a:rPr lang="en-US" sz="3000" dirty="0" smtClean="0"/>
              <a:t> </a:t>
            </a:r>
            <a:r>
              <a:rPr lang="en-US" sz="3000" dirty="0"/>
              <a:t>if –else statement</a:t>
            </a:r>
          </a:p>
          <a:p>
            <a:pPr algn="just">
              <a:buFont typeface="Wingdings" pitchFamily="2" charset="2"/>
              <a:buChar char="q"/>
            </a:pPr>
            <a:r>
              <a:rPr lang="en-US" sz="3000" dirty="0" smtClean="0"/>
              <a:t>nested </a:t>
            </a:r>
            <a:r>
              <a:rPr lang="en-US" sz="3000" dirty="0"/>
              <a:t>if-else statement.</a:t>
            </a:r>
          </a:p>
          <a:p>
            <a:pPr algn="just">
              <a:buFont typeface="Wingdings" pitchFamily="2" charset="2"/>
              <a:buChar char="q"/>
            </a:pPr>
            <a:r>
              <a:rPr lang="en-US" sz="3000" dirty="0" smtClean="0"/>
              <a:t>else </a:t>
            </a:r>
            <a:r>
              <a:rPr lang="en-US" sz="3000" dirty="0"/>
              <a:t>if ladder.</a:t>
            </a:r>
          </a:p>
          <a:p>
            <a:pPr marL="0" indent="0" algn="just">
              <a:buNone/>
            </a:pPr>
            <a:endParaRPr lang="en-US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47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000" b="1" dirty="0" smtClean="0">
                <a:solidFill>
                  <a:srgbClr val="0000CC"/>
                </a:solidFill>
              </a:rPr>
              <a:t> </a:t>
            </a:r>
            <a:r>
              <a:rPr lang="en-US" sz="3000" b="1" dirty="0">
                <a:solidFill>
                  <a:srgbClr val="0000CC"/>
                </a:solidFill>
              </a:rPr>
              <a:t>if Statement: </a:t>
            </a:r>
            <a:endParaRPr lang="en-US" sz="3000" b="1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000" dirty="0"/>
              <a:t>The if statement controls conditional branching. The body of an if statement is executed if </a:t>
            </a:r>
            <a:r>
              <a:rPr lang="en-US" sz="3000" dirty="0" smtClean="0"/>
              <a:t>the value </a:t>
            </a:r>
            <a:r>
              <a:rPr lang="en-US" sz="3000" dirty="0"/>
              <a:t>of the expression is </a:t>
            </a:r>
            <a:r>
              <a:rPr lang="en-US" sz="30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nonzero</a:t>
            </a:r>
            <a:r>
              <a:rPr lang="en-US" sz="3000" dirty="0"/>
              <a:t>. Or if statement is used to execute the code if </a:t>
            </a:r>
            <a:r>
              <a:rPr lang="en-US" sz="3000" dirty="0" smtClean="0"/>
              <a:t>condition is </a:t>
            </a:r>
            <a:r>
              <a:rPr lang="en-US" sz="30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</a:t>
            </a:r>
            <a:r>
              <a:rPr lang="en-US" sz="3000" dirty="0"/>
              <a:t>. If the expression/condition is evaluated to </a:t>
            </a:r>
            <a:r>
              <a:rPr 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 (0)</a:t>
            </a:r>
            <a:r>
              <a:rPr lang="en-US" sz="3000" dirty="0"/>
              <a:t>, statements </a:t>
            </a:r>
            <a:r>
              <a:rPr lang="en-US" sz="3000" dirty="0">
                <a:solidFill>
                  <a:srgbClr val="0000CC"/>
                </a:solidFill>
              </a:rPr>
              <a:t>inside the body of if </a:t>
            </a:r>
            <a:r>
              <a:rPr lang="en-US" sz="3000" dirty="0" smtClean="0">
                <a:solidFill>
                  <a:srgbClr val="FF0000"/>
                </a:solidFill>
              </a:rPr>
              <a:t>is skipped </a:t>
            </a:r>
            <a:r>
              <a:rPr lang="en-US" sz="3000" dirty="0"/>
              <a:t>from </a:t>
            </a:r>
            <a:r>
              <a:rPr lang="en-US" sz="3000" dirty="0" smtClean="0"/>
              <a:t>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51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000" b="1" dirty="0" smtClean="0">
                <a:solidFill>
                  <a:srgbClr val="0000CC"/>
                </a:solidFill>
              </a:rPr>
              <a:t> </a:t>
            </a:r>
            <a:r>
              <a:rPr lang="en-US" sz="3000" b="1" dirty="0">
                <a:solidFill>
                  <a:srgbClr val="0000CC"/>
                </a:solidFill>
              </a:rPr>
              <a:t>if Statement: </a:t>
            </a:r>
            <a:endParaRPr lang="en-US" sz="3000" b="1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000" dirty="0"/>
              <a:t>Syntax of if statement:</a:t>
            </a:r>
          </a:p>
          <a:p>
            <a:pPr marL="0" indent="0" algn="just">
              <a:buNone/>
            </a:pPr>
            <a:r>
              <a:rPr lang="en-US" sz="3000" dirty="0"/>
              <a:t>if (condition )</a:t>
            </a:r>
          </a:p>
          <a:p>
            <a:pPr marL="0" indent="0" algn="just">
              <a:buNone/>
            </a:pPr>
            <a:r>
              <a:rPr lang="en-US" sz="3000" dirty="0" smtClean="0"/>
              <a:t>	{</a:t>
            </a:r>
            <a:endParaRPr lang="en-US" sz="3000" dirty="0"/>
          </a:p>
          <a:p>
            <a:pPr marL="0" indent="0" algn="just">
              <a:buNone/>
            </a:pPr>
            <a:r>
              <a:rPr lang="en-US" sz="3000" dirty="0" smtClean="0"/>
              <a:t>		Statement </a:t>
            </a:r>
            <a:r>
              <a:rPr lang="en-US" sz="3000" dirty="0"/>
              <a:t>1;</a:t>
            </a:r>
          </a:p>
          <a:p>
            <a:pPr marL="0" indent="0" algn="just">
              <a:buNone/>
            </a:pPr>
            <a:r>
              <a:rPr lang="en-US" sz="3000" dirty="0" smtClean="0"/>
              <a:t>		…………..</a:t>
            </a:r>
            <a:endParaRPr lang="en-US" sz="3000" dirty="0"/>
          </a:p>
          <a:p>
            <a:pPr marL="0" indent="0" algn="just">
              <a:buNone/>
            </a:pPr>
            <a:r>
              <a:rPr lang="en-US" sz="3000" dirty="0" smtClean="0"/>
              <a:t>		Statement </a:t>
            </a:r>
            <a:r>
              <a:rPr lang="en-US" sz="3000" dirty="0"/>
              <a:t>n;</a:t>
            </a:r>
          </a:p>
          <a:p>
            <a:pPr marL="0" indent="0" algn="just">
              <a:buNone/>
            </a:pPr>
            <a:r>
              <a:rPr lang="en-US" sz="3000" dirty="0" smtClean="0"/>
              <a:t>	}</a:t>
            </a:r>
            <a:endParaRPr lang="en-US" sz="3000" dirty="0"/>
          </a:p>
          <a:p>
            <a:pPr marL="0" indent="0" algn="just">
              <a:buNone/>
            </a:pPr>
            <a:r>
              <a:rPr lang="en-US" sz="3000" dirty="0"/>
              <a:t>//Rest of the code</a:t>
            </a:r>
            <a:endParaRPr lang="en-US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980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000" b="1" dirty="0" smtClean="0">
                <a:solidFill>
                  <a:srgbClr val="0000CC"/>
                </a:solidFill>
              </a:rPr>
              <a:t> </a:t>
            </a:r>
            <a:r>
              <a:rPr lang="en-US" sz="3000" b="1" dirty="0">
                <a:solidFill>
                  <a:srgbClr val="0000CC"/>
                </a:solidFill>
              </a:rPr>
              <a:t>if Statement: </a:t>
            </a:r>
            <a:endParaRPr lang="en-US" sz="3000" b="1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000" dirty="0"/>
              <a:t>If the condition is true(nonzero), the statement will be executed. If the condition </a:t>
            </a:r>
            <a:r>
              <a:rPr lang="en-US" sz="3000" dirty="0" smtClean="0"/>
              <a:t>is false(0</a:t>
            </a:r>
            <a:r>
              <a:rPr lang="en-US" sz="3000" dirty="0"/>
              <a:t>), the statement will not be executed. For example, suppose we are writing a </a:t>
            </a:r>
            <a:r>
              <a:rPr lang="en-US" sz="3000" dirty="0" smtClean="0"/>
              <a:t>billing program.</a:t>
            </a:r>
          </a:p>
          <a:p>
            <a:pPr marL="0" indent="0" algn="just">
              <a:buNone/>
            </a:pPr>
            <a:endParaRPr lang="en-US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886200"/>
            <a:ext cx="6811766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933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000" b="1" dirty="0" smtClean="0">
                <a:solidFill>
                  <a:srgbClr val="0000CC"/>
                </a:solidFill>
              </a:rPr>
              <a:t> </a:t>
            </a:r>
            <a:r>
              <a:rPr lang="en-US" sz="3000" b="1" dirty="0">
                <a:solidFill>
                  <a:srgbClr val="0000CC"/>
                </a:solidFill>
              </a:rPr>
              <a:t>if Statement: </a:t>
            </a:r>
            <a:endParaRPr lang="en-US" sz="3000" b="1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000" dirty="0"/>
              <a:t>Multiple statements may be grouped by putting them inside curly braces {}. For example:</a:t>
            </a:r>
            <a:endParaRPr lang="en-US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71800"/>
            <a:ext cx="7467600" cy="35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605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000" b="1" dirty="0" smtClean="0">
                <a:solidFill>
                  <a:srgbClr val="0000CC"/>
                </a:solidFill>
              </a:rPr>
              <a:t> </a:t>
            </a:r>
            <a:r>
              <a:rPr lang="en-US" sz="3000" b="1" dirty="0">
                <a:solidFill>
                  <a:srgbClr val="0000CC"/>
                </a:solidFill>
              </a:rPr>
              <a:t>if Statement: </a:t>
            </a:r>
            <a:endParaRPr lang="en-US" sz="3000" b="1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000" dirty="0"/>
              <a:t>Multiple statements may be grouped by putting them inside curly braces {}. For example:</a:t>
            </a:r>
            <a:endParaRPr lang="en-US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71800"/>
            <a:ext cx="7467600" cy="35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672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000" b="1" dirty="0" smtClean="0">
                <a:solidFill>
                  <a:srgbClr val="0000CC"/>
                </a:solidFill>
              </a:rPr>
              <a:t> </a:t>
            </a:r>
            <a:r>
              <a:rPr lang="en-US" sz="3000" b="1" dirty="0">
                <a:solidFill>
                  <a:srgbClr val="0000CC"/>
                </a:solidFill>
              </a:rPr>
              <a:t>if Statement: </a:t>
            </a:r>
            <a:endParaRPr lang="en-US" sz="3000" b="1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000" dirty="0"/>
              <a:t>Example:</a:t>
            </a:r>
          </a:p>
          <a:p>
            <a:pPr marL="0" indent="0" algn="just">
              <a:buNone/>
            </a:pPr>
            <a:r>
              <a:rPr lang="en-US" sz="2000" dirty="0"/>
              <a:t>#include&lt;</a:t>
            </a:r>
            <a:r>
              <a:rPr lang="en-US" sz="2000" dirty="0" err="1"/>
              <a:t>stdio.h</a:t>
            </a:r>
            <a:r>
              <a:rPr lang="en-US" sz="2000" dirty="0"/>
              <a:t>&gt;</a:t>
            </a:r>
          </a:p>
          <a:p>
            <a:pPr marL="0" indent="0" algn="just">
              <a:buNone/>
            </a:pPr>
            <a:r>
              <a:rPr lang="en-US" sz="2000" dirty="0"/>
              <a:t>main()</a:t>
            </a:r>
          </a:p>
          <a:p>
            <a:pPr marL="0" indent="0" algn="just">
              <a:buNone/>
            </a:pPr>
            <a:r>
              <a:rPr lang="en-US" sz="2000" dirty="0"/>
              <a:t>{</a:t>
            </a:r>
          </a:p>
          <a:p>
            <a:pPr marL="0" indent="0" algn="just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int</a:t>
            </a:r>
            <a:r>
              <a:rPr lang="en-US" sz="2000" dirty="0" smtClean="0"/>
              <a:t> </a:t>
            </a:r>
            <a:r>
              <a:rPr lang="en-US" sz="2000" dirty="0"/>
              <a:t>a=15,b=20</a:t>
            </a:r>
            <a:r>
              <a:rPr lang="en-US" sz="2000" dirty="0" smtClean="0"/>
              <a:t>;</a:t>
            </a:r>
          </a:p>
          <a:p>
            <a:pPr marL="0" indent="0" algn="just">
              <a:buNone/>
            </a:pPr>
            <a:r>
              <a:rPr lang="en-US" sz="2000" dirty="0" smtClean="0"/>
              <a:t>	if(b&gt;a</a:t>
            </a:r>
            <a:r>
              <a:rPr lang="en-US" sz="2000" dirty="0"/>
              <a:t>)</a:t>
            </a:r>
          </a:p>
          <a:p>
            <a:pPr marL="0" indent="0" algn="just">
              <a:buNone/>
            </a:pPr>
            <a:r>
              <a:rPr lang="en-US" sz="2000" dirty="0" smtClean="0"/>
              <a:t>	{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 smtClean="0"/>
              <a:t>		</a:t>
            </a:r>
            <a:r>
              <a:rPr lang="en-US" sz="2000" dirty="0" err="1" smtClean="0"/>
              <a:t>printf</a:t>
            </a:r>
            <a:r>
              <a:rPr lang="en-US" sz="2000" dirty="0"/>
              <a:t>("b is greater");</a:t>
            </a:r>
          </a:p>
          <a:p>
            <a:pPr marL="0" indent="0" algn="just">
              <a:buNone/>
            </a:pPr>
            <a:r>
              <a:rPr lang="en-US" sz="2000" dirty="0" smtClean="0"/>
              <a:t>	}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}</a:t>
            </a:r>
          </a:p>
          <a:p>
            <a:pPr marL="0" indent="0" algn="just">
              <a:buNone/>
            </a:pPr>
            <a:r>
              <a:rPr lang="en-US" sz="2000" dirty="0"/>
              <a:t>Output</a:t>
            </a:r>
          </a:p>
          <a:p>
            <a:pPr marL="0" indent="0" algn="just">
              <a:buNone/>
            </a:pPr>
            <a:r>
              <a:rPr lang="en-US" sz="2000" dirty="0"/>
              <a:t>b is greater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46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000" b="1" dirty="0" smtClean="0">
                <a:solidFill>
                  <a:srgbClr val="0000CC"/>
                </a:solidFill>
              </a:rPr>
              <a:t> </a:t>
            </a:r>
            <a:r>
              <a:rPr lang="en-US" sz="3000" b="1" dirty="0">
                <a:solidFill>
                  <a:srgbClr val="0000CC"/>
                </a:solidFill>
              </a:rPr>
              <a:t>if Statement: </a:t>
            </a:r>
            <a:endParaRPr lang="en-US" sz="3000" b="1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000" dirty="0"/>
              <a:t>Example</a:t>
            </a:r>
            <a:r>
              <a:rPr lang="en-US" sz="3000" dirty="0" smtClean="0"/>
              <a:t>: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93495"/>
            <a:ext cx="4724400" cy="4613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562600" y="4191000"/>
            <a:ext cx="2819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Output 1</a:t>
            </a:r>
          </a:p>
          <a:p>
            <a:r>
              <a:rPr lang="en-US" b="1" dirty="0"/>
              <a:t>Enter an integer: -2</a:t>
            </a:r>
          </a:p>
          <a:p>
            <a:r>
              <a:rPr lang="en-US" b="1" dirty="0"/>
              <a:t>You entered -2.</a:t>
            </a:r>
          </a:p>
          <a:p>
            <a:r>
              <a:rPr lang="en-US" b="1" dirty="0"/>
              <a:t>The if statement is easy.</a:t>
            </a:r>
          </a:p>
          <a:p>
            <a:endParaRPr lang="en-US" b="1" dirty="0" smtClean="0"/>
          </a:p>
          <a:p>
            <a:r>
              <a:rPr lang="en-US" b="1" dirty="0" smtClean="0"/>
              <a:t>Output </a:t>
            </a:r>
            <a:r>
              <a:rPr lang="en-US" b="1" dirty="0"/>
              <a:t>2</a:t>
            </a:r>
          </a:p>
          <a:p>
            <a:r>
              <a:rPr lang="en-US" b="1" dirty="0"/>
              <a:t>Enter an integer: 5</a:t>
            </a:r>
          </a:p>
          <a:p>
            <a:r>
              <a:rPr lang="en-US" b="1" dirty="0"/>
              <a:t>The if statement </a:t>
            </a:r>
            <a:r>
              <a:rPr lang="en-US" b="1" dirty="0" smtClean="0"/>
              <a:t>is </a:t>
            </a:r>
            <a:r>
              <a:rPr lang="en-US" b="1" dirty="0"/>
              <a:t>easy.</a:t>
            </a:r>
          </a:p>
        </p:txBody>
      </p:sp>
    </p:spTree>
    <p:extLst>
      <p:ext uri="{BB962C8B-B14F-4D97-AF65-F5344CB8AC3E}">
        <p14:creationId xmlns:p14="http://schemas.microsoft.com/office/powerpoint/2010/main" val="2499905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000" dirty="0" smtClean="0">
                <a:solidFill>
                  <a:srgbClr val="0000CC"/>
                </a:solidFill>
              </a:rPr>
              <a:t>Write </a:t>
            </a:r>
            <a:r>
              <a:rPr lang="en-US" sz="3000" dirty="0">
                <a:solidFill>
                  <a:srgbClr val="0000CC"/>
                </a:solidFill>
              </a:rPr>
              <a:t>a program to perform division of 2 </a:t>
            </a:r>
            <a:r>
              <a:rPr lang="en-US" sz="3000" dirty="0" err="1" smtClean="0">
                <a:solidFill>
                  <a:srgbClr val="0000CC"/>
                </a:solidFill>
              </a:rPr>
              <a:t>nos</a:t>
            </a:r>
            <a:endParaRPr lang="en-US" sz="3000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endParaRPr lang="en-US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24526"/>
            <a:ext cx="5715000" cy="4978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273998"/>
            <a:ext cx="2581275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149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3362</TotalTime>
  <Words>2425</Words>
  <Application>Microsoft Office PowerPoint</Application>
  <PresentationFormat>On-screen Show (4:3)</PresentationFormat>
  <Paragraphs>378</Paragraphs>
  <Slides>56</Slides>
  <Notes>51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58" baseType="lpstr">
      <vt:lpstr>Office Theme</vt:lpstr>
      <vt:lpstr>1_Slipstream</vt:lpstr>
      <vt:lpstr>Structure Programming  ICT-1105  Information and Communication Technology</vt:lpstr>
      <vt:lpstr>PowerPoint Presentation</vt:lpstr>
      <vt:lpstr>Expressions</vt:lpstr>
      <vt:lpstr>Expressions</vt:lpstr>
      <vt:lpstr>Expressions</vt:lpstr>
      <vt:lpstr>Operator Precedence </vt:lpstr>
      <vt:lpstr>Operator Precedence </vt:lpstr>
      <vt:lpstr>Operator Precedence </vt:lpstr>
      <vt:lpstr>Operator Precedence </vt:lpstr>
      <vt:lpstr>Operator Precedence </vt:lpstr>
      <vt:lpstr>Rules for Evaluation of Expression</vt:lpstr>
      <vt:lpstr>Operator Precedence and Associativity </vt:lpstr>
      <vt:lpstr>PowerPoint Presentation</vt:lpstr>
      <vt:lpstr>PowerPoint Presentation</vt:lpstr>
      <vt:lpstr>Type Conversion/Type casting</vt:lpstr>
      <vt:lpstr>Type Conversion/Type casting</vt:lpstr>
      <vt:lpstr>Type Conversion/Type casting</vt:lpstr>
      <vt:lpstr>Type Conversion/Type casting</vt:lpstr>
      <vt:lpstr>Type Conversion/Type casting</vt:lpstr>
      <vt:lpstr>Type Conversion/Type casting</vt:lpstr>
      <vt:lpstr>Type Conversion/Type casting</vt:lpstr>
      <vt:lpstr>Type Conversion/Type casting</vt:lpstr>
      <vt:lpstr>Type Conversion/Type casting</vt:lpstr>
      <vt:lpstr>Type Conversion/Type casting</vt:lpstr>
      <vt:lpstr>Type Conversion/Type casting</vt:lpstr>
      <vt:lpstr>Type Conversion/Type casting</vt:lpstr>
      <vt:lpstr>Type Conversion/Type casting</vt:lpstr>
      <vt:lpstr>Type Conversion/Type casting</vt:lpstr>
      <vt:lpstr>Type Conversion/Type casting</vt:lpstr>
      <vt:lpstr>PowerPoint Presentation</vt:lpstr>
      <vt:lpstr>STATEMENTS</vt:lpstr>
      <vt:lpstr>STATEMENTS</vt:lpstr>
      <vt:lpstr>STATEMENTS</vt:lpstr>
      <vt:lpstr>STATEMENTS</vt:lpstr>
      <vt:lpstr>STATEMENTS</vt:lpstr>
      <vt:lpstr>STATEMENTS</vt:lpstr>
      <vt:lpstr>STATEMENTS</vt:lpstr>
      <vt:lpstr>STATEMENTS</vt:lpstr>
      <vt:lpstr>STATEMENTS</vt:lpstr>
      <vt:lpstr>STATEMENTS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CONTROL STATEMENTS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Dulal Sir</cp:lastModifiedBy>
  <cp:revision>339</cp:revision>
  <dcterms:created xsi:type="dcterms:W3CDTF">2019-09-20T11:10:00Z</dcterms:created>
  <dcterms:modified xsi:type="dcterms:W3CDTF">2025-01-01T05:12:10Z</dcterms:modified>
</cp:coreProperties>
</file>