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8" r:id="rId2"/>
  </p:sldMasterIdLst>
  <p:notesMasterIdLst>
    <p:notesMasterId r:id="rId28"/>
  </p:notesMasterIdLst>
  <p:sldIdLst>
    <p:sldId id="463" r:id="rId3"/>
    <p:sldId id="484" r:id="rId4"/>
    <p:sldId id="485" r:id="rId5"/>
    <p:sldId id="486" r:id="rId6"/>
    <p:sldId id="487" r:id="rId7"/>
    <p:sldId id="488" r:id="rId8"/>
    <p:sldId id="489" r:id="rId9"/>
    <p:sldId id="490" r:id="rId10"/>
    <p:sldId id="491" r:id="rId11"/>
    <p:sldId id="492" r:id="rId12"/>
    <p:sldId id="493" r:id="rId13"/>
    <p:sldId id="494" r:id="rId14"/>
    <p:sldId id="495" r:id="rId15"/>
    <p:sldId id="496" r:id="rId16"/>
    <p:sldId id="497" r:id="rId17"/>
    <p:sldId id="498" r:id="rId18"/>
    <p:sldId id="499" r:id="rId19"/>
    <p:sldId id="500" r:id="rId20"/>
    <p:sldId id="501" r:id="rId21"/>
    <p:sldId id="503" r:id="rId22"/>
    <p:sldId id="504" r:id="rId23"/>
    <p:sldId id="505" r:id="rId24"/>
    <p:sldId id="506" r:id="rId25"/>
    <p:sldId id="507" r:id="rId26"/>
    <p:sldId id="461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9900CC"/>
    <a:srgbClr val="7030A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81317" autoAdjust="0"/>
  </p:normalViewPr>
  <p:slideViewPr>
    <p:cSldViewPr>
      <p:cViewPr varScale="1">
        <p:scale>
          <a:sx n="59" d="100"/>
          <a:sy n="59" d="100"/>
        </p:scale>
        <p:origin x="-168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5DCD7-0DB4-4E0B-B99D-38F426DFA1ED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4FB36-99AC-4CD3-8A8F-04DE1EFF5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5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08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5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0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3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4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0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33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6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8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8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93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605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642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952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43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37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015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80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687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025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48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22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364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5431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48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65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7" y="731567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12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8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99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86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48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48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4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6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998720"/>
            <a:ext cx="6400800" cy="1402080"/>
          </a:xfrm>
        </p:spPr>
        <p:txBody>
          <a:bodyPr rtlCol="0">
            <a:normAutofit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Lecture-02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50210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Structure Programming</a:t>
            </a:r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ICT-1105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D62340-A1EA-4CE0-A397-B868A3BF73D1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1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70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Languages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876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/>
              <a:t>In order to communicate with the computer user also needs to have a language that should </a:t>
            </a:r>
            <a:r>
              <a:rPr lang="en-US" dirty="0" smtClean="0"/>
              <a:t>be understood </a:t>
            </a:r>
            <a:r>
              <a:rPr lang="en-US" dirty="0"/>
              <a:t>by the computer. For this purpose, different languages are developed for </a:t>
            </a:r>
            <a:r>
              <a:rPr lang="en-US" dirty="0" smtClean="0"/>
              <a:t>performing different </a:t>
            </a:r>
            <a:r>
              <a:rPr lang="en-US" dirty="0"/>
              <a:t>types of work on the computer. </a:t>
            </a:r>
            <a:endParaRPr lang="en-US" dirty="0" smtClean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484" y="4038600"/>
            <a:ext cx="6400800" cy="2594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6999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Languages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876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 smtClean="0"/>
              <a:t>Basically</a:t>
            </a:r>
            <a:r>
              <a:rPr lang="en-US" dirty="0"/>
              <a:t>, languages are divided into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</a:t>
            </a:r>
            <a:r>
              <a:rPr lang="en-US" dirty="0"/>
              <a:t> </a:t>
            </a:r>
            <a:r>
              <a:rPr lang="en-US" dirty="0" smtClean="0"/>
              <a:t>categories according </a:t>
            </a:r>
            <a:r>
              <a:rPr lang="en-US" dirty="0"/>
              <a:t>to their </a:t>
            </a:r>
            <a:r>
              <a:rPr lang="en-US" dirty="0" smtClean="0"/>
              <a:t>interpretation.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Low Level Languages.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High Level Languages.</a:t>
            </a:r>
          </a:p>
        </p:txBody>
      </p:sp>
    </p:spTree>
    <p:extLst>
      <p:ext uri="{BB962C8B-B14F-4D97-AF65-F5344CB8AC3E}">
        <p14:creationId xmlns:p14="http://schemas.microsoft.com/office/powerpoint/2010/main" val="402560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Languages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876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Low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Level </a:t>
            </a:r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Languages: </a:t>
            </a:r>
          </a:p>
          <a:p>
            <a:pPr marL="0" indent="0" algn="just">
              <a:buNone/>
            </a:pPr>
            <a:r>
              <a:rPr lang="en-US" sz="2800" dirty="0"/>
              <a:t>Low level computer languages are machine codes or close to it. </a:t>
            </a:r>
            <a:r>
              <a:rPr lang="en-US" sz="2800" dirty="0">
                <a:solidFill>
                  <a:srgbClr val="0000CC"/>
                </a:solidFill>
              </a:rPr>
              <a:t>Computer cannot </a:t>
            </a:r>
            <a:r>
              <a:rPr lang="en-US" sz="2800" dirty="0" smtClean="0">
                <a:solidFill>
                  <a:srgbClr val="0000CC"/>
                </a:solidFill>
              </a:rPr>
              <a:t>understand instructions </a:t>
            </a:r>
            <a:r>
              <a:rPr lang="en-US" sz="2800" dirty="0">
                <a:solidFill>
                  <a:srgbClr val="0000CC"/>
                </a:solidFill>
              </a:rPr>
              <a:t>given in high level languages or in English</a:t>
            </a:r>
            <a:r>
              <a:rPr lang="en-US" sz="2800" dirty="0"/>
              <a:t>. It can only understand and </a:t>
            </a:r>
            <a:r>
              <a:rPr lang="en-US" sz="2800" dirty="0" smtClean="0"/>
              <a:t>execute instructions </a:t>
            </a:r>
            <a:r>
              <a:rPr lang="en-US" sz="2800" dirty="0"/>
              <a:t>given in the form of 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language i.e. language of 0 and 1</a:t>
            </a:r>
            <a:r>
              <a:rPr lang="en-US" sz="2800" dirty="0"/>
              <a:t>. </a:t>
            </a:r>
            <a:endParaRPr lang="en-US" sz="2800" dirty="0" smtClean="0"/>
          </a:p>
          <a:p>
            <a:pPr marL="0" indent="0" algn="just">
              <a:buNone/>
            </a:pPr>
            <a:endParaRPr lang="en-US" sz="2800" dirty="0"/>
          </a:p>
          <a:p>
            <a:pPr marL="0" indent="0" algn="just">
              <a:buNone/>
            </a:pPr>
            <a:r>
              <a:rPr lang="en-US" sz="2800" dirty="0" smtClean="0"/>
              <a:t>There </a:t>
            </a:r>
            <a:r>
              <a:rPr lang="en-US" sz="2800" dirty="0"/>
              <a:t>are two </a:t>
            </a:r>
            <a:r>
              <a:rPr lang="en-US" sz="2800" dirty="0" smtClean="0"/>
              <a:t>types of </a:t>
            </a:r>
            <a:r>
              <a:rPr lang="en-US" sz="2800" dirty="0"/>
              <a:t>low level languages: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800" dirty="0" smtClean="0"/>
              <a:t>Machine </a:t>
            </a:r>
            <a:r>
              <a:rPr lang="en-US" sz="2800" dirty="0"/>
              <a:t>Language.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800" dirty="0" smtClean="0"/>
              <a:t>Assembly </a:t>
            </a:r>
            <a:r>
              <a:rPr lang="en-US" sz="2800" dirty="0"/>
              <a:t>Language</a:t>
            </a:r>
          </a:p>
        </p:txBody>
      </p:sp>
    </p:spTree>
    <p:extLst>
      <p:ext uri="{BB962C8B-B14F-4D97-AF65-F5344CB8AC3E}">
        <p14:creationId xmlns:p14="http://schemas.microsoft.com/office/powerpoint/2010/main" val="3025614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Languages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81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Language: </a:t>
            </a:r>
            <a:r>
              <a:rPr lang="en-US" sz="2800" dirty="0"/>
              <a:t>It is the lowest and most elementary level of Programming language </a:t>
            </a:r>
            <a:r>
              <a:rPr lang="en-US" sz="2800" dirty="0" smtClean="0"/>
              <a:t>and was </a:t>
            </a:r>
            <a:r>
              <a:rPr lang="en-US" sz="2800" dirty="0"/>
              <a:t>the </a:t>
            </a:r>
            <a:r>
              <a:rPr lang="en-US" sz="28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type of programming language </a:t>
            </a:r>
            <a:r>
              <a:rPr lang="en-US" sz="2800" dirty="0"/>
              <a:t>to be Developed. Machine Language is basically </a:t>
            </a:r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only 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language which computer Can understand</a:t>
            </a:r>
            <a:r>
              <a:rPr lang="en-US" sz="2800" dirty="0"/>
              <a:t>. In fact, a manufacturer designs a computer </a:t>
            </a:r>
            <a:r>
              <a:rPr lang="en-US" sz="2800" dirty="0" smtClean="0"/>
              <a:t>to obey </a:t>
            </a:r>
            <a:r>
              <a:rPr lang="en-US" sz="2800" dirty="0"/>
              <a:t>just one Language, its machine code, which is represented inside the computer by a </a:t>
            </a:r>
            <a:r>
              <a:rPr lang="en-US" sz="2800" dirty="0" smtClean="0"/>
              <a:t>String of </a:t>
            </a:r>
            <a:r>
              <a:rPr lang="en-US" sz="2800" dirty="0"/>
              <a:t>binary digits (bits) 0 and 1. The symbol </a:t>
            </a:r>
            <a:r>
              <a:rPr lang="en-US" sz="28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stands for the absence of Electric puls</a:t>
            </a:r>
            <a:r>
              <a:rPr lang="en-US" sz="2800" dirty="0"/>
              <a:t>e and </a:t>
            </a:r>
            <a:r>
              <a:rPr lang="en-US" sz="28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for </a:t>
            </a:r>
            <a:r>
              <a:rPr lang="en-US" sz="280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presence </a:t>
            </a:r>
            <a:r>
              <a:rPr lang="en-US" sz="28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an electric pulse</a:t>
            </a:r>
            <a:r>
              <a:rPr lang="en-US" sz="2800" dirty="0"/>
              <a:t> . Since a computer is Capable of recognizing electric </a:t>
            </a:r>
            <a:r>
              <a:rPr lang="en-US" sz="2800" dirty="0" smtClean="0"/>
              <a:t>signals, therefore</a:t>
            </a:r>
            <a:r>
              <a:rPr lang="en-US" sz="2800" dirty="0"/>
              <a:t>, it understand machine Language.</a:t>
            </a:r>
          </a:p>
        </p:txBody>
      </p:sp>
    </p:spTree>
    <p:extLst>
      <p:ext uri="{BB962C8B-B14F-4D97-AF65-F5344CB8AC3E}">
        <p14:creationId xmlns:p14="http://schemas.microsoft.com/office/powerpoint/2010/main" val="3867799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Languages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1524000"/>
            <a:ext cx="8549415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794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Languages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Advantages of Machine </a:t>
            </a:r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Language: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2800" dirty="0"/>
              <a:t>i) It makes fast and efficient use of the computer.</a:t>
            </a:r>
          </a:p>
          <a:p>
            <a:pPr marL="0" indent="0" algn="just">
              <a:buNone/>
            </a:pPr>
            <a:r>
              <a:rPr lang="en-US" sz="2800" dirty="0"/>
              <a:t>ii) It requires no translator to translate the code i.e. </a:t>
            </a:r>
            <a:r>
              <a:rPr lang="en-US" sz="2800" dirty="0" smtClean="0"/>
              <a:t>Directly </a:t>
            </a:r>
            <a:r>
              <a:rPr lang="en-US" sz="2800" dirty="0"/>
              <a:t>understood by the </a:t>
            </a:r>
            <a:r>
              <a:rPr lang="en-US" sz="2800" dirty="0" smtClean="0"/>
              <a:t>computer</a:t>
            </a:r>
          </a:p>
          <a:p>
            <a:pPr marL="0" indent="0" algn="just">
              <a:buNone/>
            </a:pPr>
            <a:r>
              <a:rPr lang="en-US" sz="28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Disadvantages 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Machine Language:</a:t>
            </a:r>
          </a:p>
          <a:p>
            <a:pPr marL="0" indent="0" algn="just">
              <a:buNone/>
            </a:pPr>
            <a:r>
              <a:rPr lang="en-US" sz="2800" dirty="0"/>
              <a:t>i) All operation codes have to be </a:t>
            </a:r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remembered</a:t>
            </a:r>
            <a:r>
              <a:rPr lang="en-US" sz="2800" dirty="0" smtClean="0"/>
              <a:t>.</a:t>
            </a:r>
            <a:endParaRPr lang="en-US" sz="2800" dirty="0"/>
          </a:p>
          <a:p>
            <a:pPr marL="0" indent="0" algn="just">
              <a:buNone/>
            </a:pPr>
            <a:r>
              <a:rPr lang="en-US" sz="2800" dirty="0" smtClean="0"/>
              <a:t>ii) 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These languages are machine dependent</a:t>
            </a:r>
            <a:r>
              <a:rPr lang="en-US" sz="2800" dirty="0"/>
              <a:t> i.e. a </a:t>
            </a:r>
            <a:r>
              <a:rPr lang="en-US" sz="2800" dirty="0" smtClean="0"/>
              <a:t>particular Machine </a:t>
            </a:r>
            <a:r>
              <a:rPr lang="en-US" sz="2800" dirty="0"/>
              <a:t>language can be used on only one type of </a:t>
            </a:r>
            <a:r>
              <a:rPr lang="en-US" sz="2800" dirty="0" smtClean="0"/>
              <a:t>computer</a:t>
            </a:r>
          </a:p>
          <a:p>
            <a:pPr marL="0" indent="0" algn="just">
              <a:buNone/>
            </a:pPr>
            <a:r>
              <a:rPr lang="en-US" sz="2800" dirty="0"/>
              <a:t>iii) </a:t>
            </a:r>
            <a:r>
              <a:rPr lang="en-US" sz="2800" dirty="0" smtClean="0"/>
              <a:t>It is difficult </a:t>
            </a:r>
            <a:r>
              <a:rPr lang="en-US" sz="2800" dirty="0"/>
              <a:t>to learn and even more difficult to write programs.</a:t>
            </a:r>
          </a:p>
        </p:txBody>
      </p:sp>
    </p:spTree>
    <p:extLst>
      <p:ext uri="{BB962C8B-B14F-4D97-AF65-F5344CB8AC3E}">
        <p14:creationId xmlns:p14="http://schemas.microsoft.com/office/powerpoint/2010/main" val="1989716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Languages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800" dirty="0"/>
              <a:t>Assembly </a:t>
            </a:r>
            <a:r>
              <a:rPr lang="en-US" sz="2800" dirty="0" smtClean="0"/>
              <a:t>Language:</a:t>
            </a:r>
          </a:p>
          <a:p>
            <a:pPr marL="0" indent="0" algn="just">
              <a:buNone/>
            </a:pPr>
            <a:r>
              <a:rPr lang="en-US" sz="2200" dirty="0"/>
              <a:t>It was developed to overcome some of the many inconveniences of machine language. This </a:t>
            </a:r>
            <a:r>
              <a:rPr lang="en-US" sz="2200" dirty="0" smtClean="0"/>
              <a:t>is another </a:t>
            </a:r>
            <a:r>
              <a:rPr lang="en-US" sz="22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low level but a very important language in which operation codes and operands are </a:t>
            </a:r>
            <a:r>
              <a:rPr lang="en-US" sz="220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given in </a:t>
            </a:r>
            <a:r>
              <a:rPr lang="en-US" sz="22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form of alphanumeric symbols instead of </a:t>
            </a:r>
            <a:r>
              <a:rPr lang="en-US" sz="220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0’s </a:t>
            </a:r>
            <a:r>
              <a:rPr lang="en-US" sz="22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r>
              <a:rPr lang="en-US" sz="220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l’s</a:t>
            </a:r>
            <a:r>
              <a:rPr lang="en-US" sz="2200" dirty="0"/>
              <a:t>. These alphanumeric symbols will </a:t>
            </a:r>
            <a:r>
              <a:rPr lang="en-US" sz="2200" dirty="0" smtClean="0"/>
              <a:t>be known </a:t>
            </a:r>
            <a:r>
              <a:rPr lang="en-US" sz="2200" dirty="0"/>
              <a:t>as </a:t>
            </a:r>
            <a:r>
              <a:rPr lang="en-US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mnemonic codes </a:t>
            </a:r>
            <a:r>
              <a:rPr lang="en-US" sz="2200" dirty="0"/>
              <a:t>and can have </a:t>
            </a:r>
            <a:r>
              <a:rPr lang="en-US" sz="22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maximum up to 5 letter combination </a:t>
            </a:r>
            <a:r>
              <a:rPr lang="en-US" sz="2200" dirty="0"/>
              <a:t>e.g. ADD </a:t>
            </a:r>
            <a:r>
              <a:rPr lang="en-US" sz="2200" dirty="0" smtClean="0"/>
              <a:t>for addition</a:t>
            </a:r>
            <a:r>
              <a:rPr lang="en-US" sz="2200" dirty="0"/>
              <a:t>, SUB for subtraction, START,LABEL etc. Because of this feature it is also known </a:t>
            </a:r>
            <a:r>
              <a:rPr lang="en-US" sz="2200" dirty="0" smtClean="0"/>
              <a:t>as “</a:t>
            </a:r>
            <a:r>
              <a:rPr lang="en-US" sz="2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Symbolic </a:t>
            </a:r>
            <a:r>
              <a:rPr lang="en-US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Programming </a:t>
            </a:r>
            <a:r>
              <a:rPr lang="en-US" sz="2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Language</a:t>
            </a:r>
            <a:r>
              <a:rPr lang="en-US" sz="2200" dirty="0" smtClean="0"/>
              <a:t>”. </a:t>
            </a:r>
            <a:r>
              <a:rPr lang="en-US" sz="2200" dirty="0"/>
              <a:t>This language is also very difficult and needs a lot </a:t>
            </a:r>
            <a:r>
              <a:rPr lang="en-US" sz="2200" dirty="0" smtClean="0"/>
              <a:t>of practice </a:t>
            </a:r>
            <a:r>
              <a:rPr lang="en-US" sz="2200" dirty="0"/>
              <a:t>to master it because </a:t>
            </a:r>
            <a:r>
              <a:rPr lang="en-US" sz="22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very </a:t>
            </a:r>
            <a:r>
              <a:rPr lang="en-US" sz="220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small English </a:t>
            </a:r>
            <a:r>
              <a:rPr lang="en-US" sz="22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support is given to this language</a:t>
            </a:r>
            <a:r>
              <a:rPr lang="en-US" sz="2200" dirty="0"/>
              <a:t>. </a:t>
            </a:r>
            <a:r>
              <a:rPr lang="en-US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language mainly helps in compiler </a:t>
            </a:r>
            <a:r>
              <a:rPr lang="en-US" sz="2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orientations</a:t>
            </a:r>
            <a:r>
              <a:rPr lang="en-US" sz="2200" dirty="0" smtClean="0"/>
              <a:t>. The </a:t>
            </a:r>
            <a:r>
              <a:rPr lang="en-US" sz="2200" dirty="0"/>
              <a:t>instructions of the Assembly language will also be converted to machine codes by </a:t>
            </a:r>
            <a:r>
              <a:rPr lang="en-US" sz="2200" dirty="0" smtClean="0"/>
              <a:t>language translator </a:t>
            </a:r>
            <a:r>
              <a:rPr lang="en-US" sz="2200" dirty="0"/>
              <a:t>to be executed by the computer.</a:t>
            </a:r>
          </a:p>
        </p:txBody>
      </p:sp>
    </p:spTree>
    <p:extLst>
      <p:ext uri="{BB962C8B-B14F-4D97-AF65-F5344CB8AC3E}">
        <p14:creationId xmlns:p14="http://schemas.microsoft.com/office/powerpoint/2010/main" val="293154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Languages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800" dirty="0"/>
              <a:t>Assembly </a:t>
            </a:r>
            <a:r>
              <a:rPr lang="en-US" sz="2800" dirty="0" smtClean="0"/>
              <a:t>Language:</a:t>
            </a:r>
          </a:p>
          <a:p>
            <a:pPr marL="0" indent="0" algn="just">
              <a:buNone/>
            </a:pPr>
            <a:endParaRPr lang="en-US" sz="2800" dirty="0" smtClean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9" y="1524000"/>
            <a:ext cx="8152755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9315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Languages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Advantages of Assembly </a:t>
            </a:r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Language: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2800" dirty="0"/>
              <a:t>i) It is easier to understand and use as compared to machine language.</a:t>
            </a:r>
          </a:p>
          <a:p>
            <a:pPr marL="0" indent="0" algn="just">
              <a:buNone/>
            </a:pPr>
            <a:r>
              <a:rPr lang="en-US" sz="2800" dirty="0"/>
              <a:t>ii)It is easy to locate and correct errors.</a:t>
            </a:r>
          </a:p>
          <a:p>
            <a:pPr marL="0" indent="0" algn="just">
              <a:buNone/>
            </a:pPr>
            <a:r>
              <a:rPr lang="en-US" sz="2800" dirty="0"/>
              <a:t>iii) It is modified </a:t>
            </a:r>
            <a:r>
              <a:rPr lang="en-US" sz="2800" dirty="0" smtClean="0"/>
              <a:t>easily</a:t>
            </a:r>
          </a:p>
          <a:p>
            <a:pPr marL="0" indent="0" algn="just">
              <a:buNone/>
            </a:pPr>
            <a:endParaRPr lang="en-US" sz="2800" dirty="0"/>
          </a:p>
          <a:p>
            <a:pPr marL="0" indent="0" algn="just">
              <a:buNone/>
            </a:pPr>
            <a:r>
              <a:rPr lang="en-US" sz="28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Disadvantages of Assembly </a:t>
            </a:r>
            <a:r>
              <a:rPr lang="en-US" sz="280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Language:</a:t>
            </a:r>
            <a:endParaRPr lang="en-US" sz="28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2800" dirty="0"/>
              <a:t>i) Like machine language it is also machine dependent.</a:t>
            </a:r>
          </a:p>
          <a:p>
            <a:pPr marL="0" indent="0" algn="just">
              <a:buNone/>
            </a:pPr>
            <a:r>
              <a:rPr lang="en-US" sz="2800" dirty="0"/>
              <a:t>ii) Since it is machine dependent therefore programmer Should have the knowledge of </a:t>
            </a:r>
            <a:r>
              <a:rPr lang="en-US" sz="2800" dirty="0" smtClean="0"/>
              <a:t>the hardware </a:t>
            </a:r>
            <a:r>
              <a:rPr lang="en-US" sz="2800" dirty="0"/>
              <a:t>also.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328483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Languages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 Level </a:t>
            </a:r>
            <a:r>
              <a:rPr lang="en-US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Languages</a:t>
            </a:r>
            <a:r>
              <a:rPr lang="en-US" sz="2800" dirty="0" smtClean="0">
                <a:solidFill>
                  <a:srgbClr val="FF0000"/>
                </a:solidFill>
              </a:rPr>
              <a:t>:</a:t>
            </a:r>
            <a:endParaRPr lang="en-US" sz="2800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2800" dirty="0"/>
              <a:t>High level computer languages </a:t>
            </a:r>
            <a:r>
              <a:rPr lang="en-US" sz="2800" dirty="0">
                <a:solidFill>
                  <a:srgbClr val="0000CC"/>
                </a:solidFill>
              </a:rPr>
              <a:t>give formats close to English language</a:t>
            </a:r>
            <a:r>
              <a:rPr lang="en-US" sz="2800" dirty="0"/>
              <a:t> and the purpose </a:t>
            </a:r>
            <a:r>
              <a:rPr lang="en-US" sz="2800" dirty="0" smtClean="0"/>
              <a:t>of developing </a:t>
            </a:r>
            <a:r>
              <a:rPr lang="en-US" sz="2800" dirty="0"/>
              <a:t>high level languages is to </a:t>
            </a:r>
            <a:r>
              <a:rPr lang="en-US" sz="2800" dirty="0">
                <a:solidFill>
                  <a:srgbClr val="0000CC"/>
                </a:solidFill>
              </a:rPr>
              <a:t>enable people to write programs easily and in their </a:t>
            </a:r>
            <a:r>
              <a:rPr lang="en-US" sz="2800" dirty="0" smtClean="0">
                <a:solidFill>
                  <a:srgbClr val="0000CC"/>
                </a:solidFill>
              </a:rPr>
              <a:t>own native </a:t>
            </a:r>
            <a:r>
              <a:rPr lang="en-US" sz="2800" dirty="0">
                <a:solidFill>
                  <a:srgbClr val="0000CC"/>
                </a:solidFill>
              </a:rPr>
              <a:t>language environment (English)</a:t>
            </a:r>
            <a:r>
              <a:rPr lang="en-US" sz="2800" dirty="0"/>
              <a:t>. High-level languages are basically symbolic </a:t>
            </a:r>
            <a:r>
              <a:rPr lang="en-US" sz="2800" dirty="0" smtClean="0"/>
              <a:t>languages that </a:t>
            </a:r>
            <a:r>
              <a:rPr lang="en-US" sz="2800" dirty="0"/>
              <a:t>use English words and/or mathematical symbols rather than mnemonic codes. </a:t>
            </a:r>
            <a:r>
              <a:rPr lang="en-US" sz="2800" dirty="0" smtClean="0"/>
              <a:t>Each instruction </a:t>
            </a:r>
            <a:r>
              <a:rPr lang="en-US" sz="2800" dirty="0"/>
              <a:t>in the high level language is translated into many machine language instructions </a:t>
            </a:r>
            <a:r>
              <a:rPr lang="en-US" sz="2800" dirty="0" smtClean="0"/>
              <a:t>thus showing </a:t>
            </a:r>
            <a:r>
              <a:rPr lang="en-US" sz="2800" dirty="0"/>
              <a:t>one-to-many translation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212082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Languages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High Level 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Languages:</a:t>
            </a:r>
            <a:endParaRPr 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2400" dirty="0"/>
              <a:t>Many languages have been developed for achieving different variety of tasks, some are </a:t>
            </a:r>
            <a:r>
              <a:rPr lang="en-US" sz="2400" dirty="0" smtClean="0"/>
              <a:t>fairly specialized </a:t>
            </a:r>
            <a:r>
              <a:rPr lang="en-US" sz="2400" dirty="0"/>
              <a:t>others are quite general purpose.</a:t>
            </a:r>
          </a:p>
          <a:p>
            <a:pPr marL="0" indent="0" algn="just">
              <a:buNone/>
            </a:pPr>
            <a:r>
              <a:rPr lang="en-US" sz="2400" dirty="0"/>
              <a:t>These are categorized according to their use as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a) Algebraic Formula-Type </a:t>
            </a:r>
            <a:r>
              <a:rPr lang="en-US" sz="24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Processing: </a:t>
            </a:r>
            <a:r>
              <a:rPr lang="en-US" sz="2400" dirty="0" smtClean="0"/>
              <a:t>These </a:t>
            </a:r>
            <a:r>
              <a:rPr lang="en-US" sz="2400" dirty="0"/>
              <a:t>languages are oriented towards </a:t>
            </a:r>
            <a:r>
              <a:rPr lang="en-US" sz="2400" dirty="0" smtClean="0"/>
              <a:t>the computational </a:t>
            </a:r>
            <a:r>
              <a:rPr lang="en-US" sz="2400" dirty="0"/>
              <a:t>procedures for solving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mathematical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statistica</a:t>
            </a:r>
            <a:r>
              <a:rPr lang="en-US" sz="2400" dirty="0"/>
              <a:t>l </a:t>
            </a:r>
            <a:r>
              <a:rPr lang="en-US" sz="2400" dirty="0" smtClean="0"/>
              <a:t>problem. Examples </a:t>
            </a:r>
            <a:r>
              <a:rPr lang="en-US" sz="2400" dirty="0"/>
              <a:t>are</a:t>
            </a:r>
          </a:p>
          <a:p>
            <a:pPr algn="just"/>
            <a:r>
              <a:rPr lang="en-US" sz="2400" dirty="0" smtClean="0"/>
              <a:t>BASIC </a:t>
            </a:r>
            <a:r>
              <a:rPr lang="en-US" sz="2400" dirty="0"/>
              <a:t>(Beginners All Purpose Symbolic Instruction Code).</a:t>
            </a:r>
          </a:p>
          <a:p>
            <a:pPr algn="just"/>
            <a:r>
              <a:rPr lang="en-US" sz="2400" dirty="0" smtClean="0"/>
              <a:t>FORTRAN </a:t>
            </a:r>
            <a:r>
              <a:rPr lang="en-US" sz="2400" dirty="0"/>
              <a:t>(Formula Translation).</a:t>
            </a:r>
          </a:p>
          <a:p>
            <a:pPr algn="just"/>
            <a:r>
              <a:rPr lang="en-US" sz="2400" dirty="0" smtClean="0"/>
              <a:t>PL/I </a:t>
            </a:r>
            <a:r>
              <a:rPr lang="en-US" sz="2400" dirty="0"/>
              <a:t>(Programming Language, Version 1).</a:t>
            </a:r>
          </a:p>
          <a:p>
            <a:pPr algn="just"/>
            <a:r>
              <a:rPr lang="en-US" sz="2400" dirty="0" smtClean="0"/>
              <a:t>ALGOL </a:t>
            </a:r>
            <a:r>
              <a:rPr lang="en-US" sz="2400" dirty="0"/>
              <a:t>(Algorithmic Language</a:t>
            </a:r>
            <a:r>
              <a:rPr lang="en-US" sz="2400" dirty="0" smtClean="0"/>
              <a:t>).</a:t>
            </a:r>
          </a:p>
          <a:p>
            <a:pPr algn="just"/>
            <a:r>
              <a:rPr lang="en-US" sz="2400" dirty="0"/>
              <a:t>APL (A Programming Language).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872947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Languages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High Level 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Languages:</a:t>
            </a:r>
          </a:p>
          <a:p>
            <a:pPr marL="0" indent="0" algn="just">
              <a:buNone/>
            </a:pP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b) Business Data Processing:</a:t>
            </a:r>
          </a:p>
          <a:p>
            <a:pPr marL="0" indent="0" algn="just">
              <a:buNone/>
            </a:pPr>
            <a:r>
              <a:rPr lang="en-US" sz="2800" dirty="0" smtClean="0"/>
              <a:t>These </a:t>
            </a:r>
            <a:r>
              <a:rPr lang="en-US" sz="2800" dirty="0"/>
              <a:t>languages emphasize their capabilities for maintaining data processing </a:t>
            </a:r>
            <a:r>
              <a:rPr lang="en-US" sz="2800" dirty="0" smtClean="0"/>
              <a:t>procedures and </a:t>
            </a:r>
            <a:r>
              <a:rPr lang="en-US" sz="2800" dirty="0"/>
              <a:t>files handling problems. </a:t>
            </a:r>
            <a:endParaRPr lang="en-US" sz="2800" dirty="0" smtClean="0"/>
          </a:p>
          <a:p>
            <a:pPr marL="0" indent="0" algn="just">
              <a:buNone/>
            </a:pPr>
            <a:endParaRPr lang="en-US" sz="2800" dirty="0"/>
          </a:p>
          <a:p>
            <a:pPr marL="0" indent="0" algn="just">
              <a:buNone/>
            </a:pPr>
            <a:r>
              <a:rPr lang="en-US" sz="2800" dirty="0" smtClean="0"/>
              <a:t>Examples </a:t>
            </a:r>
            <a:r>
              <a:rPr lang="en-US" sz="2800" dirty="0"/>
              <a:t>are:</a:t>
            </a:r>
          </a:p>
          <a:p>
            <a:pPr algn="just"/>
            <a:r>
              <a:rPr lang="en-US" sz="2800" dirty="0" smtClean="0"/>
              <a:t>COBOL </a:t>
            </a:r>
            <a:r>
              <a:rPr lang="en-US" sz="2800" dirty="0"/>
              <a:t>(Common Business Oriented Language).</a:t>
            </a:r>
          </a:p>
          <a:p>
            <a:pPr algn="just"/>
            <a:r>
              <a:rPr lang="en-US" sz="2800" dirty="0" smtClean="0"/>
              <a:t>RPG </a:t>
            </a:r>
            <a:r>
              <a:rPr lang="en-US" sz="2800" dirty="0"/>
              <a:t>(Report Program </a:t>
            </a:r>
            <a:r>
              <a:rPr lang="en-US" sz="2800" dirty="0" smtClean="0"/>
              <a:t>Generator).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64819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Languages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High Level 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Languages:</a:t>
            </a:r>
          </a:p>
          <a:p>
            <a:pPr marL="0" indent="0" algn="just">
              <a:buNone/>
            </a:pP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28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 and List Processing: </a:t>
            </a:r>
            <a:endParaRPr lang="en-US" sz="2800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2800" dirty="0" smtClean="0"/>
              <a:t>These </a:t>
            </a:r>
            <a:r>
              <a:rPr lang="en-US" sz="2800" dirty="0"/>
              <a:t>are used for string manipulation including search </a:t>
            </a:r>
            <a:r>
              <a:rPr lang="en-US" sz="2800" dirty="0" smtClean="0"/>
              <a:t>for patterns</a:t>
            </a:r>
            <a:r>
              <a:rPr lang="en-US" sz="2800" dirty="0"/>
              <a:t>, inserting and deleting characters. </a:t>
            </a:r>
            <a:endParaRPr lang="en-US" sz="2800" dirty="0" smtClean="0"/>
          </a:p>
          <a:p>
            <a:pPr marL="0" indent="0" algn="just">
              <a:buNone/>
            </a:pPr>
            <a:endParaRPr lang="en-US" sz="2800" dirty="0"/>
          </a:p>
          <a:p>
            <a:pPr marL="0" indent="0" algn="just">
              <a:buNone/>
            </a:pPr>
            <a:r>
              <a:rPr lang="en-US" sz="2800" dirty="0" smtClean="0"/>
              <a:t>Examples </a:t>
            </a:r>
            <a:r>
              <a:rPr lang="en-US" sz="2800" dirty="0"/>
              <a:t>are:</a:t>
            </a:r>
          </a:p>
          <a:p>
            <a:pPr algn="just"/>
            <a:r>
              <a:rPr lang="en-US" sz="2800" dirty="0" smtClean="0"/>
              <a:t>LISP </a:t>
            </a:r>
            <a:r>
              <a:rPr lang="en-US" sz="2800" dirty="0"/>
              <a:t>(List Processing).</a:t>
            </a:r>
          </a:p>
          <a:p>
            <a:pPr algn="just"/>
            <a:r>
              <a:rPr lang="en-US" sz="2800" dirty="0" smtClean="0"/>
              <a:t>Prolog </a:t>
            </a:r>
            <a:r>
              <a:rPr lang="en-US" sz="2800" dirty="0"/>
              <a:t>(Program in Logic).</a:t>
            </a:r>
          </a:p>
        </p:txBody>
      </p:sp>
    </p:spTree>
    <p:extLst>
      <p:ext uri="{BB962C8B-B14F-4D97-AF65-F5344CB8AC3E}">
        <p14:creationId xmlns:p14="http://schemas.microsoft.com/office/powerpoint/2010/main" val="2845464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Languages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High Level 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Languages:</a:t>
            </a:r>
          </a:p>
          <a:p>
            <a:pPr marL="0" indent="0" algn="just">
              <a:buNone/>
            </a:pPr>
            <a:r>
              <a:rPr lang="en-US" sz="28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d) Object 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Oriented Programming </a:t>
            </a:r>
            <a:r>
              <a:rPr lang="en-US" sz="28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Language:</a:t>
            </a:r>
            <a:endParaRPr lang="en-US" sz="28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2800" dirty="0" smtClean="0"/>
              <a:t>In </a:t>
            </a:r>
            <a:r>
              <a:rPr lang="en-US" sz="2800" dirty="0"/>
              <a:t>OOP, the computer program is divided into objects. </a:t>
            </a:r>
            <a:endParaRPr lang="en-US" sz="2800" dirty="0" smtClean="0"/>
          </a:p>
          <a:p>
            <a:pPr marL="0" indent="0" algn="just">
              <a:buNone/>
            </a:pPr>
            <a:endParaRPr lang="en-US" sz="2800" dirty="0"/>
          </a:p>
          <a:p>
            <a:pPr marL="0" indent="0" algn="just">
              <a:buNone/>
            </a:pPr>
            <a:r>
              <a:rPr lang="en-US" sz="2800" dirty="0" smtClean="0"/>
              <a:t>Examples </a:t>
            </a:r>
            <a:r>
              <a:rPr lang="en-US" sz="2800" dirty="0"/>
              <a:t>are:</a:t>
            </a:r>
          </a:p>
          <a:p>
            <a:pPr algn="just"/>
            <a:r>
              <a:rPr lang="en-US" sz="2800" dirty="0" smtClean="0"/>
              <a:t>C</a:t>
            </a:r>
            <a:r>
              <a:rPr lang="en-US" sz="2800" dirty="0"/>
              <a:t>++</a:t>
            </a:r>
          </a:p>
          <a:p>
            <a:pPr algn="just"/>
            <a:r>
              <a:rPr lang="en-US" sz="2800" dirty="0" smtClean="0"/>
              <a:t>Java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86610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Languages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High Level 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Languages:</a:t>
            </a:r>
          </a:p>
          <a:p>
            <a:pPr marL="0" indent="0" algn="just">
              <a:buNone/>
            </a:pP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e) Visual programming language: </a:t>
            </a:r>
            <a:endParaRPr lang="en-US" sz="2800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2800" dirty="0" smtClean="0"/>
              <a:t>These </a:t>
            </a:r>
            <a:r>
              <a:rPr lang="en-US" sz="2800" dirty="0"/>
              <a:t>are designed for building Windows-based </a:t>
            </a:r>
            <a:r>
              <a:rPr lang="en-US" sz="2800" dirty="0" smtClean="0"/>
              <a:t>applications.</a:t>
            </a:r>
            <a:endParaRPr lang="en-US" sz="2800" dirty="0"/>
          </a:p>
          <a:p>
            <a:pPr marL="0" indent="0" algn="just">
              <a:buNone/>
            </a:pPr>
            <a:endParaRPr lang="en-US" sz="2800" dirty="0" smtClean="0"/>
          </a:p>
          <a:p>
            <a:pPr marL="0" indent="0" algn="just">
              <a:buNone/>
            </a:pPr>
            <a:r>
              <a:rPr lang="en-US" sz="2800" dirty="0" smtClean="0"/>
              <a:t>Examples </a:t>
            </a:r>
            <a:r>
              <a:rPr lang="en-US" sz="2800" dirty="0"/>
              <a:t>are:</a:t>
            </a:r>
          </a:p>
          <a:p>
            <a:pPr algn="just"/>
            <a:r>
              <a:rPr lang="en-US" sz="2800" dirty="0" smtClean="0"/>
              <a:t>Visual </a:t>
            </a:r>
            <a:r>
              <a:rPr lang="en-US" sz="2800" dirty="0"/>
              <a:t>Basic</a:t>
            </a:r>
          </a:p>
          <a:p>
            <a:pPr algn="just"/>
            <a:r>
              <a:rPr lang="en-US" sz="2800" dirty="0" smtClean="0"/>
              <a:t>Visual </a:t>
            </a:r>
            <a:r>
              <a:rPr lang="en-US" sz="2800" dirty="0"/>
              <a:t>Java</a:t>
            </a:r>
          </a:p>
          <a:p>
            <a:pPr algn="just"/>
            <a:r>
              <a:rPr lang="en-US" sz="2800" dirty="0" smtClean="0"/>
              <a:t>Visual </a:t>
            </a:r>
            <a:r>
              <a:rPr lang="en-US" sz="28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332897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Languages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95400"/>
            <a:ext cx="8647814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104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Languages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Advantages of High Level </a:t>
            </a:r>
            <a:r>
              <a:rPr lang="en-US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Language:</a:t>
            </a:r>
          </a:p>
          <a:p>
            <a:r>
              <a:rPr lang="en-US" dirty="0" smtClean="0"/>
              <a:t>User-friendly</a:t>
            </a:r>
            <a:endParaRPr lang="en-US" dirty="0"/>
          </a:p>
          <a:p>
            <a:r>
              <a:rPr lang="en-US" dirty="0" smtClean="0"/>
              <a:t>Similar </a:t>
            </a:r>
            <a:r>
              <a:rPr lang="en-US" dirty="0"/>
              <a:t>to English with vocabulary of words and symbols</a:t>
            </a:r>
          </a:p>
          <a:p>
            <a:r>
              <a:rPr lang="en-US" dirty="0" smtClean="0"/>
              <a:t>Therefore </a:t>
            </a:r>
            <a:r>
              <a:rPr lang="en-US" dirty="0"/>
              <a:t>it is easier to learn.</a:t>
            </a:r>
          </a:p>
          <a:p>
            <a:r>
              <a:rPr lang="en-US" dirty="0" smtClean="0"/>
              <a:t>They </a:t>
            </a:r>
            <a:r>
              <a:rPr lang="en-US" dirty="0"/>
              <a:t>are easier to maintain.</a:t>
            </a:r>
          </a:p>
        </p:txBody>
      </p:sp>
    </p:spTree>
    <p:extLst>
      <p:ext uri="{BB962C8B-B14F-4D97-AF65-F5344CB8AC3E}">
        <p14:creationId xmlns:p14="http://schemas.microsoft.com/office/powerpoint/2010/main" val="3647119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Languages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Disadvantages of High Level </a:t>
            </a:r>
            <a:r>
              <a:rPr lang="en-US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Language:</a:t>
            </a:r>
            <a:endParaRPr lang="en-US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en-US" dirty="0" smtClean="0"/>
              <a:t>A </a:t>
            </a:r>
            <a:r>
              <a:rPr lang="en-US" dirty="0"/>
              <a:t>high-level language has to be translated into the machine language by a translator </a:t>
            </a:r>
            <a:r>
              <a:rPr lang="en-US" dirty="0" smtClean="0"/>
              <a:t>and thus </a:t>
            </a:r>
            <a:r>
              <a:rPr lang="en-US" dirty="0"/>
              <a:t>a price in computer time is paid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object code generated by a </a:t>
            </a:r>
            <a:r>
              <a:rPr lang="en-US" dirty="0" smtClean="0"/>
              <a:t>translator might </a:t>
            </a:r>
            <a:r>
              <a:rPr lang="en-US" dirty="0"/>
              <a:t>be inefficient Compared to an </a:t>
            </a:r>
            <a:r>
              <a:rPr lang="en-US" dirty="0" smtClean="0"/>
              <a:t>equivalent assembly </a:t>
            </a:r>
            <a:r>
              <a:rPr lang="en-US" dirty="0"/>
              <a:t>language program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968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PROGRAMMING LANGUAGE TRANSLATORS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level language </a:t>
            </a:r>
            <a:r>
              <a:rPr lang="en-US" dirty="0"/>
              <a:t>is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independent </a:t>
            </a:r>
            <a:r>
              <a:rPr lang="en-US" dirty="0"/>
              <a:t>and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assembly </a:t>
            </a:r>
            <a:r>
              <a:rPr lang="en-US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language</a:t>
            </a:r>
            <a:r>
              <a:rPr lang="en-US" dirty="0" smtClean="0"/>
              <a:t> though </a:t>
            </a:r>
            <a:r>
              <a:rPr lang="en-US" dirty="0"/>
              <a:t>it is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dependent </a:t>
            </a:r>
            <a:r>
              <a:rPr lang="en-US" dirty="0"/>
              <a:t>yet mnemonics that are being used to </a:t>
            </a:r>
            <a:r>
              <a:rPr lang="en-US" dirty="0" smtClean="0"/>
              <a:t>represent </a:t>
            </a:r>
            <a:r>
              <a:rPr lang="en-US" b="1" dirty="0" smtClean="0">
                <a:solidFill>
                  <a:srgbClr val="9900CC"/>
                </a:solidFill>
              </a:rPr>
              <a:t>instructions</a:t>
            </a:r>
            <a:r>
              <a:rPr lang="en-US" dirty="0" smtClean="0">
                <a:solidFill>
                  <a:srgbClr val="9900CC"/>
                </a:solidFill>
              </a:rPr>
              <a:t> </a:t>
            </a:r>
            <a:r>
              <a:rPr lang="en-US" dirty="0"/>
              <a:t>are not directly understandable by the machine. Hence to make the </a:t>
            </a:r>
            <a:r>
              <a:rPr lang="en-US" dirty="0" smtClean="0"/>
              <a:t>machine understand </a:t>
            </a:r>
            <a:r>
              <a:rPr lang="en-US" dirty="0"/>
              <a:t>the instructions provided by both the languages, programming </a:t>
            </a:r>
            <a:r>
              <a:rPr lang="en-US" dirty="0" smtClean="0"/>
              <a:t>language instructors </a:t>
            </a:r>
            <a:r>
              <a:rPr lang="en-US" dirty="0"/>
              <a:t>are used. They </a:t>
            </a:r>
            <a:r>
              <a:rPr lang="en-US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transform the instruction </a:t>
            </a:r>
            <a:r>
              <a:rPr lang="en-US" dirty="0"/>
              <a:t>prepared by programmers into a </a:t>
            </a:r>
            <a:r>
              <a:rPr lang="en-US" dirty="0" smtClean="0"/>
              <a:t>form which </a:t>
            </a:r>
            <a:r>
              <a:rPr lang="en-US" dirty="0"/>
              <a:t>can be interpreted &amp; executed by the computer.</a:t>
            </a:r>
          </a:p>
        </p:txBody>
      </p:sp>
    </p:spTree>
    <p:extLst>
      <p:ext uri="{BB962C8B-B14F-4D97-AF65-F5344CB8AC3E}">
        <p14:creationId xmlns:p14="http://schemas.microsoft.com/office/powerpoint/2010/main" val="595701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PROGRAMMING LANGUAGE TRANSLATORS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Compiler:</a:t>
            </a:r>
            <a:r>
              <a:rPr lang="en-US" dirty="0"/>
              <a:t>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/>
              <a:t>software that reads a program written in high level language and </a:t>
            </a:r>
            <a:r>
              <a:rPr lang="en-US" dirty="0" smtClean="0"/>
              <a:t>translates it </a:t>
            </a:r>
            <a:r>
              <a:rPr lang="en-US" dirty="0"/>
              <a:t>into an equivalent program in machine language is called as compiler. The </a:t>
            </a:r>
            <a:r>
              <a:rPr lang="en-US" dirty="0" smtClean="0"/>
              <a:t>program written </a:t>
            </a:r>
            <a:r>
              <a:rPr lang="en-US" dirty="0"/>
              <a:t>by the programmer in high level language is called source program and </a:t>
            </a:r>
            <a:r>
              <a:rPr lang="en-US" dirty="0" smtClean="0"/>
              <a:t>the program </a:t>
            </a:r>
            <a:r>
              <a:rPr lang="en-US" dirty="0"/>
              <a:t>generated by the compiler after translation is called as object program.</a:t>
            </a:r>
          </a:p>
        </p:txBody>
      </p:sp>
    </p:spTree>
    <p:extLst>
      <p:ext uri="{BB962C8B-B14F-4D97-AF65-F5344CB8AC3E}">
        <p14:creationId xmlns:p14="http://schemas.microsoft.com/office/powerpoint/2010/main" val="2415908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PROGRAMMING LANGUAGE TRANSLATORS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Interpreter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endParaRPr lang="en-US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 smtClean="0"/>
              <a:t>It </a:t>
            </a:r>
            <a:r>
              <a:rPr lang="en-US" dirty="0"/>
              <a:t>also executes instructions written in a high level language.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Both complier 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 interpreter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have the same goal</a:t>
            </a:r>
            <a:r>
              <a:rPr lang="en-US" dirty="0"/>
              <a:t> i.e. to </a:t>
            </a:r>
            <a:r>
              <a:rPr lang="en-US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convert high level language into binary </a:t>
            </a:r>
            <a:r>
              <a:rPr lang="en-US" dirty="0" smtClean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instructions</a:t>
            </a:r>
            <a:r>
              <a:rPr lang="en-US" dirty="0" smtClean="0"/>
              <a:t>, but </a:t>
            </a:r>
            <a:r>
              <a:rPr lang="en-US" dirty="0"/>
              <a:t>their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 of execution is different</a:t>
            </a:r>
            <a:r>
              <a:rPr lang="en-US" dirty="0"/>
              <a:t>.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complier converts the entire source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 into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level program</a:t>
            </a:r>
            <a:r>
              <a:rPr lang="en-US" dirty="0"/>
              <a:t>, while the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interpreter takes 1 statement, translates it,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executes it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 then again takes the next statement.</a:t>
            </a:r>
          </a:p>
        </p:txBody>
      </p:sp>
    </p:spTree>
    <p:extLst>
      <p:ext uri="{BB962C8B-B14F-4D97-AF65-F5344CB8AC3E}">
        <p14:creationId xmlns:p14="http://schemas.microsoft.com/office/powerpoint/2010/main" val="179569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PROGRAMMING LANGUAGE TRANSLATORS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Assembler:</a:t>
            </a:r>
            <a:r>
              <a:rPr lang="en-US" sz="3600" dirty="0"/>
              <a:t> </a:t>
            </a:r>
            <a:endParaRPr lang="en-US" sz="3600" dirty="0" smtClean="0"/>
          </a:p>
          <a:p>
            <a:pPr marL="0" indent="0" algn="just">
              <a:buNone/>
            </a:pPr>
            <a:r>
              <a:rPr lang="en-US" sz="3600" dirty="0" smtClean="0"/>
              <a:t>The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</a:t>
            </a:r>
            <a:r>
              <a:rPr lang="en-US" sz="3600" dirty="0"/>
              <a:t> that reads a program written in assembly language and </a:t>
            </a:r>
            <a:r>
              <a:rPr lang="en-US" sz="3600" dirty="0" smtClean="0"/>
              <a:t>translates it </a:t>
            </a:r>
            <a:r>
              <a:rPr lang="en-US" sz="3600" dirty="0"/>
              <a:t>into an equivalent program in machine language is called as assembler.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93184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PROGRAMMING LANGUAGE TRANSLATORS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Linker: </a:t>
            </a:r>
            <a:endParaRPr lang="en-US" sz="3600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3600" dirty="0" smtClean="0"/>
              <a:t>A </a:t>
            </a:r>
            <a:r>
              <a:rPr lang="en-US" sz="3600" dirty="0"/>
              <a:t>linker or link editor is a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program</a:t>
            </a:r>
            <a:r>
              <a:rPr lang="en-US" sz="3600" dirty="0"/>
              <a:t> that takes one or more object </a:t>
            </a:r>
            <a:r>
              <a:rPr lang="en-US" sz="3600" dirty="0" smtClean="0"/>
              <a:t>files generated </a:t>
            </a:r>
            <a:r>
              <a:rPr lang="en-US" sz="3600" dirty="0"/>
              <a:t>by a compiler and combines them into a single executable file, library file, </a:t>
            </a:r>
            <a:r>
              <a:rPr lang="en-US" sz="3600" dirty="0" smtClean="0"/>
              <a:t>or another </a:t>
            </a:r>
            <a:r>
              <a:rPr lang="en-US" sz="3600" dirty="0"/>
              <a:t>object file.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8060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05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1512</TotalTime>
  <Words>1310</Words>
  <Application>Microsoft Office PowerPoint</Application>
  <PresentationFormat>On-screen Show (4:3)</PresentationFormat>
  <Paragraphs>162</Paragraphs>
  <Slides>25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Office Theme</vt:lpstr>
      <vt:lpstr>1_Slipstream</vt:lpstr>
      <vt:lpstr>Structure Programming  ICT-1105  Information and Communication Technology</vt:lpstr>
      <vt:lpstr>Computer Languages</vt:lpstr>
      <vt:lpstr>Computer Languages</vt:lpstr>
      <vt:lpstr>Computer Languages</vt:lpstr>
      <vt:lpstr>Computer Languages</vt:lpstr>
      <vt:lpstr>Computer Languages</vt:lpstr>
      <vt:lpstr>Computer Languages</vt:lpstr>
      <vt:lpstr>Computer Languages</vt:lpstr>
      <vt:lpstr>Computer Languages</vt:lpstr>
      <vt:lpstr>Computer Languages</vt:lpstr>
      <vt:lpstr>Computer Languages</vt:lpstr>
      <vt:lpstr>Computer Languages</vt:lpstr>
      <vt:lpstr>Computer Languages</vt:lpstr>
      <vt:lpstr>Computer Languages</vt:lpstr>
      <vt:lpstr>Computer Languages</vt:lpstr>
      <vt:lpstr>Computer Languages</vt:lpstr>
      <vt:lpstr>Computer Languages</vt:lpstr>
      <vt:lpstr>Computer Languages</vt:lpstr>
      <vt:lpstr>Computer Languages</vt:lpstr>
      <vt:lpstr>PROGRAMMING LANGUAGE TRANSLATORS</vt:lpstr>
      <vt:lpstr>PROGRAMMING LANGUAGE TRANSLATORS</vt:lpstr>
      <vt:lpstr>PROGRAMMING LANGUAGE TRANSLATORS</vt:lpstr>
      <vt:lpstr>PROGRAMMING LANGUAGE TRANSLATORS</vt:lpstr>
      <vt:lpstr>PROGRAMMING LANGUAGE TRANSLATORS</vt:lpstr>
      <vt:lpstr>Thank you….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 devices</dc:title>
  <dc:creator>AION</dc:creator>
  <cp:lastModifiedBy>AION</cp:lastModifiedBy>
  <cp:revision>156</cp:revision>
  <dcterms:created xsi:type="dcterms:W3CDTF">2019-09-20T11:10:00Z</dcterms:created>
  <dcterms:modified xsi:type="dcterms:W3CDTF">2024-11-13T04:11:54Z</dcterms:modified>
</cp:coreProperties>
</file>