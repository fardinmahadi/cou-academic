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77"/>
  </p:notesMasterIdLst>
  <p:sldIdLst>
    <p:sldId id="463" r:id="rId4"/>
    <p:sldId id="467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2" r:id="rId14"/>
    <p:sldId id="543" r:id="rId15"/>
    <p:sldId id="544" r:id="rId16"/>
    <p:sldId id="551" r:id="rId17"/>
    <p:sldId id="545" r:id="rId18"/>
    <p:sldId id="546" r:id="rId19"/>
    <p:sldId id="547" r:id="rId20"/>
    <p:sldId id="548" r:id="rId21"/>
    <p:sldId id="550" r:id="rId22"/>
    <p:sldId id="552" r:id="rId23"/>
    <p:sldId id="553" r:id="rId24"/>
    <p:sldId id="554" r:id="rId25"/>
    <p:sldId id="555" r:id="rId26"/>
    <p:sldId id="556" r:id="rId27"/>
    <p:sldId id="557" r:id="rId28"/>
    <p:sldId id="558" r:id="rId29"/>
    <p:sldId id="559" r:id="rId30"/>
    <p:sldId id="560" r:id="rId31"/>
    <p:sldId id="561" r:id="rId32"/>
    <p:sldId id="562" r:id="rId33"/>
    <p:sldId id="563" r:id="rId34"/>
    <p:sldId id="564" r:id="rId35"/>
    <p:sldId id="565" r:id="rId36"/>
    <p:sldId id="566" r:id="rId37"/>
    <p:sldId id="567" r:id="rId38"/>
    <p:sldId id="568" r:id="rId39"/>
    <p:sldId id="569" r:id="rId40"/>
    <p:sldId id="570" r:id="rId41"/>
    <p:sldId id="571" r:id="rId42"/>
    <p:sldId id="572" r:id="rId43"/>
    <p:sldId id="573" r:id="rId44"/>
    <p:sldId id="574" r:id="rId45"/>
    <p:sldId id="575" r:id="rId46"/>
    <p:sldId id="576" r:id="rId47"/>
    <p:sldId id="577" r:id="rId48"/>
    <p:sldId id="578" r:id="rId49"/>
    <p:sldId id="579" r:id="rId50"/>
    <p:sldId id="580" r:id="rId51"/>
    <p:sldId id="581" r:id="rId52"/>
    <p:sldId id="582" r:id="rId53"/>
    <p:sldId id="583" r:id="rId54"/>
    <p:sldId id="584" r:id="rId55"/>
    <p:sldId id="585" r:id="rId56"/>
    <p:sldId id="586" r:id="rId57"/>
    <p:sldId id="589" r:id="rId58"/>
    <p:sldId id="590" r:id="rId59"/>
    <p:sldId id="591" r:id="rId60"/>
    <p:sldId id="592" r:id="rId61"/>
    <p:sldId id="593" r:id="rId62"/>
    <p:sldId id="594" r:id="rId63"/>
    <p:sldId id="587" r:id="rId64"/>
    <p:sldId id="595" r:id="rId65"/>
    <p:sldId id="596" r:id="rId66"/>
    <p:sldId id="597" r:id="rId67"/>
    <p:sldId id="598" r:id="rId68"/>
    <p:sldId id="599" r:id="rId69"/>
    <p:sldId id="600" r:id="rId70"/>
    <p:sldId id="601" r:id="rId71"/>
    <p:sldId id="602" r:id="rId72"/>
    <p:sldId id="603" r:id="rId73"/>
    <p:sldId id="604" r:id="rId74"/>
    <p:sldId id="605" r:id="rId75"/>
    <p:sldId id="461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Lecture-11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Iterative Statements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Iterative Statements/ Loop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A sequence of statements are executed </a:t>
            </a:r>
            <a:r>
              <a:rPr lang="en-US" sz="3600" b="1" dirty="0">
                <a:solidFill>
                  <a:srgbClr val="FF0000"/>
                </a:solidFill>
              </a:rPr>
              <a:t>until a specified condition is true</a:t>
            </a:r>
            <a:r>
              <a:rPr lang="en-US" sz="3600" dirty="0"/>
              <a:t>. This sequence </a:t>
            </a:r>
            <a:r>
              <a:rPr lang="en-US" sz="3600" dirty="0" smtClean="0"/>
              <a:t>of statements </a:t>
            </a:r>
            <a:r>
              <a:rPr lang="en-US" sz="3600" dirty="0"/>
              <a:t>to be executed is kept inside the </a:t>
            </a:r>
            <a:r>
              <a:rPr lang="en-US" sz="3600" b="1" dirty="0">
                <a:solidFill>
                  <a:srgbClr val="FF0000"/>
                </a:solidFill>
              </a:rPr>
              <a:t>curly braces { } </a:t>
            </a:r>
            <a:r>
              <a:rPr lang="en-US" sz="3600" dirty="0"/>
              <a:t>known as the </a:t>
            </a:r>
            <a:r>
              <a:rPr lang="en-US" sz="3600" b="1" dirty="0">
                <a:solidFill>
                  <a:srgbClr val="0000CC"/>
                </a:solidFill>
              </a:rPr>
              <a:t>Loop body</a:t>
            </a:r>
            <a:r>
              <a:rPr lang="en-US" sz="3600" dirty="0"/>
              <a:t>. </a:t>
            </a:r>
            <a:r>
              <a:rPr lang="en-US" sz="3600" dirty="0" smtClean="0"/>
              <a:t>After every </a:t>
            </a:r>
            <a:r>
              <a:rPr lang="en-US" sz="3600" dirty="0"/>
              <a:t>execution of loop body, condition is verified, and if it is found to be true the loop body </a:t>
            </a:r>
            <a:r>
              <a:rPr lang="en-US" sz="3600" dirty="0" smtClean="0"/>
              <a:t>is executed </a:t>
            </a:r>
            <a:r>
              <a:rPr lang="en-US" sz="3600" dirty="0"/>
              <a:t>again. When the condition check returns false, the loop body is not executed.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5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Iterative Statements/ Loop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loops in C language are used to </a:t>
            </a:r>
            <a:r>
              <a:rPr lang="en-US" sz="3600" b="1" dirty="0">
                <a:solidFill>
                  <a:srgbClr val="0000CC"/>
                </a:solidFill>
              </a:rPr>
              <a:t>execute a block of code or a part of the program </a:t>
            </a:r>
            <a:r>
              <a:rPr lang="en-US" sz="3600" b="1" dirty="0" smtClean="0">
                <a:solidFill>
                  <a:srgbClr val="0000CC"/>
                </a:solidFill>
              </a:rPr>
              <a:t>several times</a:t>
            </a:r>
            <a:r>
              <a:rPr lang="en-US" sz="3600" dirty="0"/>
              <a:t>. In other words, it iterates/repeat a code or group of code many times.</a:t>
            </a:r>
          </a:p>
          <a:p>
            <a:pPr marL="0" indent="0" algn="just">
              <a:buNone/>
            </a:pPr>
            <a:r>
              <a:rPr lang="en-US" sz="3600" dirty="0"/>
              <a:t>Or </a:t>
            </a:r>
            <a:r>
              <a:rPr lang="en-US" sz="3600" b="1" dirty="0">
                <a:solidFill>
                  <a:srgbClr val="FF0000"/>
                </a:solidFill>
              </a:rPr>
              <a:t>Looping means a group of statements are executed repeatedly, until some logical </a:t>
            </a:r>
            <a:r>
              <a:rPr lang="en-US" sz="3600" b="1" dirty="0" smtClean="0">
                <a:solidFill>
                  <a:srgbClr val="FF0000"/>
                </a:solidFill>
              </a:rPr>
              <a:t>condition is </a:t>
            </a:r>
            <a:r>
              <a:rPr lang="en-US" sz="3600" b="1" dirty="0">
                <a:solidFill>
                  <a:srgbClr val="FF0000"/>
                </a:solidFill>
              </a:rPr>
              <a:t>satisfied</a:t>
            </a:r>
            <a:r>
              <a:rPr lang="en-US" sz="3600" dirty="0"/>
              <a:t>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702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Iterative Statements/ Loop Control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534400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24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use loops in C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Suppose that you have to print table of 2, then you need to write 10 lines of code</a:t>
            </a:r>
            <a:r>
              <a:rPr lang="en-US" sz="3600" dirty="0" smtClean="0"/>
              <a:t>. By </a:t>
            </a:r>
            <a:r>
              <a:rPr lang="en-US" sz="3600" dirty="0"/>
              <a:t>using </a:t>
            </a:r>
            <a:r>
              <a:rPr lang="en-US" sz="3600" dirty="0" smtClean="0"/>
              <a:t>the loop </a:t>
            </a:r>
            <a:r>
              <a:rPr lang="en-US" sz="3600" dirty="0"/>
              <a:t>statement, you can do it by 2 or 3 lines of code only.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95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Iterative Statements/ Loop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A looping process would include the following four steps</a:t>
            </a:r>
            <a:r>
              <a:rPr lang="en-US" sz="3600" dirty="0" smtClean="0"/>
              <a:t>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 variable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condition.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Executing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body of the loop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depending on the condition.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Updating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condition variable.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74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Iterative Statements/ Loop 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C language </a:t>
            </a:r>
            <a:r>
              <a:rPr lang="en-US" dirty="0"/>
              <a:t>provides </a:t>
            </a:r>
            <a:r>
              <a:rPr lang="en-US" b="1" dirty="0" smtClean="0">
                <a:solidFill>
                  <a:srgbClr val="FF0000"/>
                </a:solidFill>
              </a:rPr>
              <a:t>three</a:t>
            </a:r>
            <a:r>
              <a:rPr lang="en-US" dirty="0" smtClean="0"/>
              <a:t> iterative/repetitive </a:t>
            </a:r>
            <a:r>
              <a:rPr lang="en-US" dirty="0"/>
              <a:t>loops.</a:t>
            </a:r>
          </a:p>
          <a:p>
            <a:pPr marL="0" indent="0" algn="just">
              <a:buNone/>
            </a:pPr>
            <a:r>
              <a:rPr lang="en-US" sz="3600" dirty="0"/>
              <a:t>1 : </a:t>
            </a:r>
            <a:r>
              <a:rPr lang="en-US" sz="3600" dirty="0">
                <a:solidFill>
                  <a:srgbClr val="FF0000"/>
                </a:solidFill>
              </a:rPr>
              <a:t>while loop</a:t>
            </a:r>
          </a:p>
          <a:p>
            <a:pPr marL="0" indent="0" algn="just">
              <a:buNone/>
            </a:pPr>
            <a:r>
              <a:rPr lang="en-US" sz="3600" dirty="0"/>
              <a:t>2 : </a:t>
            </a:r>
            <a:r>
              <a:rPr lang="en-US" sz="3600" dirty="0">
                <a:solidFill>
                  <a:srgbClr val="0000CC"/>
                </a:solidFill>
              </a:rPr>
              <a:t>do-while loop</a:t>
            </a:r>
          </a:p>
          <a:p>
            <a:pPr marL="0" indent="0" algn="just">
              <a:buNone/>
            </a:pPr>
            <a:r>
              <a:rPr lang="en-US" sz="3600" dirty="0"/>
              <a:t>3 : </a:t>
            </a:r>
            <a:r>
              <a:rPr lang="en-US" sz="3600" dirty="0">
                <a:solidFill>
                  <a:srgbClr val="FF0000"/>
                </a:solidFill>
              </a:rPr>
              <a:t>for loop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25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while statement is used when the program needs to perform repetitive tasks. </a:t>
            </a:r>
            <a:r>
              <a:rPr lang="en-US" dirty="0" smtClean="0"/>
              <a:t>The general </a:t>
            </a:r>
            <a:r>
              <a:rPr lang="en-US" dirty="0"/>
              <a:t>form of a while statement is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( condition)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 ;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0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While Loop: Syntax </a:t>
            </a:r>
            <a:r>
              <a:rPr lang="en-US" sz="3600" dirty="0" smtClean="0"/>
              <a:t>: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initialization ;</a:t>
            </a:r>
          </a:p>
          <a:p>
            <a:pPr marL="0" indent="0" algn="just">
              <a:buNone/>
            </a:pPr>
            <a:r>
              <a:rPr lang="en-US" sz="3600" dirty="0"/>
              <a:t>while (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</a:t>
            </a:r>
            <a:r>
              <a:rPr lang="en-US" sz="3600" dirty="0"/>
              <a:t>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3600" dirty="0"/>
              <a:t>statements 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increment or decrement</a:t>
            </a:r>
            <a:r>
              <a:rPr lang="en-US" sz="3600" dirty="0"/>
              <a:t> 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95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while loop can be addressed as an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entry control loop</a:t>
            </a:r>
            <a:r>
              <a:rPr lang="en-US" sz="3600" dirty="0"/>
              <a:t>. It is completed in 3 steps</a:t>
            </a:r>
            <a:r>
              <a:rPr lang="en-US" sz="3600" dirty="0" smtClean="0"/>
              <a:t>.</a:t>
            </a:r>
            <a:endParaRPr lang="en-US" sz="3600" dirty="0"/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</a:t>
            </a:r>
            <a:r>
              <a:rPr lang="en-US" sz="3600" dirty="0"/>
              <a:t>.( </a:t>
            </a:r>
            <a:r>
              <a:rPr lang="en-US" sz="3600" dirty="0" err="1"/>
              <a:t>e.g</a:t>
            </a:r>
            <a:r>
              <a:rPr lang="en-US" sz="3600" dirty="0"/>
              <a:t> </a:t>
            </a:r>
            <a:r>
              <a:rPr lang="en-US" sz="3600" dirty="0" err="1"/>
              <a:t>int</a:t>
            </a:r>
            <a:r>
              <a:rPr lang="en-US" sz="3600" dirty="0"/>
              <a:t> x=0; 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</a:t>
            </a:r>
            <a:r>
              <a:rPr lang="en-US" sz="3600" dirty="0"/>
              <a:t>( </a:t>
            </a:r>
            <a:r>
              <a:rPr lang="en-US" sz="3600" dirty="0" err="1"/>
              <a:t>e.g</a:t>
            </a:r>
            <a:r>
              <a:rPr lang="en-US" sz="3600" dirty="0"/>
              <a:t> while( x&lt;=10) )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or decrement</a:t>
            </a:r>
            <a:r>
              <a:rPr lang="en-US" sz="3600" dirty="0"/>
              <a:t> ( x++ or x-- or x=x+2 )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739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The while loop is an entry controlled loop statement, </a:t>
            </a:r>
            <a:r>
              <a:rPr lang="en-US" sz="3600" b="1" dirty="0" err="1">
                <a:solidFill>
                  <a:srgbClr val="0000CC"/>
                </a:solidFill>
              </a:rPr>
              <a:t>i.e</a:t>
            </a:r>
            <a:r>
              <a:rPr lang="en-US" sz="3600" b="1" dirty="0">
                <a:solidFill>
                  <a:srgbClr val="0000CC"/>
                </a:solidFill>
              </a:rPr>
              <a:t> means the condition is </a:t>
            </a:r>
            <a:r>
              <a:rPr lang="en-US" sz="3600" b="1" dirty="0" smtClean="0">
                <a:solidFill>
                  <a:srgbClr val="0000CC"/>
                </a:solidFill>
              </a:rPr>
              <a:t>evaluated first</a:t>
            </a:r>
            <a:r>
              <a:rPr lang="en-US" sz="3600" dirty="0" smtClean="0"/>
              <a:t> </a:t>
            </a:r>
            <a:r>
              <a:rPr lang="en-US" sz="3600" dirty="0"/>
              <a:t>and </a:t>
            </a:r>
            <a:r>
              <a:rPr lang="en-US" sz="3600" dirty="0" smtClean="0"/>
              <a:t>if it </a:t>
            </a:r>
            <a:r>
              <a:rPr lang="en-US" sz="3600" dirty="0"/>
              <a:t>is true, then the body of the loop is executed. 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After </a:t>
            </a:r>
            <a:r>
              <a:rPr lang="en-US" sz="3600" dirty="0"/>
              <a:t>executing the body of the </a:t>
            </a:r>
            <a:r>
              <a:rPr lang="en-US" sz="3600" dirty="0" smtClean="0"/>
              <a:t>loop, the </a:t>
            </a:r>
            <a:r>
              <a:rPr lang="en-US" sz="3600" dirty="0"/>
              <a:t>condition is once again evaluated and if it is true, the body is executed once again, </a:t>
            </a:r>
            <a:r>
              <a:rPr lang="en-US" sz="3600" dirty="0" smtClean="0"/>
              <a:t>the process </a:t>
            </a:r>
            <a:r>
              <a:rPr lang="en-US" sz="3600" dirty="0"/>
              <a:t>of repeated execution of the loop continues until the condition finally becomes false </a:t>
            </a:r>
            <a:r>
              <a:rPr lang="en-US" sz="3600" dirty="0" smtClean="0"/>
              <a:t>and the </a:t>
            </a:r>
            <a:r>
              <a:rPr lang="en-US" sz="3600" dirty="0"/>
              <a:t>control is transferred out of the loop.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73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Flowchart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8" y="1371600"/>
            <a:ext cx="4595812" cy="5032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980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Example : Program to print first 10 natural </a:t>
            </a:r>
            <a:r>
              <a:rPr lang="en-US" sz="3600" b="1" dirty="0" smtClean="0">
                <a:solidFill>
                  <a:srgbClr val="0000CC"/>
                </a:solidFill>
              </a:rPr>
              <a:t>numbers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/>
              <a:t>main( )</a:t>
            </a:r>
          </a:p>
          <a:p>
            <a:pPr marL="0" indent="0" algn="just">
              <a:buNone/>
            </a:pPr>
            <a:r>
              <a:rPr lang="en-US" sz="3600" dirty="0" smtClean="0"/>
              <a:t>{</a:t>
            </a:r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/>
              <a:t>x;</a:t>
            </a:r>
          </a:p>
          <a:p>
            <a:pPr marL="0" indent="0" algn="just">
              <a:buNone/>
            </a:pPr>
            <a:r>
              <a:rPr lang="en-US" sz="3600" dirty="0" smtClean="0"/>
              <a:t>	x=1</a:t>
            </a:r>
            <a:r>
              <a:rPr lang="en-US" sz="3600" dirty="0"/>
              <a:t>;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71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	while(x</a:t>
            </a:r>
            <a:r>
              <a:rPr lang="en-US" sz="3600" dirty="0"/>
              <a:t>&lt;=10)</a:t>
            </a:r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printf</a:t>
            </a:r>
            <a:r>
              <a:rPr lang="en-US" sz="3600" dirty="0"/>
              <a:t>("%d\t", x);</a:t>
            </a:r>
          </a:p>
          <a:p>
            <a:pPr marL="0" indent="0" algn="just">
              <a:buNone/>
            </a:pPr>
            <a:r>
              <a:rPr lang="en-US" sz="3600" dirty="0" smtClean="0"/>
              <a:t>	x</a:t>
            </a:r>
            <a:r>
              <a:rPr lang="en-US" sz="3600" dirty="0"/>
              <a:t>++;</a:t>
            </a:r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return 0;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}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Output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1 2 3 4 5 6 7 8 9 10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7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C Program to reverse </a:t>
            </a:r>
            <a:r>
              <a:rPr lang="en-US" sz="3600" dirty="0" smtClean="0"/>
              <a:t>number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#include&lt;</a:t>
            </a:r>
            <a:r>
              <a:rPr lang="en-US" sz="3600" b="1" dirty="0" err="1">
                <a:solidFill>
                  <a:srgbClr val="0000CC"/>
                </a:solidFill>
              </a:rPr>
              <a:t>stdio.h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#include&lt;</a:t>
            </a:r>
            <a:r>
              <a:rPr lang="en-US" sz="3600" b="1" dirty="0" err="1">
                <a:solidFill>
                  <a:srgbClr val="0000CC"/>
                </a:solidFill>
              </a:rPr>
              <a:t>conio.h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main()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int</a:t>
            </a:r>
            <a:r>
              <a:rPr lang="en-US" sz="3600" b="1" dirty="0">
                <a:solidFill>
                  <a:srgbClr val="0000CC"/>
                </a:solidFill>
              </a:rPr>
              <a:t> n, reverse=0, rem;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clrscr</a:t>
            </a:r>
            <a:r>
              <a:rPr lang="en-US" sz="3600" b="1" dirty="0">
                <a:solidFill>
                  <a:srgbClr val="0000CC"/>
                </a:solidFill>
              </a:rPr>
              <a:t>();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("Enter a number: ");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scanf</a:t>
            </a:r>
            <a:r>
              <a:rPr lang="en-US" sz="3600" b="1" dirty="0">
                <a:solidFill>
                  <a:srgbClr val="0000CC"/>
                </a:solidFill>
              </a:rPr>
              <a:t>("%d", &amp;n);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91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while(n</a:t>
            </a:r>
            <a:r>
              <a:rPr lang="en-US" sz="3600" b="1" dirty="0">
                <a:solidFill>
                  <a:srgbClr val="0000CC"/>
                </a:solidFill>
              </a:rPr>
              <a:t>!=0)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{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rem=n%10</a:t>
            </a:r>
            <a:r>
              <a:rPr lang="en-US" sz="36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reverse=reverse*10+rem</a:t>
            </a:r>
            <a:r>
              <a:rPr lang="en-US" sz="36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n</a:t>
            </a:r>
            <a:r>
              <a:rPr lang="en-US" sz="3600" b="1" dirty="0">
                <a:solidFill>
                  <a:srgbClr val="0000CC"/>
                </a:solidFill>
              </a:rPr>
              <a:t>/=10;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}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("Reversed Number: %</a:t>
            </a:r>
            <a:r>
              <a:rPr lang="en-US" sz="3600" b="1" dirty="0" err="1">
                <a:solidFill>
                  <a:srgbClr val="0000CC"/>
                </a:solidFill>
              </a:rPr>
              <a:t>d",reverse</a:t>
            </a:r>
            <a:r>
              <a:rPr lang="en-US" sz="36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getch</a:t>
            </a:r>
            <a:r>
              <a:rPr lang="en-US" sz="3600" b="1" dirty="0">
                <a:solidFill>
                  <a:srgbClr val="0000CC"/>
                </a:solidFill>
              </a:rPr>
              <a:t>();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}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68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/* This program checks whether a given number is a palindrome or not </a:t>
            </a:r>
            <a:r>
              <a:rPr lang="en-US" sz="3600" dirty="0" smtClean="0"/>
              <a:t>*/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#</a:t>
            </a:r>
            <a:r>
              <a:rPr lang="en-US" sz="3600" b="1" dirty="0">
                <a:solidFill>
                  <a:srgbClr val="0000CC"/>
                </a:solidFill>
              </a:rPr>
              <a:t>include &lt;</a:t>
            </a:r>
            <a:r>
              <a:rPr lang="en-US" sz="3600" b="1" dirty="0" err="1">
                <a:solidFill>
                  <a:srgbClr val="0000CC"/>
                </a:solidFill>
              </a:rPr>
              <a:t>stdio.h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int</a:t>
            </a:r>
            <a:r>
              <a:rPr lang="en-US" sz="3600" b="1" dirty="0">
                <a:solidFill>
                  <a:srgbClr val="0000CC"/>
                </a:solidFill>
              </a:rPr>
              <a:t> main()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int</a:t>
            </a:r>
            <a:r>
              <a:rPr lang="en-US" sz="3600" b="1" dirty="0">
                <a:solidFill>
                  <a:srgbClr val="0000CC"/>
                </a:solidFill>
              </a:rPr>
              <a:t> n, reverse = 0, temp;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("Enter a number to check if it is a palindrome or not\n");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scanf</a:t>
            </a:r>
            <a:r>
              <a:rPr lang="en-US" sz="3600" b="1" dirty="0">
                <a:solidFill>
                  <a:srgbClr val="0000CC"/>
                </a:solidFill>
              </a:rPr>
              <a:t>("%</a:t>
            </a:r>
            <a:r>
              <a:rPr lang="en-US" sz="3600" b="1" dirty="0" err="1">
                <a:solidFill>
                  <a:srgbClr val="0000CC"/>
                </a:solidFill>
              </a:rPr>
              <a:t>d",&amp;n</a:t>
            </a:r>
            <a:r>
              <a:rPr lang="en-US" sz="36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temp = n;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796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while</a:t>
            </a:r>
            <a:r>
              <a:rPr lang="en-US" sz="3600" b="1" dirty="0">
                <a:solidFill>
                  <a:srgbClr val="0000CC"/>
                </a:solidFill>
              </a:rPr>
              <a:t>( temp != 0 )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{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reverse </a:t>
            </a:r>
            <a:r>
              <a:rPr lang="en-US" sz="3600" b="1" dirty="0">
                <a:solidFill>
                  <a:srgbClr val="0000CC"/>
                </a:solidFill>
              </a:rPr>
              <a:t>= reverse * 10;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reverse </a:t>
            </a:r>
            <a:r>
              <a:rPr lang="en-US" sz="3600" b="1" dirty="0">
                <a:solidFill>
                  <a:srgbClr val="0000CC"/>
                </a:solidFill>
              </a:rPr>
              <a:t>= reverse +temp%10;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temp </a:t>
            </a:r>
            <a:r>
              <a:rPr lang="en-US" sz="3600" b="1" dirty="0">
                <a:solidFill>
                  <a:srgbClr val="0000CC"/>
                </a:solidFill>
              </a:rPr>
              <a:t>= temp/10;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}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if </a:t>
            </a:r>
            <a:r>
              <a:rPr lang="en-US" sz="3600" b="1" dirty="0">
                <a:solidFill>
                  <a:srgbClr val="0000CC"/>
                </a:solidFill>
              </a:rPr>
              <a:t>( n == reverse )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("%d is a palindrome number.\n", n);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else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("%d is not a palindrome number.\n", n);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return 0;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}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43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Output:</a:t>
            </a:r>
          </a:p>
          <a:p>
            <a:pPr marL="0" indent="0" algn="just">
              <a:buNone/>
            </a:pPr>
            <a:r>
              <a:rPr lang="en-US" sz="3600" b="1" dirty="0"/>
              <a:t>Enter a number to check if it is a palindrome or not</a:t>
            </a:r>
          </a:p>
          <a:p>
            <a:pPr marL="0" indent="0" algn="just">
              <a:buNone/>
            </a:pPr>
            <a:r>
              <a:rPr lang="en-US" sz="3600" b="1" dirty="0"/>
              <a:t>12321</a:t>
            </a:r>
          </a:p>
          <a:p>
            <a:pPr marL="0" indent="0" algn="just">
              <a:buNone/>
            </a:pPr>
            <a:r>
              <a:rPr lang="en-US" sz="3600" b="1" dirty="0"/>
              <a:t>12321 is a palindrome</a:t>
            </a:r>
          </a:p>
          <a:p>
            <a:pPr marL="0" indent="0" algn="just">
              <a:buNone/>
            </a:pPr>
            <a:endParaRPr lang="en-US" sz="3600" b="1" dirty="0" smtClean="0"/>
          </a:p>
          <a:p>
            <a:pPr marL="0" indent="0" algn="just">
              <a:buNone/>
            </a:pPr>
            <a:r>
              <a:rPr lang="en-US" sz="3600" b="1" dirty="0" smtClean="0"/>
              <a:t>Enter </a:t>
            </a:r>
            <a:r>
              <a:rPr lang="en-US" sz="3600" b="1" dirty="0"/>
              <a:t>a number to check if it is a palindrome or not</a:t>
            </a:r>
          </a:p>
          <a:p>
            <a:pPr marL="0" indent="0" algn="just">
              <a:buNone/>
            </a:pPr>
            <a:r>
              <a:rPr lang="en-US" sz="3600" b="1" dirty="0"/>
              <a:t>12000</a:t>
            </a:r>
          </a:p>
          <a:p>
            <a:pPr marL="0" indent="0" algn="just">
              <a:buNone/>
            </a:pPr>
            <a:r>
              <a:rPr lang="en-US" sz="3600" b="1" dirty="0"/>
              <a:t>12000 is not a palindrome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1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The body of the do-while executes at least once</a:t>
            </a:r>
            <a:r>
              <a:rPr lang="en-US" sz="3600" dirty="0"/>
              <a:t>. The do-while structure is </a:t>
            </a:r>
            <a:r>
              <a:rPr lang="en-US" sz="3600" dirty="0">
                <a:solidFill>
                  <a:srgbClr val="FF0000"/>
                </a:solidFill>
              </a:rPr>
              <a:t>similar to </a:t>
            </a:r>
            <a:r>
              <a:rPr lang="en-US" sz="3600" dirty="0" smtClean="0">
                <a:solidFill>
                  <a:srgbClr val="FF0000"/>
                </a:solidFill>
              </a:rPr>
              <a:t>the while </a:t>
            </a:r>
            <a:r>
              <a:rPr lang="en-US" sz="3600" dirty="0">
                <a:solidFill>
                  <a:srgbClr val="FF0000"/>
                </a:solidFill>
              </a:rPr>
              <a:t>loop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0000CC"/>
                </a:solidFill>
              </a:rPr>
              <a:t>except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the relational test occurs at the bottom (rather than top</a:t>
            </a:r>
            <a:r>
              <a:rPr lang="en-US" sz="3600" dirty="0"/>
              <a:t>) of the loop. </a:t>
            </a:r>
            <a:r>
              <a:rPr lang="en-US" sz="3600" dirty="0" smtClean="0"/>
              <a:t>This ensures </a:t>
            </a:r>
            <a:r>
              <a:rPr lang="en-US" sz="3600" dirty="0"/>
              <a:t>that the body of the loop executes at least once. The do-while tests for a </a:t>
            </a:r>
            <a:r>
              <a:rPr lang="en-US" sz="3600" dirty="0" smtClean="0"/>
              <a:t>positive relational </a:t>
            </a:r>
            <a:r>
              <a:rPr lang="en-US" sz="3600" dirty="0"/>
              <a:t>test; that is, as long as the test is True, the body of the loop continues to </a:t>
            </a:r>
            <a:r>
              <a:rPr lang="en-US" sz="3600" dirty="0" smtClean="0"/>
              <a:t>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54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Syntax : </a:t>
            </a:r>
            <a:endParaRPr lang="en-US" sz="3600" b="1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FF0000"/>
                </a:solidFill>
              </a:rPr>
              <a:t>variable </a:t>
            </a:r>
            <a:r>
              <a:rPr lang="en-US" sz="3600" b="1" dirty="0">
                <a:solidFill>
                  <a:srgbClr val="FF0000"/>
                </a:solidFill>
              </a:rPr>
              <a:t>initialization </a:t>
            </a:r>
            <a:r>
              <a:rPr lang="en-US" sz="36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do</a:t>
            </a:r>
          </a:p>
          <a:p>
            <a:pPr marL="0" indent="0" algn="just">
              <a:buNone/>
            </a:pPr>
            <a:r>
              <a:rPr lang="en-US" sz="3600" b="1" dirty="0" smtClean="0"/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smtClean="0"/>
              <a:t>statements 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smtClean="0">
                <a:solidFill>
                  <a:srgbClr val="FF0000"/>
                </a:solidFill>
              </a:rPr>
              <a:t>variable </a:t>
            </a:r>
            <a:r>
              <a:rPr lang="en-US" sz="3600" b="1" dirty="0">
                <a:solidFill>
                  <a:srgbClr val="FF0000"/>
                </a:solidFill>
              </a:rPr>
              <a:t>increment or decrement </a:t>
            </a:r>
            <a:r>
              <a:rPr lang="en-US" sz="36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 </a:t>
            </a:r>
            <a:r>
              <a:rPr lang="en-US" sz="3600" b="1" dirty="0" smtClean="0"/>
              <a:t>}</a:t>
            </a:r>
            <a:r>
              <a:rPr lang="en-US" sz="3600" b="1" dirty="0">
                <a:solidFill>
                  <a:srgbClr val="0000CC"/>
                </a:solidFill>
              </a:rPr>
              <a:t>while (</a:t>
            </a:r>
            <a:r>
              <a:rPr lang="en-US" sz="3600" b="1" dirty="0">
                <a:solidFill>
                  <a:srgbClr val="FF0000"/>
                </a:solidFill>
              </a:rPr>
              <a:t>condition</a:t>
            </a:r>
            <a:r>
              <a:rPr lang="en-US" sz="3600" b="1" dirty="0">
                <a:solidFill>
                  <a:srgbClr val="0000CC"/>
                </a:solidFill>
              </a:rPr>
              <a:t>);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26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The </a:t>
            </a:r>
            <a:r>
              <a:rPr lang="en-US" sz="3600" b="1" dirty="0">
                <a:solidFill>
                  <a:srgbClr val="0000CC"/>
                </a:solidFill>
              </a:rPr>
              <a:t>do-while loop is an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exit controlled loop </a:t>
            </a:r>
            <a:r>
              <a:rPr lang="en-US" sz="3600" dirty="0" smtClean="0"/>
              <a:t>statement.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body of the loop are executed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</a:t>
            </a:r>
            <a:r>
              <a:rPr lang="en-US" sz="3600" dirty="0" smtClean="0"/>
              <a:t>and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the condition is evaluated</a:t>
            </a:r>
            <a:r>
              <a:rPr lang="en-US" sz="3600" dirty="0"/>
              <a:t>.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it is true, then the body of the loop is executed once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again</a:t>
            </a:r>
            <a:r>
              <a:rPr lang="en-US" sz="3600" dirty="0" smtClean="0"/>
              <a:t>. The </a:t>
            </a:r>
            <a:r>
              <a:rPr lang="en-US" sz="3600" dirty="0"/>
              <a:t>process of execution of body of the loop is continued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until the condition finally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becomes false</a:t>
            </a:r>
            <a:r>
              <a:rPr lang="en-US" sz="3600" dirty="0" smtClean="0"/>
              <a:t> </a:t>
            </a:r>
            <a:r>
              <a:rPr lang="en-US" sz="3600" dirty="0"/>
              <a:t>and the control is transferred to the statement immediately after the loop.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 are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always executed at least once.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1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</a:t>
            </a:r>
          </a:p>
          <a:p>
            <a:pPr marL="0" indent="0" algn="just">
              <a:buNone/>
            </a:pPr>
            <a:endParaRPr lang="en-US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57313"/>
            <a:ext cx="4343400" cy="5134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099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Example </a:t>
            </a:r>
            <a:r>
              <a:rPr lang="en-US" sz="3600" dirty="0"/>
              <a:t>: </a:t>
            </a:r>
            <a:r>
              <a:rPr lang="en-US" sz="3500" dirty="0"/>
              <a:t>Program to print first ten multiple of 5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#</a:t>
            </a:r>
            <a:r>
              <a:rPr lang="en-US" sz="3600" dirty="0"/>
              <a:t>include&lt;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conio.h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void main()</a:t>
            </a:r>
          </a:p>
          <a:p>
            <a:pPr marL="0" indent="0" algn="just">
              <a:buNone/>
            </a:pPr>
            <a:r>
              <a:rPr lang="en-US" sz="3600" dirty="0"/>
              <a:t>{</a:t>
            </a:r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/>
              <a:t>a,i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a=5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i=1</a:t>
            </a:r>
            <a:r>
              <a:rPr lang="en-US" sz="3600" dirty="0"/>
              <a:t>;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17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	do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dirty="0" err="1" smtClean="0"/>
              <a:t>printf</a:t>
            </a:r>
            <a:r>
              <a:rPr lang="en-US" sz="3600" dirty="0"/>
              <a:t>("%d\</a:t>
            </a:r>
            <a:r>
              <a:rPr lang="en-US" sz="3600" dirty="0" err="1"/>
              <a:t>t",a</a:t>
            </a:r>
            <a:r>
              <a:rPr lang="en-US" sz="3600" dirty="0"/>
              <a:t>*i);</a:t>
            </a:r>
          </a:p>
          <a:p>
            <a:pPr marL="0" indent="0" algn="just">
              <a:buNone/>
            </a:pPr>
            <a:r>
              <a:rPr lang="en-US" sz="3600" dirty="0" smtClean="0"/>
              <a:t>		i</a:t>
            </a:r>
            <a:r>
              <a:rPr lang="en-US" sz="3600" dirty="0"/>
              <a:t>++;</a:t>
            </a:r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r>
              <a:rPr lang="en-US" sz="3600" dirty="0"/>
              <a:t>while(i &lt;= 10);</a:t>
            </a:r>
          </a:p>
          <a:p>
            <a:pPr marL="0" indent="0" algn="just">
              <a:buNone/>
            </a:pPr>
            <a:r>
              <a:rPr lang="en-US" sz="3600" dirty="0" err="1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 smtClean="0"/>
              <a:t>}</a:t>
            </a:r>
          </a:p>
          <a:p>
            <a:pPr marL="0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  <a:p>
            <a:pPr marL="0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5 10 15 20 25 30 35 40 45 50</a:t>
            </a:r>
            <a:endParaRPr lang="en-US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54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600" dirty="0" smtClean="0"/>
              <a:t>	do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dirty="0" err="1" smtClean="0"/>
              <a:t>printf</a:t>
            </a:r>
            <a:r>
              <a:rPr lang="en-US" sz="3600" dirty="0"/>
              <a:t>("%d\</a:t>
            </a:r>
            <a:r>
              <a:rPr lang="en-US" sz="3600" dirty="0" err="1"/>
              <a:t>t",a</a:t>
            </a:r>
            <a:r>
              <a:rPr lang="en-US" sz="3600" dirty="0"/>
              <a:t>*i);</a:t>
            </a:r>
          </a:p>
          <a:p>
            <a:pPr marL="0" indent="0" algn="just">
              <a:buNone/>
            </a:pPr>
            <a:r>
              <a:rPr lang="en-US" sz="3600" dirty="0" smtClean="0"/>
              <a:t>		i</a:t>
            </a:r>
            <a:r>
              <a:rPr lang="en-US" sz="3600" dirty="0"/>
              <a:t>++;</a:t>
            </a:r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r>
              <a:rPr lang="en-US" sz="3600" dirty="0"/>
              <a:t>while(i &lt;= 10);</a:t>
            </a:r>
          </a:p>
          <a:p>
            <a:pPr marL="0" indent="0" algn="just">
              <a:buNone/>
            </a:pPr>
            <a:r>
              <a:rPr lang="en-US" sz="3600" dirty="0" err="1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 smtClean="0"/>
              <a:t>}</a:t>
            </a:r>
          </a:p>
          <a:p>
            <a:pPr marL="0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  <a:p>
            <a:pPr marL="0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5 10 15 20 25 30 35 40 45 50</a:t>
            </a:r>
            <a:endParaRPr lang="en-US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44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05800" cy="563880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en-US" sz="5000" b="1" dirty="0">
                <a:solidFill>
                  <a:srgbClr val="0000CC"/>
                </a:solidFill>
              </a:rPr>
              <a:t>// C program to add all the numbers entered by a user until user enters </a:t>
            </a:r>
            <a:r>
              <a:rPr lang="en-US" sz="5000" b="1" dirty="0" smtClean="0">
                <a:solidFill>
                  <a:srgbClr val="0000CC"/>
                </a:solidFill>
              </a:rPr>
              <a:t>0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6000" b="1" dirty="0" smtClean="0"/>
              <a:t>#</a:t>
            </a:r>
            <a:r>
              <a:rPr lang="en-US" sz="6000" b="1" dirty="0"/>
              <a:t>include &lt;</a:t>
            </a:r>
            <a:r>
              <a:rPr lang="en-US" sz="6000" b="1" dirty="0" err="1"/>
              <a:t>stdio.h</a:t>
            </a:r>
            <a:r>
              <a:rPr lang="en-US" sz="6000" b="1" dirty="0"/>
              <a:t>&gt;</a:t>
            </a:r>
          </a:p>
          <a:p>
            <a:pPr marL="0" indent="0" algn="just">
              <a:buNone/>
            </a:pPr>
            <a:r>
              <a:rPr lang="en-US" sz="6000" b="1" dirty="0" err="1"/>
              <a:t>int</a:t>
            </a:r>
            <a:r>
              <a:rPr lang="en-US" sz="6000" b="1" dirty="0"/>
              <a:t> main()</a:t>
            </a:r>
          </a:p>
          <a:p>
            <a:pPr marL="0" indent="0" algn="just">
              <a:buNone/>
            </a:pPr>
            <a:r>
              <a:rPr lang="en-US" sz="6000" b="1" dirty="0" smtClean="0"/>
              <a:t>{</a:t>
            </a:r>
          </a:p>
          <a:p>
            <a:pPr marL="0" indent="0" algn="just">
              <a:buNone/>
            </a:pPr>
            <a:r>
              <a:rPr lang="en-US" sz="6000" b="1" dirty="0"/>
              <a:t>	</a:t>
            </a:r>
            <a:r>
              <a:rPr lang="en-US" sz="6000" b="1" dirty="0" smtClean="0"/>
              <a:t> </a:t>
            </a:r>
            <a:r>
              <a:rPr lang="en-US" sz="6000" b="1" dirty="0" err="1"/>
              <a:t>int</a:t>
            </a:r>
            <a:r>
              <a:rPr lang="en-US" sz="6000" b="1" dirty="0"/>
              <a:t> sum=0,num;</a:t>
            </a:r>
          </a:p>
          <a:p>
            <a:pPr marL="0" indent="0" algn="just">
              <a:buNone/>
            </a:pPr>
            <a:r>
              <a:rPr lang="en-US" sz="6000" b="1" dirty="0" smtClean="0"/>
              <a:t>	do </a:t>
            </a:r>
            <a:r>
              <a:rPr lang="en-US" sz="4000" b="1" dirty="0"/>
              <a:t>/* Codes inside the body of do...while loops are at least executed once. */</a:t>
            </a:r>
          </a:p>
          <a:p>
            <a:pPr marL="0" indent="0" algn="just">
              <a:buNone/>
            </a:pPr>
            <a:r>
              <a:rPr lang="en-US" sz="6000" b="1" dirty="0" smtClean="0"/>
              <a:t>	{</a:t>
            </a:r>
            <a:endParaRPr lang="en-US" sz="6000" b="1" dirty="0"/>
          </a:p>
          <a:p>
            <a:pPr marL="0" indent="0" algn="just">
              <a:buNone/>
            </a:pPr>
            <a:r>
              <a:rPr lang="en-US" sz="6000" b="1" dirty="0" smtClean="0"/>
              <a:t>		</a:t>
            </a:r>
            <a:r>
              <a:rPr lang="en-US" sz="6000" b="1" dirty="0" err="1" smtClean="0"/>
              <a:t>printf</a:t>
            </a:r>
            <a:r>
              <a:rPr lang="en-US" sz="6000" b="1" dirty="0"/>
              <a:t>("Enter a number\n");</a:t>
            </a:r>
          </a:p>
          <a:p>
            <a:pPr marL="0" indent="0" algn="just">
              <a:buNone/>
            </a:pPr>
            <a:r>
              <a:rPr lang="en-US" sz="6000" b="1" dirty="0" smtClean="0"/>
              <a:t>		</a:t>
            </a:r>
            <a:r>
              <a:rPr lang="en-US" sz="6000" b="1" dirty="0" err="1" smtClean="0"/>
              <a:t>scanf</a:t>
            </a:r>
            <a:r>
              <a:rPr lang="en-US" sz="6000" b="1" dirty="0"/>
              <a:t>("%d",&amp;</a:t>
            </a:r>
            <a:r>
              <a:rPr lang="en-US" sz="6000" b="1" dirty="0" err="1"/>
              <a:t>num</a:t>
            </a:r>
            <a:r>
              <a:rPr lang="en-US" sz="6000" b="1" dirty="0"/>
              <a:t>);</a:t>
            </a:r>
          </a:p>
          <a:p>
            <a:pPr marL="0" indent="0" algn="just">
              <a:buNone/>
            </a:pPr>
            <a:r>
              <a:rPr lang="en-US" sz="6000" b="1" dirty="0" smtClean="0"/>
              <a:t>		sum</a:t>
            </a:r>
            <a:r>
              <a:rPr lang="en-US" sz="6000" b="1" dirty="0"/>
              <a:t>+=</a:t>
            </a:r>
            <a:r>
              <a:rPr lang="en-US" sz="6000" b="1" dirty="0" err="1"/>
              <a:t>num</a:t>
            </a:r>
            <a:r>
              <a:rPr lang="en-US" sz="6000" b="1" dirty="0"/>
              <a:t>;</a:t>
            </a:r>
          </a:p>
          <a:p>
            <a:pPr marL="0" indent="0" algn="just">
              <a:buNone/>
            </a:pPr>
            <a:r>
              <a:rPr lang="en-US" sz="6000" b="1" dirty="0" smtClean="0"/>
              <a:t>	} while(</a:t>
            </a:r>
            <a:r>
              <a:rPr lang="en-US" sz="6000" b="1" dirty="0" err="1" smtClean="0"/>
              <a:t>num</a:t>
            </a:r>
            <a:r>
              <a:rPr lang="en-US" sz="6000" b="1" dirty="0"/>
              <a:t>!=0);</a:t>
            </a:r>
          </a:p>
          <a:p>
            <a:pPr marL="0" indent="0" algn="just">
              <a:buNone/>
            </a:pPr>
            <a:r>
              <a:rPr lang="en-US" sz="6000" b="1" dirty="0"/>
              <a:t>	</a:t>
            </a:r>
            <a:r>
              <a:rPr lang="en-US" sz="6000" b="1" dirty="0" err="1" smtClean="0"/>
              <a:t>printf</a:t>
            </a:r>
            <a:r>
              <a:rPr lang="en-US" sz="6000" b="1" dirty="0"/>
              <a:t>("sum=%</a:t>
            </a:r>
            <a:r>
              <a:rPr lang="en-US" sz="6000" b="1" dirty="0" err="1"/>
              <a:t>d",sum</a:t>
            </a:r>
            <a:r>
              <a:rPr lang="en-US" sz="6000" b="1" dirty="0"/>
              <a:t>);</a:t>
            </a:r>
          </a:p>
          <a:p>
            <a:pPr marL="0" indent="0" algn="just">
              <a:buNone/>
            </a:pPr>
            <a:r>
              <a:rPr lang="en-US" sz="6000" b="1" dirty="0" smtClean="0"/>
              <a:t>	return </a:t>
            </a:r>
            <a:r>
              <a:rPr lang="en-US" sz="6000" b="1" dirty="0"/>
              <a:t>0;</a:t>
            </a:r>
          </a:p>
          <a:p>
            <a:pPr marL="0" indent="0" algn="just">
              <a:buNone/>
            </a:pPr>
            <a:r>
              <a:rPr lang="en-US" sz="6000" b="1" dirty="0"/>
              <a:t>}</a:t>
            </a:r>
            <a:endParaRPr lang="en-US" sz="60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8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105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C program to add all the numbers entered by a user until user enters </a:t>
            </a: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</a:p>
          <a:p>
            <a:pPr marL="0" indent="0" algn="just">
              <a:buNone/>
            </a:pPr>
            <a:r>
              <a:rPr lang="en-US" sz="3600" dirty="0"/>
              <a:t>Output:</a:t>
            </a:r>
          </a:p>
          <a:p>
            <a:pPr marL="0" indent="0" algn="just">
              <a:buNone/>
            </a:pPr>
            <a:r>
              <a:rPr lang="en-US" sz="3600" dirty="0"/>
              <a:t>Enter a number</a:t>
            </a:r>
          </a:p>
          <a:p>
            <a:pPr marL="0" indent="0" algn="just">
              <a:buNone/>
            </a:pPr>
            <a:r>
              <a:rPr lang="en-US" sz="3600" dirty="0"/>
              <a:t>3</a:t>
            </a:r>
          </a:p>
          <a:p>
            <a:pPr marL="0" indent="0" algn="just">
              <a:buNone/>
            </a:pPr>
            <a:r>
              <a:rPr lang="en-US" sz="3600" dirty="0"/>
              <a:t>Enter a number</a:t>
            </a:r>
          </a:p>
          <a:p>
            <a:pPr marL="0" indent="0" algn="just">
              <a:buNone/>
            </a:pPr>
            <a:r>
              <a:rPr lang="en-US" sz="3600" dirty="0"/>
              <a:t>-2</a:t>
            </a:r>
          </a:p>
          <a:p>
            <a:pPr marL="0" indent="0" algn="just">
              <a:buNone/>
            </a:pPr>
            <a:r>
              <a:rPr lang="en-US" sz="3600" dirty="0"/>
              <a:t>Enter a </a:t>
            </a:r>
            <a:r>
              <a:rPr lang="en-US" sz="3600" dirty="0" smtClean="0"/>
              <a:t>number</a:t>
            </a:r>
          </a:p>
          <a:p>
            <a:pPr marL="0" indent="0" algn="just">
              <a:buNone/>
            </a:pPr>
            <a:r>
              <a:rPr lang="en-US" sz="3600" dirty="0" smtClean="0"/>
              <a:t>0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sum=1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29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program:</a:t>
            </a:r>
          </a:p>
          <a:p>
            <a:pPr marL="0" indent="0" algn="just">
              <a:buNone/>
            </a:pPr>
            <a:r>
              <a:rPr lang="en-US" sz="3600" b="1" dirty="0"/>
              <a:t>#include &lt;</a:t>
            </a:r>
            <a:r>
              <a:rPr lang="en-US" sz="3600" b="1" dirty="0" err="1"/>
              <a:t>stdio.h</a:t>
            </a:r>
            <a:r>
              <a:rPr lang="en-US" sz="3600" b="1" dirty="0"/>
              <a:t>&gt;</a:t>
            </a:r>
          </a:p>
          <a:p>
            <a:pPr marL="0" indent="0" algn="just">
              <a:buNone/>
            </a:pPr>
            <a:r>
              <a:rPr lang="en-US" sz="3600" b="1" dirty="0" err="1" smtClean="0"/>
              <a:t>Int</a:t>
            </a:r>
            <a:r>
              <a:rPr lang="en-US" sz="3600" b="1" dirty="0" smtClean="0"/>
              <a:t> main</a:t>
            </a:r>
            <a:r>
              <a:rPr lang="en-US" sz="3600" b="1" dirty="0"/>
              <a:t>()</a:t>
            </a:r>
          </a:p>
          <a:p>
            <a:pPr marL="0" indent="0" algn="just">
              <a:buNone/>
            </a:pPr>
            <a:r>
              <a:rPr lang="en-US" sz="3600" b="1" dirty="0"/>
              <a:t>{</a:t>
            </a:r>
          </a:p>
          <a:p>
            <a:pPr marL="0" indent="0" algn="just">
              <a:buNone/>
            </a:pPr>
            <a:r>
              <a:rPr lang="en-US" sz="3600" b="1" dirty="0" smtClean="0"/>
              <a:t>	</a:t>
            </a:r>
            <a:r>
              <a:rPr lang="en-US" sz="3600" b="1" dirty="0" err="1" smtClean="0"/>
              <a:t>int</a:t>
            </a:r>
            <a:r>
              <a:rPr lang="en-US" sz="3600" b="1" dirty="0" smtClean="0"/>
              <a:t> </a:t>
            </a:r>
            <a:r>
              <a:rPr lang="en-US" sz="3600" b="1" dirty="0"/>
              <a:t>i = 10;</a:t>
            </a:r>
          </a:p>
          <a:p>
            <a:pPr marL="0" indent="0" algn="just">
              <a:buNone/>
            </a:pPr>
            <a:r>
              <a:rPr lang="en-US" sz="3600" b="1" dirty="0" smtClean="0"/>
              <a:t>	do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{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 smtClean="0"/>
              <a:t>		</a:t>
            </a:r>
            <a:r>
              <a:rPr lang="en-US" sz="3600" b="1" dirty="0" err="1" smtClean="0"/>
              <a:t>printf</a:t>
            </a:r>
            <a:r>
              <a:rPr lang="en-US" sz="3600" b="1" dirty="0"/>
              <a:t>("Hello %d\n", i );</a:t>
            </a:r>
          </a:p>
          <a:p>
            <a:pPr marL="0" indent="0" algn="just">
              <a:buNone/>
            </a:pPr>
            <a:r>
              <a:rPr lang="en-US" sz="3600" b="1" dirty="0" smtClean="0"/>
              <a:t>		i </a:t>
            </a:r>
            <a:r>
              <a:rPr lang="en-US" sz="3600" b="1" dirty="0"/>
              <a:t>= i -1;</a:t>
            </a:r>
          </a:p>
          <a:p>
            <a:pPr marL="0" indent="0" algn="just">
              <a:buNone/>
            </a:pPr>
            <a:r>
              <a:rPr lang="en-US" sz="3600" b="1" dirty="0" smtClean="0"/>
              <a:t>	}</a:t>
            </a:r>
            <a:r>
              <a:rPr lang="en-US" sz="3600" b="1" dirty="0"/>
              <a:t>while ( i &gt; 0 </a:t>
            </a:r>
            <a:r>
              <a:rPr lang="en-US" sz="3600" b="1" dirty="0" smtClean="0"/>
              <a:t>);</a:t>
            </a:r>
          </a:p>
          <a:p>
            <a:pPr marL="0" indent="0" algn="just">
              <a:buNone/>
            </a:pPr>
            <a:r>
              <a:rPr lang="en-US" sz="3600" b="1" dirty="0"/>
              <a:t>	</a:t>
            </a:r>
            <a:r>
              <a:rPr lang="en-US" sz="3600" b="1" dirty="0" smtClean="0"/>
              <a:t>return 0;</a:t>
            </a:r>
            <a:endParaRPr lang="en-US" sz="3600" b="1" dirty="0"/>
          </a:p>
          <a:p>
            <a:pPr marL="0" indent="0" algn="just">
              <a:buNone/>
            </a:pPr>
            <a:r>
              <a:rPr lang="en-US" sz="3600" b="1" dirty="0"/>
              <a:t>}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551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Output: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dirty="0"/>
              <a:t>Hello 10</a:t>
            </a:r>
          </a:p>
          <a:p>
            <a:pPr marL="0" indent="0" algn="just">
              <a:buNone/>
            </a:pPr>
            <a:r>
              <a:rPr lang="en-US" sz="3600" dirty="0"/>
              <a:t>Hello 9</a:t>
            </a:r>
          </a:p>
          <a:p>
            <a:pPr marL="0" indent="0" algn="just">
              <a:buNone/>
            </a:pPr>
            <a:r>
              <a:rPr lang="en-US" sz="3600" dirty="0"/>
              <a:t>Hello 8</a:t>
            </a:r>
          </a:p>
          <a:p>
            <a:pPr marL="0" indent="0" algn="just">
              <a:buNone/>
            </a:pPr>
            <a:r>
              <a:rPr lang="en-US" sz="3600" dirty="0"/>
              <a:t>Hello 7</a:t>
            </a:r>
          </a:p>
          <a:p>
            <a:pPr marL="0" indent="0" algn="just">
              <a:buNone/>
            </a:pPr>
            <a:r>
              <a:rPr lang="en-US" sz="3600" dirty="0"/>
              <a:t>Hello 6</a:t>
            </a:r>
          </a:p>
          <a:p>
            <a:pPr marL="0" indent="0" algn="just">
              <a:buNone/>
            </a:pPr>
            <a:r>
              <a:rPr lang="en-US" sz="3600" dirty="0"/>
              <a:t>Hello 5</a:t>
            </a:r>
          </a:p>
          <a:p>
            <a:pPr marL="0" indent="0" algn="just">
              <a:buNone/>
            </a:pPr>
            <a:r>
              <a:rPr lang="en-US" sz="3600" dirty="0"/>
              <a:t>Hello 4</a:t>
            </a:r>
          </a:p>
          <a:p>
            <a:pPr marL="0" indent="0" algn="just">
              <a:buNone/>
            </a:pPr>
            <a:r>
              <a:rPr lang="en-US" sz="3600" dirty="0"/>
              <a:t>Hello 3</a:t>
            </a:r>
          </a:p>
          <a:p>
            <a:pPr marL="0" indent="0" algn="just">
              <a:buNone/>
            </a:pPr>
            <a:r>
              <a:rPr lang="en-US" sz="3600" dirty="0"/>
              <a:t>Hello 2</a:t>
            </a:r>
          </a:p>
          <a:p>
            <a:pPr marL="0" indent="0" algn="just">
              <a:buNone/>
            </a:pPr>
            <a:r>
              <a:rPr lang="en-US" sz="3600" dirty="0"/>
              <a:t>Hello 1</a:t>
            </a:r>
            <a:endParaRPr lang="en-US" sz="36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27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*Program </a:t>
            </a:r>
            <a:r>
              <a:rPr lang="en-US" sz="3600" dirty="0"/>
              <a:t>to count the no of digits in a </a:t>
            </a:r>
            <a:r>
              <a:rPr lang="en-US" sz="3600" dirty="0" smtClean="0"/>
              <a:t>number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 &lt;</a:t>
            </a:r>
            <a:r>
              <a:rPr lang="en-US" sz="3600" b="1" dirty="0" err="1">
                <a:solidFill>
                  <a:srgbClr val="0000CC"/>
                </a:solidFill>
              </a:rPr>
              <a:t>stdio.h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int</a:t>
            </a:r>
            <a:r>
              <a:rPr lang="en-US" sz="3600" b="1" dirty="0">
                <a:solidFill>
                  <a:srgbClr val="0000CC"/>
                </a:solidFill>
              </a:rPr>
              <a:t> main()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int</a:t>
            </a:r>
            <a:r>
              <a:rPr lang="en-US" sz="3600" b="1" dirty="0" smtClean="0">
                <a:solidFill>
                  <a:srgbClr val="0000CC"/>
                </a:solidFill>
              </a:rPr>
              <a:t> </a:t>
            </a:r>
            <a:r>
              <a:rPr lang="en-US" sz="3600" b="1" dirty="0" err="1">
                <a:solidFill>
                  <a:srgbClr val="0000CC"/>
                </a:solidFill>
              </a:rPr>
              <a:t>n,count</a:t>
            </a:r>
            <a:r>
              <a:rPr lang="en-US" sz="3600" b="1" dirty="0">
                <a:solidFill>
                  <a:srgbClr val="0000CC"/>
                </a:solidFill>
              </a:rPr>
              <a:t>=0;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("Enter an integer: ");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scanf</a:t>
            </a:r>
            <a:r>
              <a:rPr lang="en-US" sz="3600" b="1" dirty="0">
                <a:solidFill>
                  <a:srgbClr val="0000CC"/>
                </a:solidFill>
              </a:rPr>
              <a:t>("%d", &amp;n);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53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do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{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n</a:t>
            </a:r>
            <a:r>
              <a:rPr lang="en-US" sz="3600" b="1" dirty="0">
                <a:solidFill>
                  <a:srgbClr val="0000CC"/>
                </a:solidFill>
              </a:rPr>
              <a:t>/=10; </a:t>
            </a:r>
            <a:r>
              <a:rPr lang="en-US" sz="3600" b="1" dirty="0"/>
              <a:t>/* n=n/10 */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count</a:t>
            </a:r>
            <a:r>
              <a:rPr lang="en-US" sz="3600" b="1" dirty="0">
                <a:solidFill>
                  <a:srgbClr val="0000CC"/>
                </a:solidFill>
              </a:rPr>
              <a:t>++;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} </a:t>
            </a:r>
            <a:r>
              <a:rPr lang="en-US" sz="3600" b="1" dirty="0">
                <a:solidFill>
                  <a:srgbClr val="0000CC"/>
                </a:solidFill>
              </a:rPr>
              <a:t>while(n!=0);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("Number of digits: %</a:t>
            </a:r>
            <a:r>
              <a:rPr lang="en-US" sz="3600" b="1" dirty="0" err="1">
                <a:solidFill>
                  <a:srgbClr val="0000CC"/>
                </a:solidFill>
              </a:rPr>
              <a:t>d",count</a:t>
            </a:r>
            <a:r>
              <a:rPr lang="en-US" sz="36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}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86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Output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Enter an integer: 34523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Number of digits: 5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752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sz="3600" dirty="0"/>
              <a:t>This is an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entry controlled </a:t>
            </a:r>
            <a:r>
              <a:rPr lang="en-US" sz="3600" dirty="0"/>
              <a:t>looping statement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In this loop structure,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than one variable can be initialized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One </a:t>
            </a:r>
            <a:r>
              <a:rPr lang="en-US" sz="3600" dirty="0"/>
              <a:t>of the most important features of this loop is that the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actions</a:t>
            </a:r>
            <a:r>
              <a:rPr lang="en-US" sz="3600" dirty="0"/>
              <a:t> can be taken at </a:t>
            </a:r>
            <a:r>
              <a:rPr lang="en-US" sz="3600" dirty="0" smtClean="0"/>
              <a:t>a time </a:t>
            </a:r>
            <a:r>
              <a:rPr lang="en-US" sz="3600" dirty="0"/>
              <a:t>like variable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 checking </a:t>
            </a:r>
            <a:r>
              <a:rPr lang="en-US" sz="3600" dirty="0"/>
              <a:t>and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increment/decrement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The </a:t>
            </a:r>
            <a:r>
              <a:rPr lang="en-US" sz="3600" dirty="0"/>
              <a:t>for loop can be more concise and flexible than that of while and do-while loops.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83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rgbClr val="0000CC"/>
                </a:solidFill>
              </a:rPr>
              <a:t>Syntax : </a:t>
            </a:r>
            <a:endParaRPr lang="en-US" sz="3600" dirty="0" smtClean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 </a:t>
            </a:r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sz="30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</a:t>
            </a:r>
            <a:r>
              <a:rPr lang="en-US" sz="3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</a:t>
            </a:r>
            <a:r>
              <a:rPr lang="en-US" sz="3000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increment/decrement</a:t>
            </a: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Statements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94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Example: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conio.h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void main( )</a:t>
            </a:r>
          </a:p>
          <a:p>
            <a:pPr marL="0" indent="0" algn="just">
              <a:buNone/>
            </a:pPr>
            <a:r>
              <a:rPr lang="en-US" sz="3600" dirty="0"/>
              <a:t>{</a:t>
            </a:r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/>
              <a:t>x;</a:t>
            </a:r>
          </a:p>
          <a:p>
            <a:pPr marL="0" indent="0" algn="just">
              <a:buNone/>
            </a:pPr>
            <a:r>
              <a:rPr lang="en-US" sz="3600" dirty="0" smtClean="0"/>
              <a:t>	for(x=1</a:t>
            </a:r>
            <a:r>
              <a:rPr lang="en-US" sz="3600" dirty="0"/>
              <a:t>; x&lt;=10; x++)</a:t>
            </a:r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dirty="0" err="1" smtClean="0"/>
              <a:t>printf</a:t>
            </a:r>
            <a:r>
              <a:rPr lang="en-US" sz="3600" dirty="0"/>
              <a:t>("%d\</a:t>
            </a:r>
            <a:r>
              <a:rPr lang="en-US" sz="3600" dirty="0" err="1"/>
              <a:t>t",x</a:t>
            </a:r>
            <a:r>
              <a:rPr lang="en-US" sz="3600" dirty="0"/>
              <a:t>);</a:t>
            </a:r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/>
              <a:t>}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Output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/>
              <a:t>1 2 3 4 5 6 7 8 9 10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2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Consider the following program</a:t>
            </a:r>
          </a:p>
          <a:p>
            <a:pPr marL="0" indent="0" algn="just">
              <a:buNone/>
            </a:pPr>
            <a:r>
              <a:rPr lang="en-US" sz="3600" dirty="0" err="1"/>
              <a:t>int</a:t>
            </a:r>
            <a:r>
              <a:rPr lang="en-US" sz="3600" dirty="0"/>
              <a:t> main(void)</a:t>
            </a:r>
          </a:p>
          <a:p>
            <a:pPr marL="0" indent="0" algn="just">
              <a:buNone/>
            </a:pPr>
            <a:r>
              <a:rPr lang="en-US" sz="3600" dirty="0"/>
              <a:t>{</a:t>
            </a:r>
          </a:p>
          <a:p>
            <a:pPr marL="0" indent="0" algn="just">
              <a:buNone/>
            </a:pP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/>
              <a:t>num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err="1" smtClean="0"/>
              <a:t>printf</a:t>
            </a:r>
            <a:r>
              <a:rPr lang="en-US" sz="3600" dirty="0"/>
              <a:t>(" n </a:t>
            </a:r>
            <a:r>
              <a:rPr lang="en-US" sz="3600" dirty="0" err="1"/>
              <a:t>n</a:t>
            </a:r>
            <a:r>
              <a:rPr lang="en-US" sz="3600" dirty="0"/>
              <a:t> cubed\n");</a:t>
            </a:r>
          </a:p>
          <a:p>
            <a:pPr marL="0" indent="0" algn="just">
              <a:buNone/>
            </a:pPr>
            <a:r>
              <a:rPr lang="en-US" sz="3600" dirty="0" smtClean="0"/>
              <a:t>for </a:t>
            </a:r>
            <a:r>
              <a:rPr lang="en-US" sz="3600" dirty="0"/>
              <a:t>(</a:t>
            </a:r>
            <a:r>
              <a:rPr lang="en-US" sz="3600" dirty="0" err="1"/>
              <a:t>num</a:t>
            </a:r>
            <a:r>
              <a:rPr lang="en-US" sz="3600" dirty="0"/>
              <a:t> = 1; </a:t>
            </a:r>
            <a:r>
              <a:rPr lang="en-US" sz="3600" dirty="0" err="1"/>
              <a:t>num</a:t>
            </a:r>
            <a:r>
              <a:rPr lang="en-US" sz="3600" dirty="0"/>
              <a:t> &lt;= 6; </a:t>
            </a:r>
            <a:r>
              <a:rPr lang="en-US" sz="3600" dirty="0" err="1"/>
              <a:t>num</a:t>
            </a:r>
            <a:r>
              <a:rPr lang="en-US" sz="3600" dirty="0" smtClean="0"/>
              <a:t>++)</a:t>
            </a:r>
          </a:p>
          <a:p>
            <a:pPr marL="0" indent="0" algn="just">
              <a:buNone/>
            </a:pPr>
            <a:r>
              <a:rPr lang="pt-BR" sz="3600" dirty="0" smtClean="0"/>
              <a:t>printf</a:t>
            </a:r>
            <a:r>
              <a:rPr lang="pt-BR" sz="3600" dirty="0"/>
              <a:t>("%5d %5d\n", num, num*num*num);</a:t>
            </a:r>
          </a:p>
          <a:p>
            <a:pPr marL="0" indent="0" algn="just">
              <a:buNone/>
            </a:pPr>
            <a:r>
              <a:rPr lang="pt-BR" sz="3600" dirty="0"/>
              <a:t>return 0;</a:t>
            </a:r>
          </a:p>
          <a:p>
            <a:pPr marL="0" indent="0" algn="just">
              <a:buNone/>
            </a:pPr>
            <a:r>
              <a:rPr lang="pt-BR" sz="3600" dirty="0"/>
              <a:t>}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51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program prints the integers 1 through 6 and their </a:t>
            </a:r>
            <a:r>
              <a:rPr lang="en-US" sz="3600" dirty="0" smtClean="0"/>
              <a:t>cubes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2438399"/>
            <a:ext cx="2643187" cy="294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080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The program prints the integers 1 through 6 and their </a:t>
            </a:r>
            <a:r>
              <a:rPr lang="en-US" sz="3600" dirty="0" smtClean="0"/>
              <a:t>cubes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2438399"/>
            <a:ext cx="2643187" cy="2940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258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Program to print the sum of 1st N natural numbers</a:t>
            </a:r>
            <a:r>
              <a:rPr lang="en-US" sz="3600" dirty="0" smtClean="0"/>
              <a:t>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#include &lt;</a:t>
            </a:r>
            <a:r>
              <a:rPr lang="en-US" sz="3600" b="1" dirty="0" err="1">
                <a:solidFill>
                  <a:srgbClr val="0000CC"/>
                </a:solidFill>
              </a:rPr>
              <a:t>stdio.h</a:t>
            </a:r>
            <a:r>
              <a:rPr lang="en-US" sz="36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 err="1">
                <a:solidFill>
                  <a:srgbClr val="0000CC"/>
                </a:solidFill>
              </a:rPr>
              <a:t>int</a:t>
            </a:r>
            <a:r>
              <a:rPr lang="en-US" sz="3600" b="1" dirty="0">
                <a:solidFill>
                  <a:srgbClr val="0000CC"/>
                </a:solidFill>
              </a:rPr>
              <a:t> main</a:t>
            </a:r>
            <a:r>
              <a:rPr lang="en-US" sz="3600" b="1" dirty="0" smtClean="0">
                <a:solidFill>
                  <a:srgbClr val="0000CC"/>
                </a:solidFill>
              </a:rPr>
              <a:t>()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int</a:t>
            </a:r>
            <a:r>
              <a:rPr lang="en-US" sz="3600" b="1" dirty="0" smtClean="0">
                <a:solidFill>
                  <a:srgbClr val="0000CC"/>
                </a:solidFill>
              </a:rPr>
              <a:t> </a:t>
            </a:r>
            <a:r>
              <a:rPr lang="en-US" sz="3600" b="1" dirty="0" err="1">
                <a:solidFill>
                  <a:srgbClr val="0000CC"/>
                </a:solidFill>
              </a:rPr>
              <a:t>n,i,sum</a:t>
            </a:r>
            <a:r>
              <a:rPr lang="en-US" sz="3600" b="1" dirty="0">
                <a:solidFill>
                  <a:srgbClr val="0000CC"/>
                </a:solidFill>
              </a:rPr>
              <a:t>=0;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("Enter the limit: ");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scanf</a:t>
            </a:r>
            <a:r>
              <a:rPr lang="en-US" sz="3600" b="1" dirty="0">
                <a:solidFill>
                  <a:srgbClr val="0000CC"/>
                </a:solidFill>
              </a:rPr>
              <a:t>("%d", &amp;n</a:t>
            </a:r>
            <a:r>
              <a:rPr lang="en-US" sz="3600" b="1" dirty="0" smtClean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for(i=1;i</a:t>
            </a:r>
            <a:r>
              <a:rPr lang="en-US" sz="3600" b="1" dirty="0">
                <a:solidFill>
                  <a:srgbClr val="0000CC"/>
                </a:solidFill>
              </a:rPr>
              <a:t>&lt;=</a:t>
            </a:r>
            <a:r>
              <a:rPr lang="en-US" sz="3600" b="1" dirty="0" err="1">
                <a:solidFill>
                  <a:srgbClr val="0000CC"/>
                </a:solidFill>
              </a:rPr>
              <a:t>n;i</a:t>
            </a:r>
            <a:r>
              <a:rPr lang="en-US" sz="3600" b="1" dirty="0">
                <a:solidFill>
                  <a:srgbClr val="0000CC"/>
                </a:solidFill>
              </a:rPr>
              <a:t>++)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{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	sum </a:t>
            </a:r>
            <a:r>
              <a:rPr lang="en-US" sz="3600" b="1" dirty="0">
                <a:solidFill>
                  <a:srgbClr val="0000CC"/>
                </a:solidFill>
              </a:rPr>
              <a:t>= sum +i;</a:t>
            </a: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}</a:t>
            </a:r>
            <a:endParaRPr lang="en-US" sz="36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3600" b="1" dirty="0" smtClean="0">
                <a:solidFill>
                  <a:srgbClr val="0000CC"/>
                </a:solidFill>
              </a:rPr>
              <a:t>	</a:t>
            </a:r>
            <a:r>
              <a:rPr lang="en-US" sz="3600" b="1" dirty="0" err="1" smtClean="0">
                <a:solidFill>
                  <a:srgbClr val="0000CC"/>
                </a:solidFill>
              </a:rPr>
              <a:t>printf</a:t>
            </a:r>
            <a:r>
              <a:rPr lang="en-US" sz="3600" b="1" dirty="0">
                <a:solidFill>
                  <a:srgbClr val="0000CC"/>
                </a:solidFill>
              </a:rPr>
              <a:t>("Sum of N natural numbers is: %</a:t>
            </a:r>
            <a:r>
              <a:rPr lang="en-US" sz="3600" b="1" dirty="0" err="1">
                <a:solidFill>
                  <a:srgbClr val="0000CC"/>
                </a:solidFill>
              </a:rPr>
              <a:t>d",sum</a:t>
            </a:r>
            <a:r>
              <a:rPr lang="en-US" sz="36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</a:rPr>
              <a:t>}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497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Output</a:t>
            </a:r>
          </a:p>
          <a:p>
            <a:pPr marL="0" indent="0" algn="just">
              <a:buNone/>
            </a:pPr>
            <a:r>
              <a:rPr lang="en-US" sz="3600" dirty="0"/>
              <a:t>Enter the limit: 5</a:t>
            </a:r>
          </a:p>
          <a:p>
            <a:pPr marL="0" indent="0" algn="just">
              <a:buNone/>
            </a:pPr>
            <a:r>
              <a:rPr lang="en-US" sz="3600" dirty="0"/>
              <a:t>Sum of N natural numbers is 15.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19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200" dirty="0"/>
              <a:t>Program to find the reverse of a </a:t>
            </a:r>
            <a:r>
              <a:rPr lang="en-US" sz="2200" dirty="0" smtClean="0"/>
              <a:t>number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rgbClr val="0000CC"/>
                </a:solidFill>
              </a:rPr>
              <a:t>#include&lt;</a:t>
            </a:r>
            <a:r>
              <a:rPr lang="en-US" sz="2200" b="1" dirty="0" err="1">
                <a:solidFill>
                  <a:srgbClr val="0000CC"/>
                </a:solidFill>
              </a:rPr>
              <a:t>stdio.h</a:t>
            </a:r>
            <a:r>
              <a:rPr lang="en-US" sz="2200" b="1" dirty="0">
                <a:solidFill>
                  <a:srgbClr val="0000CC"/>
                </a:solidFill>
              </a:rPr>
              <a:t>&gt;</a:t>
            </a:r>
          </a:p>
          <a:p>
            <a:pPr marL="0" indent="0" algn="just">
              <a:buNone/>
            </a:pPr>
            <a:r>
              <a:rPr lang="en-US" sz="2200" b="1" dirty="0" err="1">
                <a:solidFill>
                  <a:srgbClr val="0000CC"/>
                </a:solidFill>
              </a:rPr>
              <a:t>int</a:t>
            </a:r>
            <a:r>
              <a:rPr lang="en-US" sz="2200" b="1" dirty="0">
                <a:solidFill>
                  <a:srgbClr val="0000CC"/>
                </a:solidFill>
              </a:rPr>
              <a:t> main()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</a:t>
            </a:r>
            <a:r>
              <a:rPr lang="en-US" sz="2200" b="1" dirty="0" err="1" smtClean="0">
                <a:solidFill>
                  <a:srgbClr val="0000CC"/>
                </a:solidFill>
              </a:rPr>
              <a:t>int</a:t>
            </a:r>
            <a:r>
              <a:rPr lang="en-US" sz="2200" b="1" dirty="0" smtClean="0">
                <a:solidFill>
                  <a:srgbClr val="0000CC"/>
                </a:solidFill>
              </a:rPr>
              <a:t> </a:t>
            </a:r>
            <a:r>
              <a:rPr lang="en-US" sz="2200" b="1" dirty="0" err="1">
                <a:solidFill>
                  <a:srgbClr val="0000CC"/>
                </a:solidFill>
              </a:rPr>
              <a:t>num,r,reverse</a:t>
            </a:r>
            <a:r>
              <a:rPr lang="en-US" sz="2200" b="1" dirty="0">
                <a:solidFill>
                  <a:srgbClr val="0000CC"/>
                </a:solidFill>
              </a:rPr>
              <a:t>=0;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</a:t>
            </a:r>
            <a:r>
              <a:rPr lang="en-US" sz="2200" b="1" dirty="0" err="1" smtClean="0">
                <a:solidFill>
                  <a:srgbClr val="0000CC"/>
                </a:solidFill>
              </a:rPr>
              <a:t>printf</a:t>
            </a:r>
            <a:r>
              <a:rPr lang="en-US" sz="2200" b="1" dirty="0">
                <a:solidFill>
                  <a:srgbClr val="0000CC"/>
                </a:solidFill>
              </a:rPr>
              <a:t>("Enter any number: ");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</a:t>
            </a:r>
            <a:r>
              <a:rPr lang="en-US" sz="2200" b="1" dirty="0" err="1" smtClean="0">
                <a:solidFill>
                  <a:srgbClr val="0000CC"/>
                </a:solidFill>
              </a:rPr>
              <a:t>scanf</a:t>
            </a:r>
            <a:r>
              <a:rPr lang="en-US" sz="2200" b="1" dirty="0">
                <a:solidFill>
                  <a:srgbClr val="0000CC"/>
                </a:solidFill>
              </a:rPr>
              <a:t>("%d",&amp;</a:t>
            </a:r>
            <a:r>
              <a:rPr lang="en-US" sz="2200" b="1" dirty="0" err="1">
                <a:solidFill>
                  <a:srgbClr val="0000CC"/>
                </a:solidFill>
              </a:rPr>
              <a:t>num</a:t>
            </a:r>
            <a:r>
              <a:rPr lang="en-US" sz="2200" b="1" dirty="0" smtClean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endParaRPr lang="en-US" sz="22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for</a:t>
            </a:r>
            <a:r>
              <a:rPr lang="en-US" sz="2200" b="1" dirty="0">
                <a:solidFill>
                  <a:srgbClr val="0000CC"/>
                </a:solidFill>
              </a:rPr>
              <a:t>(;</a:t>
            </a:r>
            <a:r>
              <a:rPr lang="en-US" sz="2200" b="1" dirty="0" err="1">
                <a:solidFill>
                  <a:srgbClr val="0000CC"/>
                </a:solidFill>
              </a:rPr>
              <a:t>num</a:t>
            </a:r>
            <a:r>
              <a:rPr lang="en-US" sz="2200" b="1" dirty="0">
                <a:solidFill>
                  <a:srgbClr val="0000CC"/>
                </a:solidFill>
              </a:rPr>
              <a:t>!=0;num=</a:t>
            </a:r>
            <a:r>
              <a:rPr lang="en-US" sz="2200" b="1" dirty="0" err="1">
                <a:solidFill>
                  <a:srgbClr val="0000CC"/>
                </a:solidFill>
              </a:rPr>
              <a:t>num</a:t>
            </a:r>
            <a:r>
              <a:rPr lang="en-US" sz="2200" b="1" dirty="0">
                <a:solidFill>
                  <a:srgbClr val="0000CC"/>
                </a:solidFill>
              </a:rPr>
              <a:t>/10)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{</a:t>
            </a:r>
            <a:endParaRPr lang="en-US" sz="22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	r=num%10</a:t>
            </a:r>
            <a:r>
              <a:rPr lang="en-US" sz="22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	reverse=reverse*10+r</a:t>
            </a:r>
            <a:r>
              <a:rPr lang="en-US" sz="22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}</a:t>
            </a:r>
            <a:endParaRPr lang="en-US" sz="22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</a:t>
            </a:r>
            <a:r>
              <a:rPr lang="en-US" sz="2200" b="1" dirty="0" err="1" smtClean="0">
                <a:solidFill>
                  <a:srgbClr val="0000CC"/>
                </a:solidFill>
              </a:rPr>
              <a:t>printf</a:t>
            </a:r>
            <a:r>
              <a:rPr lang="en-US" sz="2200" b="1" dirty="0">
                <a:solidFill>
                  <a:srgbClr val="0000CC"/>
                </a:solidFill>
              </a:rPr>
              <a:t>("Reversed of number: %</a:t>
            </a:r>
            <a:r>
              <a:rPr lang="en-US" sz="2200" b="1" dirty="0" err="1">
                <a:solidFill>
                  <a:srgbClr val="0000CC"/>
                </a:solidFill>
              </a:rPr>
              <a:t>d",reverse</a:t>
            </a:r>
            <a:r>
              <a:rPr lang="en-US" sz="22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2200" b="1" dirty="0" smtClean="0">
                <a:solidFill>
                  <a:srgbClr val="0000CC"/>
                </a:solidFill>
              </a:rPr>
              <a:t>	return </a:t>
            </a:r>
            <a:r>
              <a:rPr lang="en-US" sz="2200" b="1" dirty="0">
                <a:solidFill>
                  <a:srgbClr val="0000CC"/>
                </a:solidFill>
              </a:rPr>
              <a:t>0;</a:t>
            </a:r>
          </a:p>
          <a:p>
            <a:pPr marL="0" indent="0" algn="just">
              <a:buNone/>
            </a:pPr>
            <a:r>
              <a:rPr lang="en-US" sz="2200" b="1" dirty="0">
                <a:solidFill>
                  <a:srgbClr val="0000CC"/>
                </a:solidFill>
              </a:rPr>
              <a:t>}</a:t>
            </a:r>
            <a:endParaRPr lang="en-US" sz="22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76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Output:</a:t>
            </a:r>
          </a:p>
          <a:p>
            <a:pPr marL="0" indent="0" algn="just">
              <a:buNone/>
            </a:pPr>
            <a:r>
              <a:rPr lang="en-US" sz="3600" dirty="0"/>
              <a:t>Enter any number: 123</a:t>
            </a:r>
          </a:p>
          <a:p>
            <a:pPr marL="0" indent="0" algn="just">
              <a:buNone/>
            </a:pPr>
            <a:r>
              <a:rPr lang="en-US" sz="3600" dirty="0"/>
              <a:t>Reversed of number: 321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470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Various forms of FOR </a:t>
            </a:r>
            <a:r>
              <a:rPr lang="en-US" sz="3600" dirty="0" smtClean="0"/>
              <a:t>LOOP</a:t>
            </a:r>
          </a:p>
          <a:p>
            <a:pPr marL="0" indent="0" algn="just">
              <a:buNone/>
            </a:pPr>
            <a:r>
              <a:rPr lang="en-US" sz="3600" dirty="0"/>
              <a:t>I am using variable </a:t>
            </a:r>
            <a:r>
              <a:rPr lang="en-US" sz="3600" dirty="0" err="1"/>
              <a:t>num</a:t>
            </a:r>
            <a:r>
              <a:rPr lang="en-US" sz="3600" dirty="0"/>
              <a:t> in all the below examples –</a:t>
            </a:r>
          </a:p>
          <a:p>
            <a:pPr marL="0" indent="0" algn="just">
              <a:buNone/>
            </a:pPr>
            <a:r>
              <a:rPr lang="en-US" sz="3600" dirty="0"/>
              <a:t>1) Here instead of </a:t>
            </a:r>
            <a:r>
              <a:rPr lang="en-US" sz="3600" dirty="0" err="1"/>
              <a:t>num</a:t>
            </a:r>
            <a:r>
              <a:rPr lang="en-US" sz="3600" dirty="0"/>
              <a:t>++, </a:t>
            </a:r>
            <a:r>
              <a:rPr lang="en-US" sz="3600" dirty="0" smtClean="0"/>
              <a:t>I’m </a:t>
            </a:r>
            <a:r>
              <a:rPr lang="en-US" sz="3600" dirty="0"/>
              <a:t>using </a:t>
            </a:r>
            <a:r>
              <a:rPr lang="en-US" sz="3600" dirty="0" err="1"/>
              <a:t>num</a:t>
            </a:r>
            <a:r>
              <a:rPr lang="en-US" sz="3600" dirty="0"/>
              <a:t>=num+1 which is nothing but same as </a:t>
            </a:r>
            <a:r>
              <a:rPr lang="en-US" sz="3600" dirty="0" err="1"/>
              <a:t>num</a:t>
            </a:r>
            <a:r>
              <a:rPr lang="en-US" sz="3600" dirty="0"/>
              <a:t>++.</a:t>
            </a:r>
          </a:p>
          <a:p>
            <a:pPr marL="0" indent="0" algn="ctr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(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=10;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&lt;20;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=num+1)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87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2) Initialization part can be skipped from loop as shown below, the counter variable is </a:t>
            </a:r>
            <a:r>
              <a:rPr lang="en-US" sz="3600" dirty="0" smtClean="0"/>
              <a:t>declared before </a:t>
            </a:r>
            <a:r>
              <a:rPr lang="en-US" sz="3600" dirty="0"/>
              <a:t>the loop itself.</a:t>
            </a:r>
          </a:p>
          <a:p>
            <a:pPr marL="0" indent="0" algn="just">
              <a:buNone/>
            </a:pP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=10;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(;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&lt;20; 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Must </a:t>
            </a:r>
            <a:r>
              <a:rPr lang="en-US" sz="3600" dirty="0"/>
              <a:t>Note: Although we can skip </a:t>
            </a:r>
            <a:r>
              <a:rPr lang="en-US" sz="3600" dirty="0" err="1" smtClean="0"/>
              <a:t>init</a:t>
            </a:r>
            <a:r>
              <a:rPr lang="en-US" sz="3600" dirty="0" smtClean="0"/>
              <a:t> </a:t>
            </a:r>
            <a:r>
              <a:rPr lang="en-US" sz="3600" dirty="0"/>
              <a:t>part but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semicolon (;) before condition is must</a:t>
            </a:r>
            <a:r>
              <a:rPr lang="en-US" sz="3600" dirty="0"/>
              <a:t>, </a:t>
            </a:r>
            <a:r>
              <a:rPr lang="en-US" sz="3600" dirty="0" smtClean="0"/>
              <a:t>without which </a:t>
            </a:r>
            <a:r>
              <a:rPr lang="en-US" sz="3600" dirty="0"/>
              <a:t>you will get compilation </a:t>
            </a:r>
            <a:r>
              <a:rPr lang="en-US" sz="3600" dirty="0" smtClean="0"/>
              <a:t>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3) Like initialization, you can also skip the increment part as we did below. In this </a:t>
            </a:r>
            <a:r>
              <a:rPr lang="en-US" sz="3600" dirty="0" smtClean="0"/>
              <a:t>case semicolon </a:t>
            </a:r>
            <a:r>
              <a:rPr lang="en-US" sz="3600" dirty="0"/>
              <a:t>(;) is must, after condition logic. The increment part is being done in for loop </a:t>
            </a:r>
            <a:r>
              <a:rPr lang="en-US" sz="3600" dirty="0" smtClean="0"/>
              <a:t>body itself</a:t>
            </a:r>
            <a:r>
              <a:rPr lang="en-US" sz="3600" dirty="0"/>
              <a:t>.</a:t>
            </a:r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=10;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&lt;20; 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03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4) Below case is also possible, increment in body and </a:t>
            </a:r>
            <a:r>
              <a:rPr lang="en-US" sz="3600" dirty="0" err="1"/>
              <a:t>init</a:t>
            </a:r>
            <a:r>
              <a:rPr lang="en-US" sz="3600" dirty="0"/>
              <a:t> during declaration of counter variable.</a:t>
            </a:r>
          </a:p>
          <a:p>
            <a:pPr marL="0" indent="0" algn="just">
              <a:buNone/>
            </a:pP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=10;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(;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&lt;20;)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//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45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5) Counter can be decremented also, In the below example the variable gets decremented </a:t>
            </a:r>
            <a:r>
              <a:rPr lang="en-US" sz="3600" dirty="0" smtClean="0"/>
              <a:t>each time </a:t>
            </a:r>
            <a:r>
              <a:rPr lang="en-US" sz="3600" dirty="0"/>
              <a:t>the loop runs until the condition </a:t>
            </a:r>
            <a:r>
              <a:rPr lang="en-US" sz="3600" dirty="0" err="1"/>
              <a:t>num</a:t>
            </a:r>
            <a:r>
              <a:rPr lang="en-US" sz="3600" dirty="0"/>
              <a:t>&gt;10 becomes false.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=20;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&gt;10;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--)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579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Factorial Program using </a:t>
            </a:r>
            <a:r>
              <a:rPr lang="en-US" sz="3600" dirty="0" smtClean="0"/>
              <a:t>loop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#include&lt;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conio.h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 main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i,fact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=1,number;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clrscr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("Enter a number: ");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d",&amp;number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for(i=1;i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number;i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fact=fact*i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("Factorial of %d is: %d",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number,fact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();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6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Output:</a:t>
            </a:r>
          </a:p>
          <a:p>
            <a:pPr marL="0" indent="0" algn="just">
              <a:buNone/>
            </a:pPr>
            <a:r>
              <a:rPr lang="en-US" sz="3600" dirty="0"/>
              <a:t>Enter a number: 5</a:t>
            </a:r>
          </a:p>
          <a:p>
            <a:pPr marL="0" indent="0" algn="just">
              <a:buNone/>
            </a:pPr>
            <a:r>
              <a:rPr lang="en-US" sz="3600" dirty="0"/>
              <a:t>Factorial of 5 is: 120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97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Flow Chart of for Loop :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05000"/>
            <a:ext cx="5334000" cy="475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159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Infinitive for loop in C</a:t>
            </a:r>
          </a:p>
          <a:p>
            <a:pPr marL="0" indent="0" algn="just">
              <a:buNone/>
            </a:pPr>
            <a:r>
              <a:rPr lang="en-US" sz="3600" dirty="0"/>
              <a:t>If you </a:t>
            </a:r>
            <a:r>
              <a:rPr lang="en-US" sz="3600" dirty="0">
                <a:solidFill>
                  <a:srgbClr val="FF0000"/>
                </a:solidFill>
              </a:rPr>
              <a:t>don't initialize any variable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0000CC"/>
                </a:solidFill>
              </a:rPr>
              <a:t>check condition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increment or decrement variable</a:t>
            </a:r>
            <a:r>
              <a:rPr lang="en-US" sz="3600" dirty="0"/>
              <a:t> in </a:t>
            </a:r>
            <a:r>
              <a:rPr lang="en-US" sz="3600" dirty="0" smtClean="0"/>
              <a:t>for loop</a:t>
            </a:r>
            <a:r>
              <a:rPr lang="en-US" sz="3600" dirty="0"/>
              <a:t>,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known as infinitive for loop</a:t>
            </a:r>
            <a:r>
              <a:rPr lang="en-US" sz="3600" dirty="0"/>
              <a:t>. In other words, if you place 2 semicolons in for loop, it </a:t>
            </a:r>
            <a:r>
              <a:rPr lang="en-US" sz="3600" dirty="0" smtClean="0"/>
              <a:t>is known </a:t>
            </a:r>
            <a:r>
              <a:rPr lang="en-US" sz="3600" dirty="0"/>
              <a:t>as infinitive for loop.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for(;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1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86800" cy="6629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357590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28600"/>
            <a:ext cx="8777038" cy="78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11" y="838200"/>
            <a:ext cx="8734926" cy="362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89907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28600"/>
            <a:ext cx="8777038" cy="78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38200"/>
            <a:ext cx="8777036" cy="5459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59859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28600"/>
            <a:ext cx="8777038" cy="78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46" y="838200"/>
            <a:ext cx="8758991" cy="5225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6213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81000"/>
            <a:ext cx="8777038" cy="78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958637"/>
            <a:ext cx="8769017" cy="3491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22304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81000"/>
            <a:ext cx="8777038" cy="78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3" y="990600"/>
            <a:ext cx="8744954" cy="4286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18427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We can also have nested for loops, </a:t>
            </a:r>
            <a:r>
              <a:rPr lang="en-US" sz="3600" dirty="0" err="1"/>
              <a:t>i.e</a:t>
            </a:r>
            <a:r>
              <a:rPr lang="en-US" sz="3600" dirty="0"/>
              <a:t> one for loop inside another for loop. </a:t>
            </a:r>
            <a:r>
              <a:rPr lang="en-US" sz="3600" b="1" dirty="0">
                <a:solidFill>
                  <a:srgbClr val="0000CC"/>
                </a:solidFill>
              </a:rPr>
              <a:t>nesting is often </a:t>
            </a:r>
            <a:r>
              <a:rPr lang="en-US" sz="3600" b="1" dirty="0" smtClean="0">
                <a:solidFill>
                  <a:srgbClr val="0000CC"/>
                </a:solidFill>
              </a:rPr>
              <a:t>used</a:t>
            </a:r>
            <a:r>
              <a:rPr lang="en-US" sz="3600" dirty="0" smtClean="0"/>
              <a:t> for </a:t>
            </a:r>
            <a:r>
              <a:rPr lang="en-US" sz="3600" dirty="0"/>
              <a:t>handling </a:t>
            </a:r>
            <a:r>
              <a:rPr lang="en-US" sz="3600" b="1" dirty="0">
                <a:solidFill>
                  <a:srgbClr val="FF0000"/>
                </a:solidFill>
              </a:rPr>
              <a:t>multidimensional arrays</a:t>
            </a:r>
            <a:r>
              <a:rPr lang="en-US" sz="3600" b="1" dirty="0" smtClean="0">
                <a:solidFill>
                  <a:srgbClr val="FF0000"/>
                </a:solidFill>
              </a:rPr>
              <a:t>.</a:t>
            </a:r>
          </a:p>
          <a:p>
            <a:pPr marL="0" indent="0" algn="just">
              <a:buNone/>
            </a:pP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47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Syntax: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00CC"/>
                </a:solidFill>
              </a:rPr>
              <a:t>for(initialization; condition; increment/decrement)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00CC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	for(initialization</a:t>
            </a:r>
            <a:r>
              <a:rPr lang="en-US" sz="2000" b="1" dirty="0">
                <a:solidFill>
                  <a:srgbClr val="0000CC"/>
                </a:solidFill>
              </a:rPr>
              <a:t>; condition; increment/decrement</a:t>
            </a:r>
            <a:r>
              <a:rPr lang="en-US" sz="2000" b="1" dirty="0" smtClean="0">
                <a:solidFill>
                  <a:srgbClr val="0000CC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	{</a:t>
            </a:r>
            <a:endParaRPr lang="en-US" sz="20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		statement </a:t>
            </a:r>
            <a:r>
              <a:rPr lang="en-US" sz="2000" b="1" dirty="0">
                <a:solidFill>
                  <a:srgbClr val="0000CC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sz="2000" b="1" dirty="0" smtClean="0">
                <a:solidFill>
                  <a:srgbClr val="0000CC"/>
                </a:solidFill>
              </a:rPr>
              <a:t>	}</a:t>
            </a:r>
            <a:endParaRPr lang="en-US" sz="20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000" b="1" dirty="0">
                <a:solidFill>
                  <a:srgbClr val="0000CC"/>
                </a:solidFill>
              </a:rPr>
              <a:t>}</a:t>
            </a:r>
            <a:endParaRPr lang="en-US" sz="20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41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main()</a:t>
            </a: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for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i=0; i&lt;=5; i++)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{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for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j=0; j&lt;=5; j++)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{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</a:t>
            </a:r>
            <a:r>
              <a:rPr lang="en-US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("%d, %</a:t>
            </a:r>
            <a:r>
              <a:rPr 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d",i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,j);</a:t>
            </a: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}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}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US" sz="20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0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3600" dirty="0"/>
              <a:t>Example : </a:t>
            </a:r>
            <a:r>
              <a:rPr lang="en-US" sz="3000" b="1" dirty="0">
                <a:solidFill>
                  <a:srgbClr val="0000CC"/>
                </a:solidFill>
              </a:rPr>
              <a:t>Program to print half Pyramid of numbers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conio.h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void main( )</a:t>
            </a:r>
          </a:p>
          <a:p>
            <a:pPr marL="0" indent="0" algn="just">
              <a:buNone/>
            </a:pPr>
            <a:r>
              <a:rPr lang="en-US" sz="3600" dirty="0"/>
              <a:t>{</a:t>
            </a:r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/>
              <a:t>i,j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for(i=1;i&lt;5;i</a:t>
            </a:r>
            <a:r>
              <a:rPr lang="en-US" sz="3600" dirty="0"/>
              <a:t>++)</a:t>
            </a:r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dirty="0" err="1" smtClean="0"/>
              <a:t>printf</a:t>
            </a:r>
            <a:r>
              <a:rPr lang="en-US" sz="3600" dirty="0"/>
              <a:t>("\n");</a:t>
            </a: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1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		for(j=</a:t>
            </a:r>
            <a:r>
              <a:rPr lang="en-US" sz="3600" dirty="0" err="1" smtClean="0"/>
              <a:t>i;j</a:t>
            </a:r>
            <a:r>
              <a:rPr lang="en-US" sz="3600" dirty="0" smtClean="0"/>
              <a:t>&gt;0;j-</a:t>
            </a:r>
            <a:r>
              <a:rPr lang="en-US" sz="3600" dirty="0"/>
              <a:t>-)</a:t>
            </a:r>
          </a:p>
          <a:p>
            <a:pPr marL="0" indent="0" algn="just">
              <a:buNone/>
            </a:pPr>
            <a:r>
              <a:rPr lang="en-US" sz="3600" dirty="0" smtClean="0"/>
              <a:t>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</a:t>
            </a:r>
            <a:r>
              <a:rPr lang="en-US" sz="3600" dirty="0" err="1" smtClean="0"/>
              <a:t>printf</a:t>
            </a:r>
            <a:r>
              <a:rPr lang="en-US" sz="3600" dirty="0"/>
              <a:t>("%</a:t>
            </a:r>
            <a:r>
              <a:rPr lang="en-US" sz="3600" dirty="0" err="1"/>
              <a:t>d",j</a:t>
            </a:r>
            <a:r>
              <a:rPr lang="en-US" sz="3600" dirty="0"/>
              <a:t>);</a:t>
            </a:r>
          </a:p>
          <a:p>
            <a:pPr marL="0" indent="0" algn="just">
              <a:buNone/>
            </a:pPr>
            <a:r>
              <a:rPr lang="en-US" sz="3600" dirty="0" smtClean="0"/>
              <a:t>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err="1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/>
              <a:t>}</a:t>
            </a: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84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for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#include&lt;</a:t>
            </a:r>
            <a:r>
              <a:rPr lang="en-US" sz="3600" dirty="0" err="1"/>
              <a:t>conio.h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dirty="0"/>
              <a:t>void main( )</a:t>
            </a:r>
          </a:p>
          <a:p>
            <a:pPr marL="0" indent="0" algn="just">
              <a:buNone/>
            </a:pPr>
            <a:r>
              <a:rPr lang="en-US" sz="3600" dirty="0"/>
              <a:t>{</a:t>
            </a:r>
          </a:p>
          <a:p>
            <a:pPr marL="0" indent="0" algn="just">
              <a:buNone/>
            </a:pPr>
            <a:r>
              <a:rPr lang="en-US" sz="3600" dirty="0" smtClean="0"/>
              <a:t>	</a:t>
            </a:r>
            <a:r>
              <a:rPr lang="en-US" sz="3600" dirty="0" err="1" smtClean="0"/>
              <a:t>int</a:t>
            </a:r>
            <a:r>
              <a:rPr lang="en-US" sz="3600" dirty="0" smtClean="0"/>
              <a:t> </a:t>
            </a:r>
            <a:r>
              <a:rPr lang="en-US" sz="3600" dirty="0" err="1"/>
              <a:t>i,j</a:t>
            </a:r>
            <a:r>
              <a:rPr lang="en-US" sz="3600" dirty="0"/>
              <a:t>;</a:t>
            </a:r>
          </a:p>
          <a:p>
            <a:pPr marL="0" indent="0" algn="just">
              <a:buNone/>
            </a:pPr>
            <a:r>
              <a:rPr lang="en-US" sz="3600" dirty="0" smtClean="0"/>
              <a:t>	for(i=1;i&lt;5;i</a:t>
            </a:r>
            <a:r>
              <a:rPr lang="en-US" sz="3600" dirty="0"/>
              <a:t>++)</a:t>
            </a:r>
          </a:p>
          <a:p>
            <a:pPr marL="0" indent="0" algn="just">
              <a:buNone/>
            </a:pPr>
            <a:r>
              <a:rPr lang="en-US" sz="3600" dirty="0" smtClean="0"/>
              <a:t>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</a:t>
            </a:r>
            <a:r>
              <a:rPr lang="en-US" sz="3600" dirty="0" err="1" smtClean="0"/>
              <a:t>printf</a:t>
            </a:r>
            <a:r>
              <a:rPr lang="en-US" sz="3600" dirty="0"/>
              <a:t>("\n</a:t>
            </a:r>
            <a:r>
              <a:rPr lang="en-US" sz="3600" dirty="0" smtClean="0"/>
              <a:t>");</a:t>
            </a:r>
          </a:p>
          <a:p>
            <a:pPr marL="0" indent="0" algn="just">
              <a:buNone/>
            </a:pPr>
            <a:r>
              <a:rPr lang="en-US" sz="3600" dirty="0"/>
              <a:t>	</a:t>
            </a:r>
            <a:r>
              <a:rPr lang="en-US" sz="3600" dirty="0" smtClean="0"/>
              <a:t>	for(j=</a:t>
            </a:r>
            <a:r>
              <a:rPr lang="en-US" sz="3600" dirty="0" err="1" smtClean="0"/>
              <a:t>i;j</a:t>
            </a:r>
            <a:r>
              <a:rPr lang="en-US" sz="3600" dirty="0" smtClean="0"/>
              <a:t>&gt;0;j-</a:t>
            </a:r>
            <a:r>
              <a:rPr lang="en-US" sz="3600" dirty="0"/>
              <a:t>-)</a:t>
            </a:r>
          </a:p>
          <a:p>
            <a:pPr marL="0" indent="0" algn="just">
              <a:buNone/>
            </a:pPr>
            <a:r>
              <a:rPr lang="en-US" sz="3600" dirty="0" smtClean="0"/>
              <a:t>		{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		</a:t>
            </a:r>
            <a:r>
              <a:rPr lang="en-US" sz="3600" dirty="0" err="1" smtClean="0"/>
              <a:t>printf</a:t>
            </a:r>
            <a:r>
              <a:rPr lang="en-US" sz="3600" dirty="0"/>
              <a:t>("%</a:t>
            </a:r>
            <a:r>
              <a:rPr lang="en-US" sz="3600" dirty="0" err="1"/>
              <a:t>d",j</a:t>
            </a:r>
            <a:r>
              <a:rPr lang="en-US" sz="3600" dirty="0"/>
              <a:t>);</a:t>
            </a:r>
          </a:p>
          <a:p>
            <a:pPr marL="0" indent="0" algn="just">
              <a:buNone/>
            </a:pPr>
            <a:r>
              <a:rPr lang="en-US" sz="3600" dirty="0" smtClean="0"/>
              <a:t>	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	}</a:t>
            </a:r>
            <a:endParaRPr lang="en-US" sz="3600" dirty="0"/>
          </a:p>
          <a:p>
            <a:pPr marL="0" indent="0" algn="just">
              <a:buNone/>
            </a:pPr>
            <a:r>
              <a:rPr lang="en-US" sz="3600" dirty="0" err="1"/>
              <a:t>getch</a:t>
            </a:r>
            <a:r>
              <a:rPr lang="en-US" sz="3600" dirty="0"/>
              <a:t>();</a:t>
            </a:r>
          </a:p>
          <a:p>
            <a:pPr marL="0" indent="0" algn="just">
              <a:buNone/>
            </a:pPr>
            <a:r>
              <a:rPr lang="en-US" sz="3600" dirty="0"/>
              <a:t>}	</a:t>
            </a:r>
            <a:endParaRPr lang="en-US" sz="2000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057400"/>
            <a:ext cx="1752600" cy="3664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68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The syntax for a nested while loop statement in C programming language is as follows:</a:t>
            </a:r>
          </a:p>
          <a:p>
            <a:pPr marL="0" indent="0" algn="just">
              <a:buNone/>
            </a:pPr>
            <a:r>
              <a:rPr lang="en-US" sz="2800" dirty="0" smtClean="0"/>
              <a:t>	</a:t>
            </a:r>
            <a:r>
              <a:rPr lang="en-US" sz="2800" b="1" dirty="0" smtClean="0">
                <a:solidFill>
                  <a:srgbClr val="0000CC"/>
                </a:solidFill>
              </a:rPr>
              <a:t>while(condition</a:t>
            </a:r>
            <a:r>
              <a:rPr lang="en-US" sz="2800" b="1" dirty="0">
                <a:solidFill>
                  <a:srgbClr val="0000CC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{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while(condition</a:t>
            </a:r>
            <a:r>
              <a:rPr lang="en-US" sz="2800" b="1" dirty="0">
                <a:solidFill>
                  <a:srgbClr val="0000CC"/>
                </a:solidFill>
              </a:rPr>
              <a:t>)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{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	statement(s</a:t>
            </a:r>
            <a:r>
              <a:rPr lang="en-US" sz="28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}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statement(s</a:t>
            </a:r>
            <a:r>
              <a:rPr lang="en-US" sz="28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60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The syntax for a nested do...while loop statement in C programming language is as follows:</a:t>
            </a:r>
          </a:p>
          <a:p>
            <a:pPr marL="0" indent="0" algn="just">
              <a:buNone/>
            </a:pPr>
            <a:r>
              <a:rPr lang="en-US" sz="2800" dirty="0" smtClean="0"/>
              <a:t>	</a:t>
            </a:r>
            <a:r>
              <a:rPr lang="en-US" sz="2800" b="1" dirty="0" smtClean="0">
                <a:solidFill>
                  <a:srgbClr val="0000CC"/>
                </a:solidFill>
              </a:rPr>
              <a:t>do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{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statement(s</a:t>
            </a:r>
            <a:r>
              <a:rPr lang="en-US" sz="28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do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{</a:t>
            </a:r>
            <a:endParaRPr lang="en-US" sz="2800" b="1" dirty="0">
              <a:solidFill>
                <a:srgbClr val="0000CC"/>
              </a:solidFill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	statement(s</a:t>
            </a:r>
            <a:r>
              <a:rPr lang="en-US" sz="2800" b="1" dirty="0">
                <a:solidFill>
                  <a:srgbClr val="0000CC"/>
                </a:solidFill>
              </a:rPr>
              <a:t>);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	}</a:t>
            </a:r>
            <a:r>
              <a:rPr lang="en-US" sz="2800" b="1" dirty="0">
                <a:solidFill>
                  <a:srgbClr val="0000CC"/>
                </a:solidFill>
              </a:rPr>
              <a:t>while( condition );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</a:rPr>
              <a:t>	}</a:t>
            </a:r>
            <a:r>
              <a:rPr lang="en-US" sz="2800" b="1" dirty="0">
                <a:solidFill>
                  <a:srgbClr val="0000CC"/>
                </a:solidFill>
              </a:rPr>
              <a:t>while( condition );</a:t>
            </a:r>
            <a:endParaRPr lang="en-US" sz="28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90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A final note on loop nesting is that you can put any type of loop inside of any other type of loop.</a:t>
            </a:r>
          </a:p>
          <a:p>
            <a:pPr marL="0" indent="0" algn="just">
              <a:buNone/>
            </a:pPr>
            <a:r>
              <a:rPr lang="en-US" sz="2800" dirty="0"/>
              <a:t>For example, </a:t>
            </a:r>
            <a:r>
              <a:rPr lang="en-US" sz="2800" b="1" dirty="0">
                <a:solidFill>
                  <a:srgbClr val="0000CC"/>
                </a:solidFill>
              </a:rPr>
              <a:t>a for loop can be inside a while loop or vice versa.</a:t>
            </a:r>
            <a:endParaRPr lang="en-US" sz="2800" b="1" dirty="0" smtClean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9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2800" dirty="0" smtClean="0"/>
              <a:t>Programs: </a:t>
            </a:r>
            <a:r>
              <a:rPr lang="en-US" sz="2400" b="1" dirty="0" smtClean="0"/>
              <a:t>using </a:t>
            </a:r>
            <a:r>
              <a:rPr lang="en-US" sz="2400" b="1" dirty="0"/>
              <a:t>a nested for loop to find the prime numbers from 2 to 20</a:t>
            </a:r>
            <a:r>
              <a:rPr lang="en-US" sz="2400" b="1" dirty="0" smtClean="0"/>
              <a:t>:</a:t>
            </a:r>
          </a:p>
          <a:p>
            <a:pPr marL="0" indent="0" algn="just">
              <a:buNone/>
            </a:pPr>
            <a:r>
              <a:rPr lang="en-US" sz="2800" dirty="0" smtClean="0"/>
              <a:t>#include &lt;</a:t>
            </a:r>
            <a:r>
              <a:rPr lang="en-US" sz="2800" dirty="0" err="1" smtClean="0"/>
              <a:t>stdio.h</a:t>
            </a:r>
            <a:r>
              <a:rPr lang="en-US" sz="2800" dirty="0" smtClean="0"/>
              <a:t>&gt;</a:t>
            </a:r>
          </a:p>
          <a:p>
            <a:pPr marL="0" indent="0" algn="just"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main ()</a:t>
            </a:r>
          </a:p>
          <a:p>
            <a:pPr marL="0" indent="0" algn="just">
              <a:buNone/>
            </a:pPr>
            <a:r>
              <a:rPr lang="en-US" sz="2800" dirty="0" smtClean="0"/>
              <a:t>{</a:t>
            </a:r>
          </a:p>
          <a:p>
            <a:pPr marL="0" indent="0" algn="just">
              <a:buNone/>
            </a:pPr>
            <a:r>
              <a:rPr lang="en-US" sz="2800" dirty="0" smtClean="0"/>
              <a:t>	/* local variable definition */</a:t>
            </a:r>
          </a:p>
          <a:p>
            <a:pPr marL="0" indent="0" algn="just">
              <a:buNone/>
            </a:pPr>
            <a:r>
              <a:rPr lang="en-US" sz="2800" dirty="0" smtClean="0"/>
              <a:t>	</a:t>
            </a:r>
            <a:r>
              <a:rPr lang="en-US" sz="2800" dirty="0" err="1" smtClean="0"/>
              <a:t>int</a:t>
            </a:r>
            <a:r>
              <a:rPr lang="en-US" sz="2800" dirty="0" smtClean="0"/>
              <a:t> i, j;</a:t>
            </a:r>
          </a:p>
          <a:p>
            <a:pPr marL="0" indent="0" algn="just">
              <a:buNone/>
            </a:pPr>
            <a:r>
              <a:rPr lang="en-US" sz="2800" dirty="0" smtClean="0"/>
              <a:t>	for(i=2; i&lt;20; i++)</a:t>
            </a:r>
          </a:p>
          <a:p>
            <a:pPr marL="0" indent="0" algn="just">
              <a:buNone/>
            </a:pPr>
            <a:r>
              <a:rPr lang="en-US" sz="2800" dirty="0" smtClean="0"/>
              <a:t>	{</a:t>
            </a:r>
          </a:p>
          <a:p>
            <a:pPr marL="0" indent="0" algn="just">
              <a:buNone/>
            </a:pPr>
            <a:r>
              <a:rPr lang="en-US" sz="2800" dirty="0" smtClean="0"/>
              <a:t>		for(j=2; j &lt;= (i/j); j++)</a:t>
            </a:r>
          </a:p>
          <a:p>
            <a:pPr marL="0" indent="0" algn="just">
              <a:buNone/>
            </a:pPr>
            <a:r>
              <a:rPr lang="en-US" sz="2800" dirty="0" smtClean="0"/>
              <a:t>		if(!(</a:t>
            </a:r>
            <a:r>
              <a:rPr lang="en-US" sz="2800" dirty="0" err="1" smtClean="0"/>
              <a:t>i%j</a:t>
            </a:r>
            <a:r>
              <a:rPr lang="en-US" sz="2800" dirty="0" smtClean="0"/>
              <a:t>))</a:t>
            </a:r>
          </a:p>
          <a:p>
            <a:pPr marL="0" indent="0" algn="just">
              <a:buNone/>
            </a:pPr>
            <a:r>
              <a:rPr lang="en-US" sz="2800" dirty="0" smtClean="0"/>
              <a:t>			break; // if factor found, not prime</a:t>
            </a:r>
          </a:p>
          <a:p>
            <a:pPr marL="0" indent="0" algn="just">
              <a:buNone/>
            </a:pPr>
            <a:r>
              <a:rPr lang="en-US" sz="2800" dirty="0" smtClean="0"/>
              <a:t>		if(j &gt; (i/j)) </a:t>
            </a:r>
          </a:p>
          <a:p>
            <a:pPr marL="0" indent="0" algn="just">
              <a:buNone/>
            </a:pPr>
            <a:r>
              <a:rPr lang="en-US" sz="2800" dirty="0"/>
              <a:t>	</a:t>
            </a:r>
            <a:r>
              <a:rPr lang="en-US" sz="2800" dirty="0" smtClean="0"/>
              <a:t>		</a:t>
            </a:r>
            <a:r>
              <a:rPr lang="en-US" sz="2800" dirty="0" err="1" smtClean="0"/>
              <a:t>printf</a:t>
            </a:r>
            <a:r>
              <a:rPr lang="en-US" sz="2800" dirty="0" smtClean="0"/>
              <a:t>("%d is prime\n", i);</a:t>
            </a:r>
          </a:p>
          <a:p>
            <a:pPr marL="0" indent="0" algn="just">
              <a:buNone/>
            </a:pPr>
            <a:r>
              <a:rPr lang="en-US" sz="2800" dirty="0" smtClean="0"/>
              <a:t>	}</a:t>
            </a:r>
          </a:p>
          <a:p>
            <a:pPr marL="0" indent="0" algn="just">
              <a:buNone/>
            </a:pPr>
            <a:r>
              <a:rPr lang="en-US" sz="2800" dirty="0" smtClean="0"/>
              <a:t>return 0;</a:t>
            </a:r>
          </a:p>
          <a:p>
            <a:pPr marL="0" indent="0" algn="just">
              <a:buNone/>
            </a:pPr>
            <a:r>
              <a:rPr lang="en-US" sz="2800" b="1" dirty="0"/>
              <a:t>}</a:t>
            </a:r>
            <a:endParaRPr lang="en-US" sz="2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69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dirty="0"/>
              <a:t>Output</a:t>
            </a:r>
          </a:p>
          <a:p>
            <a:pPr marL="0" indent="0" algn="just">
              <a:buNone/>
            </a:pPr>
            <a:r>
              <a:rPr lang="en-US" sz="2800" dirty="0"/>
              <a:t>2 is prime</a:t>
            </a:r>
          </a:p>
          <a:p>
            <a:pPr marL="0" indent="0" algn="just">
              <a:buNone/>
            </a:pPr>
            <a:r>
              <a:rPr lang="en-US" sz="2800" dirty="0"/>
              <a:t>3 is prime</a:t>
            </a:r>
          </a:p>
          <a:p>
            <a:pPr marL="0" indent="0" algn="just">
              <a:buNone/>
            </a:pPr>
            <a:r>
              <a:rPr lang="en-US" sz="2800" dirty="0"/>
              <a:t>5 is prime</a:t>
            </a:r>
          </a:p>
          <a:p>
            <a:pPr marL="0" indent="0" algn="just">
              <a:buNone/>
            </a:pPr>
            <a:r>
              <a:rPr lang="en-US" sz="2800" dirty="0"/>
              <a:t>7 is prime</a:t>
            </a:r>
          </a:p>
          <a:p>
            <a:pPr marL="0" indent="0" algn="just">
              <a:buNone/>
            </a:pPr>
            <a:r>
              <a:rPr lang="en-US" sz="2800" dirty="0"/>
              <a:t>11 is prime</a:t>
            </a:r>
          </a:p>
          <a:p>
            <a:pPr marL="0" indent="0" algn="just">
              <a:buNone/>
            </a:pPr>
            <a:r>
              <a:rPr lang="en-US" sz="2800" dirty="0"/>
              <a:t>13 is prime</a:t>
            </a:r>
          </a:p>
          <a:p>
            <a:pPr marL="0" indent="0" algn="just">
              <a:buNone/>
            </a:pPr>
            <a:r>
              <a:rPr lang="en-US" sz="2800" dirty="0"/>
              <a:t>17 is prime</a:t>
            </a:r>
          </a:p>
          <a:p>
            <a:pPr marL="0" indent="0" algn="just">
              <a:buNone/>
            </a:pPr>
            <a:r>
              <a:rPr lang="en-US" sz="2800" dirty="0"/>
              <a:t>19 is prime</a:t>
            </a:r>
            <a:endParaRPr lang="en-US" sz="2800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79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</a:t>
            </a:r>
            <a:r>
              <a:rPr lang="en-US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loop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6019800" cy="5690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4" y="4104774"/>
            <a:ext cx="1571625" cy="248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030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3660</TotalTime>
  <Words>1889</Words>
  <Application>Microsoft Office PowerPoint</Application>
  <PresentationFormat>On-screen Show (4:3)</PresentationFormat>
  <Paragraphs>619</Paragraphs>
  <Slides>73</Slides>
  <Notes>64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Iterative Statements</vt:lpstr>
      <vt:lpstr>Iterative Statements/ Loop Control Statements</vt:lpstr>
      <vt:lpstr>Iterative Statements/ Loop Control Statements</vt:lpstr>
      <vt:lpstr>Iterative Statements/ Loop Control Statements</vt:lpstr>
      <vt:lpstr>Why use loops in C language?</vt:lpstr>
      <vt:lpstr>Iterative Statements/ Loop Control Statements</vt:lpstr>
      <vt:lpstr>Iterative Statements/ Loop Control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while statements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do-while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Nested for loop</vt:lpstr>
      <vt:lpstr>Nested for loop</vt:lpstr>
      <vt:lpstr>Nested for loop</vt:lpstr>
      <vt:lpstr>Nested for loop</vt:lpstr>
      <vt:lpstr>Nested for loop</vt:lpstr>
      <vt:lpstr>Nested for loop</vt:lpstr>
      <vt:lpstr>Nested loop</vt:lpstr>
      <vt:lpstr>Nested loop</vt:lpstr>
      <vt:lpstr>Nested loop</vt:lpstr>
      <vt:lpstr>Nested loop</vt:lpstr>
      <vt:lpstr>Nested loop</vt:lpstr>
      <vt:lpstr>Nested loop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397</cp:revision>
  <dcterms:created xsi:type="dcterms:W3CDTF">2019-09-20T11:10:00Z</dcterms:created>
  <dcterms:modified xsi:type="dcterms:W3CDTF">2025-01-18T17:24:15Z</dcterms:modified>
</cp:coreProperties>
</file>