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48"/>
  </p:notesMasterIdLst>
  <p:sldIdLst>
    <p:sldId id="463" r:id="rId3"/>
    <p:sldId id="467" r:id="rId4"/>
    <p:sldId id="499" r:id="rId5"/>
    <p:sldId id="500" r:id="rId6"/>
    <p:sldId id="501" r:id="rId7"/>
    <p:sldId id="505" r:id="rId8"/>
    <p:sldId id="468" r:id="rId9"/>
    <p:sldId id="502" r:id="rId10"/>
    <p:sldId id="503" r:id="rId11"/>
    <p:sldId id="504" r:id="rId12"/>
    <p:sldId id="506" r:id="rId13"/>
    <p:sldId id="507" r:id="rId14"/>
    <p:sldId id="508" r:id="rId15"/>
    <p:sldId id="509" r:id="rId16"/>
    <p:sldId id="510" r:id="rId17"/>
    <p:sldId id="511" r:id="rId18"/>
    <p:sldId id="512" r:id="rId19"/>
    <p:sldId id="513" r:id="rId20"/>
    <p:sldId id="517" r:id="rId21"/>
    <p:sldId id="514" r:id="rId22"/>
    <p:sldId id="515" r:id="rId23"/>
    <p:sldId id="518" r:id="rId24"/>
    <p:sldId id="520" r:id="rId25"/>
    <p:sldId id="519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528" r:id="rId34"/>
    <p:sldId id="529" r:id="rId35"/>
    <p:sldId id="530" r:id="rId36"/>
    <p:sldId id="531" r:id="rId37"/>
    <p:sldId id="532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40" r:id="rId46"/>
    <p:sldId id="46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Lecture-05_06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1. 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2. #include &lt;</a:t>
            </a:r>
            <a:r>
              <a:rPr lang="en-US" sz="3600" dirty="0" err="1"/>
              <a:t>conio.h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3. void main(){</a:t>
            </a:r>
          </a:p>
          <a:p>
            <a:pPr marL="0" indent="0" algn="just">
              <a:buNone/>
            </a:pPr>
            <a:r>
              <a:rPr lang="en-US" sz="3600" dirty="0"/>
              <a:t>4. </a:t>
            </a:r>
            <a:r>
              <a:rPr lang="en-US" sz="3600" dirty="0" err="1"/>
              <a:t>printf</a:t>
            </a:r>
            <a:r>
              <a:rPr lang="en-US" sz="3600" dirty="0"/>
              <a:t>("Hello C Language");</a:t>
            </a:r>
          </a:p>
          <a:p>
            <a:pPr marL="0" indent="0" algn="just">
              <a:buNone/>
            </a:pPr>
            <a:r>
              <a:rPr lang="en-US" sz="3600" dirty="0"/>
              <a:t>5. </a:t>
            </a:r>
            <a:r>
              <a:rPr lang="en-US" sz="3600" dirty="0" err="1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/>
              <a:t>6. }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 &lt;</a:t>
            </a:r>
            <a:r>
              <a:rPr lang="en-US" sz="3600" b="1" dirty="0" err="1">
                <a:solidFill>
                  <a:srgbClr val="0000CC"/>
                </a:solidFill>
              </a:rPr>
              <a:t>stdio.h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  <a:r>
              <a:rPr lang="en-US" sz="3600" dirty="0"/>
              <a:t> includes the </a:t>
            </a:r>
            <a:r>
              <a:rPr lang="en-US" sz="3600" b="1" dirty="0"/>
              <a:t>standard input output library functions.</a:t>
            </a:r>
            <a:r>
              <a:rPr lang="en-US" sz="3600" dirty="0"/>
              <a:t> The </a:t>
            </a:r>
            <a:r>
              <a:rPr lang="en-US" sz="3600" dirty="0" err="1"/>
              <a:t>printf</a:t>
            </a:r>
            <a:r>
              <a:rPr lang="en-US" sz="3600" dirty="0"/>
              <a:t>() </a:t>
            </a:r>
            <a:r>
              <a:rPr lang="en-US" sz="3600" dirty="0" smtClean="0"/>
              <a:t>function is </a:t>
            </a:r>
            <a:r>
              <a:rPr lang="en-US" sz="3600" dirty="0"/>
              <a:t>defined in </a:t>
            </a:r>
            <a:r>
              <a:rPr lang="en-US" sz="3600" dirty="0" err="1"/>
              <a:t>stdio.h</a:t>
            </a:r>
            <a:r>
              <a:rPr lang="en-US" sz="3600" dirty="0"/>
              <a:t> 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 &lt;</a:t>
            </a:r>
            <a:r>
              <a:rPr lang="en-US" sz="3600" b="1" dirty="0" err="1">
                <a:solidFill>
                  <a:srgbClr val="0000CC"/>
                </a:solidFill>
              </a:rPr>
              <a:t>conio.h</a:t>
            </a:r>
            <a:r>
              <a:rPr lang="en-US" sz="3600" b="1" dirty="0">
                <a:solidFill>
                  <a:srgbClr val="0000CC"/>
                </a:solidFill>
              </a:rPr>
              <a:t>&gt; </a:t>
            </a:r>
            <a:r>
              <a:rPr lang="en-US" sz="3600" dirty="0"/>
              <a:t>includes the </a:t>
            </a:r>
            <a:r>
              <a:rPr lang="en-US" sz="3600" b="1" dirty="0"/>
              <a:t>console input output library functions</a:t>
            </a:r>
            <a:r>
              <a:rPr lang="en-US" sz="3600" dirty="0"/>
              <a:t>. The </a:t>
            </a:r>
            <a:r>
              <a:rPr lang="en-US" sz="3600" dirty="0" err="1"/>
              <a:t>getch</a:t>
            </a:r>
            <a:r>
              <a:rPr lang="en-US" sz="3600" dirty="0"/>
              <a:t>() function </a:t>
            </a:r>
            <a:r>
              <a:rPr lang="en-US" sz="3600" dirty="0" smtClean="0"/>
              <a:t>is defined </a:t>
            </a:r>
            <a:r>
              <a:rPr lang="en-US" sz="3600" dirty="0"/>
              <a:t>in </a:t>
            </a:r>
            <a:r>
              <a:rPr lang="en-US" sz="3600" dirty="0" err="1"/>
              <a:t>conio.h</a:t>
            </a:r>
            <a:r>
              <a:rPr lang="en-US" sz="3600" dirty="0"/>
              <a:t> file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52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void </a:t>
            </a:r>
            <a:r>
              <a:rPr lang="en-US" sz="3600" b="1" dirty="0">
                <a:solidFill>
                  <a:srgbClr val="0000CC"/>
                </a:solidFill>
              </a:rPr>
              <a:t>main()</a:t>
            </a:r>
            <a:r>
              <a:rPr lang="en-US" sz="3600" dirty="0"/>
              <a:t> The main() function is the entry point of every program in c language. The </a:t>
            </a:r>
            <a:r>
              <a:rPr lang="en-US" sz="3600" b="1" dirty="0" smtClean="0"/>
              <a:t>void keyword </a:t>
            </a:r>
            <a:r>
              <a:rPr lang="en-US" sz="3600" b="1" dirty="0"/>
              <a:t>specifies that it returns no value</a:t>
            </a:r>
            <a:r>
              <a:rPr lang="en-US" sz="3600" b="1" dirty="0" smtClean="0"/>
              <a:t>.</a:t>
            </a:r>
          </a:p>
          <a:p>
            <a:pPr marL="0" indent="0" algn="just">
              <a:buNone/>
            </a:pP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()</a:t>
            </a:r>
            <a:r>
              <a:rPr lang="en-US" sz="3600" dirty="0"/>
              <a:t> The </a:t>
            </a:r>
            <a:r>
              <a:rPr lang="en-US" sz="3600" dirty="0" err="1"/>
              <a:t>printf</a:t>
            </a:r>
            <a:r>
              <a:rPr lang="en-US" sz="3600" dirty="0"/>
              <a:t>() function is used to </a:t>
            </a:r>
            <a:r>
              <a:rPr lang="en-US" sz="3600" b="1" dirty="0"/>
              <a:t>print data on the console</a:t>
            </a:r>
            <a:r>
              <a:rPr lang="en-US" sz="3600" b="1" dirty="0" smtClean="0"/>
              <a:t>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getch</a:t>
            </a:r>
            <a:r>
              <a:rPr lang="en-US" sz="3600" b="1" dirty="0">
                <a:solidFill>
                  <a:srgbClr val="0000CC"/>
                </a:solidFill>
              </a:rPr>
              <a:t>() </a:t>
            </a:r>
            <a:r>
              <a:rPr lang="en-US" sz="3600" dirty="0"/>
              <a:t>The </a:t>
            </a:r>
            <a:r>
              <a:rPr lang="en-US" sz="3600" dirty="0" err="1"/>
              <a:t>getch</a:t>
            </a:r>
            <a:r>
              <a:rPr lang="en-US" sz="3600" dirty="0"/>
              <a:t>() function asks for a single character. </a:t>
            </a:r>
            <a:r>
              <a:rPr lang="en-US" sz="3600" b="1" dirty="0"/>
              <a:t>Until you press any key, it blocks </a:t>
            </a:r>
            <a:r>
              <a:rPr lang="en-US" sz="3600" b="1" dirty="0" smtClean="0"/>
              <a:t>the screen</a:t>
            </a:r>
            <a:r>
              <a:rPr lang="en-US" sz="3600" b="1" dirty="0"/>
              <a:t>.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6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Set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Communicating with a computer involves speaking the language the computer understands. In </a:t>
            </a:r>
            <a:r>
              <a:rPr lang="en-US" sz="3600" dirty="0" smtClean="0"/>
              <a:t>C, various </a:t>
            </a:r>
            <a:r>
              <a:rPr lang="en-US" sz="3600" dirty="0"/>
              <a:t>characters have been given to </a:t>
            </a:r>
            <a:r>
              <a:rPr lang="en-US" sz="3600" dirty="0" smtClean="0"/>
              <a:t>communicate.</a:t>
            </a:r>
          </a:p>
          <a:p>
            <a:pPr marL="0" indent="0" algn="just">
              <a:buNone/>
            </a:pPr>
            <a:r>
              <a:rPr lang="en-US" sz="3600" dirty="0"/>
              <a:t>Character set in C consists of</a:t>
            </a:r>
            <a:r>
              <a:rPr lang="en-US" sz="3600" dirty="0" smtClean="0"/>
              <a:t>;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978442"/>
            <a:ext cx="8763000" cy="20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22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TOKENS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The smallest individual units are known as tokens</a:t>
            </a:r>
            <a:r>
              <a:rPr lang="en-US" sz="3600" dirty="0"/>
              <a:t>. C has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six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tokens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b="1" dirty="0"/>
              <a:t>1: </a:t>
            </a:r>
            <a:r>
              <a:rPr lang="en-US" sz="3600" b="1" dirty="0" smtClean="0"/>
              <a:t>Identifiers</a:t>
            </a:r>
          </a:p>
          <a:p>
            <a:pPr marL="0" indent="0" algn="just">
              <a:buNone/>
            </a:pPr>
            <a:r>
              <a:rPr lang="en-US" sz="3600" b="1" dirty="0" smtClean="0"/>
              <a:t>2</a:t>
            </a:r>
            <a:r>
              <a:rPr lang="en-US" sz="3600" b="1" dirty="0"/>
              <a:t>: Keywords</a:t>
            </a:r>
          </a:p>
          <a:p>
            <a:pPr marL="0" indent="0" algn="just">
              <a:buNone/>
            </a:pPr>
            <a:r>
              <a:rPr lang="en-US" sz="3600" b="1" dirty="0"/>
              <a:t>3: Constants</a:t>
            </a:r>
          </a:p>
          <a:p>
            <a:pPr marL="0" indent="0" algn="just">
              <a:buNone/>
            </a:pPr>
            <a:r>
              <a:rPr lang="en-US" sz="3600" b="1" dirty="0"/>
              <a:t>4: Strings</a:t>
            </a:r>
          </a:p>
          <a:p>
            <a:pPr marL="0" indent="0" algn="just">
              <a:buNone/>
            </a:pPr>
            <a:r>
              <a:rPr lang="en-US" sz="3600" b="1" dirty="0"/>
              <a:t>5: Special Symbols</a:t>
            </a:r>
          </a:p>
          <a:p>
            <a:pPr marL="0" indent="0" algn="just">
              <a:buNone/>
            </a:pPr>
            <a:r>
              <a:rPr lang="en-US" sz="3600" b="1" dirty="0"/>
              <a:t>6: Operators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6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Identifiers </a:t>
            </a:r>
            <a:r>
              <a:rPr lang="en-US" sz="3600" dirty="0"/>
              <a:t>refer to the names of variables, constants, functions and arrays. These </a:t>
            </a:r>
            <a:r>
              <a:rPr lang="en-US" sz="3600" b="1" dirty="0" smtClean="0">
                <a:solidFill>
                  <a:srgbClr val="0000CC"/>
                </a:solidFill>
              </a:rPr>
              <a:t>user-defined names</a:t>
            </a:r>
            <a:r>
              <a:rPr lang="en-US" sz="3600" dirty="0" smtClean="0"/>
              <a:t> </a:t>
            </a:r>
            <a:r>
              <a:rPr lang="en-US" sz="3600" dirty="0"/>
              <a:t>is called Identifiers. These identifier are defined against a set of rules.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8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an 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400" dirty="0" smtClean="0"/>
              <a:t>1. An </a:t>
            </a:r>
            <a:r>
              <a:rPr lang="en-US" sz="3400" dirty="0"/>
              <a:t>Identifier can </a:t>
            </a:r>
            <a:r>
              <a:rPr lang="en-US" sz="3400" b="1" dirty="0">
                <a:solidFill>
                  <a:srgbClr val="0000CC"/>
                </a:solidFill>
              </a:rPr>
              <a:t>only have alphanumeric characters</a:t>
            </a:r>
            <a:r>
              <a:rPr lang="en-US" sz="3400" dirty="0"/>
              <a:t>( a-z , A-Z , 0-9 ) and </a:t>
            </a:r>
            <a:r>
              <a:rPr lang="en-US" sz="3400" b="1" dirty="0">
                <a:solidFill>
                  <a:srgbClr val="0000CC"/>
                </a:solidFill>
              </a:rPr>
              <a:t>underscore</a:t>
            </a:r>
            <a:r>
              <a:rPr lang="en-US" sz="3400" dirty="0"/>
              <a:t>( </a:t>
            </a:r>
            <a:r>
              <a:rPr lang="en-US" sz="3400" dirty="0" smtClean="0"/>
              <a:t>_).</a:t>
            </a:r>
          </a:p>
          <a:p>
            <a:pPr marL="0" indent="0" algn="just">
              <a:buNone/>
            </a:pPr>
            <a:endParaRPr lang="en-US" sz="3400" dirty="0"/>
          </a:p>
          <a:p>
            <a:pPr marL="0" indent="0" algn="just">
              <a:buNone/>
            </a:pPr>
            <a:r>
              <a:rPr lang="en-US" sz="3400" dirty="0" smtClean="0"/>
              <a:t>2</a:t>
            </a:r>
            <a:r>
              <a:rPr lang="en-US" sz="3400" dirty="0"/>
              <a:t>. The </a:t>
            </a:r>
            <a:r>
              <a:rPr lang="en-US" sz="3400" b="1" dirty="0">
                <a:solidFill>
                  <a:srgbClr val="0000CC"/>
                </a:solidFill>
              </a:rPr>
              <a:t>first character of an identifier</a:t>
            </a:r>
            <a:r>
              <a:rPr lang="en-US" sz="3400" dirty="0"/>
              <a:t> can </a:t>
            </a:r>
            <a:r>
              <a:rPr lang="en-US" sz="3400" b="1" dirty="0">
                <a:solidFill>
                  <a:srgbClr val="FF0000"/>
                </a:solidFill>
              </a:rPr>
              <a:t>only contain alphabet</a:t>
            </a:r>
            <a:r>
              <a:rPr lang="en-US" sz="3400" dirty="0"/>
              <a:t>( a-z , A-Z ) or </a:t>
            </a:r>
            <a:r>
              <a:rPr lang="en-US" sz="3400" b="1" dirty="0">
                <a:solidFill>
                  <a:srgbClr val="FF0000"/>
                </a:solidFill>
              </a:rPr>
              <a:t>underscore</a:t>
            </a:r>
            <a:r>
              <a:rPr lang="en-US" sz="3400" dirty="0"/>
              <a:t> ( </a:t>
            </a:r>
            <a:r>
              <a:rPr lang="en-US" sz="3400" dirty="0" smtClean="0"/>
              <a:t>_ ).</a:t>
            </a:r>
          </a:p>
          <a:p>
            <a:pPr marL="0" indent="0" algn="just">
              <a:buNone/>
            </a:pPr>
            <a:endParaRPr lang="en-US" sz="3400" dirty="0"/>
          </a:p>
          <a:p>
            <a:pPr marL="0" indent="0" algn="just">
              <a:buNone/>
            </a:pPr>
            <a:r>
              <a:rPr lang="en-US" sz="3400" dirty="0"/>
              <a:t>3. Identifiers are also </a:t>
            </a:r>
            <a:r>
              <a:rPr lang="en-US" sz="3400" b="1" dirty="0">
                <a:solidFill>
                  <a:srgbClr val="B606BA"/>
                </a:solidFill>
              </a:rPr>
              <a:t>case sensitive in C</a:t>
            </a:r>
            <a:r>
              <a:rPr lang="en-US" sz="3400" dirty="0"/>
              <a:t>. For example </a:t>
            </a:r>
            <a:r>
              <a:rPr lang="en-US" sz="3400" b="1" dirty="0">
                <a:solidFill>
                  <a:srgbClr val="FF0000"/>
                </a:solidFill>
              </a:rPr>
              <a:t>name</a:t>
            </a:r>
            <a:r>
              <a:rPr lang="en-US" sz="3400" dirty="0"/>
              <a:t> and </a:t>
            </a:r>
            <a:r>
              <a:rPr lang="en-US" sz="3400" b="1" dirty="0">
                <a:solidFill>
                  <a:srgbClr val="FF0000"/>
                </a:solidFill>
              </a:rPr>
              <a:t>Name</a:t>
            </a:r>
            <a:r>
              <a:rPr lang="en-US" sz="3400" dirty="0"/>
              <a:t> are </a:t>
            </a:r>
            <a:r>
              <a:rPr lang="en-US" sz="3400" b="1" dirty="0">
                <a:solidFill>
                  <a:srgbClr val="0000CC"/>
                </a:solidFill>
              </a:rPr>
              <a:t>two </a:t>
            </a:r>
            <a:r>
              <a:rPr lang="en-US" sz="3400" b="1" dirty="0" smtClean="0">
                <a:solidFill>
                  <a:srgbClr val="0000CC"/>
                </a:solidFill>
              </a:rPr>
              <a:t>different identifier </a:t>
            </a:r>
            <a:r>
              <a:rPr lang="en-US" sz="3400" b="1" dirty="0">
                <a:solidFill>
                  <a:srgbClr val="0000CC"/>
                </a:solidFill>
              </a:rPr>
              <a:t>in C</a:t>
            </a:r>
            <a:endParaRPr lang="en-US" sz="34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14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an 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4. </a:t>
            </a:r>
            <a:r>
              <a:rPr lang="en-US" sz="3600" b="1" dirty="0">
                <a:solidFill>
                  <a:srgbClr val="0000CC"/>
                </a:solidFill>
              </a:rPr>
              <a:t>Keywords are not allowed </a:t>
            </a:r>
            <a:r>
              <a:rPr lang="en-US" sz="3600" dirty="0"/>
              <a:t>to be used as Identifiers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5. </a:t>
            </a:r>
            <a:r>
              <a:rPr lang="en-US" sz="3600" b="1" dirty="0">
                <a:solidFill>
                  <a:srgbClr val="FF0000"/>
                </a:solidFill>
              </a:rPr>
              <a:t>No special characters</a:t>
            </a:r>
            <a:r>
              <a:rPr lang="en-US" sz="3600" dirty="0"/>
              <a:t>, such as </a:t>
            </a:r>
            <a:r>
              <a:rPr lang="en-US" sz="3600" b="1" dirty="0">
                <a:solidFill>
                  <a:srgbClr val="B606BA"/>
                </a:solidFill>
              </a:rPr>
              <a:t>semicolon, period, whitespaces, slash or comma</a:t>
            </a:r>
            <a:r>
              <a:rPr lang="en-US" sz="3600" dirty="0"/>
              <a:t> </a:t>
            </a:r>
            <a:r>
              <a:rPr lang="en-US" sz="3600" dirty="0" smtClean="0"/>
              <a:t>are permitted </a:t>
            </a:r>
            <a:r>
              <a:rPr lang="en-US" sz="3600" dirty="0"/>
              <a:t>to be used in or as Identifier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6</a:t>
            </a:r>
            <a:r>
              <a:rPr lang="en-US" sz="3600" dirty="0"/>
              <a:t>. </a:t>
            </a:r>
            <a:r>
              <a:rPr lang="en-US" sz="3600" dirty="0" smtClean="0"/>
              <a:t>C’ </a:t>
            </a:r>
            <a:r>
              <a:rPr lang="en-US" sz="3600" dirty="0"/>
              <a:t>compiler recognizes </a:t>
            </a:r>
            <a:r>
              <a:rPr lang="en-US" sz="3600" b="1" dirty="0">
                <a:solidFill>
                  <a:srgbClr val="0000CC"/>
                </a:solidFill>
              </a:rPr>
              <a:t>only the first 31 </a:t>
            </a:r>
            <a:r>
              <a:rPr lang="en-US" sz="3600" dirty="0"/>
              <a:t>characters of an identifiers.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9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an Identifier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60611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197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Keywords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keyword is a </a:t>
            </a:r>
            <a:r>
              <a:rPr lang="en-US" b="1" dirty="0">
                <a:solidFill>
                  <a:srgbClr val="0000CC"/>
                </a:solidFill>
              </a:rPr>
              <a:t>reserved word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All </a:t>
            </a:r>
            <a:r>
              <a:rPr lang="en-US" dirty="0"/>
              <a:t>keywords have </a:t>
            </a:r>
            <a:r>
              <a:rPr lang="en-US" b="1" dirty="0">
                <a:solidFill>
                  <a:srgbClr val="FF0000"/>
                </a:solidFill>
              </a:rPr>
              <a:t>fixed meaning </a:t>
            </a:r>
            <a:r>
              <a:rPr lang="en-US" dirty="0"/>
              <a:t>that means </a:t>
            </a:r>
            <a:r>
              <a:rPr lang="en-US" dirty="0" smtClean="0"/>
              <a:t>we cannot </a:t>
            </a:r>
            <a:r>
              <a:rPr lang="en-US" dirty="0"/>
              <a:t>change. </a:t>
            </a:r>
            <a:endParaRPr lang="en-US" dirty="0" smtClean="0"/>
          </a:p>
          <a:p>
            <a:pPr algn="just"/>
            <a:r>
              <a:rPr lang="en-US" dirty="0"/>
              <a:t>All keywords </a:t>
            </a:r>
            <a:r>
              <a:rPr lang="en-US" b="1" dirty="0">
                <a:solidFill>
                  <a:srgbClr val="0000CC"/>
                </a:solidFill>
              </a:rPr>
              <a:t>must be written in lowercase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Keywords </a:t>
            </a:r>
            <a:r>
              <a:rPr lang="en-US" dirty="0"/>
              <a:t>serve as basic building blocks for program statements. </a:t>
            </a:r>
            <a:endParaRPr lang="en-US" dirty="0" smtClean="0"/>
          </a:p>
          <a:p>
            <a:pPr algn="just"/>
            <a:r>
              <a:rPr lang="en-US" dirty="0"/>
              <a:t>The keywords </a:t>
            </a:r>
            <a:r>
              <a:rPr lang="en-US" b="1" dirty="0">
                <a:solidFill>
                  <a:srgbClr val="FF0000"/>
                </a:solidFill>
              </a:rPr>
              <a:t>cannot be used as variable names </a:t>
            </a:r>
            <a:r>
              <a:rPr lang="en-US" dirty="0"/>
              <a:t>because if we do so we are trying to assign a new meaning to the keyword, which is not allowed by the computer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 language has </a:t>
            </a:r>
            <a:r>
              <a:rPr lang="en-US" b="1" dirty="0" smtClean="0">
                <a:solidFill>
                  <a:srgbClr val="0000CC"/>
                </a:solidFill>
              </a:rPr>
              <a:t>32 keywords</a:t>
            </a:r>
            <a:endParaRPr lang="en-US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73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Keywords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34" y="1219200"/>
            <a:ext cx="8831766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1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To store data the program must reserve space which is done using </a:t>
            </a:r>
            <a:r>
              <a:rPr lang="en-US" sz="3600" dirty="0" err="1"/>
              <a:t>datatype</a:t>
            </a:r>
            <a:r>
              <a:rPr lang="en-US" sz="3600" dirty="0"/>
              <a:t>. A </a:t>
            </a:r>
            <a:r>
              <a:rPr lang="en-US" sz="3600" dirty="0" err="1"/>
              <a:t>datatype</a:t>
            </a:r>
            <a:r>
              <a:rPr lang="en-US" sz="3600" dirty="0"/>
              <a:t> is </a:t>
            </a:r>
            <a:r>
              <a:rPr lang="en-US" sz="3600" dirty="0" smtClean="0"/>
              <a:t>a keyword/predefined </a:t>
            </a:r>
            <a:r>
              <a:rPr lang="en-US" sz="3600" dirty="0"/>
              <a:t>instruction used </a:t>
            </a:r>
            <a:r>
              <a:rPr lang="en-US" sz="3600" dirty="0" smtClean="0"/>
              <a:t>for allocating </a:t>
            </a:r>
            <a:r>
              <a:rPr lang="en-US" sz="3600" dirty="0"/>
              <a:t>memory for data. A data type </a:t>
            </a:r>
            <a:r>
              <a:rPr lang="en-US" sz="3600" dirty="0" smtClean="0"/>
              <a:t>specifies the </a:t>
            </a:r>
            <a:r>
              <a:rPr lang="en-US" sz="3600" dirty="0"/>
              <a:t>type of data that a variable can store such as integer, floating, character etc. It used </a:t>
            </a:r>
            <a:r>
              <a:rPr lang="en-US" sz="3600" dirty="0" smtClean="0"/>
              <a:t>for declaring/defining </a:t>
            </a:r>
            <a:r>
              <a:rPr lang="en-US" sz="3600" dirty="0"/>
              <a:t>variables or functions of different types before to use in a program.</a:t>
            </a:r>
          </a:p>
        </p:txBody>
      </p:sp>
    </p:spTree>
    <p:extLst>
      <p:ext uri="{BB962C8B-B14F-4D97-AF65-F5344CB8AC3E}">
        <p14:creationId xmlns:p14="http://schemas.microsoft.com/office/powerpoint/2010/main" val="357090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44000" cy="4142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5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49140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82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There </a:t>
            </a:r>
            <a:r>
              <a:rPr lang="en-US" dirty="0"/>
              <a:t>are 4 fundamental </a:t>
            </a:r>
            <a:r>
              <a:rPr lang="en-US" dirty="0" smtClean="0"/>
              <a:t>data types </a:t>
            </a:r>
            <a:r>
              <a:rPr lang="en-US" dirty="0"/>
              <a:t>in C, which are- </a:t>
            </a:r>
            <a:r>
              <a:rPr lang="en-US" b="1" dirty="0">
                <a:solidFill>
                  <a:srgbClr val="0000CC"/>
                </a:solidFill>
              </a:rPr>
              <a:t>char</a:t>
            </a:r>
            <a:r>
              <a:rPr lang="en-US" dirty="0"/>
              <a:t>, </a:t>
            </a:r>
            <a:r>
              <a:rPr lang="en-US" b="1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, </a:t>
            </a:r>
            <a:r>
              <a:rPr lang="en-US" b="1" dirty="0">
                <a:solidFill>
                  <a:srgbClr val="0000CC"/>
                </a:solidFill>
              </a:rPr>
              <a:t>float</a:t>
            </a:r>
            <a:r>
              <a:rPr lang="en-US" dirty="0"/>
              <a:t> &amp;, </a:t>
            </a:r>
            <a:r>
              <a:rPr lang="en-US" b="1" dirty="0">
                <a:solidFill>
                  <a:srgbClr val="FF0000"/>
                </a:solidFill>
              </a:rPr>
              <a:t>double</a:t>
            </a:r>
            <a:r>
              <a:rPr lang="en-US" dirty="0"/>
              <a:t>. Char is used to store any single character;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is used </a:t>
            </a:r>
            <a:r>
              <a:rPr lang="en-US" dirty="0"/>
              <a:t>to store any integer value, float is used to store any single precision floating point number </a:t>
            </a:r>
            <a:r>
              <a:rPr lang="en-US" dirty="0" smtClean="0"/>
              <a:t>&amp; double </a:t>
            </a:r>
            <a:r>
              <a:rPr lang="en-US" dirty="0"/>
              <a:t>is used to store any double precision floating point number. We can use 2 qualifiers </a:t>
            </a:r>
            <a:r>
              <a:rPr lang="en-US" dirty="0" smtClean="0"/>
              <a:t>with these </a:t>
            </a:r>
            <a:r>
              <a:rPr lang="en-US" dirty="0"/>
              <a:t>basic types to get more types.</a:t>
            </a:r>
          </a:p>
          <a:p>
            <a:r>
              <a:rPr lang="en-US" dirty="0"/>
              <a:t>There are 2 types of qualifiers-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Sign qualifier</a:t>
            </a:r>
            <a:r>
              <a:rPr lang="en-US" dirty="0"/>
              <a:t>- signed &amp; unsigned</a:t>
            </a:r>
          </a:p>
          <a:p>
            <a:pPr lvl="1"/>
            <a:r>
              <a:rPr lang="en-US" b="1" dirty="0">
                <a:solidFill>
                  <a:srgbClr val="0000CC"/>
                </a:solidFill>
              </a:rPr>
              <a:t>Size qualifier</a:t>
            </a:r>
            <a:r>
              <a:rPr lang="en-US" dirty="0"/>
              <a:t>- short &amp; long</a:t>
            </a:r>
          </a:p>
        </p:txBody>
      </p:sp>
    </p:spTree>
    <p:extLst>
      <p:ext uri="{BB962C8B-B14F-4D97-AF65-F5344CB8AC3E}">
        <p14:creationId xmlns:p14="http://schemas.microsoft.com/office/powerpoint/2010/main" val="143181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19200"/>
            <a:ext cx="9111809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96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04999"/>
            <a:ext cx="8382000" cy="5897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05" y="326153"/>
            <a:ext cx="8730916" cy="155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25973"/>
            <a:ext cx="8694821" cy="5111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657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data </a:t>
            </a:r>
            <a:r>
              <a:rPr lang="en-US" dirty="0"/>
              <a:t>types in C can be classified as follows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21" y="1853866"/>
            <a:ext cx="9107905" cy="378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9" y="5510463"/>
            <a:ext cx="9031705" cy="110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317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data </a:t>
            </a:r>
            <a:r>
              <a:rPr lang="en-US" dirty="0"/>
              <a:t>types in C can be classified as follows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5" y="2021305"/>
            <a:ext cx="8915400" cy="2174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74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algn="just"/>
            <a:r>
              <a:rPr lang="en-US" dirty="0"/>
              <a:t>Constants refer to </a:t>
            </a:r>
            <a:r>
              <a:rPr lang="en-US" b="1" dirty="0">
                <a:solidFill>
                  <a:srgbClr val="0000CC"/>
                </a:solidFill>
              </a:rPr>
              <a:t>fixed values </a:t>
            </a:r>
            <a:r>
              <a:rPr lang="en-US" dirty="0"/>
              <a:t>that do </a:t>
            </a:r>
            <a:r>
              <a:rPr lang="en-US" dirty="0" smtClean="0"/>
              <a:t>not change </a:t>
            </a:r>
            <a:r>
              <a:rPr lang="en-US" dirty="0"/>
              <a:t>during the </a:t>
            </a:r>
            <a:r>
              <a:rPr lang="en-US" dirty="0" smtClean="0"/>
              <a:t>execution </a:t>
            </a:r>
            <a:r>
              <a:rPr lang="en-US" dirty="0"/>
              <a:t>of a program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constants are also called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literals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r>
              <a:rPr lang="en-US" dirty="0"/>
              <a:t>C supports several kinds of constants.</a:t>
            </a:r>
          </a:p>
        </p:txBody>
      </p:sp>
    </p:spTree>
    <p:extLst>
      <p:ext uri="{BB962C8B-B14F-4D97-AF65-F5344CB8AC3E}">
        <p14:creationId xmlns:p14="http://schemas.microsoft.com/office/powerpoint/2010/main" val="212535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 constants can be divided into two </a:t>
            </a:r>
            <a:r>
              <a:rPr lang="en-US" sz="2800" dirty="0" smtClean="0"/>
              <a:t>major categories</a:t>
            </a:r>
            <a:r>
              <a:rPr lang="en-US" sz="2800" dirty="0"/>
              <a:t>:</a:t>
            </a:r>
          </a:p>
          <a:p>
            <a:r>
              <a:rPr lang="en-US" sz="2800" dirty="0" smtClean="0"/>
              <a:t>Primary </a:t>
            </a:r>
            <a:r>
              <a:rPr lang="en-US" sz="2800" dirty="0"/>
              <a:t>Constants</a:t>
            </a:r>
          </a:p>
          <a:p>
            <a:r>
              <a:rPr lang="en-US" sz="2800" dirty="0" smtClean="0"/>
              <a:t>Secondary </a:t>
            </a:r>
            <a:r>
              <a:rPr lang="en-US" sz="2800" dirty="0"/>
              <a:t>Constants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7000"/>
            <a:ext cx="6705600" cy="399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492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763000" cy="366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018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TYPES OF C CONSTANT: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1. Integer constants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Real or Floating point constants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3. Character constants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 String constants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</a:rPr>
              <a:t>5. Backslash character constants</a:t>
            </a:r>
          </a:p>
        </p:txBody>
      </p:sp>
    </p:spTree>
    <p:extLst>
      <p:ext uri="{BB962C8B-B14F-4D97-AF65-F5344CB8AC3E}">
        <p14:creationId xmlns:p14="http://schemas.microsoft.com/office/powerpoint/2010/main" val="63705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An integer constant is a numeric constant (associated with number) without any fractional </a:t>
            </a:r>
            <a:r>
              <a:rPr lang="en-US" dirty="0" smtClean="0"/>
              <a:t>or exponential </a:t>
            </a:r>
            <a:r>
              <a:rPr lang="en-US" dirty="0"/>
              <a:t>part. There are three types of integer constants in C programming</a:t>
            </a:r>
            <a:r>
              <a:rPr lang="en-US" dirty="0" smtClean="0"/>
              <a:t>: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decimal constant(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10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octal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8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hexadecimal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 16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2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For example:</a:t>
            </a:r>
          </a:p>
          <a:p>
            <a:pPr algn="just"/>
            <a:r>
              <a:rPr lang="en-US" b="1" dirty="0" smtClean="0">
                <a:solidFill>
                  <a:srgbClr val="B606BA"/>
                </a:solidFill>
              </a:rPr>
              <a:t>Decimal </a:t>
            </a:r>
            <a:r>
              <a:rPr lang="en-US" b="1" dirty="0">
                <a:solidFill>
                  <a:srgbClr val="B606BA"/>
                </a:solidFill>
              </a:rPr>
              <a:t>constants</a:t>
            </a:r>
            <a:r>
              <a:rPr lang="en-US" dirty="0"/>
              <a:t>: </a:t>
            </a:r>
            <a:r>
              <a:rPr lang="en-US" b="1" dirty="0">
                <a:solidFill>
                  <a:srgbClr val="0000CC"/>
                </a:solidFill>
              </a:rPr>
              <a:t>0, -9, 22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algn="just"/>
            <a:r>
              <a:rPr lang="en-US" b="1" dirty="0" smtClean="0">
                <a:solidFill>
                  <a:srgbClr val="B606BA"/>
                </a:solidFill>
              </a:rPr>
              <a:t>Octal </a:t>
            </a:r>
            <a:r>
              <a:rPr lang="en-US" b="1" dirty="0">
                <a:solidFill>
                  <a:srgbClr val="B606BA"/>
                </a:solidFill>
              </a:rPr>
              <a:t>constants</a:t>
            </a:r>
            <a:r>
              <a:rPr lang="en-US" dirty="0"/>
              <a:t>: </a:t>
            </a:r>
            <a:r>
              <a:rPr lang="en-US" b="1" dirty="0">
                <a:solidFill>
                  <a:srgbClr val="0000CC"/>
                </a:solidFill>
              </a:rPr>
              <a:t>021, 077, 033 </a:t>
            </a:r>
            <a:r>
              <a:rPr lang="en-US" dirty="0" err="1"/>
              <a:t>etc</a:t>
            </a:r>
            <a:endParaRPr lang="en-US" dirty="0"/>
          </a:p>
          <a:p>
            <a:pPr algn="just"/>
            <a:r>
              <a:rPr lang="en-US" b="1" dirty="0" smtClean="0">
                <a:solidFill>
                  <a:srgbClr val="B606BA"/>
                </a:solidFill>
              </a:rPr>
              <a:t>Hexadecimal constants</a:t>
            </a:r>
            <a:r>
              <a:rPr lang="en-US" dirty="0"/>
              <a:t>: </a:t>
            </a:r>
            <a:r>
              <a:rPr lang="en-US" b="1" dirty="0">
                <a:solidFill>
                  <a:srgbClr val="0000CC"/>
                </a:solidFill>
              </a:rPr>
              <a:t>0x7f, 0x2a, 0x521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 C programming,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octal constant starts with a 0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hexadecimal constant starts with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0x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90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1: </a:t>
            </a:r>
            <a:r>
              <a:rPr lang="en-US" b="1" dirty="0">
                <a:solidFill>
                  <a:srgbClr val="0000CC"/>
                </a:solidFill>
              </a:rPr>
              <a:t>Decimal Integer</a:t>
            </a:r>
            <a:r>
              <a:rPr lang="en-US" dirty="0"/>
              <a:t> : the rules for represent decimal integer.</a:t>
            </a:r>
          </a:p>
          <a:p>
            <a:pPr marL="0" indent="0" algn="just">
              <a:buNone/>
            </a:pPr>
            <a:r>
              <a:rPr lang="en-US" dirty="0" smtClean="0"/>
              <a:t>a) </a:t>
            </a:r>
            <a:r>
              <a:rPr lang="en-US" dirty="0"/>
              <a:t>Decimal Integer value which consist of digits from </a:t>
            </a:r>
            <a:r>
              <a:rPr lang="en-US" b="1" dirty="0">
                <a:solidFill>
                  <a:srgbClr val="0000CC"/>
                </a:solidFill>
              </a:rPr>
              <a:t>0-9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b) </a:t>
            </a:r>
            <a:r>
              <a:rPr lang="en-US" dirty="0"/>
              <a:t>Decimal Integer value with </a:t>
            </a:r>
            <a:r>
              <a:rPr lang="en-US" b="1" dirty="0">
                <a:solidFill>
                  <a:srgbClr val="0000CC"/>
                </a:solidFill>
              </a:rPr>
              <a:t>base 10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c) Decimal Integer should not prefix with 0.</a:t>
            </a:r>
          </a:p>
          <a:p>
            <a:pPr marL="0" indent="0" algn="just">
              <a:buNone/>
            </a:pPr>
            <a:r>
              <a:rPr lang="en-US" dirty="0"/>
              <a:t>d) It allows only sign (+,-).</a:t>
            </a:r>
          </a:p>
          <a:p>
            <a:pPr marL="0" indent="0" algn="just">
              <a:buNone/>
            </a:pPr>
            <a:r>
              <a:rPr lang="en-US" dirty="0"/>
              <a:t>e) </a:t>
            </a:r>
            <a:r>
              <a:rPr lang="en-US" b="1" dirty="0">
                <a:solidFill>
                  <a:srgbClr val="0000CC"/>
                </a:solidFill>
              </a:rPr>
              <a:t>No special character allowed in this integer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72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6096000" cy="429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124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Octal</a:t>
            </a:r>
            <a:r>
              <a:rPr lang="en-US" dirty="0"/>
              <a:t> : An integer constants with </a:t>
            </a:r>
            <a:r>
              <a:rPr lang="en-US" b="1" dirty="0">
                <a:solidFill>
                  <a:srgbClr val="0000CC"/>
                </a:solidFill>
              </a:rPr>
              <a:t>base 8</a:t>
            </a:r>
            <a:r>
              <a:rPr lang="en-US" dirty="0"/>
              <a:t> is called octal. These rules are :</a:t>
            </a:r>
          </a:p>
          <a:p>
            <a:pPr marL="0" indent="0">
              <a:buNone/>
            </a:pPr>
            <a:r>
              <a:rPr lang="en-US" dirty="0"/>
              <a:t>a) it consist of digits from </a:t>
            </a:r>
            <a:r>
              <a:rPr lang="en-US" b="1" dirty="0">
                <a:solidFill>
                  <a:srgbClr val="0000CC"/>
                </a:solidFill>
              </a:rPr>
              <a:t>0 to 7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b) It should </a:t>
            </a:r>
            <a:r>
              <a:rPr lang="en-US" b="1" dirty="0">
                <a:solidFill>
                  <a:srgbClr val="0000CC"/>
                </a:solidFill>
              </a:rPr>
              <a:t>prefix with 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c) It allows sign (+,-).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b="1" dirty="0">
                <a:solidFill>
                  <a:srgbClr val="0000CC"/>
                </a:solidFill>
              </a:rPr>
              <a:t>No special character is allowed.</a:t>
            </a:r>
          </a:p>
        </p:txBody>
      </p:sp>
    </p:spTree>
    <p:extLst>
      <p:ext uri="{BB962C8B-B14F-4D97-AF65-F5344CB8AC3E}">
        <p14:creationId xmlns:p14="http://schemas.microsoft.com/office/powerpoint/2010/main" val="146658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676400"/>
            <a:ext cx="8228189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771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: Hexadecimal </a:t>
            </a:r>
            <a:r>
              <a:rPr lang="en-US" dirty="0"/>
              <a:t>: An integer constant with </a:t>
            </a:r>
            <a:r>
              <a:rPr lang="en-US" b="1" dirty="0">
                <a:solidFill>
                  <a:srgbClr val="0000CC"/>
                </a:solidFill>
              </a:rPr>
              <a:t>base value 16</a:t>
            </a:r>
            <a:r>
              <a:rPr lang="en-US" dirty="0"/>
              <a:t> is called Hexadecimal.</a:t>
            </a:r>
          </a:p>
          <a:p>
            <a:pPr marL="0" indent="0">
              <a:buNone/>
            </a:pPr>
            <a:r>
              <a:rPr lang="en-US" dirty="0"/>
              <a:t>a) It consist of digits from </a:t>
            </a:r>
            <a:r>
              <a:rPr lang="en-US" b="1" dirty="0">
                <a:solidFill>
                  <a:srgbClr val="0000CC"/>
                </a:solidFill>
              </a:rPr>
              <a:t>0-9,a-f</a:t>
            </a:r>
            <a:r>
              <a:rPr lang="en-US" dirty="0"/>
              <a:t>(capital letters &amp; small </a:t>
            </a:r>
            <a:r>
              <a:rPr lang="en-US" dirty="0" err="1"/>
              <a:t>leters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 : 0 1 2 3 4 5 6 7 8 9 </a:t>
            </a:r>
            <a:r>
              <a:rPr lang="en-US" dirty="0" smtClean="0"/>
              <a:t>a b c d e 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it should prefix with 0X or 0x.</a:t>
            </a:r>
          </a:p>
          <a:p>
            <a:pPr marL="0" indent="0">
              <a:buNone/>
            </a:pPr>
            <a:r>
              <a:rPr lang="en-US" dirty="0"/>
              <a:t>c) it allows sign (+,-).</a:t>
            </a:r>
          </a:p>
          <a:p>
            <a:pPr marL="0" indent="0">
              <a:buNone/>
            </a:pPr>
            <a:r>
              <a:rPr lang="en-US" dirty="0"/>
              <a:t>d) No special character is allowed.</a:t>
            </a:r>
          </a:p>
          <a:p>
            <a:pPr marL="0" indent="0">
              <a:buNone/>
            </a:pPr>
            <a:r>
              <a:rPr lang="en-US" dirty="0"/>
              <a:t>EX : OX1a, ox2f</a:t>
            </a:r>
          </a:p>
        </p:txBody>
      </p:sp>
    </p:spTree>
    <p:extLst>
      <p:ext uri="{BB962C8B-B14F-4D97-AF65-F5344CB8AC3E}">
        <p14:creationId xmlns:p14="http://schemas.microsoft.com/office/powerpoint/2010/main" val="422637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49831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Constructing Integer Constants:</a:t>
            </a:r>
          </a:p>
          <a:p>
            <a:pPr marL="0" indent="0">
              <a:buNone/>
            </a:pPr>
            <a:r>
              <a:rPr lang="en-US" dirty="0"/>
              <a:t>An integer constant must have at least one digit.</a:t>
            </a:r>
          </a:p>
          <a:p>
            <a:pPr marL="0" indent="0">
              <a:buNone/>
            </a:pPr>
            <a:r>
              <a:rPr lang="en-US" dirty="0"/>
              <a:t>a) It must not have a decimal point.</a:t>
            </a:r>
          </a:p>
          <a:p>
            <a:pPr marL="0" indent="0">
              <a:buNone/>
            </a:pPr>
            <a:r>
              <a:rPr lang="en-US" dirty="0"/>
              <a:t>b) It can be either positive or negative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c) If no sign precedes an integer constant it </a:t>
            </a:r>
            <a:r>
              <a:rPr lang="en-US" dirty="0" smtClean="0"/>
              <a:t>is assumed </a:t>
            </a:r>
            <a:r>
              <a:rPr lang="en-US" dirty="0"/>
              <a:t>to be positive.</a:t>
            </a:r>
          </a:p>
          <a:p>
            <a:pPr marL="0" indent="0">
              <a:buNone/>
            </a:pPr>
            <a:r>
              <a:rPr lang="en-US" dirty="0"/>
              <a:t>d) No commas or blanks are allowed within an integer constant.</a:t>
            </a:r>
          </a:p>
          <a:p>
            <a:pPr marL="0" indent="0">
              <a:buNone/>
            </a:pPr>
            <a:r>
              <a:rPr lang="en-US" dirty="0"/>
              <a:t>e) The allowable range for integer constants is -</a:t>
            </a:r>
            <a:r>
              <a:rPr lang="en-US" dirty="0" smtClean="0"/>
              <a:t>32768 to </a:t>
            </a:r>
            <a:r>
              <a:rPr lang="en-US" dirty="0"/>
              <a:t>32767.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</a:t>
            </a:r>
            <a:r>
              <a:rPr lang="en-US" dirty="0"/>
              <a:t>.: 426, +782,-8000, -7605</a:t>
            </a:r>
          </a:p>
        </p:txBody>
      </p:sp>
    </p:spTree>
    <p:extLst>
      <p:ext uri="{BB962C8B-B14F-4D97-AF65-F5344CB8AC3E}">
        <p14:creationId xmlns:p14="http://schemas.microsoft.com/office/powerpoint/2010/main" val="292944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Floating point/Real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382000" cy="49831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 smtClean="0"/>
                  <a:t>A floating point constant is a numeric constant that has either a fractional form or an exponent</a:t>
                </a:r>
              </a:p>
              <a:p>
                <a:pPr marL="0" indent="0" algn="just">
                  <a:buNone/>
                </a:pPr>
                <a:r>
                  <a:rPr lang="en-US" dirty="0"/>
                  <a:t>form. For example</a:t>
                </a:r>
                <a:r>
                  <a:rPr lang="en-US" dirty="0" smtClean="0"/>
                  <a:t>:</a:t>
                </a:r>
              </a:p>
              <a:p>
                <a:pPr marL="0" indent="0" algn="ctr">
                  <a:buNone/>
                </a:pPr>
                <a:r>
                  <a:rPr lang="en-US" dirty="0"/>
                  <a:t>-2.0</a:t>
                </a:r>
              </a:p>
              <a:p>
                <a:pPr marL="0" indent="0" algn="ctr">
                  <a:buNone/>
                </a:pPr>
                <a:r>
                  <a:rPr lang="en-US" dirty="0"/>
                  <a:t>0.0000234</a:t>
                </a:r>
              </a:p>
              <a:p>
                <a:pPr marL="0" indent="0" algn="ctr">
                  <a:buNone/>
                </a:pPr>
                <a:r>
                  <a:rPr lang="en-US" dirty="0"/>
                  <a:t>-</a:t>
                </a:r>
                <a:r>
                  <a:rPr lang="en-US" dirty="0" smtClean="0"/>
                  <a:t>0.22E-5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 </a:t>
                </a:r>
                <a:r>
                  <a:rPr lang="en-US" dirty="0"/>
                  <a:t>E-5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−5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382000" cy="4983163"/>
              </a:xfrm>
              <a:blipFill rotWithShape="1">
                <a:blip r:embed="rId3"/>
                <a:stretch>
                  <a:fillRect l="-1818" t="-1591" r="-2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3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Floating point/Real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257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Real Constants : </a:t>
            </a:r>
            <a:r>
              <a:rPr lang="en-US" dirty="0"/>
              <a:t>Real constant is base 10 number, which is represented in decimal </a:t>
            </a:r>
            <a:r>
              <a:rPr lang="en-US" dirty="0" smtClean="0"/>
              <a:t>0r scientific/exponential </a:t>
            </a:r>
            <a:r>
              <a:rPr lang="en-US" dirty="0"/>
              <a:t>notation.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</a:rPr>
              <a:t>Real </a:t>
            </a:r>
            <a:r>
              <a:rPr lang="en-US" b="1" dirty="0">
                <a:solidFill>
                  <a:srgbClr val="0000CC"/>
                </a:solidFill>
              </a:rPr>
              <a:t>Notation : </a:t>
            </a:r>
            <a:r>
              <a:rPr lang="en-US" dirty="0"/>
              <a:t>The real notation is represented by an integer followed by a decimal point </a:t>
            </a:r>
            <a:r>
              <a:rPr lang="en-US" dirty="0" smtClean="0"/>
              <a:t>and the </a:t>
            </a:r>
            <a:r>
              <a:rPr lang="en-US" dirty="0"/>
              <a:t>fractional(decimal) part. It is possible to omit digits before or after the decimal point.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15.25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.75</a:t>
            </a:r>
          </a:p>
          <a:p>
            <a:pPr marL="0" indent="0" algn="just">
              <a:buNone/>
            </a:pPr>
            <a:r>
              <a:rPr lang="en-US" dirty="0"/>
              <a:t>30</a:t>
            </a:r>
          </a:p>
          <a:p>
            <a:pPr marL="0" indent="0" algn="just">
              <a:buNone/>
            </a:pPr>
            <a:r>
              <a:rPr lang="en-US" dirty="0"/>
              <a:t>-9.52</a:t>
            </a:r>
          </a:p>
          <a:p>
            <a:pPr marL="0" indent="0" algn="just">
              <a:buNone/>
            </a:pPr>
            <a:r>
              <a:rPr lang="en-US" dirty="0"/>
              <a:t>-92</a:t>
            </a:r>
          </a:p>
          <a:p>
            <a:pPr marL="0" indent="0" algn="just">
              <a:buNone/>
            </a:pPr>
            <a:r>
              <a:rPr lang="en-US" dirty="0"/>
              <a:t>+.94</a:t>
            </a:r>
          </a:p>
        </p:txBody>
      </p:sp>
    </p:spTree>
    <p:extLst>
      <p:ext uri="{BB962C8B-B14F-4D97-AF65-F5344CB8AC3E}">
        <p14:creationId xmlns:p14="http://schemas.microsoft.com/office/powerpoint/2010/main" val="114423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Floating point/Real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864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Scientific/Exponential Notation: </a:t>
            </a:r>
            <a:r>
              <a:rPr lang="en-US" dirty="0"/>
              <a:t>The general form of Scientific/Exponential notation </a:t>
            </a:r>
            <a:r>
              <a:rPr lang="en-US" dirty="0" smtClean="0"/>
              <a:t>is </a:t>
            </a:r>
            <a:r>
              <a:rPr lang="en-US" dirty="0" err="1" smtClean="0"/>
              <a:t>mantisha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dirty="0"/>
              <a:t> exponent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err="1"/>
              <a:t>mantisha</a:t>
            </a:r>
            <a:r>
              <a:rPr lang="en-US" dirty="0"/>
              <a:t> is either a real/floating point number expressed in decimal notation or an </a:t>
            </a:r>
            <a:r>
              <a:rPr lang="en-US" dirty="0" smtClean="0"/>
              <a:t>integer and </a:t>
            </a:r>
            <a:r>
              <a:rPr lang="en-US" dirty="0"/>
              <a:t>the exponent is an integer number with an optional sign. The character e separating </a:t>
            </a:r>
            <a:r>
              <a:rPr lang="en-US" dirty="0" smtClean="0"/>
              <a:t>the </a:t>
            </a:r>
            <a:r>
              <a:rPr lang="en-US" dirty="0" err="1" smtClean="0"/>
              <a:t>mantisha</a:t>
            </a:r>
            <a:r>
              <a:rPr lang="en-US" dirty="0" smtClean="0"/>
              <a:t> </a:t>
            </a:r>
            <a:r>
              <a:rPr lang="en-US" dirty="0"/>
              <a:t>and the exponent can be written in either lowercase or uppercase.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1.5E-2</a:t>
            </a:r>
          </a:p>
          <a:p>
            <a:pPr marL="0" indent="0" algn="just">
              <a:buNone/>
            </a:pPr>
            <a:r>
              <a:rPr lang="en-US" dirty="0"/>
              <a:t>100e+3</a:t>
            </a:r>
          </a:p>
          <a:p>
            <a:pPr marL="0" indent="0" algn="just">
              <a:buNone/>
            </a:pPr>
            <a:r>
              <a:rPr lang="en-US" dirty="0"/>
              <a:t>-2.05e2</a:t>
            </a:r>
          </a:p>
        </p:txBody>
      </p:sp>
    </p:spTree>
    <p:extLst>
      <p:ext uri="{BB962C8B-B14F-4D97-AF65-F5344CB8AC3E}">
        <p14:creationId xmlns:p14="http://schemas.microsoft.com/office/powerpoint/2010/main" val="143625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Floating point/Real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Rules for constructing real constants expressed in fractional form:</a:t>
            </a:r>
          </a:p>
          <a:p>
            <a:pPr marL="0" indent="0" algn="just">
              <a:buNone/>
            </a:pPr>
            <a:r>
              <a:rPr lang="en-US" dirty="0"/>
              <a:t>a) A real constant must have at least one digit.</a:t>
            </a:r>
          </a:p>
          <a:p>
            <a:pPr marL="0" indent="0" algn="just">
              <a:buNone/>
            </a:pPr>
            <a:r>
              <a:rPr lang="en-US" dirty="0"/>
              <a:t>b) It must have a decimal point.</a:t>
            </a:r>
          </a:p>
          <a:p>
            <a:pPr marL="0" indent="0" algn="just">
              <a:buNone/>
            </a:pPr>
            <a:r>
              <a:rPr lang="en-US" dirty="0"/>
              <a:t>c) It could be either positive or negative.</a:t>
            </a:r>
          </a:p>
          <a:p>
            <a:pPr marL="0" indent="0" algn="just">
              <a:buNone/>
            </a:pPr>
            <a:r>
              <a:rPr lang="en-US" dirty="0"/>
              <a:t>d) Default sign is positive.</a:t>
            </a:r>
          </a:p>
          <a:p>
            <a:pPr marL="0" indent="0" algn="just">
              <a:buNone/>
            </a:pPr>
            <a:r>
              <a:rPr lang="en-US" dirty="0"/>
              <a:t>e) No commas or blanks are allowed within a real constant.</a:t>
            </a:r>
          </a:p>
          <a:p>
            <a:pPr marL="0" indent="0" algn="just">
              <a:buNone/>
            </a:pPr>
            <a:r>
              <a:rPr lang="en-US" dirty="0"/>
              <a:t>Ex. +325.34, 426.0, -32.76, -48.5792</a:t>
            </a:r>
          </a:p>
        </p:txBody>
      </p:sp>
    </p:spTree>
    <p:extLst>
      <p:ext uri="{BB962C8B-B14F-4D97-AF65-F5344CB8AC3E}">
        <p14:creationId xmlns:p14="http://schemas.microsoft.com/office/powerpoint/2010/main" val="256842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Floating point/Real 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86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Rules for constructing real constants expressed in exponential form:</a:t>
            </a:r>
          </a:p>
          <a:p>
            <a:pPr marL="0" indent="0" algn="just">
              <a:buNone/>
            </a:pPr>
            <a:r>
              <a:rPr lang="en-US" dirty="0"/>
              <a:t>a) The mantissa part and the exponential part should be separated by a letter e.</a:t>
            </a:r>
          </a:p>
          <a:p>
            <a:pPr marL="0" indent="0" algn="just">
              <a:buNone/>
            </a:pPr>
            <a:r>
              <a:rPr lang="en-US" dirty="0"/>
              <a:t>b) The mantissa part may have a positive or negative sign.</a:t>
            </a:r>
          </a:p>
          <a:p>
            <a:pPr marL="0" indent="0" algn="just">
              <a:buNone/>
            </a:pPr>
            <a:r>
              <a:rPr lang="en-US" dirty="0"/>
              <a:t>c) Default sign of mantissa part is positive.</a:t>
            </a:r>
          </a:p>
          <a:p>
            <a:pPr marL="0" indent="0" algn="just">
              <a:buNone/>
            </a:pPr>
            <a:r>
              <a:rPr lang="en-US" dirty="0"/>
              <a:t>d) The exponent must have at least one digit, which must be a positive or negative integer.</a:t>
            </a:r>
          </a:p>
          <a:p>
            <a:pPr marL="0" indent="0" algn="just">
              <a:buNone/>
            </a:pPr>
            <a:r>
              <a:rPr lang="en-US" dirty="0"/>
              <a:t>Default sign is positive.</a:t>
            </a:r>
          </a:p>
          <a:p>
            <a:pPr marL="0" indent="0" algn="just">
              <a:buNone/>
            </a:pPr>
            <a:r>
              <a:rPr lang="en-US" dirty="0"/>
              <a:t>e) Range of real constants expressed in exponential form is -3.4e38 to 3.4e38.</a:t>
            </a:r>
          </a:p>
          <a:p>
            <a:pPr marL="0" indent="0" algn="just">
              <a:buNone/>
            </a:pPr>
            <a:r>
              <a:rPr lang="en-US" dirty="0"/>
              <a:t>Ex. +3.2e-5, 4.1e8, -0.2e+3, -3.2e-5</a:t>
            </a:r>
          </a:p>
        </p:txBody>
      </p:sp>
    </p:spTree>
    <p:extLst>
      <p:ext uri="{BB962C8B-B14F-4D97-AF65-F5344CB8AC3E}">
        <p14:creationId xmlns:p14="http://schemas.microsoft.com/office/powerpoint/2010/main" val="375132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Single Character Constant : A character constant is either a </a:t>
            </a:r>
            <a:r>
              <a:rPr lang="en-US" b="1" dirty="0">
                <a:solidFill>
                  <a:srgbClr val="0000CC"/>
                </a:solidFill>
              </a:rPr>
              <a:t>single alphabet</a:t>
            </a:r>
            <a:r>
              <a:rPr lang="en-US" dirty="0"/>
              <a:t>, a </a:t>
            </a:r>
            <a:r>
              <a:rPr lang="en-US" b="1" dirty="0">
                <a:solidFill>
                  <a:srgbClr val="0000CC"/>
                </a:solidFill>
              </a:rPr>
              <a:t>single digit</a:t>
            </a:r>
            <a:r>
              <a:rPr lang="en-US" dirty="0"/>
              <a:t>, </a:t>
            </a:r>
            <a:r>
              <a:rPr lang="en-US" dirty="0" smtClean="0"/>
              <a:t>a </a:t>
            </a:r>
            <a:r>
              <a:rPr lang="en-US" b="1" dirty="0" smtClean="0">
                <a:solidFill>
                  <a:srgbClr val="0000CC"/>
                </a:solidFill>
              </a:rPr>
              <a:t>single </a:t>
            </a:r>
            <a:r>
              <a:rPr lang="en-US" b="1" dirty="0">
                <a:solidFill>
                  <a:srgbClr val="0000CC"/>
                </a:solidFill>
              </a:rPr>
              <a:t>special symbol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enclosed within single inverted commas.</a:t>
            </a:r>
          </a:p>
          <a:p>
            <a:pPr marL="0" indent="0" algn="just">
              <a:buNone/>
            </a:pPr>
            <a:r>
              <a:rPr lang="en-US" dirty="0"/>
              <a:t>a) it is value represent in </a:t>
            </a:r>
            <a:r>
              <a:rPr lang="en-US" dirty="0" smtClean="0"/>
              <a:t>‘ ‘ </a:t>
            </a:r>
            <a:r>
              <a:rPr lang="en-US" dirty="0"/>
              <a:t>(single quote).</a:t>
            </a:r>
          </a:p>
          <a:p>
            <a:pPr marL="0" indent="0" algn="just">
              <a:buNone/>
            </a:pPr>
            <a:r>
              <a:rPr lang="en-US" dirty="0"/>
              <a:t>b) The </a:t>
            </a:r>
            <a:r>
              <a:rPr lang="en-US" dirty="0" err="1"/>
              <a:t>maximam</a:t>
            </a:r>
            <a:r>
              <a:rPr lang="en-US" dirty="0"/>
              <a:t> length of a character constant can be 1 character.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1" y="4953000"/>
            <a:ext cx="6145130" cy="712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562599"/>
            <a:ext cx="6019800" cy="795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39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String constant : A string constant is a </a:t>
            </a:r>
            <a:r>
              <a:rPr lang="en-US" b="1" dirty="0">
                <a:solidFill>
                  <a:srgbClr val="0000CC"/>
                </a:solidFill>
              </a:rPr>
              <a:t>sequence of characters</a:t>
            </a:r>
            <a:r>
              <a:rPr lang="en-US" dirty="0"/>
              <a:t> enclosed in </a:t>
            </a:r>
            <a:r>
              <a:rPr lang="en-US" b="1" dirty="0">
                <a:solidFill>
                  <a:srgbClr val="FF0000"/>
                </a:solidFill>
              </a:rPr>
              <a:t>double quote</a:t>
            </a:r>
            <a:r>
              <a:rPr lang="en-US" dirty="0"/>
              <a:t>, </a:t>
            </a:r>
            <a:r>
              <a:rPr lang="en-US" dirty="0" smtClean="0"/>
              <a:t>the characters </a:t>
            </a:r>
            <a:r>
              <a:rPr lang="en-US" dirty="0"/>
              <a:t>may be </a:t>
            </a:r>
            <a:r>
              <a:rPr lang="en-US" b="1" dirty="0">
                <a:solidFill>
                  <a:srgbClr val="B606BA"/>
                </a:solidFill>
              </a:rPr>
              <a:t>letters</a:t>
            </a:r>
            <a:r>
              <a:rPr lang="en-US" dirty="0"/>
              <a:t>, </a:t>
            </a:r>
            <a:r>
              <a:rPr lang="en-US" b="1" dirty="0">
                <a:solidFill>
                  <a:srgbClr val="B606BA"/>
                </a:solidFill>
              </a:rPr>
              <a:t>numbers</a:t>
            </a:r>
            <a:r>
              <a:rPr lang="en-US" dirty="0"/>
              <a:t>, </a:t>
            </a:r>
            <a:r>
              <a:rPr lang="en-US" b="1" dirty="0">
                <a:solidFill>
                  <a:srgbClr val="B606BA"/>
                </a:solidFill>
              </a:rPr>
              <a:t>special characters</a:t>
            </a:r>
            <a:r>
              <a:rPr lang="en-US" dirty="0"/>
              <a:t> and </a:t>
            </a:r>
            <a:r>
              <a:rPr lang="en-US" b="1" dirty="0">
                <a:solidFill>
                  <a:srgbClr val="B606BA"/>
                </a:solidFill>
              </a:rPr>
              <a:t>blank space </a:t>
            </a:r>
            <a:r>
              <a:rPr lang="en-US" dirty="0" smtClean="0"/>
              <a:t>etc.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EX : </a:t>
            </a:r>
            <a:endParaRPr lang="en-US" dirty="0" smtClean="0"/>
          </a:p>
          <a:p>
            <a:pPr marL="0" indent="0" algn="just">
              <a:buNone/>
            </a:pPr>
            <a:r>
              <a:rPr lang="en-US" sz="3000" dirty="0" smtClean="0"/>
              <a:t>“</a:t>
            </a:r>
            <a:r>
              <a:rPr lang="en-US" sz="3000" dirty="0" err="1" smtClean="0"/>
              <a:t>ict</a:t>
            </a:r>
            <a:r>
              <a:rPr lang="en-US" sz="3000" dirty="0" smtClean="0"/>
              <a:t>” </a:t>
            </a:r>
            <a:r>
              <a:rPr lang="en-US" sz="3000" dirty="0"/>
              <a:t>, “a” , “+123” , “1-/a</a:t>
            </a:r>
            <a:r>
              <a:rPr lang="en-US" sz="3000" dirty="0" smtClean="0"/>
              <a:t>” "</a:t>
            </a:r>
            <a:r>
              <a:rPr lang="en-US" sz="3000" dirty="0"/>
              <a:t>good" //</a:t>
            </a:r>
            <a:r>
              <a:rPr lang="en-US" sz="3000" b="1" dirty="0">
                <a:solidFill>
                  <a:srgbClr val="0000CC"/>
                </a:solidFill>
              </a:rPr>
              <a:t>string constant</a:t>
            </a:r>
          </a:p>
          <a:p>
            <a:pPr marL="0" indent="0" algn="just">
              <a:buNone/>
            </a:pPr>
            <a:r>
              <a:rPr lang="en-US" dirty="0" smtClean="0"/>
              <a:t>““  </a:t>
            </a:r>
            <a:r>
              <a:rPr lang="en-US" dirty="0"/>
              <a:t>//</a:t>
            </a:r>
            <a:r>
              <a:rPr lang="en-US" b="1" dirty="0">
                <a:solidFill>
                  <a:srgbClr val="0000CC"/>
                </a:solidFill>
              </a:rPr>
              <a:t>null string constant</a:t>
            </a:r>
          </a:p>
          <a:p>
            <a:pPr marL="0" indent="0" algn="just">
              <a:buNone/>
            </a:pPr>
            <a:r>
              <a:rPr lang="en-US" dirty="0" smtClean="0"/>
              <a:t>“      “ </a:t>
            </a:r>
            <a:r>
              <a:rPr lang="en-US" dirty="0"/>
              <a:t>//</a:t>
            </a:r>
            <a:r>
              <a:rPr lang="en-US" b="1" dirty="0">
                <a:solidFill>
                  <a:srgbClr val="0000CC"/>
                </a:solidFill>
              </a:rPr>
              <a:t>string constant of six white space</a:t>
            </a:r>
          </a:p>
          <a:p>
            <a:pPr marL="0" indent="0" algn="just">
              <a:buNone/>
            </a:pPr>
            <a:r>
              <a:rPr lang="en-US" dirty="0" smtClean="0"/>
              <a:t>“x” </a:t>
            </a:r>
            <a:r>
              <a:rPr lang="en-US" dirty="0"/>
              <a:t>//</a:t>
            </a:r>
            <a:r>
              <a:rPr lang="en-US" b="1" dirty="0">
                <a:solidFill>
                  <a:srgbClr val="0000CC"/>
                </a:solidFill>
              </a:rPr>
              <a:t>string constant having single character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“Earth </a:t>
            </a:r>
            <a:r>
              <a:rPr lang="en-US" dirty="0"/>
              <a:t>is </a:t>
            </a:r>
            <a:r>
              <a:rPr lang="en-US" dirty="0" smtClean="0"/>
              <a:t>round\n” </a:t>
            </a:r>
            <a:r>
              <a:rPr lang="en-US" dirty="0"/>
              <a:t>//</a:t>
            </a:r>
            <a:r>
              <a:rPr lang="en-US" b="1" dirty="0">
                <a:solidFill>
                  <a:srgbClr val="0000CC"/>
                </a:solidFill>
              </a:rPr>
              <a:t>prints string with newline</a:t>
            </a:r>
          </a:p>
        </p:txBody>
      </p:sp>
    </p:spTree>
    <p:extLst>
      <p:ext uri="{BB962C8B-B14F-4D97-AF65-F5344CB8AC3E}">
        <p14:creationId xmlns:p14="http://schemas.microsoft.com/office/powerpoint/2010/main" val="34754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Escape characters or backslash characters: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5943600" cy="4975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426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ways to define constant in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There are two ways to define constant in C programming.</a:t>
            </a:r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</a:t>
            </a:r>
            <a:r>
              <a:rPr lang="en-US" dirty="0"/>
              <a:t> keyword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#define </a:t>
            </a:r>
            <a:r>
              <a:rPr lang="en-US" dirty="0"/>
              <a:t>preprocessor</a:t>
            </a:r>
          </a:p>
        </p:txBody>
      </p:sp>
    </p:spTree>
    <p:extLst>
      <p:ext uri="{BB962C8B-B14F-4D97-AF65-F5344CB8AC3E}">
        <p14:creationId xmlns:p14="http://schemas.microsoft.com/office/powerpoint/2010/main" val="173353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keyword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816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const</a:t>
            </a:r>
            <a:r>
              <a:rPr lang="en-US" dirty="0"/>
              <a:t> keyword is used to define constant in C programming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b="1" dirty="0" err="1">
                <a:solidFill>
                  <a:srgbClr val="0000CC"/>
                </a:solidFill>
              </a:rPr>
              <a:t>const</a:t>
            </a:r>
            <a:r>
              <a:rPr lang="en-US" b="1" dirty="0">
                <a:solidFill>
                  <a:srgbClr val="0000CC"/>
                </a:solidFill>
              </a:rPr>
              <a:t> float PI=3.14;</a:t>
            </a:r>
          </a:p>
          <a:p>
            <a:pPr marL="0" indent="0" algn="just">
              <a:buNone/>
            </a:pPr>
            <a:r>
              <a:rPr lang="en-US" dirty="0"/>
              <a:t>Now, the value of PI variable can't be changed.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. 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2. #include 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3. void main(){</a:t>
            </a:r>
          </a:p>
          <a:p>
            <a:pPr marL="0" indent="0" algn="just">
              <a:buNone/>
            </a:pPr>
            <a:r>
              <a:rPr lang="en-US" dirty="0"/>
              <a:t>4. </a:t>
            </a:r>
            <a:r>
              <a:rPr lang="en-US" dirty="0" err="1"/>
              <a:t>const</a:t>
            </a:r>
            <a:r>
              <a:rPr lang="en-US" dirty="0"/>
              <a:t> float PI=3.14;</a:t>
            </a:r>
          </a:p>
          <a:p>
            <a:pPr marL="0" indent="0" algn="just">
              <a:buNone/>
            </a:pPr>
            <a:r>
              <a:rPr lang="en-US" dirty="0"/>
              <a:t>5. </a:t>
            </a: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6. </a:t>
            </a:r>
            <a:r>
              <a:rPr lang="en-US" dirty="0" err="1"/>
              <a:t>printf</a:t>
            </a:r>
            <a:r>
              <a:rPr lang="en-US" dirty="0"/>
              <a:t>("The value of PI is: %</a:t>
            </a:r>
            <a:r>
              <a:rPr lang="en-US" dirty="0" err="1"/>
              <a:t>f",PI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7. 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8. 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The value of PI is: 3.140000</a:t>
            </a:r>
          </a:p>
        </p:txBody>
      </p:sp>
    </p:spTree>
    <p:extLst>
      <p:ext uri="{BB962C8B-B14F-4D97-AF65-F5344CB8AC3E}">
        <p14:creationId xmlns:p14="http://schemas.microsoft.com/office/powerpoint/2010/main" val="232076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#define preprocessor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10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00CC"/>
                </a:solidFill>
              </a:rPr>
              <a:t>#define </a:t>
            </a:r>
            <a:r>
              <a:rPr lang="en-US" dirty="0"/>
              <a:t>preprocessor is also used to define constant.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#define preprocessor directive is used to define constant or micro substitution. It can use </a:t>
            </a:r>
            <a:r>
              <a:rPr lang="en-US" dirty="0" smtClean="0"/>
              <a:t>any basic </a:t>
            </a:r>
            <a:r>
              <a:rPr lang="en-US" dirty="0"/>
              <a:t>data type.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#define token value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Let's </a:t>
            </a:r>
            <a:r>
              <a:rPr lang="en-US" dirty="0"/>
              <a:t>see an example of #define to define a constant.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1. #define PI 3.14</a:t>
            </a:r>
          </a:p>
          <a:p>
            <a:pPr marL="0" indent="0" algn="just">
              <a:buNone/>
            </a:pPr>
            <a:r>
              <a:rPr lang="en-US" dirty="0"/>
              <a:t>2. main() {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dirty="0" err="1"/>
              <a:t>printf</a:t>
            </a:r>
            <a:r>
              <a:rPr lang="en-US" dirty="0"/>
              <a:t>("%</a:t>
            </a:r>
            <a:r>
              <a:rPr lang="en-US" dirty="0" err="1"/>
              <a:t>f",PI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4. 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3.140000</a:t>
            </a:r>
          </a:p>
        </p:txBody>
      </p:sp>
    </p:spTree>
    <p:extLst>
      <p:ext uri="{BB962C8B-B14F-4D97-AF65-F5344CB8AC3E}">
        <p14:creationId xmlns:p14="http://schemas.microsoft.com/office/powerpoint/2010/main" val="397904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1970</Words>
  <Application>Microsoft Office PowerPoint</Application>
  <PresentationFormat>On-screen Show (4:3)</PresentationFormat>
  <Paragraphs>322</Paragraphs>
  <Slides>45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Office Theme</vt:lpstr>
      <vt:lpstr>1_Slipstream</vt:lpstr>
      <vt:lpstr>Structure Programming  ICT-1105  Information and Communication Technology</vt:lpstr>
      <vt:lpstr>PowerPoint Presentation</vt:lpstr>
      <vt:lpstr>First C Program</vt:lpstr>
      <vt:lpstr>First C Program</vt:lpstr>
      <vt:lpstr>First C Program</vt:lpstr>
      <vt:lpstr>Character Set</vt:lpstr>
      <vt:lpstr>C TOKENS</vt:lpstr>
      <vt:lpstr>Identifiers</vt:lpstr>
      <vt:lpstr>Rules for an Identifier</vt:lpstr>
      <vt:lpstr>Rules for an Identifier</vt:lpstr>
      <vt:lpstr>Rules for an Identifier</vt:lpstr>
      <vt:lpstr>Keywords</vt:lpstr>
      <vt:lpstr>Keywords</vt:lpstr>
      <vt:lpstr>Data Types</vt:lpstr>
      <vt:lpstr>Data Types</vt:lpstr>
      <vt:lpstr>Data Types</vt:lpstr>
      <vt:lpstr>Data Types</vt:lpstr>
      <vt:lpstr>Data Types</vt:lpstr>
      <vt:lpstr>PowerPoint Presentation</vt:lpstr>
      <vt:lpstr>Data Types</vt:lpstr>
      <vt:lpstr>Data Types</vt:lpstr>
      <vt:lpstr>Constant</vt:lpstr>
      <vt:lpstr>Constant</vt:lpstr>
      <vt:lpstr>Constant</vt:lpstr>
      <vt:lpstr>Constant</vt:lpstr>
      <vt:lpstr>Integer constants</vt:lpstr>
      <vt:lpstr>Integer constants</vt:lpstr>
      <vt:lpstr>Integer constants</vt:lpstr>
      <vt:lpstr>Integer constants</vt:lpstr>
      <vt:lpstr>Integer constants</vt:lpstr>
      <vt:lpstr>Integer constants</vt:lpstr>
      <vt:lpstr>Integer constants</vt:lpstr>
      <vt:lpstr>Integer constants</vt:lpstr>
      <vt:lpstr>Floating point/Real constants</vt:lpstr>
      <vt:lpstr>Floating point/Real constants</vt:lpstr>
      <vt:lpstr>Floating point/Real constants</vt:lpstr>
      <vt:lpstr>Floating point/Real constants</vt:lpstr>
      <vt:lpstr>Floating point/Real constants</vt:lpstr>
      <vt:lpstr>Character Constant</vt:lpstr>
      <vt:lpstr>Character Constant</vt:lpstr>
      <vt:lpstr>Character Constant</vt:lpstr>
      <vt:lpstr>Two ways to define constant in C</vt:lpstr>
      <vt:lpstr>C const keyword</vt:lpstr>
      <vt:lpstr> C #define preprocessor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236</cp:revision>
  <dcterms:created xsi:type="dcterms:W3CDTF">2019-09-20T11:10:00Z</dcterms:created>
  <dcterms:modified xsi:type="dcterms:W3CDTF">2024-12-01T17:13:26Z</dcterms:modified>
</cp:coreProperties>
</file>