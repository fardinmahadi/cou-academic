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78" r:id="rId2"/>
    <p:sldMasterId id="2147483890" r:id="rId3"/>
  </p:sldMasterIdLst>
  <p:notesMasterIdLst>
    <p:notesMasterId r:id="rId39"/>
  </p:notesMasterIdLst>
  <p:sldIdLst>
    <p:sldId id="463" r:id="rId4"/>
    <p:sldId id="467" r:id="rId5"/>
    <p:sldId id="534" r:id="rId6"/>
    <p:sldId id="591" r:id="rId7"/>
    <p:sldId id="593" r:id="rId8"/>
    <p:sldId id="594" r:id="rId9"/>
    <p:sldId id="592" r:id="rId10"/>
    <p:sldId id="536" r:id="rId11"/>
    <p:sldId id="595" r:id="rId12"/>
    <p:sldId id="596" r:id="rId13"/>
    <p:sldId id="597" r:id="rId14"/>
    <p:sldId id="611" r:id="rId15"/>
    <p:sldId id="598" r:id="rId16"/>
    <p:sldId id="599" r:id="rId17"/>
    <p:sldId id="610" r:id="rId18"/>
    <p:sldId id="601" r:id="rId19"/>
    <p:sldId id="602" r:id="rId20"/>
    <p:sldId id="612" r:id="rId21"/>
    <p:sldId id="613" r:id="rId22"/>
    <p:sldId id="603" r:id="rId23"/>
    <p:sldId id="604" r:id="rId24"/>
    <p:sldId id="615" r:id="rId25"/>
    <p:sldId id="616" r:id="rId26"/>
    <p:sldId id="605" r:id="rId27"/>
    <p:sldId id="606" r:id="rId28"/>
    <p:sldId id="607" r:id="rId29"/>
    <p:sldId id="608" r:id="rId30"/>
    <p:sldId id="609" r:id="rId31"/>
    <p:sldId id="617" r:id="rId32"/>
    <p:sldId id="618" r:id="rId33"/>
    <p:sldId id="619" r:id="rId34"/>
    <p:sldId id="620" r:id="rId35"/>
    <p:sldId id="621" r:id="rId36"/>
    <p:sldId id="622" r:id="rId37"/>
    <p:sldId id="461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B606BA"/>
    <a:srgbClr val="03BD57"/>
    <a:srgbClr val="06661F"/>
    <a:srgbClr val="1DA37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81317" autoAdjust="0"/>
  </p:normalViewPr>
  <p:slideViewPr>
    <p:cSldViewPr>
      <p:cViewPr varScale="1">
        <p:scale>
          <a:sx n="59" d="100"/>
          <a:sy n="59" d="100"/>
        </p:scale>
        <p:origin x="-168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5DCD7-0DB4-4E0B-B99D-38F426DFA1ED}" type="datetimeFigureOut">
              <a:rPr lang="en-US" smtClean="0"/>
              <a:t>2/13/2025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4FB36-99AC-4CD3-8A8F-04DE1EFF5B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159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2680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7617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9201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235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86641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0221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3792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2600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0249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9462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71441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46347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21539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22752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222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14869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52668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55489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57319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237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92612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56005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06423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12733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4257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97336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92811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62690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75217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96125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1471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708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859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106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133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84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93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70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933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964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68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183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93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605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642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952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43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037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015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6806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6874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0258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48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22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3645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5431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3485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65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7" y="731567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1200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8397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5910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60685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481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48570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8698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5147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2697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903468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8278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229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183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99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86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48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48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48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160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934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893" r:id="rId3"/>
    <p:sldLayoutId id="2147483894" r:id="rId4"/>
    <p:sldLayoutId id="2147483895" r:id="rId5"/>
    <p:sldLayoutId id="2147483896" r:id="rId6"/>
    <p:sldLayoutId id="2147483897" r:id="rId7"/>
    <p:sldLayoutId id="2147483898" r:id="rId8"/>
    <p:sldLayoutId id="2147483899" r:id="rId9"/>
    <p:sldLayoutId id="2147483900" r:id="rId10"/>
    <p:sldLayoutId id="214748390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998720"/>
            <a:ext cx="6400800" cy="1402080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Lecture-14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</a:t>
            </a: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502107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itchFamily="18" charset="0"/>
              <a:buNone/>
              <a:defRPr/>
            </a:pP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Structure Programming</a:t>
            </a:r>
            <a: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ICT-1105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D62340-A1EA-4CE0-A397-B868A3BF73D1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1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701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562600"/>
          </a:xfrm>
        </p:spPr>
        <p:txBody>
          <a:bodyPr>
            <a:normAutofit/>
          </a:bodyPr>
          <a:lstStyle/>
          <a:p>
            <a:pPr marL="0" indent="0" algn="just">
              <a:buFont typeface="Wingdings" pitchFamily="2" charset="2"/>
              <a:buNone/>
              <a:defRPr/>
            </a:pPr>
            <a:r>
              <a:rPr 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 contents has given in  Google Classroom with code </a:t>
            </a:r>
          </a:p>
          <a:p>
            <a:pPr marL="0" indent="0" algn="just">
              <a:buFont typeface="Wingdings" pitchFamily="2" charset="2"/>
              <a:buNone/>
              <a:defRPr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 algn="just">
              <a:buFont typeface="Wingdings" pitchFamily="2" charset="2"/>
              <a:buNone/>
              <a:defRPr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 algn="ctr">
              <a:buFont typeface="Wingdings" pitchFamily="2" charset="2"/>
              <a:buNone/>
              <a:defRPr/>
            </a:pPr>
            <a:r>
              <a:rPr lang="en-US" sz="8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nhauiw4</a:t>
            </a:r>
            <a:endParaRPr lang="en-US" sz="8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55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3200"/>
            <a:ext cx="6511925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Functions</a:t>
            </a:r>
            <a:endParaRPr lang="en-US" sz="4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315956A-8026-4861-99E0-6ECDFB0AE949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3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020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MONOLITHIC VS MODULAR </a:t>
            </a: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PROGRAMMING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48640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dirty="0"/>
              <a:t>1. </a:t>
            </a:r>
            <a:r>
              <a:rPr lang="en-US" sz="2800" b="1" dirty="0"/>
              <a:t>Monolithic Programming </a:t>
            </a:r>
            <a:r>
              <a:rPr lang="en-US" sz="2800" dirty="0"/>
              <a:t>indicates the program which </a:t>
            </a: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contains a single function for the </a:t>
            </a:r>
            <a:r>
              <a:rPr lang="en-US" sz="28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large program</a:t>
            </a: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0" indent="0" algn="just">
              <a:buNone/>
            </a:pPr>
            <a:r>
              <a:rPr lang="en-US" sz="2800" dirty="0"/>
              <a:t>2. Modular programming help the programmer to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divide the whole program into </a:t>
            </a:r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different modules</a:t>
            </a:r>
            <a:r>
              <a:rPr lang="en-US" sz="2800" dirty="0" smtClean="0"/>
              <a:t> </a:t>
            </a:r>
            <a:r>
              <a:rPr lang="en-US" sz="2800" dirty="0"/>
              <a:t>and </a:t>
            </a: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each module is separately developed and tested</a:t>
            </a:r>
            <a:r>
              <a:rPr lang="en-US" sz="2800" dirty="0"/>
              <a:t>. Then the linker will link </a:t>
            </a:r>
            <a:r>
              <a:rPr lang="en-US" sz="2800" dirty="0" smtClean="0"/>
              <a:t>all these </a:t>
            </a:r>
            <a:r>
              <a:rPr lang="en-US" sz="2800" dirty="0"/>
              <a:t>modules to form the complete program</a:t>
            </a:r>
            <a:r>
              <a:rPr lang="en-US" sz="2800" dirty="0" smtClean="0"/>
              <a:t>.</a:t>
            </a:r>
          </a:p>
          <a:p>
            <a:pPr marL="0" indent="0" algn="just">
              <a:buNone/>
            </a:pPr>
            <a:r>
              <a:rPr lang="en-US" sz="2800" dirty="0"/>
              <a:t>3. On the other hand </a:t>
            </a: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monolithic programming will not divide the program</a:t>
            </a:r>
            <a:r>
              <a:rPr lang="en-US" sz="2800" dirty="0"/>
              <a:t> and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is a </a:t>
            </a:r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single thread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execution</a:t>
            </a:r>
            <a:r>
              <a:rPr lang="en-US" sz="2800" dirty="0"/>
              <a:t>. When the program size increases it leads inconvenience and difficult </a:t>
            </a:r>
            <a:r>
              <a:rPr lang="en-US" sz="2800" dirty="0" smtClean="0"/>
              <a:t>to maintain</a:t>
            </a:r>
            <a:r>
              <a:rPr lang="en-US" sz="28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9334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MONOLITHIC VS MODULAR </a:t>
            </a: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PROGRAMMING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48640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Disadvantages of monolithic programming</a:t>
            </a:r>
            <a:r>
              <a:rPr lang="en-US" sz="3600" dirty="0" smtClean="0"/>
              <a:t>: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sz="3600" dirty="0" smtClean="0"/>
              <a:t> 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Difficult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check error </a:t>
            </a:r>
            <a:r>
              <a:rPr lang="en-US" sz="3600" dirty="0"/>
              <a:t>on </a:t>
            </a:r>
            <a:r>
              <a:rPr lang="en-US" sz="3600" dirty="0" smtClean="0"/>
              <a:t>large programs</a:t>
            </a:r>
            <a:r>
              <a:rPr lang="en-US" sz="3600" dirty="0"/>
              <a:t>. </a:t>
            </a:r>
            <a:endParaRPr lang="en-US" sz="3600" dirty="0" smtClean="0"/>
          </a:p>
          <a:p>
            <a:pPr marL="742950" indent="-742950" algn="just">
              <a:buFont typeface="+mj-lt"/>
              <a:buAutoNum type="arabicPeriod"/>
            </a:pPr>
            <a:r>
              <a:rPr lang="en-US" sz="3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Difficult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maintain</a:t>
            </a:r>
            <a:r>
              <a:rPr lang="en-US" sz="3600" dirty="0"/>
              <a:t>. </a:t>
            </a:r>
            <a:endParaRPr lang="en-US" sz="3600" dirty="0" smtClean="0"/>
          </a:p>
          <a:p>
            <a:pPr marL="742950" indent="-742950" algn="just">
              <a:buFont typeface="+mj-lt"/>
              <a:buAutoNum type="arabicPeriod"/>
            </a:pPr>
            <a:r>
              <a:rPr lang="en-US" sz="3600" dirty="0" smtClean="0"/>
              <a:t>Code </a:t>
            </a:r>
            <a:r>
              <a:rPr lang="en-US" sz="3600" dirty="0"/>
              <a:t>can be specific to a particular </a:t>
            </a:r>
            <a:r>
              <a:rPr lang="en-US" sz="3600" dirty="0" smtClean="0"/>
              <a:t>           problem</a:t>
            </a:r>
            <a:r>
              <a:rPr lang="en-US" sz="3600" dirty="0"/>
              <a:t>. i.e.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can not be reused</a:t>
            </a:r>
            <a:r>
              <a:rPr lang="en-US" sz="3600" dirty="0" smtClean="0"/>
              <a:t>.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3741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MONOLITHIC VS MODULAR </a:t>
            </a: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PROGRAMMING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48640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 smtClean="0"/>
              <a:t>Advantage </a:t>
            </a:r>
            <a:r>
              <a:rPr lang="en-US" sz="3600" dirty="0"/>
              <a:t>of modular programming: </a:t>
            </a:r>
            <a:endParaRPr lang="en-US" sz="3600" dirty="0" smtClean="0"/>
          </a:p>
          <a:p>
            <a:pPr marL="742950" indent="-742950" algn="just">
              <a:buAutoNum type="arabicPeriod"/>
            </a:pPr>
            <a:r>
              <a:rPr lang="en-US" sz="3600" dirty="0" smtClean="0"/>
              <a:t>Modular </a:t>
            </a:r>
            <a:r>
              <a:rPr lang="en-US" sz="3600" dirty="0"/>
              <a:t>program are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easier to code and debug. </a:t>
            </a:r>
            <a:endParaRPr lang="en-US" sz="36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742950" indent="-742950" algn="just">
              <a:buAutoNum type="arabicPeriod"/>
            </a:pPr>
            <a:r>
              <a:rPr lang="en-US" sz="3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Reduces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programming size</a:t>
            </a:r>
            <a:r>
              <a:rPr lang="en-US" sz="3600" dirty="0"/>
              <a:t>. </a:t>
            </a:r>
            <a:endParaRPr lang="en-US" sz="3600" dirty="0" smtClean="0"/>
          </a:p>
          <a:p>
            <a:pPr marL="742950" indent="-742950" algn="just">
              <a:buAutoNum type="arabicPeriod"/>
            </a:pPr>
            <a:r>
              <a:rPr lang="en-US" sz="3600" dirty="0" smtClean="0"/>
              <a:t>Code </a:t>
            </a:r>
            <a:r>
              <a:rPr lang="en-US" sz="3600" dirty="0"/>
              <a:t>can be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reused</a:t>
            </a:r>
            <a:r>
              <a:rPr lang="en-US" sz="3600" dirty="0"/>
              <a:t> in other programs</a:t>
            </a:r>
            <a:r>
              <a:rPr lang="en-US" sz="3600" dirty="0" smtClean="0"/>
              <a:t>.</a:t>
            </a:r>
          </a:p>
          <a:p>
            <a:pPr marL="742950" indent="-742950" algn="just">
              <a:buAutoNum type="arabicPeriod"/>
            </a:pPr>
            <a:r>
              <a:rPr lang="en-US" sz="3600" dirty="0" smtClean="0"/>
              <a:t> Problem </a:t>
            </a:r>
            <a:r>
              <a:rPr lang="en-US" sz="3600" dirty="0"/>
              <a:t>can </a:t>
            </a:r>
            <a:r>
              <a:rPr lang="en-US" sz="3600" dirty="0" smtClean="0"/>
              <a:t>be isolated </a:t>
            </a:r>
            <a:r>
              <a:rPr lang="en-US" sz="3600" dirty="0"/>
              <a:t>to specific module so easier to find the error and correct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1620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: Definition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41020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A function is a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block of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code/group of statements</a:t>
            </a:r>
            <a:r>
              <a:rPr lang="en-US" sz="3600" dirty="0"/>
              <a:t>/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self contained block of statements</a:t>
            </a:r>
            <a:r>
              <a:rPr lang="en-US" sz="3600" dirty="0"/>
              <a:t>/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basic building blocks</a:t>
            </a:r>
            <a:r>
              <a:rPr lang="en-US" sz="3600" dirty="0"/>
              <a:t> in a program that performs a particular task. </a:t>
            </a:r>
          </a:p>
          <a:p>
            <a:pPr marL="0" indent="0" algn="just">
              <a:buNone/>
            </a:pPr>
            <a:endParaRPr lang="en-US" sz="3600" dirty="0"/>
          </a:p>
          <a:p>
            <a:pPr marL="0" indent="0" algn="just">
              <a:buNone/>
            </a:pPr>
            <a:r>
              <a:rPr lang="en-US" sz="3600" dirty="0"/>
              <a:t>It is also known as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procedure</a:t>
            </a:r>
            <a:r>
              <a:rPr lang="en-US" sz="3600" dirty="0"/>
              <a:t> or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subroutine</a:t>
            </a:r>
            <a:r>
              <a:rPr lang="en-US" sz="3600" dirty="0"/>
              <a:t> or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module</a:t>
            </a:r>
            <a:r>
              <a:rPr lang="en-US" sz="3600" dirty="0"/>
              <a:t>, in other programming languages.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65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: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 smtClean="0"/>
              <a:t>To </a:t>
            </a:r>
            <a:r>
              <a:rPr lang="en-US" sz="3600" dirty="0"/>
              <a:t>perform any task, we can create function. A function can be called many times. </a:t>
            </a:r>
            <a:r>
              <a:rPr lang="en-US" sz="3600" dirty="0" smtClean="0"/>
              <a:t>It provides </a:t>
            </a:r>
            <a:r>
              <a:rPr lang="en-US" sz="3600" dirty="0"/>
              <a:t>modularity and code reusability.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4109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Advantage of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1) Code Reusability</a:t>
            </a:r>
          </a:p>
          <a:p>
            <a:pPr marL="0" indent="0" algn="just">
              <a:buNone/>
            </a:pPr>
            <a:r>
              <a:rPr lang="en-US" sz="3600" dirty="0"/>
              <a:t>By creating functions in C, you can call it many times. So we don't need to write the same </a:t>
            </a:r>
            <a:r>
              <a:rPr lang="en-US" sz="3600" dirty="0" smtClean="0"/>
              <a:t>code again </a:t>
            </a:r>
            <a:r>
              <a:rPr lang="en-US" sz="3600" dirty="0"/>
              <a:t>and again.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2) Code optimization</a:t>
            </a:r>
          </a:p>
          <a:p>
            <a:pPr marL="0" indent="0" algn="just">
              <a:buNone/>
            </a:pPr>
            <a:r>
              <a:rPr lang="en-US" sz="3600" dirty="0"/>
              <a:t>It makes the code optimized we don't need to write much code</a:t>
            </a:r>
            <a:r>
              <a:rPr lang="en-US" sz="3600" dirty="0" smtClean="0"/>
              <a:t>.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744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Advantage of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3) Easily to debug the program.</a:t>
            </a:r>
          </a:p>
          <a:p>
            <a:pPr marL="0" indent="0" algn="just">
              <a:buNone/>
            </a:pPr>
            <a:r>
              <a:rPr lang="en-US" sz="3600" dirty="0"/>
              <a:t>Example: </a:t>
            </a:r>
            <a:endParaRPr lang="en-US" sz="3600" dirty="0" smtClean="0"/>
          </a:p>
          <a:p>
            <a:pPr marL="0" indent="0" algn="just">
              <a:buNone/>
            </a:pPr>
            <a:r>
              <a:rPr lang="en-US" sz="3600" dirty="0" smtClean="0"/>
              <a:t>Suppose</a:t>
            </a:r>
            <a:r>
              <a:rPr lang="en-US" sz="3600" dirty="0"/>
              <a:t>, you have to check 3 numbers (781, 883 and 531) whether it is prime number </a:t>
            </a:r>
            <a:r>
              <a:rPr lang="en-US" sz="3600" dirty="0" smtClean="0"/>
              <a:t>or not</a:t>
            </a:r>
            <a:r>
              <a:rPr lang="en-US" sz="3600" dirty="0"/>
              <a:t>. Without using function, you need to write the prime number logic 3 times. So, there is repetition </a:t>
            </a:r>
            <a:r>
              <a:rPr lang="en-US" sz="3600" dirty="0" smtClean="0"/>
              <a:t>of code</a:t>
            </a:r>
            <a:r>
              <a:rPr lang="en-US" sz="3600" dirty="0"/>
              <a:t>.</a:t>
            </a:r>
          </a:p>
          <a:p>
            <a:pPr marL="0" indent="0" algn="just">
              <a:buNone/>
            </a:pPr>
            <a:r>
              <a:rPr lang="en-US" sz="3600" dirty="0"/>
              <a:t>But if you use functions, you need to write the logic only once and you can reuse it several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690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There are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 types of functions</a:t>
            </a:r>
            <a:r>
              <a:rPr lang="en-US" sz="3600" dirty="0"/>
              <a:t> in C programming</a:t>
            </a:r>
            <a:r>
              <a:rPr lang="en-US" sz="3600" dirty="0" smtClean="0"/>
              <a:t>:</a:t>
            </a:r>
          </a:p>
          <a:p>
            <a:pPr marL="0" indent="0" algn="just">
              <a:buNone/>
            </a:pPr>
            <a:endParaRPr lang="en-US" sz="3600" dirty="0" smtClean="0"/>
          </a:p>
          <a:p>
            <a:pPr marL="0" indent="0" algn="just">
              <a:buNone/>
            </a:pPr>
            <a:r>
              <a:rPr lang="en-US" sz="3600" dirty="0" smtClean="0"/>
              <a:t>1</a:t>
            </a:r>
            <a:r>
              <a:rPr lang="en-US" sz="3600" dirty="0"/>
              <a:t>. Library Functions</a:t>
            </a:r>
          </a:p>
          <a:p>
            <a:pPr marL="0" indent="0" algn="just">
              <a:buNone/>
            </a:pPr>
            <a:r>
              <a:rPr lang="en-US" sz="3600" dirty="0"/>
              <a:t>2. User-defined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5352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Functions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67000" y="1143000"/>
            <a:ext cx="3352800" cy="197090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3012515"/>
            <a:ext cx="6438900" cy="3541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329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C Standard Library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Functions:</a:t>
            </a:r>
            <a:r>
              <a:rPr lang="en-US" sz="3600" dirty="0"/>
              <a:t> are the functions which are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declared in the C header files </a:t>
            </a:r>
            <a:r>
              <a:rPr lang="en-US" sz="3600" dirty="0"/>
              <a:t>such </a:t>
            </a:r>
            <a:r>
              <a:rPr lang="en-US" sz="3600" dirty="0" smtClean="0"/>
              <a:t>as </a:t>
            </a:r>
            <a:r>
              <a:rPr lang="en-US" sz="3600" dirty="0" err="1" smtClean="0"/>
              <a:t>scanf</a:t>
            </a:r>
            <a:r>
              <a:rPr lang="en-US" sz="3600" dirty="0"/>
              <a:t>(), </a:t>
            </a:r>
            <a:r>
              <a:rPr lang="en-US" sz="3600" dirty="0" err="1"/>
              <a:t>printf</a:t>
            </a:r>
            <a:r>
              <a:rPr lang="en-US" sz="3600" dirty="0"/>
              <a:t>(), gets(), puts(), ceil(), floor() etc. </a:t>
            </a:r>
            <a:r>
              <a:rPr lang="en-US" sz="3600" dirty="0">
                <a:solidFill>
                  <a:srgbClr val="0000CC"/>
                </a:solidFill>
              </a:rPr>
              <a:t>You just need to include </a:t>
            </a:r>
            <a:r>
              <a:rPr lang="en-US" sz="3600" dirty="0" smtClean="0">
                <a:solidFill>
                  <a:srgbClr val="0000CC"/>
                </a:solidFill>
              </a:rPr>
              <a:t>appropriate header </a:t>
            </a:r>
            <a:r>
              <a:rPr lang="en-US" sz="3600" dirty="0">
                <a:solidFill>
                  <a:srgbClr val="0000CC"/>
                </a:solidFill>
              </a:rPr>
              <a:t>files to use these functions</a:t>
            </a:r>
            <a:r>
              <a:rPr lang="en-US" sz="3600" dirty="0"/>
              <a:t>. These are already declared and defined in </a:t>
            </a:r>
            <a:r>
              <a:rPr lang="en-US" sz="3600" dirty="0" smtClean="0"/>
              <a:t>C libraries</a:t>
            </a:r>
            <a:r>
              <a:rPr lang="en-US" sz="3600" dirty="0"/>
              <a:t>. </a:t>
            </a:r>
            <a:endParaRPr lang="en-US" sz="3600" dirty="0" smtClean="0"/>
          </a:p>
          <a:p>
            <a:pPr marL="0" indent="0" algn="just">
              <a:buNone/>
            </a:pP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7575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User-defined functions:</a:t>
            </a:r>
            <a:r>
              <a:rPr lang="en-US" sz="3600" dirty="0"/>
              <a:t> are the functions which are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created by the C programmer</a:t>
            </a:r>
            <a:r>
              <a:rPr lang="en-US" sz="3600" dirty="0"/>
              <a:t>, </a:t>
            </a:r>
            <a:r>
              <a:rPr lang="en-US" sz="3600" dirty="0" smtClean="0"/>
              <a:t>so that </a:t>
            </a:r>
            <a:r>
              <a:rPr lang="en-US" sz="3600" dirty="0"/>
              <a:t>he/she can use it many times. It reduces complexity of a big program and </a:t>
            </a:r>
            <a:r>
              <a:rPr lang="en-US" sz="3600" dirty="0" smtClean="0"/>
              <a:t>optimizes the </a:t>
            </a:r>
            <a:r>
              <a:rPr lang="en-US" sz="3600" dirty="0"/>
              <a:t>code. Depending upon the complexity and requirement of the program, you can </a:t>
            </a:r>
            <a:r>
              <a:rPr lang="en-US" sz="3600" dirty="0" smtClean="0"/>
              <a:t>create as </a:t>
            </a:r>
            <a:r>
              <a:rPr lang="en-US" sz="3600" dirty="0"/>
              <a:t>many user-defined functions as you want.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607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A function that is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declare</a:t>
            </a:r>
            <a:r>
              <a:rPr lang="en-US" sz="3600" dirty="0"/>
              <a:t>,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calling</a:t>
            </a:r>
            <a:r>
              <a:rPr lang="en-US" sz="3600" dirty="0"/>
              <a:t> and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define</a:t>
            </a:r>
            <a:r>
              <a:rPr lang="en-US" sz="3600" dirty="0"/>
              <a:t> by the user is called user define function. </a:t>
            </a:r>
            <a:r>
              <a:rPr lang="en-US" sz="3600" dirty="0" smtClean="0"/>
              <a:t>Every user </a:t>
            </a:r>
            <a:r>
              <a:rPr lang="en-US" sz="3600" dirty="0"/>
              <a:t>define function has three parts as:</a:t>
            </a:r>
          </a:p>
          <a:p>
            <a:pPr marL="0" indent="0" algn="just">
              <a:buNone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Prototype or Declaration</a:t>
            </a:r>
          </a:p>
          <a:p>
            <a:pPr marL="0" indent="0" algn="just">
              <a:buNone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Calling</a:t>
            </a:r>
          </a:p>
          <a:p>
            <a:pPr marL="0" indent="0" algn="just">
              <a:buNone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Definition</a:t>
            </a:r>
            <a:endParaRPr lang="en-US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6857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Elements of User defined Functions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 smtClean="0"/>
              <a:t>In </a:t>
            </a:r>
            <a:r>
              <a:rPr lang="en-US" sz="3600" dirty="0"/>
              <a:t>order to write an efficient user defined function, the programmer must familiar with </a:t>
            </a:r>
            <a:r>
              <a:rPr lang="en-US" sz="3600" dirty="0" smtClean="0"/>
              <a:t>the following </a:t>
            </a:r>
            <a:r>
              <a:rPr lang="en-US" sz="3600" dirty="0"/>
              <a:t>three elements.</a:t>
            </a:r>
          </a:p>
          <a:p>
            <a:pPr marL="0" indent="0" algn="just">
              <a:buNone/>
            </a:pPr>
            <a:r>
              <a:rPr lang="en-US" sz="3600" dirty="0"/>
              <a:t>1 :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Declaration</a:t>
            </a:r>
            <a:r>
              <a:rPr lang="en-US" sz="3600" dirty="0" smtClean="0"/>
              <a:t> </a:t>
            </a:r>
          </a:p>
          <a:p>
            <a:pPr marL="0" indent="0" algn="just">
              <a:buNone/>
            </a:pPr>
            <a:r>
              <a:rPr lang="en-US" sz="3600" dirty="0"/>
              <a:t> </a:t>
            </a:r>
            <a:r>
              <a:rPr lang="en-US" sz="3600" dirty="0" smtClean="0"/>
              <a:t>   (</a:t>
            </a:r>
            <a:r>
              <a:rPr lang="en-US" sz="3600" dirty="0"/>
              <a:t>Function Prototype</a:t>
            </a:r>
            <a:r>
              <a:rPr lang="en-US" sz="3600" dirty="0" smtClean="0"/>
              <a:t>)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/>
              <a:t>2 :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</a:t>
            </a:r>
            <a:r>
              <a:rPr lang="en-US" sz="3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</a:t>
            </a:r>
            <a:endParaRPr lang="en-US" sz="36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sz="3600" dirty="0"/>
              <a:t>3 :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Definition</a:t>
            </a:r>
            <a:endParaRPr lang="en-US" sz="36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5810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Declaration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(Function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Prototype)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1. It is also known as function prototype .</a:t>
            </a:r>
          </a:p>
          <a:p>
            <a:pPr marL="0" indent="0" algn="just">
              <a:buNone/>
            </a:pPr>
            <a:r>
              <a:rPr lang="en-US" sz="3600" dirty="0"/>
              <a:t>2. It inform the computer about the three things</a:t>
            </a:r>
          </a:p>
          <a:p>
            <a:pPr marL="0" indent="0" algn="just">
              <a:buNone/>
            </a:pPr>
            <a:r>
              <a:rPr lang="en-US" sz="3600" dirty="0" smtClean="0"/>
              <a:t>	a</a:t>
            </a:r>
            <a:r>
              <a:rPr lang="en-US" sz="3600" dirty="0"/>
              <a:t>) Name of the function</a:t>
            </a:r>
          </a:p>
          <a:p>
            <a:pPr marL="0" indent="0" algn="just">
              <a:buNone/>
            </a:pPr>
            <a:r>
              <a:rPr lang="en-US" sz="3600" dirty="0" smtClean="0"/>
              <a:t>	b</a:t>
            </a:r>
            <a:r>
              <a:rPr lang="en-US" sz="3600" dirty="0"/>
              <a:t>) Number and type of arguments </a:t>
            </a:r>
            <a:r>
              <a:rPr lang="en-US" sz="3600" dirty="0" smtClean="0"/>
              <a:t>	      received </a:t>
            </a:r>
            <a:r>
              <a:rPr lang="en-US" sz="3600" dirty="0"/>
              <a:t>by the function.</a:t>
            </a:r>
          </a:p>
          <a:p>
            <a:pPr marL="0" indent="0" algn="just">
              <a:buNone/>
            </a:pPr>
            <a:r>
              <a:rPr lang="en-US" sz="3600" dirty="0" smtClean="0"/>
              <a:t>	c</a:t>
            </a:r>
            <a:r>
              <a:rPr lang="en-US" sz="3600" dirty="0"/>
              <a:t>) Type of value return by the function</a:t>
            </a:r>
            <a:endParaRPr lang="en-US" sz="36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3512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Declaration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(Function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Prototype)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function declaration is the process of tells the compiler about a function name.</a:t>
            </a:r>
          </a:p>
          <a:p>
            <a:pPr marL="0" indent="0" algn="just">
              <a:buNone/>
            </a:pPr>
            <a:r>
              <a:rPr lang="en-US" sz="3600" dirty="0" smtClean="0"/>
              <a:t>Syntax</a:t>
            </a:r>
            <a:endParaRPr lang="en-US" sz="3600" dirty="0"/>
          </a:p>
          <a:p>
            <a:pPr marL="0" indent="0" algn="just">
              <a:buNone/>
            </a:pPr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return_type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function_name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(parameter/argument);</a:t>
            </a:r>
          </a:p>
          <a:p>
            <a:pPr marL="0" indent="0" algn="just">
              <a:buNone/>
            </a:pPr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return_type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function-name();</a:t>
            </a:r>
          </a:p>
          <a:p>
            <a:pPr marL="0" indent="0" algn="just">
              <a:buNone/>
            </a:pPr>
            <a:r>
              <a:rPr lang="en-US" sz="3600" dirty="0" smtClean="0"/>
              <a:t>Ex </a:t>
            </a:r>
            <a:r>
              <a:rPr lang="en-US" sz="3600" dirty="0"/>
              <a:t>: </a:t>
            </a:r>
            <a:r>
              <a:rPr lang="en-US" sz="3600" dirty="0" err="1"/>
              <a:t>int</a:t>
            </a:r>
            <a:r>
              <a:rPr lang="en-US" sz="3600" dirty="0"/>
              <a:t> </a:t>
            </a:r>
            <a:r>
              <a:rPr lang="en-US" sz="3600" dirty="0" smtClean="0"/>
              <a:t>add (</a:t>
            </a:r>
            <a:r>
              <a:rPr lang="en-US" sz="3600" dirty="0" err="1"/>
              <a:t>int</a:t>
            </a:r>
            <a:r>
              <a:rPr lang="en-US" sz="3600" dirty="0"/>
              <a:t> </a:t>
            </a:r>
            <a:r>
              <a:rPr lang="en-US" sz="3600" dirty="0" err="1"/>
              <a:t>a,int</a:t>
            </a:r>
            <a:r>
              <a:rPr lang="en-US" sz="3600" dirty="0"/>
              <a:t> b);</a:t>
            </a:r>
          </a:p>
          <a:p>
            <a:pPr marL="0" indent="0" algn="just">
              <a:buNone/>
            </a:pPr>
            <a:r>
              <a:rPr lang="en-US" sz="3600" dirty="0" smtClean="0"/>
              <a:t>        </a:t>
            </a:r>
            <a:r>
              <a:rPr lang="en-US" sz="3600" dirty="0" err="1" smtClean="0"/>
              <a:t>int</a:t>
            </a:r>
            <a:r>
              <a:rPr lang="en-US" sz="3600" dirty="0" smtClean="0"/>
              <a:t> </a:t>
            </a:r>
            <a:r>
              <a:rPr lang="en-US" sz="3600" dirty="0"/>
              <a:t>add</a:t>
            </a:r>
            <a:r>
              <a:rPr lang="en-US" sz="3600" dirty="0" smtClean="0"/>
              <a:t>();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Note: At the time of function declaration function must be terminated with ;.</a:t>
            </a:r>
            <a:endParaRPr lang="en-US" sz="36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3291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Declaration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(Function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Prototype)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3. Calling function need information about called function .If called function is place </a:t>
            </a:r>
            <a:r>
              <a:rPr lang="en-US" sz="3600" dirty="0" smtClean="0"/>
              <a:t>before calling </a:t>
            </a:r>
            <a:r>
              <a:rPr lang="en-US" sz="3600" dirty="0"/>
              <a:t>function then the declaration is not needed.</a:t>
            </a:r>
            <a:endParaRPr lang="en-US" sz="36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8962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Calling a function/function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sz="3600" dirty="0"/>
              <a:t>When we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 any function </a:t>
            </a:r>
            <a:r>
              <a:rPr lang="en-US" sz="3600" b="1" dirty="0">
                <a:solidFill>
                  <a:srgbClr val="0000CC"/>
                </a:solidFill>
              </a:rPr>
              <a:t>control goes to function body and execute entire code</a:t>
            </a:r>
            <a:r>
              <a:rPr lang="en-US" sz="3600" dirty="0"/>
              <a:t>.</a:t>
            </a:r>
          </a:p>
          <a:p>
            <a:pPr marL="0" indent="0" algn="just">
              <a:buNone/>
            </a:pPr>
            <a:endParaRPr lang="en-US" sz="3600" dirty="0" smtClean="0"/>
          </a:p>
          <a:p>
            <a:pPr marL="0" indent="0" algn="just">
              <a:buNone/>
            </a:pPr>
            <a:r>
              <a:rPr lang="en-US" sz="3600" dirty="0" smtClean="0"/>
              <a:t>Syntax :</a:t>
            </a:r>
          </a:p>
          <a:p>
            <a:pPr marL="0" indent="0" algn="just">
              <a:buNone/>
            </a:pPr>
            <a:r>
              <a:rPr lang="en-US" sz="3100" dirty="0" smtClean="0"/>
              <a:t>function-name</a:t>
            </a:r>
            <a:r>
              <a:rPr lang="en-US" sz="3100" dirty="0"/>
              <a:t>();</a:t>
            </a:r>
          </a:p>
          <a:p>
            <a:pPr marL="0" indent="0" algn="just">
              <a:buNone/>
            </a:pPr>
            <a:r>
              <a:rPr lang="en-US" sz="3100" dirty="0"/>
              <a:t>function-name(parameter/argument);</a:t>
            </a:r>
          </a:p>
          <a:p>
            <a:pPr marL="0" indent="0" algn="just">
              <a:buNone/>
            </a:pPr>
            <a:r>
              <a:rPr lang="en-US" sz="3100" dirty="0"/>
              <a:t>return value/ variable = function-name(parameter/argument</a:t>
            </a:r>
            <a:r>
              <a:rPr lang="en-US" sz="3100" dirty="0" smtClean="0"/>
              <a:t>);</a:t>
            </a:r>
          </a:p>
          <a:p>
            <a:pPr marL="0" indent="0" algn="just">
              <a:buNone/>
            </a:pPr>
            <a:endParaRPr lang="en-US" sz="3100" dirty="0"/>
          </a:p>
          <a:p>
            <a:pPr marL="0" indent="0" algn="just">
              <a:buNone/>
            </a:pPr>
            <a:r>
              <a:rPr lang="en-US" sz="3600" dirty="0"/>
              <a:t>Ex : </a:t>
            </a:r>
            <a:endParaRPr lang="en-US" sz="3600" dirty="0" smtClean="0"/>
          </a:p>
          <a:p>
            <a:pPr marL="0" indent="0" algn="just">
              <a:buNone/>
            </a:pPr>
            <a:r>
              <a:rPr lang="en-US" sz="3600" dirty="0" smtClean="0"/>
              <a:t>add</a:t>
            </a:r>
            <a:r>
              <a:rPr lang="en-US" sz="3600" dirty="0"/>
              <a:t>(); </a:t>
            </a:r>
            <a:r>
              <a:rPr lang="en-US" sz="3100" dirty="0"/>
              <a:t>// function without parameter/argument</a:t>
            </a:r>
          </a:p>
          <a:p>
            <a:pPr marL="0" indent="0" algn="just">
              <a:buNone/>
            </a:pPr>
            <a:r>
              <a:rPr lang="en-US" sz="3600" dirty="0"/>
              <a:t>add(</a:t>
            </a:r>
            <a:r>
              <a:rPr lang="en-US" sz="3600" dirty="0" err="1"/>
              <a:t>a,b</a:t>
            </a:r>
            <a:r>
              <a:rPr lang="en-US" sz="3600" dirty="0"/>
              <a:t>); </a:t>
            </a:r>
            <a:r>
              <a:rPr lang="en-US" sz="3100" dirty="0"/>
              <a:t>// function with parameter/argument</a:t>
            </a:r>
          </a:p>
          <a:p>
            <a:pPr marL="0" indent="0" algn="just">
              <a:buNone/>
            </a:pPr>
            <a:r>
              <a:rPr lang="en-US" sz="3600" dirty="0"/>
              <a:t>c=fun(</a:t>
            </a:r>
            <a:r>
              <a:rPr lang="en-US" sz="3600" dirty="0" err="1"/>
              <a:t>a,b</a:t>
            </a:r>
            <a:r>
              <a:rPr lang="en-US" sz="3600" dirty="0"/>
              <a:t>); </a:t>
            </a:r>
            <a:r>
              <a:rPr lang="en-US" sz="2600" dirty="0"/>
              <a:t>// function with parameter/argument and return values</a:t>
            </a:r>
            <a:endParaRPr lang="en-US" sz="2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5147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Defining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Defining of function is nothing but give body of function that means write logic inside </a:t>
            </a:r>
            <a:r>
              <a:rPr lang="en-US" sz="3600" dirty="0" smtClean="0"/>
              <a:t>function body.</a:t>
            </a:r>
          </a:p>
          <a:p>
            <a:pPr marL="0" indent="0" algn="just">
              <a:buNone/>
            </a:pPr>
            <a:r>
              <a:rPr lang="en-US" sz="3600" dirty="0"/>
              <a:t>1. It consists of code description and code of a function .</a:t>
            </a:r>
          </a:p>
          <a:p>
            <a:pPr marL="0" indent="0" algn="just">
              <a:buNone/>
            </a:pPr>
            <a:r>
              <a:rPr lang="en-US" sz="3600" dirty="0"/>
              <a:t>It consists of two parts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a) Function header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b) Function </a:t>
            </a:r>
            <a:r>
              <a:rPr lang="en-US" sz="3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coding</a:t>
            </a:r>
            <a:endParaRPr lang="en-US" sz="36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3309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Defining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 smtClean="0"/>
              <a:t>Syntax:</a:t>
            </a:r>
          </a:p>
          <a:p>
            <a:pPr marL="0" indent="0" algn="just">
              <a:buNone/>
            </a:pPr>
            <a:endParaRPr lang="en-US" sz="36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828800"/>
            <a:ext cx="7007449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272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Defining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sz="3600" dirty="0"/>
              <a:t>2. Function definition can be placed any where in the program but generally placed after </a:t>
            </a:r>
            <a:r>
              <a:rPr lang="en-US" sz="3600" dirty="0" smtClean="0"/>
              <a:t>the main </a:t>
            </a:r>
            <a:r>
              <a:rPr lang="en-US" sz="3600" dirty="0"/>
              <a:t>function .</a:t>
            </a:r>
          </a:p>
          <a:p>
            <a:pPr marL="0" indent="0" algn="just">
              <a:buNone/>
            </a:pPr>
            <a:r>
              <a:rPr lang="en-US" sz="3600" dirty="0"/>
              <a:t>3. Local variable declared inside the function is local to that function. It cannot be used anywhere</a:t>
            </a:r>
          </a:p>
          <a:p>
            <a:pPr marL="0" indent="0" algn="just">
              <a:buNone/>
            </a:pPr>
            <a:r>
              <a:rPr lang="en-US" sz="3600" dirty="0"/>
              <a:t>in the program and its existence is only within the function.</a:t>
            </a:r>
          </a:p>
          <a:p>
            <a:pPr marL="0" indent="0" algn="just">
              <a:buNone/>
            </a:pPr>
            <a:r>
              <a:rPr lang="en-US" sz="3600" dirty="0"/>
              <a:t>4. Function definition cannot be nested.</a:t>
            </a:r>
          </a:p>
          <a:p>
            <a:pPr marL="0" indent="0" algn="just">
              <a:buNone/>
            </a:pPr>
            <a:r>
              <a:rPr lang="en-US" sz="3600" dirty="0"/>
              <a:t>5. Return type denote the type of value that function will return and return type is optional </a:t>
            </a:r>
            <a:r>
              <a:rPr lang="en-US" sz="3600" dirty="0" smtClean="0"/>
              <a:t>if omitted </a:t>
            </a:r>
            <a:r>
              <a:rPr lang="en-US" sz="3600" dirty="0"/>
              <a:t>it is assumed to be integer by default.</a:t>
            </a:r>
            <a:endParaRPr lang="en-US" sz="36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2503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Defining a function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263026"/>
            <a:ext cx="8229600" cy="489709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5871320"/>
            <a:ext cx="1828800" cy="97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434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functions work in C programming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66463" y="1066800"/>
            <a:ext cx="4411073" cy="528955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1084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functions work in C programming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execution of a C program begins from the main() function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dirty="0"/>
              <a:t>When the compiler encounters </a:t>
            </a:r>
            <a:r>
              <a:rPr lang="en-US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functionName</a:t>
            </a:r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();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inside the main function</a:t>
            </a:r>
            <a:r>
              <a:rPr lang="en-US" dirty="0"/>
              <a:t>,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 of the program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jumps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void </a:t>
            </a: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functionName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</a:t>
            </a:r>
            <a:r>
              <a:rPr lang="en-US" dirty="0" smtClean="0"/>
              <a:t>And</a:t>
            </a:r>
            <a:r>
              <a:rPr lang="en-US" dirty="0"/>
              <a:t>, the compiler starts executing the codes inside the user-defined </a:t>
            </a:r>
            <a:r>
              <a:rPr lang="en-US" dirty="0" smtClean="0"/>
              <a:t>function. The </a:t>
            </a:r>
            <a:r>
              <a:rPr lang="en-US" dirty="0"/>
              <a:t>control of the program jumps to statement next to </a:t>
            </a:r>
            <a:r>
              <a:rPr lang="en-US" dirty="0" err="1"/>
              <a:t>functionName</a:t>
            </a:r>
            <a:r>
              <a:rPr lang="en-US" dirty="0"/>
              <a:t>(); once all the codes </a:t>
            </a:r>
            <a:r>
              <a:rPr lang="en-US" dirty="0" smtClean="0"/>
              <a:t>inside the </a:t>
            </a:r>
            <a:r>
              <a:rPr lang="en-US" dirty="0"/>
              <a:t>function definition are executed.</a:t>
            </a:r>
          </a:p>
        </p:txBody>
      </p:sp>
    </p:spTree>
    <p:extLst>
      <p:ext uri="{BB962C8B-B14F-4D97-AF65-F5344CB8AC3E}">
        <p14:creationId xmlns:p14="http://schemas.microsoft.com/office/powerpoint/2010/main" val="945810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Example-1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 smtClean="0"/>
              <a:t>&gt;</a:t>
            </a:r>
          </a:p>
          <a:p>
            <a:pPr marL="0" indent="0" algn="just">
              <a:buNone/>
            </a:pPr>
            <a:r>
              <a:rPr lang="en-US" dirty="0"/>
              <a:t>void sum(); // declaring a function</a:t>
            </a:r>
          </a:p>
          <a:p>
            <a:pPr marL="0" indent="0" algn="just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a=10,b=20, c;</a:t>
            </a:r>
          </a:p>
          <a:p>
            <a:pPr marL="0" indent="0" algn="just">
              <a:buNone/>
            </a:pPr>
            <a:r>
              <a:rPr lang="en-US" dirty="0"/>
              <a:t>void sum() // defining function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/>
              <a:t>c=</a:t>
            </a:r>
            <a:r>
              <a:rPr lang="en-US" dirty="0" err="1"/>
              <a:t>a+b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("Sum: %d", c);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88376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Example-1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void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/>
              <a:t>sum(); // calling function</a:t>
            </a:r>
          </a:p>
          <a:p>
            <a:pPr marL="0" indent="0" algn="just">
              <a:buNone/>
            </a:pPr>
            <a:r>
              <a:rPr lang="en-US" dirty="0" smtClean="0"/>
              <a:t>}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Output :??</a:t>
            </a:r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818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Example-2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addNumbers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a, </a:t>
            </a:r>
            <a:r>
              <a:rPr lang="en-US" dirty="0" err="1"/>
              <a:t>int</a:t>
            </a:r>
            <a:r>
              <a:rPr lang="en-US" dirty="0"/>
              <a:t> b); </a:t>
            </a:r>
            <a:r>
              <a:rPr lang="en-US" sz="2400" dirty="0">
                <a:solidFill>
                  <a:srgbClr val="0000CC"/>
                </a:solidFill>
              </a:rPr>
              <a:t>// function prototype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n1,n2,sum;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("Enters two numbers: ");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("%d %d",&amp;n1,&amp;n2);</a:t>
            </a:r>
          </a:p>
          <a:p>
            <a:pPr marL="0" indent="0" algn="just">
              <a:buNone/>
            </a:pPr>
            <a:r>
              <a:rPr lang="en-US" dirty="0"/>
              <a:t>sum = </a:t>
            </a:r>
            <a:r>
              <a:rPr lang="en-US" dirty="0" err="1"/>
              <a:t>addNumbers</a:t>
            </a:r>
            <a:r>
              <a:rPr lang="en-US" dirty="0"/>
              <a:t>(n1, n2); </a:t>
            </a:r>
            <a:r>
              <a:rPr lang="en-US" dirty="0">
                <a:solidFill>
                  <a:srgbClr val="0000CC"/>
                </a:solidFill>
              </a:rPr>
              <a:t>// function call</a:t>
            </a:r>
          </a:p>
        </p:txBody>
      </p:sp>
    </p:spTree>
    <p:extLst>
      <p:ext uri="{BB962C8B-B14F-4D97-AF65-F5344CB8AC3E}">
        <p14:creationId xmlns:p14="http://schemas.microsoft.com/office/powerpoint/2010/main" val="1266811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Example-2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("sum = %</a:t>
            </a:r>
            <a:r>
              <a:rPr lang="en-US" dirty="0" err="1"/>
              <a:t>d",sum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addNumbers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a,int</a:t>
            </a:r>
            <a:r>
              <a:rPr lang="en-US" dirty="0"/>
              <a:t> b) </a:t>
            </a:r>
            <a:r>
              <a:rPr lang="en-US" dirty="0">
                <a:solidFill>
                  <a:srgbClr val="0000CC"/>
                </a:solidFill>
              </a:rPr>
              <a:t>// function definition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result;</a:t>
            </a:r>
          </a:p>
          <a:p>
            <a:pPr marL="0" indent="0" algn="just">
              <a:buNone/>
            </a:pPr>
            <a:r>
              <a:rPr lang="en-US" dirty="0"/>
              <a:t>result = </a:t>
            </a:r>
            <a:r>
              <a:rPr lang="en-US" dirty="0" err="1"/>
              <a:t>a+b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/>
              <a:t>return result; // return statement</a:t>
            </a:r>
          </a:p>
          <a:p>
            <a:pPr marL="0" indent="0" algn="just">
              <a:buNone/>
            </a:pPr>
            <a:r>
              <a:rPr lang="en-US" dirty="0"/>
              <a:t>}</a:t>
            </a:r>
            <a:endParaRPr lang="en-US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888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to pass arguments to a function?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78404" y="1143000"/>
            <a:ext cx="3387192" cy="4983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246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 of return statement</a:t>
            </a:r>
          </a:p>
          <a:p>
            <a:pPr marL="0" indent="0">
              <a:buNone/>
            </a:pPr>
            <a:r>
              <a:rPr lang="en-US" dirty="0"/>
              <a:t>Syntax : return; //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does not return any value</a:t>
            </a:r>
          </a:p>
          <a:p>
            <a:pPr marL="0" indent="0">
              <a:buNone/>
            </a:pPr>
            <a:r>
              <a:rPr lang="en-US" dirty="0" smtClean="0"/>
              <a:t>	    or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return(</a:t>
            </a:r>
            <a:r>
              <a:rPr lang="en-US" dirty="0" err="1" smtClean="0"/>
              <a:t>exp</a:t>
            </a:r>
            <a:r>
              <a:rPr lang="en-US" dirty="0"/>
              <a:t>); //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specified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value to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	calling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function.</a:t>
            </a:r>
          </a:p>
        </p:txBody>
      </p:sp>
    </p:spTree>
    <p:extLst>
      <p:ext uri="{BB962C8B-B14F-4D97-AF65-F5344CB8AC3E}">
        <p14:creationId xmlns:p14="http://schemas.microsoft.com/office/powerpoint/2010/main" val="3498290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For example,</a:t>
            </a:r>
          </a:p>
          <a:p>
            <a:pPr marL="0" indent="0">
              <a:buNone/>
            </a:pPr>
            <a:r>
              <a:rPr lang="en-US" i="1" dirty="0">
                <a:solidFill>
                  <a:srgbClr val="FF0000"/>
                </a:solidFill>
              </a:rPr>
              <a:t>return a;</a:t>
            </a:r>
          </a:p>
          <a:p>
            <a:pPr marL="0" indent="0">
              <a:buNone/>
            </a:pPr>
            <a:r>
              <a:rPr lang="en-US" i="1" dirty="0">
                <a:solidFill>
                  <a:srgbClr val="0000CC"/>
                </a:solidFill>
              </a:rPr>
              <a:t>return (</a:t>
            </a:r>
            <a:r>
              <a:rPr lang="en-US" i="1" dirty="0" err="1">
                <a:solidFill>
                  <a:srgbClr val="0000CC"/>
                </a:solidFill>
              </a:rPr>
              <a:t>a+b</a:t>
            </a:r>
            <a:r>
              <a:rPr lang="en-US" i="1" dirty="0" smtClean="0">
                <a:solidFill>
                  <a:srgbClr val="0000CC"/>
                </a:solidFill>
              </a:rPr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The return statement terminates the execution of a function and returns a value to the </a:t>
            </a:r>
            <a:r>
              <a:rPr lang="en-US" dirty="0" smtClean="0"/>
              <a:t>calling function</a:t>
            </a:r>
            <a:r>
              <a:rPr lang="en-US" dirty="0"/>
              <a:t>. The program control is transferred to the calling function after return statement.</a:t>
            </a:r>
          </a:p>
          <a:p>
            <a:pPr marL="0" indent="0" algn="just">
              <a:buNone/>
            </a:pPr>
            <a:r>
              <a:rPr lang="en-US" b="1" dirty="0"/>
              <a:t>In </a:t>
            </a:r>
            <a:r>
              <a:rPr lang="en-US" b="1" dirty="0" smtClean="0"/>
              <a:t>previous example</a:t>
            </a:r>
            <a:r>
              <a:rPr lang="en-US" b="1" dirty="0"/>
              <a:t>, the value of variable result is returned to the variable sum </a:t>
            </a:r>
            <a:r>
              <a:rPr lang="en-US" b="1" dirty="0" smtClean="0"/>
              <a:t>in the </a:t>
            </a:r>
            <a:r>
              <a:rPr lang="en-US" b="1" dirty="0"/>
              <a:t>main() function.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0561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6200" y="1371599"/>
            <a:ext cx="8686800" cy="4425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145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you….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405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4416</TotalTime>
  <Words>1318</Words>
  <Application>Microsoft Office PowerPoint</Application>
  <PresentationFormat>On-screen Show (4:3)</PresentationFormat>
  <Paragraphs>226</Paragraphs>
  <Slides>35</Slides>
  <Notes>32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Office Theme</vt:lpstr>
      <vt:lpstr>1_Slipstream</vt:lpstr>
      <vt:lpstr>1_Office Theme</vt:lpstr>
      <vt:lpstr>Structure Programming  ICT-1105  Information and Communication Technology</vt:lpstr>
      <vt:lpstr>PowerPoint Presentation</vt:lpstr>
      <vt:lpstr>Functions</vt:lpstr>
      <vt:lpstr>MONOLITHIC VS MODULAR PROGRAMMING</vt:lpstr>
      <vt:lpstr>MONOLITHIC VS MODULAR PROGRAMMING</vt:lpstr>
      <vt:lpstr>MONOLITHIC VS MODULAR PROGRAMMING</vt:lpstr>
      <vt:lpstr>Function : Definition</vt:lpstr>
      <vt:lpstr>Function : Definition</vt:lpstr>
      <vt:lpstr>Advantage of functions</vt:lpstr>
      <vt:lpstr>Advantage of functions</vt:lpstr>
      <vt:lpstr>Types of Functions</vt:lpstr>
      <vt:lpstr>Types of Functions</vt:lpstr>
      <vt:lpstr>Types of Functions</vt:lpstr>
      <vt:lpstr>Types of Functions</vt:lpstr>
      <vt:lpstr>Types of Functions</vt:lpstr>
      <vt:lpstr>Elements of User defined Functions</vt:lpstr>
      <vt:lpstr>Function Declaration (Function Prototype)</vt:lpstr>
      <vt:lpstr>Function Declaration (Function Prototype)</vt:lpstr>
      <vt:lpstr>Function Declaration (Function Prototype)</vt:lpstr>
      <vt:lpstr>Calling a function/function call</vt:lpstr>
      <vt:lpstr>Defining a function</vt:lpstr>
      <vt:lpstr>Defining a function</vt:lpstr>
      <vt:lpstr>Defining a function</vt:lpstr>
      <vt:lpstr>Defining a function</vt:lpstr>
      <vt:lpstr>How functions work in C programming</vt:lpstr>
      <vt:lpstr>How functions work in C programming</vt:lpstr>
      <vt:lpstr>Example-1</vt:lpstr>
      <vt:lpstr>Example-1</vt:lpstr>
      <vt:lpstr>Example-2</vt:lpstr>
      <vt:lpstr>Example-2</vt:lpstr>
      <vt:lpstr>How to pass arguments to a function?</vt:lpstr>
      <vt:lpstr>Return Statement</vt:lpstr>
      <vt:lpstr>Return Statement</vt:lpstr>
      <vt:lpstr>Return Statement</vt:lpstr>
      <vt:lpstr>Thank you….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Output devices</dc:title>
  <dc:creator>AION</dc:creator>
  <cp:lastModifiedBy>Dulal Sir</cp:lastModifiedBy>
  <cp:revision>464</cp:revision>
  <dcterms:created xsi:type="dcterms:W3CDTF">2019-09-20T11:10:00Z</dcterms:created>
  <dcterms:modified xsi:type="dcterms:W3CDTF">2025-02-13T06:11:26Z</dcterms:modified>
</cp:coreProperties>
</file>