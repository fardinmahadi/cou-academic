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</p:sldMasterIdLst>
  <p:notesMasterIdLst>
    <p:notesMasterId r:id="rId45"/>
  </p:notesMasterIdLst>
  <p:sldIdLst>
    <p:sldId id="463" r:id="rId3"/>
    <p:sldId id="467" r:id="rId4"/>
    <p:sldId id="499" r:id="rId5"/>
    <p:sldId id="541" r:id="rId6"/>
    <p:sldId id="542" r:id="rId7"/>
    <p:sldId id="543" r:id="rId8"/>
    <p:sldId id="544" r:id="rId9"/>
    <p:sldId id="545" r:id="rId10"/>
    <p:sldId id="546" r:id="rId11"/>
    <p:sldId id="547" r:id="rId12"/>
    <p:sldId id="548" r:id="rId13"/>
    <p:sldId id="549" r:id="rId14"/>
    <p:sldId id="550" r:id="rId15"/>
    <p:sldId id="551" r:id="rId16"/>
    <p:sldId id="552" r:id="rId17"/>
    <p:sldId id="553" r:id="rId18"/>
    <p:sldId id="554" r:id="rId19"/>
    <p:sldId id="555" r:id="rId20"/>
    <p:sldId id="557" r:id="rId21"/>
    <p:sldId id="571" r:id="rId22"/>
    <p:sldId id="572" r:id="rId23"/>
    <p:sldId id="573" r:id="rId24"/>
    <p:sldId id="574" r:id="rId25"/>
    <p:sldId id="556" r:id="rId26"/>
    <p:sldId id="575" r:id="rId27"/>
    <p:sldId id="576" r:id="rId28"/>
    <p:sldId id="577" r:id="rId29"/>
    <p:sldId id="578" r:id="rId30"/>
    <p:sldId id="579" r:id="rId31"/>
    <p:sldId id="580" r:id="rId32"/>
    <p:sldId id="581" r:id="rId33"/>
    <p:sldId id="582" r:id="rId34"/>
    <p:sldId id="583" r:id="rId35"/>
    <p:sldId id="584" r:id="rId36"/>
    <p:sldId id="585" r:id="rId37"/>
    <p:sldId id="588" r:id="rId38"/>
    <p:sldId id="586" r:id="rId39"/>
    <p:sldId id="587" r:id="rId40"/>
    <p:sldId id="558" r:id="rId41"/>
    <p:sldId id="559" r:id="rId42"/>
    <p:sldId id="560" r:id="rId43"/>
    <p:sldId id="461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606BA"/>
    <a:srgbClr val="06661F"/>
    <a:srgbClr val="03BD57"/>
    <a:srgbClr val="1DA37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81317" autoAdjust="0"/>
  </p:normalViewPr>
  <p:slideViewPr>
    <p:cSldViewPr>
      <p:cViewPr varScale="1">
        <p:scale>
          <a:sx n="59" d="100"/>
          <a:sy n="59" d="100"/>
        </p:scale>
        <p:origin x="-168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Lecture-06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>
            <a:normAutofit/>
          </a:bodyPr>
          <a:lstStyle/>
          <a:p>
            <a:pPr marL="0" indent="0" algn="just">
              <a:buFont typeface="Wingdings" pitchFamily="2" charset="2"/>
              <a:buNone/>
              <a:defRPr/>
            </a:pPr>
            <a:r>
              <a:rPr 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contents has given in  Google Classroom with code 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en-US" sz="8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nhauiw4</a:t>
            </a:r>
            <a:endParaRPr lang="en-US" sz="8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A variable is a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 of memory location</a:t>
            </a:r>
            <a:r>
              <a:rPr lang="en-US" sz="3600" dirty="0"/>
              <a:t>. It is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used to store data</a:t>
            </a:r>
            <a:r>
              <a:rPr lang="en-US" sz="3600" dirty="0"/>
              <a:t>. Variables are </a:t>
            </a:r>
            <a:r>
              <a:rPr lang="en-US" sz="3600" dirty="0" smtClean="0"/>
              <a:t>changeable, we </a:t>
            </a:r>
            <a:r>
              <a:rPr lang="en-US" sz="3600" dirty="0"/>
              <a:t>can change value of a variable during execution of a program. . It can be reused </a:t>
            </a:r>
            <a:r>
              <a:rPr lang="en-US" sz="3600" dirty="0" smtClean="0"/>
              <a:t>many times.</a:t>
            </a:r>
          </a:p>
          <a:p>
            <a:pPr algn="just"/>
            <a:r>
              <a:rPr lang="en-US" sz="3600" dirty="0" smtClean="0"/>
              <a:t>A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</a:t>
            </a:r>
            <a:r>
              <a:rPr lang="en-US" sz="3600" dirty="0"/>
              <a:t> is associated with each variable &amp; it decides what values the variable can take.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09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/>
              <a:t>When you </a:t>
            </a:r>
            <a:r>
              <a:rPr lang="en-US" sz="3600" dirty="0"/>
              <a:t>decide your program needs another variable, you simply declare (or define) a new </a:t>
            </a:r>
            <a:r>
              <a:rPr lang="en-US" sz="3600" dirty="0" smtClean="0"/>
              <a:t>variable and </a:t>
            </a:r>
            <a:r>
              <a:rPr lang="en-US" sz="3600" dirty="0"/>
              <a:t>C makes sure you get it. </a:t>
            </a:r>
            <a:endParaRPr lang="en-US" sz="3600" dirty="0" smtClean="0"/>
          </a:p>
          <a:p>
            <a:pPr algn="just"/>
            <a:r>
              <a:rPr lang="en-US" sz="3600" dirty="0" smtClean="0"/>
              <a:t>You </a:t>
            </a:r>
            <a:r>
              <a:rPr lang="en-US" sz="3600" dirty="0">
                <a:solidFill>
                  <a:srgbClr val="0000CC"/>
                </a:solidFill>
              </a:rPr>
              <a:t>declare all C variables at the top of whatever blocks of </a:t>
            </a:r>
            <a:r>
              <a:rPr lang="en-US" sz="3600" dirty="0" smtClean="0">
                <a:solidFill>
                  <a:srgbClr val="0000CC"/>
                </a:solidFill>
              </a:rPr>
              <a:t>code</a:t>
            </a:r>
            <a:r>
              <a:rPr lang="en-US" sz="3600" dirty="0" smtClean="0"/>
              <a:t> need them.</a:t>
            </a:r>
          </a:p>
          <a:p>
            <a:pPr algn="just"/>
            <a:endParaRPr lang="en-US" sz="3600" dirty="0"/>
          </a:p>
          <a:p>
            <a:pPr algn="just"/>
            <a:r>
              <a:rPr 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are nothing but identifiers.</a:t>
            </a:r>
            <a:endParaRPr lang="en-US" sz="36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528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Rules to write variable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92500"/>
          </a:bodyPr>
          <a:lstStyle/>
          <a:p>
            <a:pPr marL="742950" indent="-742950" algn="just">
              <a:buAutoNum type="arabicPeriod"/>
            </a:pPr>
            <a:r>
              <a:rPr lang="en-US" sz="3600" dirty="0" smtClean="0"/>
              <a:t>A </a:t>
            </a:r>
            <a:r>
              <a:rPr lang="en-US" sz="3600" dirty="0"/>
              <a:t>variable name contains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maximum</a:t>
            </a:r>
            <a:r>
              <a:rPr lang="en-US" sz="3600" dirty="0"/>
              <a:t> of 30 characters/ </a:t>
            </a:r>
            <a:r>
              <a:rPr lang="en-US" sz="3600" dirty="0" smtClean="0"/>
              <a:t>Variable name </a:t>
            </a:r>
            <a:r>
              <a:rPr lang="en-US" sz="3600" dirty="0"/>
              <a:t>must be </a:t>
            </a:r>
            <a:r>
              <a:rPr lang="en-US" sz="3600" dirty="0" smtClean="0"/>
              <a:t>up to </a:t>
            </a:r>
            <a:r>
              <a:rPr lang="en-US" sz="3600" dirty="0"/>
              <a:t>8 characters</a:t>
            </a:r>
            <a:r>
              <a:rPr lang="en-US" sz="3600" dirty="0" smtClean="0"/>
              <a:t>.</a:t>
            </a:r>
          </a:p>
          <a:p>
            <a:pPr marL="742950" indent="-742950" algn="just">
              <a:buAutoNum type="arabicPeriod"/>
            </a:pPr>
            <a:r>
              <a:rPr lang="en-US" sz="3600" dirty="0" smtClean="0"/>
              <a:t>A </a:t>
            </a:r>
            <a:r>
              <a:rPr lang="en-US" sz="3600" dirty="0"/>
              <a:t>variable name includes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alphabets</a:t>
            </a:r>
            <a:r>
              <a:rPr lang="en-US" sz="3600" dirty="0"/>
              <a:t> and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numbers</a:t>
            </a:r>
            <a:r>
              <a:rPr lang="en-US" sz="3600" dirty="0"/>
              <a:t>, but it </a:t>
            </a:r>
            <a:r>
              <a:rPr lang="en-US" sz="3600" dirty="0">
                <a:solidFill>
                  <a:srgbClr val="FF0000"/>
                </a:solidFill>
              </a:rPr>
              <a:t>must </a:t>
            </a:r>
            <a:r>
              <a:rPr lang="en-US" sz="3600" dirty="0" smtClean="0">
                <a:solidFill>
                  <a:srgbClr val="FF0000"/>
                </a:solidFill>
              </a:rPr>
              <a:t>start with </a:t>
            </a:r>
            <a:r>
              <a:rPr lang="en-US" sz="3600" dirty="0">
                <a:solidFill>
                  <a:srgbClr val="FF0000"/>
                </a:solidFill>
              </a:rPr>
              <a:t>an alphabet.</a:t>
            </a:r>
          </a:p>
          <a:p>
            <a:pPr marL="742950" indent="-742950" algn="just">
              <a:buAutoNum type="arabicPeriod"/>
            </a:pPr>
            <a:r>
              <a:rPr lang="en-US" sz="3600" dirty="0" smtClean="0"/>
              <a:t>It </a:t>
            </a:r>
            <a:r>
              <a:rPr lang="en-US" sz="3600" b="1" dirty="0">
                <a:solidFill>
                  <a:srgbClr val="0000CC"/>
                </a:solidFill>
              </a:rPr>
              <a:t>cannot accept any special characters, blank spaces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underscore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_ ).</a:t>
            </a:r>
          </a:p>
          <a:p>
            <a:pPr marL="742950" indent="-742950" algn="just">
              <a:buAutoNum type="arabicPeriod"/>
            </a:pPr>
            <a:r>
              <a:rPr lang="en-US" sz="3600" dirty="0" smtClean="0"/>
              <a:t>It </a:t>
            </a:r>
            <a:r>
              <a:rPr lang="en-US" sz="3600" dirty="0"/>
              <a:t>should not be a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reserved word.</a:t>
            </a:r>
            <a:endParaRPr lang="en-US" sz="3600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97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Rules to write variable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lnSpcReduction="10000"/>
          </a:bodyPr>
          <a:lstStyle/>
          <a:p>
            <a:pPr marL="742950" indent="-742950" algn="just">
              <a:buAutoNum type="arabicPeriod"/>
            </a:pPr>
            <a:r>
              <a:rPr lang="en-US" sz="2800" dirty="0" smtClean="0"/>
              <a:t>A </a:t>
            </a:r>
            <a:r>
              <a:rPr lang="en-US" sz="2800" dirty="0"/>
              <a:t>variable name contains 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maximum</a:t>
            </a:r>
            <a:r>
              <a:rPr lang="en-US" sz="2800" dirty="0"/>
              <a:t> of 30 characters/ </a:t>
            </a:r>
            <a:r>
              <a:rPr lang="en-US" sz="2800" dirty="0" smtClean="0"/>
              <a:t>Variable name </a:t>
            </a:r>
            <a:r>
              <a:rPr lang="en-US" sz="2800" dirty="0"/>
              <a:t>must be </a:t>
            </a:r>
            <a:r>
              <a:rPr lang="en-US" sz="2800" dirty="0" smtClean="0"/>
              <a:t>up to </a:t>
            </a:r>
            <a:r>
              <a:rPr lang="en-US" sz="2800" dirty="0"/>
              <a:t>8 characters</a:t>
            </a:r>
            <a:r>
              <a:rPr lang="en-US" sz="2800" dirty="0" smtClean="0"/>
              <a:t>.</a:t>
            </a:r>
          </a:p>
          <a:p>
            <a:pPr marL="742950" indent="-742950" algn="just">
              <a:buAutoNum type="arabicPeriod"/>
            </a:pPr>
            <a:r>
              <a:rPr lang="en-US" sz="2800" dirty="0" smtClean="0"/>
              <a:t>A </a:t>
            </a:r>
            <a:r>
              <a:rPr lang="en-US" sz="2800" dirty="0"/>
              <a:t>variable name includes 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alphabets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numbers</a:t>
            </a:r>
            <a:r>
              <a:rPr lang="en-US" sz="2800" dirty="0"/>
              <a:t>, but it </a:t>
            </a:r>
            <a:r>
              <a:rPr lang="en-US" sz="2800" dirty="0">
                <a:solidFill>
                  <a:srgbClr val="FF0000"/>
                </a:solidFill>
              </a:rPr>
              <a:t>must </a:t>
            </a:r>
            <a:r>
              <a:rPr lang="en-US" sz="2800" dirty="0" smtClean="0">
                <a:solidFill>
                  <a:srgbClr val="FF0000"/>
                </a:solidFill>
              </a:rPr>
              <a:t>start with </a:t>
            </a:r>
            <a:r>
              <a:rPr lang="en-US" sz="2800" dirty="0">
                <a:solidFill>
                  <a:srgbClr val="FF0000"/>
                </a:solidFill>
              </a:rPr>
              <a:t>an alphabet.</a:t>
            </a:r>
          </a:p>
          <a:p>
            <a:pPr marL="742950" indent="-742950" algn="just">
              <a:buAutoNum type="arabicPeriod"/>
            </a:pPr>
            <a:r>
              <a:rPr lang="en-US" sz="2800" dirty="0" smtClean="0"/>
              <a:t>It </a:t>
            </a:r>
            <a:r>
              <a:rPr lang="en-US" sz="2800" b="1" dirty="0">
                <a:solidFill>
                  <a:srgbClr val="0000CC"/>
                </a:solidFill>
              </a:rPr>
              <a:t>cannot accept any special characters, blank spaces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 </a:t>
            </a: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underscore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_ ).</a:t>
            </a:r>
          </a:p>
          <a:p>
            <a:pPr marL="742950" indent="-742950" algn="just">
              <a:buAutoNum type="arabicPeriod"/>
            </a:pPr>
            <a:r>
              <a:rPr lang="en-US" sz="2800" dirty="0" smtClean="0"/>
              <a:t>It </a:t>
            </a:r>
            <a:r>
              <a:rPr lang="en-US" sz="2800" dirty="0"/>
              <a:t>should not be a 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reserved word</a:t>
            </a:r>
            <a:r>
              <a:rPr lang="en-US" sz="2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 algn="just">
              <a:buNone/>
            </a:pPr>
            <a:endParaRPr lang="en-US" sz="28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 : </a:t>
            </a:r>
            <a:r>
              <a:rPr lang="en-US" sz="2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i       rank1           MAX        min      </a:t>
            </a:r>
            <a:r>
              <a:rPr lang="en-US" sz="2800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Student_name</a:t>
            </a:r>
            <a:endParaRPr lang="en-US" sz="28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2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</a:t>
            </a:r>
            <a:r>
              <a:rPr lang="en-US" sz="2800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StudentName</a:t>
            </a:r>
            <a:r>
              <a:rPr lang="en-US" sz="2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</a:t>
            </a:r>
            <a:r>
              <a:rPr lang="en-US" sz="2800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class_mark</a:t>
            </a:r>
            <a:endParaRPr lang="en-US" sz="2800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29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Declaration of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 variable can be used to store a value of any data type. </a:t>
            </a:r>
            <a:r>
              <a:rPr lang="en-US" dirty="0" smtClean="0"/>
              <a:t>The declaration </a:t>
            </a:r>
            <a:r>
              <a:rPr lang="en-US" dirty="0"/>
              <a:t>of variables must be done before they are used in the program.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There are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places </a:t>
            </a:r>
            <a:r>
              <a:rPr lang="en-US" dirty="0"/>
              <a:t>where you can declare a variable</a:t>
            </a:r>
            <a:r>
              <a:rPr lang="en-US" dirty="0" smtClean="0"/>
              <a:t>:</a:t>
            </a:r>
          </a:p>
          <a:p>
            <a:pPr marL="0" indent="0" algn="just">
              <a:buNone/>
            </a:pPr>
            <a:r>
              <a:rPr lang="en-US" dirty="0" smtClean="0"/>
              <a:t>1. After </a:t>
            </a:r>
            <a:r>
              <a:rPr lang="en-US" dirty="0"/>
              <a:t>the opening brace of a block of code (</a:t>
            </a:r>
            <a:r>
              <a:rPr lang="en-US" b="1" dirty="0">
                <a:solidFill>
                  <a:srgbClr val="0000CC"/>
                </a:solidFill>
              </a:rPr>
              <a:t>usually at the top of a function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 smtClean="0"/>
              <a:t>2. Before </a:t>
            </a:r>
            <a:r>
              <a:rPr lang="en-US" dirty="0"/>
              <a:t>a function name (such as before main() in the program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080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Declaration of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Suppose you had to keep track of a person's first, middle, and last initials. Because </a:t>
            </a:r>
            <a:r>
              <a:rPr lang="en-US" dirty="0" smtClean="0"/>
              <a:t>an initial </a:t>
            </a:r>
            <a:r>
              <a:rPr lang="en-US" dirty="0"/>
              <a:t>is obviously a character, it would be prudent to declare three character </a:t>
            </a:r>
            <a:r>
              <a:rPr lang="en-US" dirty="0" smtClean="0"/>
              <a:t>variables to </a:t>
            </a:r>
            <a:r>
              <a:rPr lang="en-US" dirty="0"/>
              <a:t>hold the three initials. In C, you could do that with the following statement: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191000"/>
            <a:ext cx="3429000" cy="2449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916028"/>
            <a:ext cx="3733800" cy="287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7159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Declaration of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general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 for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declaring a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variable: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:</a:t>
            </a:r>
            <a:r>
              <a:rPr lang="en-US" dirty="0"/>
              <a:t> </a:t>
            </a:r>
            <a:r>
              <a:rPr lang="en-US" dirty="0" err="1"/>
              <a:t>data_type</a:t>
            </a:r>
            <a:r>
              <a:rPr lang="en-US" dirty="0"/>
              <a:t> variable-1,variable-2,------, variable-n;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B606BA"/>
                </a:solidFill>
              </a:rPr>
              <a:t>Variables are separated by commas and declaration statement ends with a semicolon.</a:t>
            </a:r>
          </a:p>
          <a:p>
            <a:pPr marL="0" indent="0" algn="just">
              <a:buNone/>
            </a:pPr>
            <a:r>
              <a:rPr lang="en-US" dirty="0"/>
              <a:t>Ex :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x,y,z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float </a:t>
            </a:r>
            <a:r>
              <a:rPr lang="en-US" dirty="0" err="1"/>
              <a:t>a,b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 smtClean="0"/>
              <a:t>m,n</a:t>
            </a:r>
            <a:r>
              <a:rPr lang="en-US" dirty="0" smtClean="0"/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2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Assigning values to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values can be assigned to variables using the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 operator (=). </a:t>
            </a:r>
            <a:r>
              <a:rPr lang="en-US" dirty="0" smtClean="0"/>
              <a:t>The </a:t>
            </a:r>
            <a:r>
              <a:rPr lang="en-US" dirty="0"/>
              <a:t>general format statement is :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:</a:t>
            </a:r>
            <a:r>
              <a:rPr lang="en-US" dirty="0"/>
              <a:t> variable = constant;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endParaRPr lang="en-US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 smtClean="0"/>
              <a:t>x=100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a= 12.25;</a:t>
            </a:r>
          </a:p>
          <a:p>
            <a:pPr marL="0" indent="0" algn="just">
              <a:buNone/>
            </a:pPr>
            <a:r>
              <a:rPr lang="en-US" dirty="0" smtClean="0"/>
              <a:t>m=‘f’;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42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Initialization of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When a variable is declared,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contains undefined value</a:t>
            </a:r>
            <a:r>
              <a:rPr lang="en-US" dirty="0"/>
              <a:t> commonly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known as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garbage value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dirty="0"/>
              <a:t> If we want we can assign some initial value to the variables during the </a:t>
            </a:r>
            <a:r>
              <a:rPr lang="en-US" dirty="0" smtClean="0"/>
              <a:t>declaration itself</a:t>
            </a:r>
            <a:r>
              <a:rPr lang="en-US" dirty="0"/>
              <a:t>. This is called </a:t>
            </a:r>
            <a:r>
              <a:rPr lang="en-US" b="1" dirty="0">
                <a:solidFill>
                  <a:srgbClr val="0000CC"/>
                </a:solidFill>
              </a:rPr>
              <a:t>initialization</a:t>
            </a:r>
            <a:r>
              <a:rPr lang="en-US" dirty="0"/>
              <a:t> of the variable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Ex:</a:t>
            </a:r>
          </a:p>
          <a:p>
            <a:pPr marL="0" indent="0" algn="just">
              <a:buNone/>
            </a:pPr>
            <a:r>
              <a:rPr lang="en-US" dirty="0" smtClean="0"/>
              <a:t>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pageno</a:t>
            </a:r>
            <a:r>
              <a:rPr lang="en-US" dirty="0"/>
              <a:t>=10;</a:t>
            </a:r>
          </a:p>
          <a:p>
            <a:pPr marL="0" indent="0" algn="just">
              <a:buNone/>
            </a:pPr>
            <a:r>
              <a:rPr lang="en-US" dirty="0"/>
              <a:t>char grade=’A’;</a:t>
            </a:r>
          </a:p>
          <a:p>
            <a:pPr marL="0" indent="0" algn="just">
              <a:buNone/>
            </a:pPr>
            <a:r>
              <a:rPr lang="en-US" dirty="0"/>
              <a:t>float salary= 20000.50;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958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Variables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There are many types of variables in c:</a:t>
            </a:r>
          </a:p>
          <a:p>
            <a:pPr marL="0" indent="0" algn="just">
              <a:buNone/>
            </a:pPr>
            <a:r>
              <a:rPr lang="en-US" dirty="0"/>
              <a:t>1. local variable</a:t>
            </a:r>
          </a:p>
          <a:p>
            <a:pPr marL="0" indent="0" algn="just">
              <a:buNone/>
            </a:pPr>
            <a:r>
              <a:rPr lang="en-US" dirty="0"/>
              <a:t>2. global variable</a:t>
            </a:r>
          </a:p>
          <a:p>
            <a:pPr marL="0" indent="0" algn="just">
              <a:buNone/>
            </a:pPr>
            <a:r>
              <a:rPr lang="en-US" dirty="0"/>
              <a:t>3. static variable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49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/ Output (I/O) Functions : </a:t>
            </a:r>
            <a:endParaRPr lang="en-US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 smtClean="0"/>
              <a:t>In ‘C’ </a:t>
            </a:r>
            <a:r>
              <a:rPr lang="en-US" dirty="0"/>
              <a:t>language,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types</a:t>
            </a:r>
            <a:r>
              <a:rPr lang="en-US" dirty="0"/>
              <a:t> of </a:t>
            </a:r>
            <a:r>
              <a:rPr lang="en-US" dirty="0" err="1"/>
              <a:t>Input/Output</a:t>
            </a:r>
            <a:r>
              <a:rPr lang="en-US" dirty="0"/>
              <a:t> functions </a:t>
            </a:r>
            <a:r>
              <a:rPr lang="en-US" dirty="0" smtClean="0"/>
              <a:t>are available</a:t>
            </a:r>
            <a:r>
              <a:rPr lang="en-US" dirty="0"/>
              <a:t>, and all input and output operations are carried out through </a:t>
            </a:r>
            <a:r>
              <a:rPr lang="en-US" b="1" dirty="0">
                <a:solidFill>
                  <a:srgbClr val="FF0000"/>
                </a:solidFill>
              </a:rPr>
              <a:t>function calls</a:t>
            </a:r>
            <a:r>
              <a:rPr lang="en-US" dirty="0"/>
              <a:t>. </a:t>
            </a:r>
            <a:r>
              <a:rPr lang="en-US" dirty="0" smtClean="0"/>
              <a:t>Several functions </a:t>
            </a:r>
            <a:r>
              <a:rPr lang="en-US" dirty="0"/>
              <a:t>are available for input / output operations in </a:t>
            </a:r>
            <a:r>
              <a:rPr lang="en-US" dirty="0" smtClean="0"/>
              <a:t>‘C’. </a:t>
            </a:r>
            <a:r>
              <a:rPr lang="en-US" b="1" dirty="0">
                <a:solidFill>
                  <a:srgbClr val="0000CC"/>
                </a:solidFill>
              </a:rPr>
              <a:t>These functions are </a:t>
            </a:r>
            <a:r>
              <a:rPr lang="en-US" b="1" dirty="0" smtClean="0">
                <a:solidFill>
                  <a:srgbClr val="0000CC"/>
                </a:solidFill>
              </a:rPr>
              <a:t>collectively known </a:t>
            </a:r>
            <a:r>
              <a:rPr lang="en-US" b="1" dirty="0">
                <a:solidFill>
                  <a:srgbClr val="0000CC"/>
                </a:solidFill>
              </a:rPr>
              <a:t>as the standard i/o library</a:t>
            </a:r>
            <a:r>
              <a:rPr lang="en-US" b="1" dirty="0" smtClean="0">
                <a:solidFill>
                  <a:srgbClr val="0000CC"/>
                </a:solidFill>
              </a:rPr>
              <a:t>.</a:t>
            </a:r>
            <a:endParaRPr lang="en-US" b="1" dirty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86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dirty="0"/>
              <a:t> In any programming language input means to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feed some data into program</a:t>
            </a:r>
            <a:r>
              <a:rPr lang="en-US" dirty="0"/>
              <a:t>. This can </a:t>
            </a:r>
            <a:r>
              <a:rPr lang="en-US" dirty="0" smtClean="0"/>
              <a:t>be given </a:t>
            </a:r>
            <a:r>
              <a:rPr lang="en-US" dirty="0"/>
              <a:t>in the form of file or from command line.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Output:</a:t>
            </a:r>
            <a:r>
              <a:rPr lang="en-US" dirty="0"/>
              <a:t> In any programming language output means to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display some data on screen, printer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in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 file</a:t>
            </a:r>
            <a:r>
              <a:rPr lang="en-US" dirty="0"/>
              <a:t>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50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Standard Files: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/>
              <a:t>C programming treats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the devices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files</a:t>
            </a:r>
            <a:r>
              <a:rPr lang="en-US" dirty="0"/>
              <a:t>. So devices such as the display are addressed in </a:t>
            </a:r>
            <a:r>
              <a:rPr lang="en-US" dirty="0" smtClean="0"/>
              <a:t>the same </a:t>
            </a:r>
            <a:r>
              <a:rPr lang="en-US" dirty="0"/>
              <a:t>way as files and the following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files </a:t>
            </a:r>
            <a:r>
              <a:rPr lang="en-US" dirty="0"/>
              <a:t>are automatically opened when a </a:t>
            </a:r>
            <a:r>
              <a:rPr lang="en-US" dirty="0" smtClean="0"/>
              <a:t>program executes </a:t>
            </a:r>
            <a:r>
              <a:rPr lang="en-US" dirty="0"/>
              <a:t>to provide access to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keyboard and screen.</a:t>
            </a:r>
            <a:endParaRPr lang="en-US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22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Standard Files:</a:t>
            </a:r>
          </a:p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1952626"/>
            <a:ext cx="8443748" cy="16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3505199"/>
            <a:ext cx="8471822" cy="1668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492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000CC"/>
                </a:solidFill>
              </a:rPr>
              <a:t>Input / Output functions are classified into two </a:t>
            </a:r>
            <a:r>
              <a:rPr lang="en-US" dirty="0" smtClean="0">
                <a:solidFill>
                  <a:srgbClr val="0000CC"/>
                </a:solidFill>
              </a:rPr>
              <a:t>types</a:t>
            </a:r>
          </a:p>
          <a:p>
            <a:pPr marL="0" indent="0" algn="just">
              <a:buNone/>
            </a:pP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24525"/>
            <a:ext cx="7467600" cy="4920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244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Formated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Functions : </a:t>
            </a:r>
            <a:endParaRPr lang="en-US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/>
              <a:t>F</a:t>
            </a:r>
            <a:r>
              <a:rPr lang="en-US" dirty="0" smtClean="0"/>
              <a:t>ormatted </a:t>
            </a:r>
            <a:r>
              <a:rPr lang="en-US" dirty="0"/>
              <a:t>I/O functions operates on various types of data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: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: </a:t>
            </a:r>
            <a:r>
              <a:rPr lang="en-US" dirty="0"/>
              <a:t>output data or result of an operation can be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displayed from the computer to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standard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 device using the library function </a:t>
            </a:r>
            <a:r>
              <a:rPr lang="en-US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dirty="0"/>
              <a:t>. This function is used to print </a:t>
            </a:r>
            <a:r>
              <a:rPr lang="en-US" dirty="0" smtClean="0"/>
              <a:t>any combination </a:t>
            </a:r>
            <a:r>
              <a:rPr lang="en-US" dirty="0"/>
              <a:t>of data.</a:t>
            </a:r>
          </a:p>
          <a:p>
            <a:pPr marL="0" indent="0" algn="just">
              <a:buNone/>
            </a:pPr>
            <a:r>
              <a:rPr lang="en-US" dirty="0"/>
              <a:t>Syntax : </a:t>
            </a:r>
            <a:r>
              <a:rPr lang="en-US" dirty="0" err="1"/>
              <a:t>printf</a:t>
            </a:r>
            <a:r>
              <a:rPr lang="en-US" dirty="0"/>
              <a:t>(“control string “, variable1, variable2, -----------, </a:t>
            </a:r>
            <a:r>
              <a:rPr lang="en-US" dirty="0" err="1"/>
              <a:t>variablen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smtClean="0"/>
              <a:t>Ex </a:t>
            </a:r>
            <a:r>
              <a:rPr lang="en-US" dirty="0"/>
              <a:t>: </a:t>
            </a:r>
            <a:r>
              <a:rPr lang="en-US" dirty="0" err="1"/>
              <a:t>printf</a:t>
            </a:r>
            <a:r>
              <a:rPr lang="en-US" dirty="0"/>
              <a:t>(“%d”,3977); // Output: 3977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18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Formated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Functions : </a:t>
            </a:r>
            <a:endParaRPr lang="en-US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() statement another syntax :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: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(“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fomating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string”);</a:t>
            </a:r>
          </a:p>
          <a:p>
            <a:pPr marL="0" indent="0" algn="just">
              <a:buNone/>
            </a:pPr>
            <a:r>
              <a:rPr lang="en-US" dirty="0" err="1"/>
              <a:t>Formating</a:t>
            </a:r>
            <a:r>
              <a:rPr lang="en-US" dirty="0"/>
              <a:t> string : it prints all the character given in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double quotes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(“ “)</a:t>
            </a:r>
            <a:r>
              <a:rPr lang="en-US" dirty="0"/>
              <a:t> except </a:t>
            </a:r>
            <a:r>
              <a:rPr lang="en-US" dirty="0" smtClean="0"/>
              <a:t>formatting </a:t>
            </a:r>
            <a:r>
              <a:rPr lang="en-US" dirty="0" err="1" smtClean="0"/>
              <a:t>specifier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/>
              <a:t>Ex : </a:t>
            </a:r>
            <a:r>
              <a:rPr lang="en-US" dirty="0" err="1"/>
              <a:t>printf</a:t>
            </a:r>
            <a:r>
              <a:rPr lang="en-US" dirty="0"/>
              <a:t>(“ hello “);-&gt; hello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(“a”); -&gt; a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(“%d”, a); -&gt; a value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(“%d”); -&gt; no display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985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 //</a:t>
            </a:r>
            <a:r>
              <a:rPr lang="en-US" sz="2000" dirty="0"/>
              <a:t>This is needed to run </a:t>
            </a:r>
            <a:r>
              <a:rPr lang="en-US" sz="2000" dirty="0" err="1"/>
              <a:t>printf</a:t>
            </a:r>
            <a:r>
              <a:rPr lang="en-US" sz="2000" dirty="0"/>
              <a:t>() function.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("C Programming"); </a:t>
            </a:r>
            <a:r>
              <a:rPr lang="en-US" sz="1800" dirty="0"/>
              <a:t>//displays the content inside quotation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C Programming</a:t>
            </a:r>
          </a:p>
        </p:txBody>
      </p:sp>
    </p:spTree>
    <p:extLst>
      <p:ext uri="{BB962C8B-B14F-4D97-AF65-F5344CB8AC3E}">
        <p14:creationId xmlns:p14="http://schemas.microsoft.com/office/powerpoint/2010/main" val="2899789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Explanation: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/>
              <a:t>Every </a:t>
            </a:r>
            <a:r>
              <a:rPr lang="en-US" dirty="0"/>
              <a:t>program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starts</a:t>
            </a:r>
            <a:r>
              <a:rPr lang="en-US" dirty="0"/>
              <a:t> from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main() function</a:t>
            </a:r>
            <a:r>
              <a:rPr lang="en-US" dirty="0" smtClean="0"/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is a library fun</a:t>
            </a:r>
            <a:r>
              <a:rPr lang="en-US" dirty="0"/>
              <a:t>ction to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display output </a:t>
            </a:r>
            <a:r>
              <a:rPr lang="en-US" dirty="0"/>
              <a:t>which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only works if #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include&lt;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stdio.h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&gt;is included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the beginning.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/>
              <a:t>Here</a:t>
            </a:r>
            <a:r>
              <a:rPr lang="en-US" dirty="0"/>
              <a:t>, </a:t>
            </a:r>
            <a:r>
              <a:rPr lang="en-US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stdio.h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a header file </a:t>
            </a:r>
            <a:r>
              <a:rPr lang="en-US" dirty="0"/>
              <a:t>(standard input output header file) and </a:t>
            </a:r>
            <a:r>
              <a:rPr lang="en-US" b="1" dirty="0"/>
              <a:t>#include is </a:t>
            </a:r>
            <a:r>
              <a:rPr lang="en-US" b="1" dirty="0" smtClean="0"/>
              <a:t>command to </a:t>
            </a:r>
            <a:r>
              <a:rPr lang="en-US" b="1" dirty="0"/>
              <a:t>paste the code from the header file </a:t>
            </a:r>
            <a:r>
              <a:rPr lang="en-US" dirty="0"/>
              <a:t>when necessary.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 compiler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encounters </a:t>
            </a:r>
            <a:r>
              <a:rPr lang="en-US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()function and doesn't find </a:t>
            </a:r>
            <a:r>
              <a:rPr lang="en-US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stdio.h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header file, compiler shows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error.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</a:t>
            </a:r>
            <a:r>
              <a:rPr lang="en-US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0; indicates the successful execution </a:t>
            </a:r>
            <a:r>
              <a:rPr lang="en-US" dirty="0"/>
              <a:t>of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17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</a:rPr>
              <a:t>Input- Output of integers </a:t>
            </a:r>
            <a:r>
              <a:rPr lang="en-US" b="1" dirty="0" smtClean="0">
                <a:solidFill>
                  <a:srgbClr val="0000CC"/>
                </a:solidFill>
              </a:rPr>
              <a:t>in C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c=5;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("Number=%</a:t>
            </a:r>
            <a:r>
              <a:rPr lang="en-US" dirty="0" err="1"/>
              <a:t>d",c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Number=5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493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</a:rPr>
              <a:t>Input- Output of integers </a:t>
            </a:r>
            <a:r>
              <a:rPr lang="en-US" b="1" dirty="0" smtClean="0">
                <a:solidFill>
                  <a:srgbClr val="0000CC"/>
                </a:solidFill>
              </a:rPr>
              <a:t>in C</a:t>
            </a:r>
          </a:p>
          <a:p>
            <a:pPr marL="0" indent="0" algn="just">
              <a:buNone/>
            </a:pPr>
            <a:r>
              <a:rPr lang="en-US" dirty="0"/>
              <a:t>Inside quotation of </a:t>
            </a:r>
            <a:r>
              <a:rPr lang="en-US" dirty="0" err="1"/>
              <a:t>printf</a:t>
            </a:r>
            <a:r>
              <a:rPr lang="en-US" dirty="0"/>
              <a:t>() there, is a </a:t>
            </a:r>
            <a:r>
              <a:rPr lang="en-US" b="1" dirty="0">
                <a:solidFill>
                  <a:srgbClr val="0000CC"/>
                </a:solidFill>
              </a:rPr>
              <a:t>conversion format string</a:t>
            </a:r>
            <a:r>
              <a:rPr lang="en-US" dirty="0"/>
              <a:t> "%d" (for integer). If </a:t>
            </a:r>
            <a:r>
              <a:rPr lang="en-US" dirty="0" smtClean="0"/>
              <a:t>this conversion </a:t>
            </a:r>
            <a:r>
              <a:rPr lang="en-US" dirty="0"/>
              <a:t>format string matches with remaining argument, </a:t>
            </a:r>
            <a:r>
              <a:rPr lang="en-US" dirty="0" err="1"/>
              <a:t>i.e</a:t>
            </a:r>
            <a:r>
              <a:rPr lang="en-US" dirty="0"/>
              <a:t>, c in this case, value of c </a:t>
            </a:r>
            <a:r>
              <a:rPr lang="en-US" dirty="0" smtClean="0"/>
              <a:t>is displayed</a:t>
            </a:r>
            <a:r>
              <a:rPr lang="en-US" dirty="0"/>
              <a:t>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98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: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data can be entered into the computer </a:t>
            </a:r>
            <a:r>
              <a:rPr lang="en-US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the standard input </a:t>
            </a:r>
            <a:r>
              <a:rPr lang="en-US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‘C’ library function </a:t>
            </a:r>
            <a:r>
              <a:rPr lang="en-US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called </a:t>
            </a:r>
            <a:r>
              <a:rPr lang="en-US" dirty="0" err="1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US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dirty="0"/>
              <a:t>). This function is used to enter any combination of input.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Syntax </a:t>
            </a:r>
            <a:r>
              <a:rPr lang="en-US" dirty="0"/>
              <a:t>: </a:t>
            </a:r>
            <a:r>
              <a:rPr lang="en-US" dirty="0" err="1"/>
              <a:t>scanf</a:t>
            </a:r>
            <a:r>
              <a:rPr lang="en-US" dirty="0"/>
              <a:t>(“control string “,&amp;var1, &amp;var2,----, &amp;</a:t>
            </a:r>
            <a:r>
              <a:rPr lang="en-US" dirty="0" err="1"/>
              <a:t>varn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function is used 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 information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the standard input device (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keyboard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Ex </a:t>
            </a:r>
            <a:r>
              <a:rPr lang="en-US" dirty="0"/>
              <a:t>: </a:t>
            </a:r>
            <a:r>
              <a:rPr lang="en-US" dirty="0" err="1"/>
              <a:t>scanf</a:t>
            </a:r>
            <a:r>
              <a:rPr lang="en-US" dirty="0"/>
              <a:t>(“ %d “,&amp;a);-&gt; hello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Each </a:t>
            </a:r>
            <a:r>
              <a:rPr lang="en-US" dirty="0"/>
              <a:t>variable name (argument) must be </a:t>
            </a:r>
            <a:r>
              <a:rPr lang="en-US" dirty="0" err="1">
                <a:solidFill>
                  <a:srgbClr val="FF0000"/>
                </a:solidFill>
              </a:rPr>
              <a:t>preceeded</a:t>
            </a:r>
            <a:r>
              <a:rPr lang="en-US" dirty="0">
                <a:solidFill>
                  <a:srgbClr val="FF0000"/>
                </a:solidFill>
              </a:rPr>
              <a:t> by an ampersand (&amp;). </a:t>
            </a:r>
            <a:r>
              <a:rPr lang="en-US" dirty="0"/>
              <a:t>The (&amp;) symbol </a:t>
            </a:r>
            <a:r>
              <a:rPr lang="en-US" dirty="0" smtClean="0"/>
              <a:t>gives the </a:t>
            </a:r>
            <a:r>
              <a:rPr lang="en-US" dirty="0"/>
              <a:t>meaning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“address of “ the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82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 </a:t>
            </a:r>
            <a:r>
              <a:rPr lang="en-US" dirty="0" err="1"/>
              <a:t>int</a:t>
            </a:r>
            <a:r>
              <a:rPr lang="en-US" dirty="0"/>
              <a:t> c;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a number\n");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d",&amp;c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("Number=%</a:t>
            </a:r>
            <a:r>
              <a:rPr lang="en-US" dirty="0" err="1"/>
              <a:t>d",c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Enter a number</a:t>
            </a:r>
          </a:p>
          <a:p>
            <a:pPr marL="0" indent="0" algn="just">
              <a:buNone/>
            </a:pPr>
            <a:r>
              <a:rPr lang="en-US" dirty="0"/>
              <a:t>4</a:t>
            </a:r>
          </a:p>
          <a:p>
            <a:pPr marL="0" indent="0" algn="just">
              <a:buNone/>
            </a:pPr>
            <a:r>
              <a:rPr lang="en-US" dirty="0"/>
              <a:t>Number=4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93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dirty="0"/>
              <a:t> function is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used to take input from use</a:t>
            </a:r>
            <a:r>
              <a:rPr lang="en-US" dirty="0"/>
              <a:t>r. In this program, the user is asked an input</a:t>
            </a:r>
          </a:p>
          <a:p>
            <a:pPr marL="0" indent="0" algn="just">
              <a:buNone/>
            </a:pPr>
            <a:r>
              <a:rPr lang="en-US" dirty="0"/>
              <a:t>and value is stored in variable c. Note the '&amp;' sign before c.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&amp;c denotes the address of c and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 is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stored in that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912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Input- Output of floats in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float a;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value: 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f",&amp;a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("Value=%</a:t>
            </a:r>
            <a:r>
              <a:rPr lang="en-US" dirty="0" err="1"/>
              <a:t>f",a</a:t>
            </a:r>
            <a:r>
              <a:rPr lang="en-US" dirty="0"/>
              <a:t>); </a:t>
            </a:r>
            <a:r>
              <a:rPr lang="en-US" sz="2600" dirty="0"/>
              <a:t>//%f is used for floats instead of %d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 smtClean="0"/>
              <a:t>}</a:t>
            </a:r>
          </a:p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Enter value: 23.45</a:t>
            </a:r>
          </a:p>
          <a:p>
            <a:pPr marL="0" indent="0" algn="just">
              <a:buNone/>
            </a:pPr>
            <a:r>
              <a:rPr lang="en-US" dirty="0"/>
              <a:t>Value=23.450000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14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Input- Output of floats in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</a:p>
          <a:p>
            <a:pPr marL="0" indent="0" algn="just">
              <a:buNone/>
            </a:pPr>
            <a:r>
              <a:rPr lang="en-US" dirty="0"/>
              <a:t>Conversion format string "%f" is used for floats to take input and to display floating value of </a:t>
            </a:r>
            <a:r>
              <a:rPr lang="en-US" dirty="0" smtClean="0"/>
              <a:t>a variable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324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- Output of characters </a:t>
            </a:r>
            <a:endParaRPr lang="en-US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 smtClean="0"/>
              <a:t>#</a:t>
            </a:r>
            <a:r>
              <a:rPr lang="en-US" dirty="0"/>
              <a:t>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char var1;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character: 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("%c",&amp;var1);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("You entered %c.",var1);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Enter character: g</a:t>
            </a:r>
          </a:p>
          <a:p>
            <a:pPr marL="0" indent="0" algn="just">
              <a:buNone/>
            </a:pPr>
            <a:r>
              <a:rPr lang="en-US" dirty="0"/>
              <a:t>You entered g.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sz="4000" dirty="0" smtClean="0"/>
              <a:t>Conversion </a:t>
            </a:r>
            <a:r>
              <a:rPr lang="en-US" sz="4000" dirty="0"/>
              <a:t>format string "</a:t>
            </a:r>
            <a:r>
              <a:rPr lang="en-US" sz="40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%c</a:t>
            </a:r>
            <a:r>
              <a:rPr lang="en-US" sz="4000" dirty="0"/>
              <a:t>" is used </a:t>
            </a:r>
            <a:r>
              <a:rPr 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case of characters.</a:t>
            </a:r>
            <a:endParaRPr lang="en-US" sz="4000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41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- Output of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ASCII code</a:t>
            </a:r>
          </a:p>
          <a:p>
            <a:pPr marL="0" indent="0" algn="just">
              <a:buNone/>
            </a:pPr>
            <a:r>
              <a:rPr lang="en-US" dirty="0"/>
              <a:t>When character is typed in the </a:t>
            </a:r>
            <a:r>
              <a:rPr lang="en-US" dirty="0" smtClean="0"/>
              <a:t>previous </a:t>
            </a:r>
            <a:r>
              <a:rPr lang="en-US" dirty="0"/>
              <a:t>program, the character itself is not </a:t>
            </a:r>
            <a:r>
              <a:rPr lang="en-US" dirty="0" smtClean="0"/>
              <a:t>recorded. A </a:t>
            </a:r>
            <a:r>
              <a:rPr lang="en-US" dirty="0"/>
              <a:t>numeric </a:t>
            </a:r>
            <a:r>
              <a:rPr lang="en-US" dirty="0" smtClean="0"/>
              <a:t>value (ASCII </a:t>
            </a:r>
            <a:r>
              <a:rPr lang="en-US" dirty="0"/>
              <a:t>value) is stored. And when we displayed that value by using "%c", that character </a:t>
            </a:r>
            <a:r>
              <a:rPr lang="en-US" dirty="0" smtClean="0"/>
              <a:t>is displayed</a:t>
            </a:r>
            <a:r>
              <a:rPr lang="en-US" dirty="0"/>
              <a:t>.</a:t>
            </a:r>
            <a:endParaRPr lang="en-US" sz="4000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79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- Output of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ASCII code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char var1;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character: 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("%c",&amp;var1);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("You entered %c.\n",var1);</a:t>
            </a:r>
          </a:p>
          <a:p>
            <a:pPr marL="0" indent="0" algn="just">
              <a:buNone/>
            </a:pPr>
            <a:r>
              <a:rPr lang="en-US" sz="3000" dirty="0"/>
              <a:t>/* \n prints the next line(performs work of enter). */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("ASCII value of %d",var1</a:t>
            </a:r>
            <a:r>
              <a:rPr lang="en-US" dirty="0" smtClean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Output:</a:t>
            </a:r>
          </a:p>
          <a:p>
            <a:pPr marL="0" indent="0" algn="just">
              <a:buNone/>
            </a:pPr>
            <a:r>
              <a:rPr lang="en-US" dirty="0"/>
              <a:t>Enter character:</a:t>
            </a:r>
          </a:p>
          <a:p>
            <a:pPr marL="0" indent="0" algn="just">
              <a:buNone/>
            </a:pPr>
            <a:r>
              <a:rPr lang="en-US" dirty="0" smtClean="0"/>
              <a:t>g</a:t>
            </a:r>
          </a:p>
          <a:p>
            <a:pPr marL="0" indent="0" algn="just">
              <a:buNone/>
            </a:pPr>
            <a:r>
              <a:rPr lang="en-US" dirty="0" smtClean="0"/>
              <a:t>You entered g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ASCII value of 103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When, 'g' is entered, ASCII value 103 is stored instead of g.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32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- Output of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ASCII code</a:t>
            </a:r>
          </a:p>
          <a:p>
            <a:pPr marL="0" indent="0" algn="just">
              <a:buNone/>
            </a:pPr>
            <a:r>
              <a:rPr lang="en-US" dirty="0" smtClean="0"/>
              <a:t>You </a:t>
            </a:r>
            <a:r>
              <a:rPr lang="en-US" dirty="0"/>
              <a:t>can display character if you know ASCII code only. This is shown by following example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var1=69;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("Character of ASCII value 69: %c",var1);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Character of ASCII value 69: E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13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- Output of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ASCII code</a:t>
            </a:r>
          </a:p>
          <a:p>
            <a:pPr marL="0" indent="0" algn="just">
              <a:buNone/>
            </a:pPr>
            <a:r>
              <a:rPr lang="en-US" dirty="0"/>
              <a:t>he ASCII value of </a:t>
            </a:r>
            <a:r>
              <a:rPr lang="en-US" dirty="0">
                <a:solidFill>
                  <a:srgbClr val="0000CC"/>
                </a:solidFill>
              </a:rPr>
              <a:t>'A' is 65</a:t>
            </a:r>
            <a:r>
              <a:rPr lang="en-US" dirty="0"/>
              <a:t>, 'B' is 66 and so on to </a:t>
            </a:r>
            <a:r>
              <a:rPr lang="en-US" dirty="0">
                <a:solidFill>
                  <a:srgbClr val="0000CC"/>
                </a:solidFill>
              </a:rPr>
              <a:t>'Z' is 90</a:t>
            </a:r>
            <a:r>
              <a:rPr lang="en-US" dirty="0"/>
              <a:t>. Similarly ASCII value of </a:t>
            </a:r>
            <a:r>
              <a:rPr lang="en-US" dirty="0">
                <a:solidFill>
                  <a:srgbClr val="FF0000"/>
                </a:solidFill>
              </a:rPr>
              <a:t>'a' is 97</a:t>
            </a:r>
            <a:r>
              <a:rPr lang="en-US" dirty="0"/>
              <a:t>, </a:t>
            </a:r>
            <a:r>
              <a:rPr lang="en-US" dirty="0" smtClean="0"/>
              <a:t>'b‘ is </a:t>
            </a:r>
            <a:r>
              <a:rPr lang="en-US" dirty="0"/>
              <a:t>98 and so on to </a:t>
            </a:r>
            <a:r>
              <a:rPr lang="en-US" dirty="0">
                <a:solidFill>
                  <a:srgbClr val="FF0000"/>
                </a:solidFill>
              </a:rPr>
              <a:t>'z' is 122</a:t>
            </a:r>
            <a:r>
              <a:rPr lang="en-US" dirty="0"/>
              <a:t>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423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INPUT-OUTPUT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Data can be entered &amp; displayed in a particular format. Through format specifications, </a:t>
            </a:r>
            <a:r>
              <a:rPr lang="en-US" dirty="0" smtClean="0"/>
              <a:t>better presentation </a:t>
            </a:r>
            <a:r>
              <a:rPr lang="en-US" dirty="0"/>
              <a:t>of results can be obtained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Variations in Output for integer &amp; </a:t>
            </a:r>
            <a:r>
              <a:rPr lang="en-US" dirty="0" smtClean="0"/>
              <a:t>floats given to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372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INPUT-OUTPUT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dirty="0"/>
              <a:t>#include&lt;</a:t>
            </a:r>
            <a:r>
              <a:rPr lang="en-US" sz="2000" dirty="0" err="1"/>
              <a:t>stdio.h</a:t>
            </a:r>
            <a:r>
              <a:rPr lang="en-US" sz="2000" dirty="0"/>
              <a:t>&gt;</a:t>
            </a:r>
          </a:p>
          <a:p>
            <a:pPr marL="0" indent="0" algn="just">
              <a:buNone/>
            </a:pPr>
            <a:r>
              <a:rPr lang="en-US" sz="2000" dirty="0" err="1"/>
              <a:t>int</a:t>
            </a:r>
            <a:r>
              <a:rPr lang="en-US" sz="2000" dirty="0"/>
              <a:t> main()</a:t>
            </a:r>
          </a:p>
          <a:p>
            <a:pPr marL="0" indent="0" algn="just">
              <a:buNone/>
            </a:pPr>
            <a:r>
              <a:rPr lang="en-US" sz="2000" dirty="0"/>
              <a:t>{</a:t>
            </a:r>
          </a:p>
          <a:p>
            <a:pPr marL="0" indent="0" algn="just">
              <a:buNone/>
            </a:pPr>
            <a:r>
              <a:rPr lang="en-US" sz="2000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("Case 1:%6d\n",9876);</a:t>
            </a:r>
          </a:p>
          <a:p>
            <a:pPr marL="0" indent="0" algn="just">
              <a:buNone/>
            </a:pPr>
            <a:r>
              <a:rPr lang="en-US" sz="2000" dirty="0"/>
              <a:t>/* Prints the number right justified within 6 columns */</a:t>
            </a:r>
          </a:p>
          <a:p>
            <a:pPr marL="0" indent="0" algn="just">
              <a:buNone/>
            </a:pPr>
            <a:r>
              <a:rPr lang="en-US" sz="2000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("Case 2:%3d\n",9876);</a:t>
            </a:r>
          </a:p>
          <a:p>
            <a:pPr marL="0" indent="0" algn="just">
              <a:buNone/>
            </a:pPr>
            <a:r>
              <a:rPr lang="en-US" sz="2000" dirty="0"/>
              <a:t>/* Prints the number to be right justified to 3 columns but, there are 4 digits so number is </a:t>
            </a:r>
            <a:r>
              <a:rPr lang="en-US" sz="2000" dirty="0" smtClean="0"/>
              <a:t>not right </a:t>
            </a:r>
            <a:r>
              <a:rPr lang="en-US" sz="2000" dirty="0"/>
              <a:t>justified */</a:t>
            </a:r>
          </a:p>
          <a:p>
            <a:pPr marL="0" indent="0" algn="just">
              <a:buNone/>
            </a:pPr>
            <a:r>
              <a:rPr lang="en-US" sz="2000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("Case 3:%.2f\n",987.6543);</a:t>
            </a:r>
          </a:p>
          <a:p>
            <a:pPr marL="0" indent="0" algn="just">
              <a:buNone/>
            </a:pPr>
            <a:r>
              <a:rPr lang="en-US" sz="2000" dirty="0"/>
              <a:t>/* Prints the number rounded to two decimal places */</a:t>
            </a:r>
          </a:p>
          <a:p>
            <a:pPr marL="0" indent="0" algn="just">
              <a:buNone/>
            </a:pPr>
            <a:r>
              <a:rPr lang="en-US" sz="2000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("Case 4:%.f\n",987.6543);</a:t>
            </a:r>
          </a:p>
          <a:p>
            <a:pPr marL="0" indent="0" algn="just">
              <a:buNone/>
            </a:pPr>
            <a:r>
              <a:rPr lang="en-US" sz="2000" dirty="0"/>
              <a:t>/* Prints the number rounded to 0 decimal place, </a:t>
            </a:r>
            <a:r>
              <a:rPr lang="en-US" sz="2000" dirty="0" err="1"/>
              <a:t>i.e</a:t>
            </a:r>
            <a:r>
              <a:rPr lang="en-US" sz="2000" dirty="0"/>
              <a:t>, rounded to integer */</a:t>
            </a:r>
          </a:p>
          <a:p>
            <a:pPr marL="0" indent="0" algn="just">
              <a:buNone/>
            </a:pPr>
            <a:r>
              <a:rPr lang="en-US" sz="2000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("Case 5:%e\n",987.6543);</a:t>
            </a:r>
          </a:p>
          <a:p>
            <a:pPr marL="0" indent="0" algn="just">
              <a:buNone/>
            </a:pPr>
            <a:r>
              <a:rPr lang="en-US" sz="2000" dirty="0"/>
              <a:t>/* Prints the number in exponential notation (scientific notation) */</a:t>
            </a:r>
          </a:p>
          <a:p>
            <a:pPr marL="0" indent="0" algn="just">
              <a:buNone/>
            </a:pPr>
            <a:r>
              <a:rPr lang="en-US" sz="2000" dirty="0"/>
              <a:t>return 0;</a:t>
            </a:r>
          </a:p>
          <a:p>
            <a:pPr marL="0" indent="0" algn="just">
              <a:buNone/>
            </a:pPr>
            <a:r>
              <a:rPr lang="en-US" sz="2000" dirty="0"/>
              <a:t>}</a:t>
            </a: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3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INPUT-OUTPUT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Case 1: 9876</a:t>
            </a:r>
          </a:p>
          <a:p>
            <a:pPr marL="0" indent="0" algn="just">
              <a:buNone/>
            </a:pPr>
            <a:r>
              <a:rPr lang="en-US" dirty="0"/>
              <a:t>Case 2:9876</a:t>
            </a:r>
          </a:p>
          <a:p>
            <a:pPr marL="0" indent="0" algn="just">
              <a:buNone/>
            </a:pPr>
            <a:r>
              <a:rPr lang="en-US" dirty="0"/>
              <a:t>Case 3:987.65</a:t>
            </a:r>
          </a:p>
          <a:p>
            <a:pPr marL="0" indent="0" algn="just">
              <a:buNone/>
            </a:pPr>
            <a:r>
              <a:rPr lang="en-US" dirty="0"/>
              <a:t>Case 4:988</a:t>
            </a:r>
          </a:p>
          <a:p>
            <a:pPr marL="0" indent="0" algn="just">
              <a:buNone/>
            </a:pPr>
            <a:r>
              <a:rPr lang="en-US" dirty="0"/>
              <a:t>Case 5:9.876543e+002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80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INPUT-OUTPUT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Data can be entered &amp; displayed in a particular format. Through format specifications, </a:t>
            </a:r>
            <a:r>
              <a:rPr lang="en-US" dirty="0" smtClean="0"/>
              <a:t>better presentation </a:t>
            </a:r>
            <a:r>
              <a:rPr lang="en-US" dirty="0"/>
              <a:t>of results can be obtained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Variations in Output for integer &amp; </a:t>
            </a:r>
            <a:r>
              <a:rPr lang="en-US" dirty="0" smtClean="0"/>
              <a:t>floats given to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0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INPUT-OUTPUT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Data can be entered &amp; displayed in a particular format. Through format specifications, </a:t>
            </a:r>
            <a:r>
              <a:rPr lang="en-US" dirty="0" smtClean="0"/>
              <a:t>better presentation </a:t>
            </a:r>
            <a:r>
              <a:rPr lang="en-US" dirty="0"/>
              <a:t>of results can be obtained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Variations in Output for integer &amp; </a:t>
            </a:r>
            <a:r>
              <a:rPr lang="en-US" dirty="0" smtClean="0"/>
              <a:t>floats given to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021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Unformatted I/O functions:</a:t>
            </a:r>
          </a:p>
          <a:p>
            <a:pPr marL="0" indent="0" algn="just">
              <a:buNone/>
            </a:pPr>
            <a:r>
              <a:rPr lang="pt-BR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a) Character I/O</a:t>
            </a:r>
          </a:p>
          <a:p>
            <a:pPr marL="0" indent="0" algn="just">
              <a:buNone/>
            </a:pPr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b) </a:t>
            </a:r>
            <a:r>
              <a:rPr lang="pt-B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I/O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68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a) character I/O: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getchar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dirty="0"/>
              <a:t>Used to read a character from the standard input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putchar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dirty="0"/>
              <a:t>Used to display a character to standard output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getch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getche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dirty="0"/>
              <a:t>these are used to take the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 alpha numeric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characters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smtClean="0"/>
              <a:t>from </a:t>
            </a:r>
            <a:r>
              <a:rPr lang="en-US" dirty="0"/>
              <a:t>the standard input</a:t>
            </a:r>
          </a:p>
          <a:p>
            <a:pPr marL="0" indent="0" algn="just">
              <a:buNone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getche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en-US" dirty="0"/>
              <a:t>read and display the character</a:t>
            </a:r>
          </a:p>
          <a:p>
            <a:pPr marL="0" indent="0" algn="just">
              <a:buNone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en-US" dirty="0"/>
              <a:t>only read the single character but not display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putch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dirty="0"/>
              <a:t>Used to display any alpha numeric characters to standard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849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b)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I/O:</a:t>
            </a:r>
          </a:p>
          <a:p>
            <a:pPr marL="0" indent="0" algn="just">
              <a:buNone/>
            </a:pPr>
            <a:r>
              <a:rPr lang="en-US" dirty="0"/>
              <a:t>1.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gets()</a:t>
            </a:r>
            <a:r>
              <a:rPr lang="en-US" dirty="0"/>
              <a:t>: Used for accepting any string from the standard input(</a:t>
            </a:r>
            <a:r>
              <a:rPr lang="en-US" dirty="0" err="1"/>
              <a:t>stdin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 err="1"/>
              <a:t>eg:gets</a:t>
            </a:r>
            <a:r>
              <a:rPr lang="en-US" dirty="0"/>
              <a:t>()</a:t>
            </a:r>
          </a:p>
          <a:p>
            <a:pPr marL="0" indent="0" algn="just">
              <a:buNone/>
            </a:pPr>
            <a:r>
              <a:rPr lang="en-US" dirty="0"/>
              <a:t>2.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puts()</a:t>
            </a:r>
            <a:r>
              <a:rPr lang="en-US" dirty="0"/>
              <a:t>: Used to display a string or character array </a:t>
            </a:r>
            <a:r>
              <a:rPr lang="en-US" dirty="0" err="1"/>
              <a:t>Eg:puts</a:t>
            </a:r>
            <a:r>
              <a:rPr lang="en-US" dirty="0"/>
              <a:t>()</a:t>
            </a:r>
          </a:p>
          <a:p>
            <a:pPr marL="0" indent="0" algn="just">
              <a:buNone/>
            </a:pPr>
            <a:r>
              <a:rPr lang="en-US" dirty="0"/>
              <a:t>3.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Cgets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dirty="0"/>
              <a:t>:read a string from the console </a:t>
            </a:r>
            <a:r>
              <a:rPr lang="en-US" dirty="0" err="1"/>
              <a:t>eg</a:t>
            </a:r>
            <a:r>
              <a:rPr lang="en-US" dirty="0"/>
              <a:t>; </a:t>
            </a:r>
            <a:r>
              <a:rPr lang="en-US" dirty="0" err="1"/>
              <a:t>cgets</a:t>
            </a:r>
            <a:r>
              <a:rPr lang="en-US" dirty="0"/>
              <a:t>(char *</a:t>
            </a:r>
            <a:r>
              <a:rPr lang="en-US" dirty="0" err="1"/>
              <a:t>st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/>
              <a:t>4.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Cputs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dirty="0"/>
              <a:t>:display the string to the console </a:t>
            </a:r>
            <a:r>
              <a:rPr lang="en-US" dirty="0" err="1"/>
              <a:t>eg</a:t>
            </a:r>
            <a:r>
              <a:rPr lang="en-US" dirty="0"/>
              <a:t>; </a:t>
            </a:r>
            <a:r>
              <a:rPr lang="en-US" dirty="0" err="1"/>
              <a:t>cputs</a:t>
            </a:r>
            <a:r>
              <a:rPr lang="en-US" dirty="0"/>
              <a:t>(char *</a:t>
            </a:r>
            <a:r>
              <a:rPr lang="en-US" dirty="0" err="1"/>
              <a:t>st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31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3248</TotalTime>
  <Words>2320</Words>
  <Application>Microsoft Office PowerPoint</Application>
  <PresentationFormat>On-screen Show (4:3)</PresentationFormat>
  <Paragraphs>354</Paragraphs>
  <Slides>42</Slides>
  <Notes>40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44" baseType="lpstr">
      <vt:lpstr>Office Theme</vt:lpstr>
      <vt:lpstr>1_Slipstream</vt:lpstr>
      <vt:lpstr>Structure Programming  ICT-1105  Information and Communication Technology</vt:lpstr>
      <vt:lpstr>PowerPoint Presentation</vt:lpstr>
      <vt:lpstr>VARIABLES</vt:lpstr>
      <vt:lpstr>VARIABLES</vt:lpstr>
      <vt:lpstr>Rules to write variable names</vt:lpstr>
      <vt:lpstr>Rules to write variable names</vt:lpstr>
      <vt:lpstr>Declaration of Variables</vt:lpstr>
      <vt:lpstr>Declaration of Variables</vt:lpstr>
      <vt:lpstr>Declaration of Variables</vt:lpstr>
      <vt:lpstr>Assigning values to variables</vt:lpstr>
      <vt:lpstr>Initialization of Variables</vt:lpstr>
      <vt:lpstr>Types of Variables 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INPUT-OUTPUT</vt:lpstr>
      <vt:lpstr>FORMATTED INPUT-OUTPUT</vt:lpstr>
      <vt:lpstr>FORMATTED INPUT-OUTPUT</vt:lpstr>
      <vt:lpstr>FORMATTED INPUT-OUTPUT</vt:lpstr>
      <vt:lpstr>FORMATTED INPUT-OUTPUT</vt:lpstr>
      <vt:lpstr>Formatted and Unformatted Console I/O Functions</vt:lpstr>
      <vt:lpstr>Formatted and Unformatted Console I/O Functions</vt:lpstr>
      <vt:lpstr>Formatted and Unformatted Console I/O Functions</vt:lpstr>
      <vt:lpstr>Thank you….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AION</cp:lastModifiedBy>
  <cp:revision>306</cp:revision>
  <dcterms:created xsi:type="dcterms:W3CDTF">2019-09-20T11:10:00Z</dcterms:created>
  <dcterms:modified xsi:type="dcterms:W3CDTF">2024-12-06T21:20:16Z</dcterms:modified>
</cp:coreProperties>
</file>