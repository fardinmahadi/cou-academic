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40"/>
  </p:notesMasterIdLst>
  <p:sldIdLst>
    <p:sldId id="463" r:id="rId3"/>
    <p:sldId id="467" r:id="rId4"/>
    <p:sldId id="499" r:id="rId5"/>
    <p:sldId id="500" r:id="rId6"/>
    <p:sldId id="501" r:id="rId7"/>
    <p:sldId id="502" r:id="rId8"/>
    <p:sldId id="503" r:id="rId9"/>
    <p:sldId id="504" r:id="rId10"/>
    <p:sldId id="505" r:id="rId11"/>
    <p:sldId id="506" r:id="rId12"/>
    <p:sldId id="507" r:id="rId13"/>
    <p:sldId id="508" r:id="rId14"/>
    <p:sldId id="509" r:id="rId15"/>
    <p:sldId id="510" r:id="rId16"/>
    <p:sldId id="511" r:id="rId17"/>
    <p:sldId id="512" r:id="rId18"/>
    <p:sldId id="513" r:id="rId19"/>
    <p:sldId id="514" r:id="rId20"/>
    <p:sldId id="515" r:id="rId21"/>
    <p:sldId id="516" r:id="rId22"/>
    <p:sldId id="518" r:id="rId23"/>
    <p:sldId id="517" r:id="rId24"/>
    <p:sldId id="519" r:id="rId25"/>
    <p:sldId id="520" r:id="rId26"/>
    <p:sldId id="521" r:id="rId27"/>
    <p:sldId id="522" r:id="rId28"/>
    <p:sldId id="523" r:id="rId29"/>
    <p:sldId id="524" r:id="rId30"/>
    <p:sldId id="525" r:id="rId31"/>
    <p:sldId id="526" r:id="rId32"/>
    <p:sldId id="527" r:id="rId33"/>
    <p:sldId id="528" r:id="rId34"/>
    <p:sldId id="529" r:id="rId35"/>
    <p:sldId id="530" r:id="rId36"/>
    <p:sldId id="532" r:id="rId37"/>
    <p:sldId id="533" r:id="rId38"/>
    <p:sldId id="461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6661F"/>
    <a:srgbClr val="03BD57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Lecture-10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if statement by itself will execute a single statement, or a group of statements, </a:t>
            </a:r>
            <a:r>
              <a:rPr lang="en-US" sz="3600" dirty="0" smtClean="0"/>
              <a:t>when the </a:t>
            </a:r>
            <a:r>
              <a:rPr lang="en-US" sz="3600" dirty="0"/>
              <a:t>expression following if evaluates to true. 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By </a:t>
            </a:r>
            <a:r>
              <a:rPr lang="en-US" sz="3600" dirty="0"/>
              <a:t>using else we execute another group </a:t>
            </a:r>
            <a:r>
              <a:rPr lang="en-US" sz="3600" dirty="0" smtClean="0"/>
              <a:t>of statements if the expression evaluates to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09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Syntax : </a:t>
            </a:r>
            <a:r>
              <a:rPr lang="en-US" sz="3600" dirty="0" smtClean="0"/>
              <a:t>	if </a:t>
            </a:r>
            <a:r>
              <a:rPr lang="en-US" sz="3600" dirty="0"/>
              <a:t>(condition)</a:t>
            </a:r>
          </a:p>
          <a:p>
            <a:pPr marL="0" indent="0" algn="just">
              <a:buNone/>
            </a:pPr>
            <a:r>
              <a:rPr lang="en-US" sz="3600" dirty="0" smtClean="0"/>
              <a:t>	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true </a:t>
            </a:r>
            <a:r>
              <a:rPr lang="en-US" sz="3600" dirty="0"/>
              <a:t>statement;</a:t>
            </a:r>
          </a:p>
          <a:p>
            <a:pPr marL="0" indent="0" algn="just">
              <a:buNone/>
            </a:pPr>
            <a:r>
              <a:rPr lang="en-US" sz="3600" dirty="0" smtClean="0"/>
              <a:t>	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else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false </a:t>
            </a:r>
            <a:r>
              <a:rPr lang="en-US" sz="3600" dirty="0"/>
              <a:t>statement;</a:t>
            </a:r>
          </a:p>
          <a:p>
            <a:pPr marL="0" indent="0" algn="just">
              <a:buNone/>
            </a:pPr>
            <a:r>
              <a:rPr lang="en-US" sz="3600" dirty="0" smtClean="0"/>
              <a:t>	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statement-x</a:t>
            </a:r>
            <a:r>
              <a:rPr lang="en-US" sz="3600" dirty="0"/>
              <a:t>;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21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If the condition is true , then the true statement and statement-x will be executed and if </a:t>
            </a:r>
            <a:r>
              <a:rPr lang="en-US" sz="3600" dirty="0" smtClean="0"/>
              <a:t>the condition </a:t>
            </a:r>
            <a:r>
              <a:rPr lang="en-US" sz="3600" dirty="0"/>
              <a:t>is false, then the false statement and statement-x is executed.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666958"/>
            <a:ext cx="3352800" cy="307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551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Or</a:t>
            </a:r>
          </a:p>
          <a:p>
            <a:pPr marL="0" indent="0" algn="just">
              <a:buNone/>
            </a:pPr>
            <a:r>
              <a:rPr lang="en-US" sz="3600" dirty="0" smtClean="0"/>
              <a:t>If </a:t>
            </a:r>
            <a:r>
              <a:rPr lang="en-US" sz="3600" dirty="0"/>
              <a:t>test expression is true, codes inside the body of if statement is executed and, codes inside </a:t>
            </a:r>
            <a:r>
              <a:rPr lang="en-US" sz="3600" dirty="0" smtClean="0"/>
              <a:t>the body </a:t>
            </a:r>
            <a:r>
              <a:rPr lang="en-US" sz="3600" dirty="0"/>
              <a:t>of else statement is skipped.</a:t>
            </a:r>
          </a:p>
          <a:p>
            <a:pPr marL="0" indent="0" algn="just">
              <a:buNone/>
            </a:pPr>
            <a:r>
              <a:rPr lang="en-US" sz="3600" dirty="0"/>
              <a:t>If test expression is false, codes inside the body of else statement is executed and, codes </a:t>
            </a:r>
            <a:r>
              <a:rPr lang="en-US" sz="3600" dirty="0" smtClean="0"/>
              <a:t>inside the </a:t>
            </a:r>
            <a:r>
              <a:rPr lang="en-US" sz="3600" dirty="0"/>
              <a:t>body of if statement is skipped..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79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Flowchart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676399"/>
            <a:ext cx="4457700" cy="4899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765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Programs:</a:t>
            </a:r>
          </a:p>
          <a:p>
            <a:pPr marL="0" indent="0" algn="just">
              <a:buNone/>
            </a:pPr>
            <a:r>
              <a:rPr lang="en-US" sz="3600" dirty="0" smtClean="0"/>
              <a:t>Write </a:t>
            </a:r>
            <a:r>
              <a:rPr lang="en-US" sz="3600" dirty="0"/>
              <a:t>a program to check whether the given </a:t>
            </a:r>
            <a:r>
              <a:rPr lang="en-US" sz="3600" dirty="0" smtClean="0"/>
              <a:t>number </a:t>
            </a:r>
            <a:r>
              <a:rPr lang="en-US" sz="3600" dirty="0"/>
              <a:t>is even or </a:t>
            </a:r>
            <a:r>
              <a:rPr lang="en-US" sz="3600" dirty="0" smtClean="0"/>
              <a:t>odd.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i="1" dirty="0"/>
              <a:t>#include&lt;</a:t>
            </a:r>
            <a:r>
              <a:rPr lang="en-US" sz="2400" b="1" i="1" dirty="0" err="1"/>
              <a:t>stdio.h</a:t>
            </a:r>
            <a:r>
              <a:rPr lang="en-US" sz="2400" b="1" i="1" dirty="0"/>
              <a:t>&gt;</a:t>
            </a:r>
          </a:p>
          <a:p>
            <a:pPr marL="0" indent="0" algn="just">
              <a:buNone/>
            </a:pPr>
            <a:r>
              <a:rPr lang="en-US" sz="2400" b="1" i="1" dirty="0" err="1"/>
              <a:t>int</a:t>
            </a:r>
            <a:r>
              <a:rPr lang="en-US" sz="2400" b="1" i="1" dirty="0"/>
              <a:t> main()</a:t>
            </a:r>
          </a:p>
          <a:p>
            <a:pPr marL="0" indent="0" algn="just">
              <a:buNone/>
            </a:pPr>
            <a:r>
              <a:rPr lang="en-US" sz="2400" b="1" i="1" dirty="0" smtClean="0"/>
              <a:t>{</a:t>
            </a:r>
            <a:endParaRPr lang="en-US" sz="2400" b="1" i="1" dirty="0"/>
          </a:p>
          <a:p>
            <a:pPr marL="0" indent="0" algn="just">
              <a:buNone/>
            </a:pPr>
            <a:r>
              <a:rPr lang="en-US" sz="2400" b="1" i="1" dirty="0" smtClean="0"/>
              <a:t>	</a:t>
            </a:r>
            <a:r>
              <a:rPr lang="en-US" sz="2400" b="1" i="1" dirty="0" err="1" smtClean="0"/>
              <a:t>int</a:t>
            </a:r>
            <a:r>
              <a:rPr lang="en-US" sz="2400" b="1" i="1" dirty="0" smtClean="0"/>
              <a:t> </a:t>
            </a:r>
            <a:r>
              <a:rPr lang="en-US" sz="2400" b="1" i="1" dirty="0"/>
              <a:t>n;</a:t>
            </a:r>
          </a:p>
          <a:p>
            <a:pPr marL="0" indent="0" algn="just">
              <a:buNone/>
            </a:pPr>
            <a:r>
              <a:rPr lang="en-US" sz="2400" b="1" i="1" dirty="0" smtClean="0"/>
              <a:t>	</a:t>
            </a:r>
            <a:r>
              <a:rPr lang="en-US" sz="2400" b="1" i="1" dirty="0" err="1" smtClean="0"/>
              <a:t>printf</a:t>
            </a:r>
            <a:r>
              <a:rPr lang="en-US" sz="2400" b="1" i="1" dirty="0"/>
              <a:t>("Enter an integer\n");</a:t>
            </a:r>
          </a:p>
          <a:p>
            <a:pPr marL="0" indent="0" algn="just">
              <a:buNone/>
            </a:pPr>
            <a:r>
              <a:rPr lang="en-US" sz="2400" b="1" i="1" dirty="0" smtClean="0"/>
              <a:t>	</a:t>
            </a:r>
            <a:r>
              <a:rPr lang="en-US" sz="2400" b="1" i="1" dirty="0" err="1" smtClean="0"/>
              <a:t>scanf</a:t>
            </a:r>
            <a:r>
              <a:rPr lang="en-US" sz="2400" b="1" i="1" dirty="0"/>
              <a:t>("%</a:t>
            </a:r>
            <a:r>
              <a:rPr lang="en-US" sz="2400" b="1" i="1" dirty="0" err="1"/>
              <a:t>d",&amp;n</a:t>
            </a:r>
            <a:r>
              <a:rPr lang="en-US" sz="2400" b="1" i="1" dirty="0"/>
              <a:t>);</a:t>
            </a:r>
          </a:p>
          <a:p>
            <a:pPr marL="0" indent="0" algn="just">
              <a:buNone/>
            </a:pPr>
            <a:r>
              <a:rPr lang="en-US" sz="2400" b="1" i="1" dirty="0" smtClean="0"/>
              <a:t>	if </a:t>
            </a:r>
            <a:r>
              <a:rPr lang="en-US" sz="2400" b="1" i="1" dirty="0"/>
              <a:t>( n%2 == 0 )</a:t>
            </a:r>
          </a:p>
          <a:p>
            <a:pPr marL="0" indent="0" algn="just">
              <a:buNone/>
            </a:pPr>
            <a:r>
              <a:rPr lang="en-US" sz="2400" b="1" i="1" dirty="0" smtClean="0"/>
              <a:t>		</a:t>
            </a:r>
            <a:r>
              <a:rPr lang="en-US" sz="2400" b="1" i="1" dirty="0" err="1" smtClean="0"/>
              <a:t>printf</a:t>
            </a:r>
            <a:r>
              <a:rPr lang="en-US" sz="2400" b="1" i="1" dirty="0"/>
              <a:t>("Even\n");</a:t>
            </a:r>
          </a:p>
          <a:p>
            <a:pPr marL="0" indent="0" algn="just">
              <a:buNone/>
            </a:pPr>
            <a:r>
              <a:rPr lang="en-US" sz="2400" b="1" i="1" dirty="0" smtClean="0"/>
              <a:t>	else</a:t>
            </a:r>
          </a:p>
          <a:p>
            <a:pPr marL="0" indent="0" algn="just">
              <a:buNone/>
            </a:pPr>
            <a:r>
              <a:rPr lang="en-US" sz="2400" b="1" i="1" dirty="0" smtClean="0"/>
              <a:t>		</a:t>
            </a:r>
            <a:r>
              <a:rPr lang="en-US" sz="2400" b="1" i="1" dirty="0" err="1" smtClean="0"/>
              <a:t>printf</a:t>
            </a:r>
            <a:r>
              <a:rPr lang="en-US" sz="2400" b="1" i="1" dirty="0"/>
              <a:t>("Odd\n");</a:t>
            </a:r>
          </a:p>
          <a:p>
            <a:pPr marL="0" indent="0" algn="just">
              <a:buNone/>
            </a:pPr>
            <a:r>
              <a:rPr lang="en-US" sz="2400" b="1" i="1" dirty="0" smtClean="0"/>
              <a:t>	return </a:t>
            </a:r>
            <a:r>
              <a:rPr lang="en-US" sz="2400" b="1" i="1" dirty="0"/>
              <a:t>0;</a:t>
            </a:r>
          </a:p>
          <a:p>
            <a:pPr marL="0" indent="0" algn="just">
              <a:buNone/>
            </a:pPr>
            <a:r>
              <a:rPr lang="en-US" sz="2400" b="1" i="1" dirty="0"/>
              <a:t>}</a:t>
            </a:r>
            <a:endParaRPr lang="en-US" sz="2400" b="1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06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 a program to check whether a given year is leap year or 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</a:t>
            </a:r>
          </a:p>
          <a:p>
            <a:pPr marL="0" indent="0" algn="just">
              <a:buNone/>
            </a:pPr>
            <a:endParaRPr lang="en-US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13234"/>
            <a:ext cx="8077200" cy="5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402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if-else statement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When a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series of decisions</a:t>
            </a:r>
            <a:r>
              <a:rPr lang="en-US" sz="3600" dirty="0"/>
              <a:t> are involved, we may have to use more than on if-else statement </a:t>
            </a:r>
            <a:r>
              <a:rPr lang="en-US" sz="3600" dirty="0" smtClean="0"/>
              <a:t>in nested </a:t>
            </a:r>
            <a:r>
              <a:rPr lang="en-US" sz="3600" dirty="0"/>
              <a:t>form. </a:t>
            </a:r>
            <a:r>
              <a:rPr lang="en-US" sz="3600" dirty="0" smtClean="0"/>
              <a:t>If-else </a:t>
            </a:r>
            <a:r>
              <a:rPr lang="en-US" sz="3600" dirty="0"/>
              <a:t>statements can also be nested inside another if block or else block or both.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30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if-else statement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Syntax </a:t>
            </a:r>
            <a:r>
              <a:rPr lang="en-US" sz="3600" dirty="0" smtClean="0"/>
              <a:t>:	 	if(condition-1</a:t>
            </a:r>
            <a:r>
              <a:rPr lang="en-US" sz="3600" dirty="0"/>
              <a:t>)</a:t>
            </a:r>
          </a:p>
          <a:p>
            <a:pPr marL="0" indent="0" algn="just">
              <a:buNone/>
            </a:pPr>
            <a:r>
              <a:rPr lang="en-US" sz="3600" dirty="0" smtClean="0"/>
              <a:t>		{ 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if </a:t>
            </a:r>
            <a:r>
              <a:rPr lang="en-US" sz="3600" dirty="0"/>
              <a:t>(condition-2)</a:t>
            </a:r>
          </a:p>
          <a:p>
            <a:pPr marL="0" indent="0" algn="just">
              <a:buNone/>
            </a:pPr>
            <a:r>
              <a:rPr lang="en-US" sz="3600" dirty="0" smtClean="0"/>
              <a:t>		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	statement-1</a:t>
            </a:r>
            <a:r>
              <a:rPr lang="en-US" sz="3600" dirty="0"/>
              <a:t>;</a:t>
            </a:r>
          </a:p>
          <a:p>
            <a:pPr marL="0" indent="0" algn="just">
              <a:buNone/>
            </a:pPr>
            <a:r>
              <a:rPr lang="en-US" sz="3600" dirty="0" smtClean="0"/>
              <a:t>		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else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	statement-2</a:t>
            </a:r>
            <a:r>
              <a:rPr lang="en-US" sz="3600" dirty="0"/>
              <a:t>;</a:t>
            </a:r>
          </a:p>
          <a:p>
            <a:pPr marL="0" indent="0" algn="just">
              <a:buNone/>
            </a:pPr>
            <a:r>
              <a:rPr lang="en-US" sz="3600" dirty="0" smtClean="0"/>
              <a:t>		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else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statement-3;</a:t>
            </a:r>
            <a:r>
              <a:rPr lang="en-US" sz="3600" dirty="0"/>
              <a:t>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/>
              <a:t>	</a:t>
            </a:r>
            <a:r>
              <a:rPr lang="en-US" sz="3600" dirty="0" smtClean="0"/>
              <a:t>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statement-x</a:t>
            </a:r>
            <a:r>
              <a:rPr lang="en-US" sz="3600" dirty="0"/>
              <a:t>;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93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if-else statement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If the condition-1 is false, the statement-3 and statement-x will be executed. Otherwise </a:t>
            </a:r>
            <a:r>
              <a:rPr lang="en-US" sz="3600" dirty="0" smtClean="0"/>
              <a:t>it continues </a:t>
            </a:r>
            <a:r>
              <a:rPr lang="en-US" sz="3600" dirty="0"/>
              <a:t>to perform the second test. If the condition-2 is true, the true statement-1 will </a:t>
            </a:r>
            <a:r>
              <a:rPr lang="en-US" sz="3600" dirty="0" smtClean="0"/>
              <a:t>be executed </a:t>
            </a:r>
            <a:r>
              <a:rPr lang="en-US" sz="3600" dirty="0"/>
              <a:t>otherwise the statement-2 will be executed and then the control is transferred to </a:t>
            </a:r>
            <a:r>
              <a:rPr lang="en-US" sz="3600" dirty="0" smtClean="0"/>
              <a:t>the statement-x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79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if-else statement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Flowchart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8942202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0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if-else statement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400800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buNone/>
            </a:pPr>
            <a:r>
              <a:rPr lang="en-US" sz="4900" b="1" dirty="0" smtClean="0"/>
              <a:t>#</a:t>
            </a:r>
            <a:r>
              <a:rPr lang="en-US" sz="4900" b="1" dirty="0"/>
              <a:t>include&lt;</a:t>
            </a:r>
            <a:r>
              <a:rPr lang="en-US" sz="4900" b="1" dirty="0" err="1"/>
              <a:t>stdio.h</a:t>
            </a:r>
            <a:r>
              <a:rPr lang="en-US" sz="4900" b="1" dirty="0" smtClean="0"/>
              <a:t>&gt;</a:t>
            </a:r>
          </a:p>
          <a:p>
            <a:pPr marL="0" indent="0" algn="just">
              <a:buNone/>
            </a:pPr>
            <a:r>
              <a:rPr lang="en-US" sz="4900" b="1" dirty="0" err="1" smtClean="0"/>
              <a:t>Int</a:t>
            </a:r>
            <a:r>
              <a:rPr lang="en-US" sz="4900" b="1" dirty="0" smtClean="0"/>
              <a:t> main()</a:t>
            </a:r>
          </a:p>
          <a:p>
            <a:pPr marL="0" indent="0" algn="just">
              <a:buNone/>
            </a:pPr>
            <a:r>
              <a:rPr lang="en-US" sz="4900" b="1" dirty="0"/>
              <a:t>{</a:t>
            </a:r>
          </a:p>
          <a:p>
            <a:pPr marL="0" indent="0" algn="just">
              <a:buNone/>
            </a:pPr>
            <a:r>
              <a:rPr lang="en-US" sz="4900" b="1" dirty="0" smtClean="0"/>
              <a:t>	</a:t>
            </a:r>
            <a:r>
              <a:rPr lang="en-US" sz="4900" b="1" dirty="0" err="1" smtClean="0"/>
              <a:t>int</a:t>
            </a:r>
            <a:r>
              <a:rPr lang="en-US" sz="4900" b="1" dirty="0" smtClean="0"/>
              <a:t> </a:t>
            </a:r>
            <a:r>
              <a:rPr lang="en-US" sz="4900" b="1" dirty="0"/>
              <a:t>var1, var2;</a:t>
            </a:r>
          </a:p>
          <a:p>
            <a:pPr marL="0" indent="0" algn="just">
              <a:buNone/>
            </a:pPr>
            <a:r>
              <a:rPr lang="en-US" sz="4900" b="1" dirty="0" smtClean="0"/>
              <a:t>	</a:t>
            </a:r>
            <a:r>
              <a:rPr lang="en-US" sz="4900" b="1" dirty="0" err="1" smtClean="0"/>
              <a:t>printf</a:t>
            </a:r>
            <a:r>
              <a:rPr lang="en-US" sz="4900" b="1" dirty="0"/>
              <a:t>("Input the value of var1:");</a:t>
            </a:r>
          </a:p>
          <a:p>
            <a:pPr marL="0" indent="0" algn="just">
              <a:buNone/>
            </a:pPr>
            <a:r>
              <a:rPr lang="en-US" sz="4900" b="1" dirty="0" smtClean="0"/>
              <a:t>	</a:t>
            </a:r>
            <a:r>
              <a:rPr lang="en-US" sz="4900" b="1" dirty="0" err="1" smtClean="0"/>
              <a:t>scanf</a:t>
            </a:r>
            <a:r>
              <a:rPr lang="en-US" sz="4900" b="1" dirty="0"/>
              <a:t>("%d", &amp;var1);</a:t>
            </a:r>
          </a:p>
          <a:p>
            <a:pPr marL="0" indent="0" algn="just">
              <a:buNone/>
            </a:pPr>
            <a:r>
              <a:rPr lang="en-US" sz="4900" b="1" dirty="0" smtClean="0"/>
              <a:t>	</a:t>
            </a:r>
            <a:r>
              <a:rPr lang="en-US" sz="4900" b="1" dirty="0" err="1" smtClean="0"/>
              <a:t>printf</a:t>
            </a:r>
            <a:r>
              <a:rPr lang="en-US" sz="4900" b="1" dirty="0"/>
              <a:t>("Input the value of var2:");</a:t>
            </a:r>
          </a:p>
          <a:p>
            <a:pPr marL="0" indent="0" algn="just">
              <a:buNone/>
            </a:pPr>
            <a:r>
              <a:rPr lang="en-US" sz="4900" b="1" dirty="0" smtClean="0"/>
              <a:t>	</a:t>
            </a:r>
            <a:r>
              <a:rPr lang="en-US" sz="4900" b="1" dirty="0" err="1" smtClean="0"/>
              <a:t>scanf</a:t>
            </a:r>
            <a:r>
              <a:rPr lang="en-US" sz="4900" b="1" dirty="0"/>
              <a:t>("%d",&amp;var2);</a:t>
            </a:r>
          </a:p>
          <a:p>
            <a:pPr marL="0" indent="0" algn="just">
              <a:buNone/>
            </a:pPr>
            <a:r>
              <a:rPr lang="en-US" sz="4900" b="1" dirty="0" smtClean="0"/>
              <a:t>	if </a:t>
            </a:r>
            <a:r>
              <a:rPr lang="en-US" sz="4900" b="1" dirty="0"/>
              <a:t>(var1 !=var2)</a:t>
            </a:r>
          </a:p>
          <a:p>
            <a:pPr marL="0" indent="0" algn="just">
              <a:buNone/>
            </a:pPr>
            <a:r>
              <a:rPr lang="en-US" sz="4900" b="1" dirty="0" smtClean="0"/>
              <a:t>	{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	</a:t>
            </a:r>
            <a:r>
              <a:rPr lang="en-US" sz="4900" b="1" dirty="0" err="1" smtClean="0"/>
              <a:t>printf</a:t>
            </a:r>
            <a:r>
              <a:rPr lang="en-US" sz="4900" b="1" dirty="0"/>
              <a:t>("var1 is not equal to var2");</a:t>
            </a:r>
          </a:p>
          <a:p>
            <a:pPr marL="0" indent="0" algn="just">
              <a:buNone/>
            </a:pPr>
            <a:r>
              <a:rPr lang="en-US" sz="4900" b="1" dirty="0" smtClean="0"/>
              <a:t>		//</a:t>
            </a:r>
            <a:r>
              <a:rPr lang="en-US" sz="4900" b="1" dirty="0"/>
              <a:t>Below – if-else is nested inside another if block</a:t>
            </a:r>
          </a:p>
          <a:p>
            <a:pPr marL="0" indent="0" algn="just">
              <a:buNone/>
            </a:pPr>
            <a:r>
              <a:rPr lang="en-US" sz="4900" b="1" dirty="0" smtClean="0"/>
              <a:t>		if </a:t>
            </a:r>
            <a:r>
              <a:rPr lang="en-US" sz="4900" b="1" dirty="0"/>
              <a:t>(var1 &gt;var2)</a:t>
            </a:r>
          </a:p>
          <a:p>
            <a:pPr marL="0" indent="0" algn="just">
              <a:buNone/>
            </a:pPr>
            <a:r>
              <a:rPr lang="en-US" sz="4900" b="1" dirty="0" smtClean="0"/>
              <a:t>		{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		</a:t>
            </a:r>
            <a:r>
              <a:rPr lang="en-US" sz="4900" b="1" dirty="0" err="1" smtClean="0"/>
              <a:t>printf</a:t>
            </a:r>
            <a:r>
              <a:rPr lang="en-US" sz="4900" b="1" dirty="0"/>
              <a:t>("var1 is greater than var2");</a:t>
            </a:r>
          </a:p>
          <a:p>
            <a:pPr marL="0" indent="0" algn="just">
              <a:buNone/>
            </a:pPr>
            <a:r>
              <a:rPr lang="en-US" sz="4900" b="1" dirty="0" smtClean="0"/>
              <a:t>		}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	else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	{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		</a:t>
            </a:r>
            <a:r>
              <a:rPr lang="en-US" sz="4900" b="1" dirty="0" err="1" smtClean="0"/>
              <a:t>printf</a:t>
            </a:r>
            <a:r>
              <a:rPr lang="en-US" sz="4900" b="1" dirty="0"/>
              <a:t>("var2 is greater than var1");</a:t>
            </a:r>
          </a:p>
          <a:p>
            <a:pPr marL="0" indent="0" algn="just">
              <a:buNone/>
            </a:pPr>
            <a:r>
              <a:rPr lang="en-US" sz="4900" b="1" dirty="0" smtClean="0"/>
              <a:t>		}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}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else</a:t>
            </a:r>
          </a:p>
          <a:p>
            <a:pPr marL="0" indent="0" algn="just">
              <a:buNone/>
            </a:pPr>
            <a:r>
              <a:rPr lang="en-US" sz="4900" b="1" dirty="0" smtClean="0"/>
              <a:t>	{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	</a:t>
            </a:r>
            <a:r>
              <a:rPr lang="en-US" sz="4900" b="1" dirty="0" err="1" smtClean="0"/>
              <a:t>printf</a:t>
            </a:r>
            <a:r>
              <a:rPr lang="en-US" sz="4900" b="1" dirty="0"/>
              <a:t>("var1 is equal to var2");</a:t>
            </a:r>
          </a:p>
          <a:p>
            <a:pPr marL="0" indent="0" algn="just">
              <a:buNone/>
            </a:pPr>
            <a:r>
              <a:rPr lang="en-US" sz="4900" b="1" dirty="0" smtClean="0"/>
              <a:t>	}</a:t>
            </a:r>
            <a:endParaRPr lang="en-US" sz="4900" b="1" dirty="0"/>
          </a:p>
          <a:p>
            <a:pPr marL="0" indent="0" algn="just">
              <a:buNone/>
            </a:pPr>
            <a:r>
              <a:rPr lang="en-US" sz="4900" b="1" dirty="0" smtClean="0"/>
              <a:t>	…</a:t>
            </a:r>
          </a:p>
          <a:p>
            <a:pPr marL="0" indent="0" algn="just">
              <a:buNone/>
            </a:pPr>
            <a:endParaRPr lang="en-US" sz="4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07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if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This sequence of if statements is the most general way of writing a multi−way </a:t>
            </a:r>
            <a:r>
              <a:rPr lang="en-US" sz="3600" dirty="0" smtClean="0"/>
              <a:t>decision. The </a:t>
            </a:r>
            <a:r>
              <a:rPr lang="en-US" sz="3600" dirty="0"/>
              <a:t>expressions are evaluated in order; if an expression is true, the statement </a:t>
            </a:r>
            <a:r>
              <a:rPr lang="en-US" sz="3600" dirty="0" smtClean="0"/>
              <a:t>associated with </a:t>
            </a:r>
            <a:r>
              <a:rPr lang="en-US" sz="3600" dirty="0"/>
              <a:t>it is executed, and this terminates the whole chain. As always, the code for </a:t>
            </a:r>
            <a:r>
              <a:rPr lang="en-US" sz="3600" dirty="0" smtClean="0"/>
              <a:t>each statement </a:t>
            </a:r>
            <a:r>
              <a:rPr lang="en-US" sz="3600" dirty="0"/>
              <a:t>is either a single statement, or a group of them in braces.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50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if ladder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4572000" cy="545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448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if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Flowchart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6399"/>
            <a:ext cx="8534400" cy="508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536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if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en-US" sz="3600" b="1" dirty="0"/>
              <a:t>#include &lt;</a:t>
            </a:r>
            <a:r>
              <a:rPr lang="en-US" sz="3600" b="1" dirty="0" err="1"/>
              <a:t>stdio.h</a:t>
            </a:r>
            <a:r>
              <a:rPr lang="en-US" sz="3600" b="1" dirty="0"/>
              <a:t>&gt;</a:t>
            </a:r>
          </a:p>
          <a:p>
            <a:pPr marL="0" indent="0" algn="just">
              <a:buNone/>
            </a:pPr>
            <a:r>
              <a:rPr lang="en-US" sz="3600" b="1" dirty="0" err="1"/>
              <a:t>int</a:t>
            </a:r>
            <a:r>
              <a:rPr lang="en-US" sz="3600" b="1" dirty="0"/>
              <a:t> main()</a:t>
            </a:r>
          </a:p>
          <a:p>
            <a:pPr marL="0" indent="0" algn="just">
              <a:buNone/>
            </a:pPr>
            <a:r>
              <a:rPr lang="en-US" sz="3600" b="1" dirty="0"/>
              <a:t>{</a:t>
            </a:r>
          </a:p>
          <a:p>
            <a:pPr marL="0" indent="0" algn="just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int</a:t>
            </a:r>
            <a:r>
              <a:rPr lang="en-US" sz="3600" b="1" dirty="0" smtClean="0"/>
              <a:t> </a:t>
            </a:r>
            <a:r>
              <a:rPr lang="en-US" sz="3600" b="1" dirty="0"/>
              <a:t>m=40,n=20;</a:t>
            </a:r>
          </a:p>
          <a:p>
            <a:pPr marL="0" indent="0" algn="just">
              <a:buNone/>
            </a:pPr>
            <a:r>
              <a:rPr lang="en-US" sz="3600" b="1" dirty="0" smtClean="0"/>
              <a:t>	if </a:t>
            </a:r>
            <a:r>
              <a:rPr lang="en-US" sz="3600" b="1" dirty="0"/>
              <a:t>(m&gt;n)</a:t>
            </a:r>
          </a:p>
          <a:p>
            <a:pPr marL="0" indent="0" algn="just">
              <a:buNone/>
            </a:pPr>
            <a:r>
              <a:rPr lang="en-US" sz="3600" b="1" dirty="0" smtClean="0"/>
              <a:t>	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("m is greater than n");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else </a:t>
            </a:r>
            <a:r>
              <a:rPr lang="en-US" sz="3600" b="1" dirty="0"/>
              <a:t>if(m&lt;n)</a:t>
            </a:r>
          </a:p>
          <a:p>
            <a:pPr marL="0" indent="0" algn="just">
              <a:buNone/>
            </a:pPr>
            <a:r>
              <a:rPr lang="en-US" sz="3600" b="1" dirty="0" smtClean="0"/>
              <a:t>	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("m is less than n");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else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("m is equal to n");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/>
              <a:t>}</a:t>
            </a:r>
          </a:p>
          <a:p>
            <a:pPr marL="0" indent="0" algn="just">
              <a:buNone/>
            </a:pPr>
            <a:endParaRPr lang="en-US" sz="3600" b="1" dirty="0" smtClean="0"/>
          </a:p>
          <a:p>
            <a:pPr marL="0" indent="0" algn="just">
              <a:buNone/>
            </a:pPr>
            <a:r>
              <a:rPr lang="en-US" sz="3600" b="1" dirty="0" smtClean="0"/>
              <a:t>Output</a:t>
            </a:r>
            <a:r>
              <a:rPr lang="en-US" sz="3600" b="1" dirty="0"/>
              <a:t>:</a:t>
            </a:r>
          </a:p>
          <a:p>
            <a:pPr marL="0" indent="0" algn="just">
              <a:buNone/>
            </a:pPr>
            <a:r>
              <a:rPr lang="en-US" sz="3600" b="1" dirty="0"/>
              <a:t>m is greater than n</a:t>
            </a: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54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934200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en-US" sz="3600" b="1" dirty="0"/>
              <a:t>#include&lt;</a:t>
            </a:r>
            <a:r>
              <a:rPr lang="en-US" sz="3600" b="1" dirty="0" err="1"/>
              <a:t>stdio.h</a:t>
            </a:r>
            <a:r>
              <a:rPr lang="en-US" sz="3600" b="1" dirty="0"/>
              <a:t>&gt;</a:t>
            </a:r>
          </a:p>
          <a:p>
            <a:pPr marL="0" indent="0" algn="just">
              <a:buNone/>
            </a:pPr>
            <a:r>
              <a:rPr lang="en-US" sz="3600" b="1" dirty="0"/>
              <a:t>#include&lt;</a:t>
            </a:r>
            <a:r>
              <a:rPr lang="en-US" sz="3600" b="1" dirty="0" err="1"/>
              <a:t>conio.h</a:t>
            </a:r>
            <a:r>
              <a:rPr lang="en-US" sz="3600" b="1" dirty="0"/>
              <a:t>&gt;</a:t>
            </a:r>
          </a:p>
          <a:p>
            <a:pPr marL="0" indent="0" algn="just">
              <a:buNone/>
            </a:pPr>
            <a:r>
              <a:rPr lang="en-US" sz="3600" b="1" dirty="0"/>
              <a:t>void main</a:t>
            </a:r>
            <a:r>
              <a:rPr lang="en-US" sz="3600" b="1" dirty="0" smtClean="0"/>
              <a:t>()</a:t>
            </a:r>
          </a:p>
          <a:p>
            <a:pPr marL="0" indent="0" algn="just">
              <a:buNone/>
            </a:pPr>
            <a:r>
              <a:rPr lang="en-US" sz="3600" b="1" dirty="0" smtClean="0"/>
              <a:t>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int</a:t>
            </a:r>
            <a:r>
              <a:rPr lang="en-US" sz="3600" b="1" dirty="0" smtClean="0"/>
              <a:t> </a:t>
            </a:r>
            <a:r>
              <a:rPr lang="en-US" sz="3600" b="1" dirty="0"/>
              <a:t>number=0;</a:t>
            </a:r>
          </a:p>
          <a:p>
            <a:pPr marL="0" indent="0" algn="just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clrscr</a:t>
            </a:r>
            <a:r>
              <a:rPr lang="en-US" sz="3600" b="1" dirty="0"/>
              <a:t>();</a:t>
            </a:r>
          </a:p>
          <a:p>
            <a:pPr marL="0" indent="0" algn="just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("enter a number:");</a:t>
            </a:r>
          </a:p>
          <a:p>
            <a:pPr marL="0" indent="0" algn="just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scanf</a:t>
            </a:r>
            <a:r>
              <a:rPr lang="en-US" sz="3600" b="1" dirty="0"/>
              <a:t>("%</a:t>
            </a:r>
            <a:r>
              <a:rPr lang="en-US" sz="3600" b="1" dirty="0" err="1"/>
              <a:t>d",&amp;number</a:t>
            </a:r>
            <a:r>
              <a:rPr lang="en-US" sz="3600" b="1" dirty="0"/>
              <a:t>);</a:t>
            </a:r>
          </a:p>
          <a:p>
            <a:pPr marL="0" indent="0" algn="just">
              <a:buNone/>
            </a:pPr>
            <a:r>
              <a:rPr lang="en-US" sz="3600" b="1" dirty="0" smtClean="0"/>
              <a:t>	if(number</a:t>
            </a:r>
            <a:r>
              <a:rPr lang="en-US" sz="3600" b="1" dirty="0"/>
              <a:t>==10</a:t>
            </a:r>
            <a:r>
              <a:rPr lang="en-US" sz="3600" b="1" dirty="0" smtClean="0"/>
              <a:t>)</a:t>
            </a:r>
          </a:p>
          <a:p>
            <a:pPr marL="0" indent="0" algn="just">
              <a:buNone/>
            </a:pPr>
            <a:r>
              <a:rPr lang="en-US" sz="3600" b="1" dirty="0"/>
              <a:t>	</a:t>
            </a:r>
            <a:r>
              <a:rPr lang="en-US" sz="3600" b="1" dirty="0" smtClean="0"/>
              <a:t>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("number is equals to 10");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else </a:t>
            </a:r>
            <a:r>
              <a:rPr lang="en-US" sz="3600" b="1" dirty="0"/>
              <a:t>if(number==50</a:t>
            </a:r>
            <a:r>
              <a:rPr lang="en-US" sz="3600" b="1" dirty="0" smtClean="0"/>
              <a:t>)</a:t>
            </a:r>
          </a:p>
          <a:p>
            <a:pPr marL="0" indent="0" algn="just">
              <a:buNone/>
            </a:pPr>
            <a:r>
              <a:rPr lang="en-US" sz="3600" b="1" dirty="0"/>
              <a:t>	</a:t>
            </a:r>
            <a:r>
              <a:rPr lang="en-US" sz="3600" b="1" dirty="0" smtClean="0"/>
              <a:t>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("number is equal to 50");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else </a:t>
            </a:r>
            <a:r>
              <a:rPr lang="en-US" sz="3600" b="1" dirty="0"/>
              <a:t>if(number==100</a:t>
            </a:r>
            <a:r>
              <a:rPr lang="en-US" sz="3600" b="1" dirty="0" smtClean="0"/>
              <a:t>)</a:t>
            </a:r>
          </a:p>
          <a:p>
            <a:pPr marL="0" indent="0" algn="just">
              <a:buNone/>
            </a:pPr>
            <a:r>
              <a:rPr lang="en-US" sz="3600" b="1" dirty="0"/>
              <a:t>	</a:t>
            </a:r>
            <a:r>
              <a:rPr lang="en-US" sz="3600" b="1" dirty="0" smtClean="0"/>
              <a:t>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("number is equal to 100");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else</a:t>
            </a:r>
          </a:p>
          <a:p>
            <a:pPr marL="0" indent="0" algn="just">
              <a:buNone/>
            </a:pPr>
            <a:r>
              <a:rPr lang="en-US" sz="3600" b="1" dirty="0"/>
              <a:t>	</a:t>
            </a:r>
            <a:r>
              <a:rPr lang="en-US" sz="3600" b="1" dirty="0" smtClean="0"/>
              <a:t>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("number is not equal to 10, 50 or 100");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getch</a:t>
            </a:r>
            <a:r>
              <a:rPr lang="en-US" sz="3600" b="1" dirty="0"/>
              <a:t>();</a:t>
            </a:r>
          </a:p>
          <a:p>
            <a:pPr marL="0" indent="0" algn="just">
              <a:buNone/>
            </a:pPr>
            <a:r>
              <a:rPr lang="en-US" sz="3600" b="1" dirty="0"/>
              <a:t>}</a:t>
            </a: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99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21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685800"/>
            <a:ext cx="8660833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297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when there are several options and we have to choose only one </a:t>
            </a:r>
            <a:r>
              <a:rPr lang="en-US" sz="3600" dirty="0" smtClean="0"/>
              <a:t>option from </a:t>
            </a:r>
            <a:r>
              <a:rPr lang="en-US" sz="3600" dirty="0"/>
              <a:t>the available ones, we can use switch statement. Depending on the selected option, </a:t>
            </a:r>
            <a:r>
              <a:rPr lang="en-US" sz="3600" dirty="0" smtClean="0"/>
              <a:t>a particular </a:t>
            </a:r>
            <a:r>
              <a:rPr lang="en-US" sz="3600" dirty="0"/>
              <a:t>task can be performed. A task represents one or more statements.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85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19200"/>
            <a:ext cx="4038600" cy="48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622" y="5773402"/>
            <a:ext cx="2286000" cy="108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90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expression following the keyword </a:t>
            </a:r>
            <a:r>
              <a:rPr lang="en-US" sz="3600" b="1" dirty="0">
                <a:solidFill>
                  <a:srgbClr val="0000CC"/>
                </a:solidFill>
              </a:rPr>
              <a:t>switch</a:t>
            </a:r>
            <a:r>
              <a:rPr lang="en-US" sz="3600" dirty="0"/>
              <a:t> in any </a:t>
            </a:r>
            <a:r>
              <a:rPr lang="en-US" sz="3600" dirty="0" smtClean="0"/>
              <a:t>‘C’ expression </a:t>
            </a:r>
            <a:r>
              <a:rPr lang="en-US" sz="3600" dirty="0"/>
              <a:t>that must yield an </a:t>
            </a:r>
            <a:r>
              <a:rPr lang="en-US" sz="3600" dirty="0" smtClean="0"/>
              <a:t>integer value</a:t>
            </a:r>
            <a:r>
              <a:rPr lang="en-US" sz="3600" dirty="0"/>
              <a:t>. It must be </a:t>
            </a:r>
            <a:r>
              <a:rPr lang="en-US" sz="3600" dirty="0" err="1"/>
              <a:t>ab</a:t>
            </a:r>
            <a:r>
              <a:rPr lang="en-US" sz="3600" dirty="0"/>
              <a:t> integer constants like 1,2,3 .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The </a:t>
            </a:r>
            <a:r>
              <a:rPr lang="en-US" sz="3600" dirty="0"/>
              <a:t>keyword </a:t>
            </a:r>
            <a:r>
              <a:rPr lang="en-US" sz="3600" b="1" dirty="0">
                <a:solidFill>
                  <a:srgbClr val="0000CC"/>
                </a:solidFill>
              </a:rPr>
              <a:t>case</a:t>
            </a:r>
            <a:r>
              <a:rPr lang="en-US" sz="3600" dirty="0"/>
              <a:t> is followed by </a:t>
            </a:r>
            <a:r>
              <a:rPr lang="en-US" sz="3600" dirty="0">
                <a:solidFill>
                  <a:srgbClr val="FF0000"/>
                </a:solidFill>
              </a:rPr>
              <a:t>an integer or a character constant</a:t>
            </a:r>
            <a:r>
              <a:rPr lang="en-US" sz="3600" dirty="0"/>
              <a:t>, each constant in </a:t>
            </a:r>
            <a:r>
              <a:rPr lang="en-US" sz="3600" dirty="0" smtClean="0"/>
              <a:t>each must </a:t>
            </a:r>
            <a:r>
              <a:rPr lang="en-US" sz="3600" dirty="0"/>
              <a:t>be different from all the other.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90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First </a:t>
            </a:r>
            <a:r>
              <a:rPr lang="en-US" sz="3600" dirty="0"/>
              <a:t>the integer expression following the keyword </a:t>
            </a:r>
            <a:r>
              <a:rPr lang="en-US" sz="3600" b="1" dirty="0">
                <a:solidFill>
                  <a:srgbClr val="FF0000"/>
                </a:solidFill>
              </a:rPr>
              <a:t>switch</a:t>
            </a:r>
            <a:r>
              <a:rPr lang="en-US" sz="3600" dirty="0"/>
              <a:t> is evaluated. The value it gives</a:t>
            </a:r>
          </a:p>
          <a:p>
            <a:pPr marL="0" indent="0" algn="just">
              <a:buNone/>
            </a:pPr>
            <a:r>
              <a:rPr lang="en-US" sz="3600" dirty="0"/>
              <a:t>is searched against the constant values that </a:t>
            </a:r>
            <a:r>
              <a:rPr lang="en-US" sz="3600" dirty="0" smtClean="0"/>
              <a:t>follow </a:t>
            </a:r>
            <a:r>
              <a:rPr lang="en-US" sz="3600" dirty="0"/>
              <a:t>the </a:t>
            </a:r>
            <a:r>
              <a:rPr lang="en-US" sz="3600" b="1" dirty="0">
                <a:solidFill>
                  <a:srgbClr val="0000CC"/>
                </a:solidFill>
              </a:rPr>
              <a:t>case</a:t>
            </a:r>
            <a:r>
              <a:rPr lang="en-US" sz="3600" dirty="0"/>
              <a:t> statements. When a match is found, </a:t>
            </a:r>
            <a:r>
              <a:rPr lang="en-US" sz="3600" dirty="0" smtClean="0"/>
              <a:t>the program </a:t>
            </a:r>
            <a:r>
              <a:rPr lang="en-US" sz="3600" dirty="0"/>
              <a:t>executes the statements following the case. If no match is found with any of the </a:t>
            </a:r>
            <a:r>
              <a:rPr lang="en-US" sz="3600" dirty="0" smtClean="0"/>
              <a:t>case statements</a:t>
            </a:r>
            <a:r>
              <a:rPr lang="en-US" sz="3600" dirty="0"/>
              <a:t>, then the statements </a:t>
            </a:r>
            <a:r>
              <a:rPr lang="en-US" sz="3600" dirty="0" smtClean="0"/>
              <a:t>following </a:t>
            </a:r>
            <a:r>
              <a:rPr lang="en-US" sz="3600" dirty="0"/>
              <a:t>the </a:t>
            </a:r>
            <a:r>
              <a:rPr lang="en-US" sz="3600" b="1" dirty="0">
                <a:solidFill>
                  <a:srgbClr val="FF0000"/>
                </a:solidFill>
              </a:rPr>
              <a:t>default</a:t>
            </a:r>
            <a:r>
              <a:rPr lang="en-US" sz="3600" dirty="0"/>
              <a:t> are executed.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55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066800"/>
            <a:ext cx="4495800" cy="557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100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Here the program prints case 2 and 3 and the default case. If you want that only case </a:t>
            </a:r>
            <a:r>
              <a:rPr lang="en-US" sz="3600" dirty="0" smtClean="0"/>
              <a:t>2 should </a:t>
            </a:r>
            <a:r>
              <a:rPr lang="en-US" sz="3600" dirty="0"/>
              <a:t>get executed, it is up to you to get out of the switch then and there by using a </a:t>
            </a:r>
            <a:r>
              <a:rPr lang="en-US" sz="3600" dirty="0" smtClean="0"/>
              <a:t>break statement</a:t>
            </a:r>
            <a:r>
              <a:rPr lang="en-US" sz="3600" dirty="0"/>
              <a:t>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87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43000"/>
            <a:ext cx="31813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7999"/>
            <a:ext cx="3429000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6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Write a program to </a:t>
            </a:r>
            <a:r>
              <a:rPr lang="en-US" sz="3600" dirty="0"/>
              <a:t>enter a grade &amp; check its corresponding remarks.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83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 statement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43001"/>
            <a:ext cx="2895600" cy="383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780" y="5090308"/>
            <a:ext cx="2446420" cy="1731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651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writing switch() statement.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600" dirty="0"/>
              <a:t>1 : The expression in switch statement must be </a:t>
            </a:r>
            <a:r>
              <a:rPr lang="en-US" sz="3600" b="1" dirty="0">
                <a:solidFill>
                  <a:srgbClr val="0000CC"/>
                </a:solidFill>
              </a:rPr>
              <a:t>an integer value </a:t>
            </a:r>
            <a:r>
              <a:rPr lang="en-US" sz="3600" b="1" dirty="0"/>
              <a:t>or </a:t>
            </a:r>
            <a:r>
              <a:rPr lang="en-US" sz="3600" b="1" dirty="0">
                <a:solidFill>
                  <a:srgbClr val="FF0000"/>
                </a:solidFill>
              </a:rPr>
              <a:t>a character constant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r>
              <a:rPr lang="en-US" sz="3600" dirty="0"/>
              <a:t>2 : No real numbers are used in an expression.</a:t>
            </a:r>
          </a:p>
          <a:p>
            <a:pPr marL="0" indent="0" algn="just">
              <a:buNone/>
            </a:pPr>
            <a:r>
              <a:rPr lang="en-US" sz="3600" dirty="0"/>
              <a:t>3 : The default is optional and can be placed anywhere, but usually placed at end.</a:t>
            </a:r>
          </a:p>
          <a:p>
            <a:pPr marL="0" indent="0" algn="just">
              <a:buNone/>
            </a:pPr>
            <a:r>
              <a:rPr lang="en-US" sz="3600" dirty="0"/>
              <a:t>4 : The </a:t>
            </a:r>
            <a:r>
              <a:rPr lang="en-US" sz="3600" b="1" dirty="0">
                <a:solidFill>
                  <a:srgbClr val="0000CC"/>
                </a:solidFill>
              </a:rPr>
              <a:t>case keyword must terminate with colon ( : ).</a:t>
            </a:r>
          </a:p>
          <a:p>
            <a:pPr marL="0" indent="0" algn="just">
              <a:buNone/>
            </a:pPr>
            <a:r>
              <a:rPr lang="en-US" sz="3600" dirty="0"/>
              <a:t>5 : No two case constants are identical.</a:t>
            </a:r>
          </a:p>
          <a:p>
            <a:pPr marL="0" indent="0" algn="just">
              <a:buNone/>
            </a:pPr>
            <a:r>
              <a:rPr lang="en-US" sz="3600" dirty="0"/>
              <a:t>6 : The case labels must be constants.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31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writing switch()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981200"/>
            <a:ext cx="857409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357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87" y="304801"/>
            <a:ext cx="3105712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67000"/>
            <a:ext cx="3733800" cy="4090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849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statement.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Flowchart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467600" cy="492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93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114425"/>
            <a:ext cx="8020050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411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5" y="1371600"/>
            <a:ext cx="8904994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437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3560</TotalTime>
  <Words>825</Words>
  <Application>Microsoft Office PowerPoint</Application>
  <PresentationFormat>On-screen Show (4:3)</PresentationFormat>
  <Paragraphs>251</Paragraphs>
  <Slides>37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Office Theme</vt:lpstr>
      <vt:lpstr>1_Slipstream</vt:lpstr>
      <vt:lpstr>Structure Programming  ICT-1105  Information and Communication Technology</vt:lpstr>
      <vt:lpstr>PowerPoint Presentation</vt:lpstr>
      <vt:lpstr>if-else Statement</vt:lpstr>
      <vt:lpstr>if-else Statement</vt:lpstr>
      <vt:lpstr>if-else Statement</vt:lpstr>
      <vt:lpstr>if-else Statement</vt:lpstr>
      <vt:lpstr>if-else Statement</vt:lpstr>
      <vt:lpstr>if-else Statement</vt:lpstr>
      <vt:lpstr>if-else Statement</vt:lpstr>
      <vt:lpstr>if-else Statement</vt:lpstr>
      <vt:lpstr>Nested if-else statement</vt:lpstr>
      <vt:lpstr>Nested if-else statement</vt:lpstr>
      <vt:lpstr>Nested if-else statement</vt:lpstr>
      <vt:lpstr>Nested if-else statement</vt:lpstr>
      <vt:lpstr>Nested if-else statement</vt:lpstr>
      <vt:lpstr>Else if ladder</vt:lpstr>
      <vt:lpstr>Else if ladder</vt:lpstr>
      <vt:lpstr>Else if ladder</vt:lpstr>
      <vt:lpstr>Else if ladder</vt:lpstr>
      <vt:lpstr>PowerPoint Presentation</vt:lpstr>
      <vt:lpstr>PowerPoint Presentation</vt:lpstr>
      <vt:lpstr>Switch statement </vt:lpstr>
      <vt:lpstr>Switch statement </vt:lpstr>
      <vt:lpstr>Switch statement </vt:lpstr>
      <vt:lpstr>Switch statement </vt:lpstr>
      <vt:lpstr>Switch statement </vt:lpstr>
      <vt:lpstr>Switch statement </vt:lpstr>
      <vt:lpstr>Switch statement </vt:lpstr>
      <vt:lpstr>Switch statement </vt:lpstr>
      <vt:lpstr>Switch statement </vt:lpstr>
      <vt:lpstr>Rules for writing switch() statement.</vt:lpstr>
      <vt:lpstr>Rules for writing switch() statement.</vt:lpstr>
      <vt:lpstr>PowerPoint Presentation</vt:lpstr>
      <vt:lpstr>switch() statement.</vt:lpstr>
      <vt:lpstr>switch() statement.</vt:lpstr>
      <vt:lpstr>switch() statement.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385</cp:revision>
  <dcterms:created xsi:type="dcterms:W3CDTF">2019-09-20T11:10:00Z</dcterms:created>
  <dcterms:modified xsi:type="dcterms:W3CDTF">2025-01-06T05:05:56Z</dcterms:modified>
</cp:coreProperties>
</file>