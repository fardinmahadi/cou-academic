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8" r:id="rId2"/>
  </p:sldMasterIdLst>
  <p:notesMasterIdLst>
    <p:notesMasterId r:id="rId38"/>
  </p:notesMasterIdLst>
  <p:sldIdLst>
    <p:sldId id="463" r:id="rId3"/>
    <p:sldId id="467" r:id="rId4"/>
    <p:sldId id="499" r:id="rId5"/>
    <p:sldId id="468" r:id="rId6"/>
    <p:sldId id="469" r:id="rId7"/>
    <p:sldId id="470" r:id="rId8"/>
    <p:sldId id="471" r:id="rId9"/>
    <p:sldId id="472" r:id="rId10"/>
    <p:sldId id="473" r:id="rId11"/>
    <p:sldId id="474" r:id="rId12"/>
    <p:sldId id="475" r:id="rId13"/>
    <p:sldId id="476" r:id="rId14"/>
    <p:sldId id="477" r:id="rId15"/>
    <p:sldId id="478" r:id="rId16"/>
    <p:sldId id="479" r:id="rId17"/>
    <p:sldId id="480" r:id="rId18"/>
    <p:sldId id="483" r:id="rId19"/>
    <p:sldId id="484" r:id="rId20"/>
    <p:sldId id="481" r:id="rId21"/>
    <p:sldId id="482" r:id="rId22"/>
    <p:sldId id="485" r:id="rId23"/>
    <p:sldId id="486" r:id="rId24"/>
    <p:sldId id="487" r:id="rId25"/>
    <p:sldId id="488" r:id="rId26"/>
    <p:sldId id="489" r:id="rId27"/>
    <p:sldId id="490" r:id="rId28"/>
    <p:sldId id="491" r:id="rId29"/>
    <p:sldId id="492" r:id="rId30"/>
    <p:sldId id="493" r:id="rId31"/>
    <p:sldId id="494" r:id="rId32"/>
    <p:sldId id="495" r:id="rId33"/>
    <p:sldId id="496" r:id="rId34"/>
    <p:sldId id="497" r:id="rId35"/>
    <p:sldId id="498" r:id="rId36"/>
    <p:sldId id="461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6661F"/>
    <a:srgbClr val="03BD57"/>
    <a:srgbClr val="B606BA"/>
    <a:srgbClr val="1DA37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1317" autoAdjust="0"/>
  </p:normalViewPr>
  <p:slideViewPr>
    <p:cSldViewPr>
      <p:cViewPr varScale="1">
        <p:scale>
          <a:sx n="59" d="100"/>
          <a:sy n="59" d="100"/>
        </p:scale>
        <p:origin x="-168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CD7-0DB4-4E0B-B99D-38F426DFA1ED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FB36-99AC-4CD3-8A8F-04DE1EFF5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5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AT&amp;T – American Telephone</a:t>
            </a:r>
            <a:r>
              <a:rPr lang="en-US" baseline="0" dirty="0" smtClean="0"/>
              <a:t> &amp; Telegraph Company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AT&amp;T – American Telephone</a:t>
            </a:r>
            <a:r>
              <a:rPr lang="en-US" baseline="0" dirty="0" smtClean="0"/>
              <a:t> &amp; Telegraph Company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>
                <a:effectLst/>
              </a:rPr>
              <a:t>ALGOL is Algorithmic Language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BCPL is</a:t>
            </a:r>
            <a:r>
              <a:rPr lang="en-US" b="0" baseline="0" dirty="0" smtClean="0"/>
              <a:t> </a:t>
            </a:r>
            <a:r>
              <a:rPr lang="en-US" b="1" dirty="0" smtClean="0"/>
              <a:t>Basic Combined Programming Language</a:t>
            </a:r>
            <a:endParaRPr lang="en-US" b="0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>
                <a:effectLst/>
              </a:rPr>
              <a:t>COBOL is Common Business Oriented Language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>
                <a:effectLst/>
              </a:rPr>
              <a:t>Fortran is Formula Translation.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0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0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3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3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6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42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5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37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1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8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25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64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4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12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998720"/>
            <a:ext cx="6400800" cy="140208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Lecture-04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50210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 Programming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ICT-1105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>
            <a:normAutofit/>
          </a:bodyPr>
          <a:lstStyle/>
          <a:p>
            <a:pPr marL="0" indent="0" algn="just">
              <a:buFont typeface="Wingdings" pitchFamily="2" charset="2"/>
              <a:buNone/>
              <a:defRPr/>
            </a:pPr>
            <a:r>
              <a:rPr 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contents has given in  Google Classroom with code </a:t>
            </a: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en-US" sz="8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nhauiw4</a:t>
            </a:r>
            <a:endParaRPr lang="en-US" sz="8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5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600" dirty="0"/>
              <a:t>C is a programming language developed at </a:t>
            </a:r>
            <a:r>
              <a:rPr lang="en-US" sz="3600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&amp; </a:t>
            </a:r>
            <a:r>
              <a:rPr 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T’s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Bell Laboratories of USA in 1972</a:t>
            </a:r>
            <a:r>
              <a:rPr lang="en-US" sz="3600" dirty="0"/>
              <a:t>. </a:t>
            </a:r>
            <a:r>
              <a:rPr lang="en-US" sz="3600" dirty="0" smtClean="0"/>
              <a:t>It was </a:t>
            </a:r>
            <a:r>
              <a:rPr lang="en-US" sz="3600" dirty="0"/>
              <a:t>designed and written by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Dennis </a:t>
            </a:r>
            <a:r>
              <a:rPr lang="en-US" sz="3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Ritche</a:t>
            </a:r>
            <a:r>
              <a:rPr lang="en-US" sz="3600" dirty="0"/>
              <a:t>. Dennis Ritchie is known as the founder of </a:t>
            </a:r>
            <a:r>
              <a:rPr lang="en-US" sz="3600" dirty="0" smtClean="0"/>
              <a:t>C language.</a:t>
            </a:r>
          </a:p>
          <a:p>
            <a:pPr algn="just"/>
            <a:endParaRPr lang="en-US" sz="3600" dirty="0"/>
          </a:p>
          <a:p>
            <a:pPr algn="just"/>
            <a:r>
              <a:rPr lang="en-US" sz="3600" dirty="0"/>
              <a:t>It was developed to overcome the problems of previous languages such as B, BCPL etc</a:t>
            </a:r>
            <a:r>
              <a:rPr lang="en-US" sz="3600" dirty="0" smtClean="0"/>
              <a:t>.</a:t>
            </a:r>
          </a:p>
          <a:p>
            <a:pPr algn="just"/>
            <a:endParaRPr lang="en-US" sz="3600" dirty="0"/>
          </a:p>
          <a:p>
            <a:pPr algn="just"/>
            <a:r>
              <a:rPr lang="en-US" sz="3600" dirty="0"/>
              <a:t>Initially, C language was developed to be used in UNIX operating system.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09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Features of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742950" indent="-742950" algn="just">
              <a:buAutoNum type="arabicPeriod"/>
            </a:pP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Portability</a:t>
            </a:r>
            <a:r>
              <a:rPr lang="en-US" sz="3600" dirty="0" smtClean="0"/>
              <a:t> </a:t>
            </a:r>
            <a:r>
              <a:rPr lang="en-US" sz="3600" dirty="0"/>
              <a:t>or machine </a:t>
            </a:r>
            <a:r>
              <a:rPr lang="en-US" sz="3600" dirty="0" smtClean="0"/>
              <a:t>independent</a:t>
            </a:r>
          </a:p>
          <a:p>
            <a:pPr marL="742950" indent="-742950" algn="just">
              <a:buAutoNum type="arabicPeriod"/>
            </a:pPr>
            <a:r>
              <a:rPr lang="en-US" sz="3600" dirty="0" smtClean="0"/>
              <a:t>Sound </a:t>
            </a:r>
            <a:r>
              <a:rPr lang="en-US" sz="3600" dirty="0"/>
              <a:t>and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versatile</a:t>
            </a:r>
            <a:r>
              <a:rPr lang="en-US" sz="3600" dirty="0"/>
              <a:t> </a:t>
            </a:r>
            <a:r>
              <a:rPr lang="en-US" sz="3600" dirty="0" smtClean="0"/>
              <a:t>language</a:t>
            </a:r>
          </a:p>
          <a:p>
            <a:pPr marL="742950" indent="-742950" algn="just">
              <a:buAutoNum type="arabicPeriod"/>
            </a:pP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Fast</a:t>
            </a:r>
            <a:r>
              <a:rPr lang="en-US" sz="3600" dirty="0" smtClean="0"/>
              <a:t> </a:t>
            </a:r>
            <a:r>
              <a:rPr lang="en-US" sz="3600" dirty="0"/>
              <a:t>program </a:t>
            </a:r>
            <a:r>
              <a:rPr lang="en-US" sz="3600" dirty="0" smtClean="0"/>
              <a:t>execution.</a:t>
            </a:r>
          </a:p>
          <a:p>
            <a:pPr marL="742950" indent="-742950" algn="just">
              <a:buAutoNum type="arabicPeriod"/>
            </a:pPr>
            <a:r>
              <a:rPr lang="en-US" sz="3600" dirty="0" smtClean="0"/>
              <a:t>An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extendible</a:t>
            </a:r>
            <a:r>
              <a:rPr lang="en-US" sz="3600" dirty="0"/>
              <a:t> </a:t>
            </a:r>
            <a:r>
              <a:rPr lang="en-US" sz="3600" dirty="0" smtClean="0"/>
              <a:t>language.</a:t>
            </a:r>
          </a:p>
          <a:p>
            <a:pPr marL="742950" indent="-742950" algn="just">
              <a:buAutoNum type="arabicPeriod"/>
            </a:pPr>
            <a:r>
              <a:rPr lang="en-US" sz="3600" dirty="0" smtClean="0"/>
              <a:t>Tends </a:t>
            </a:r>
            <a:r>
              <a:rPr lang="en-US" sz="3600" dirty="0"/>
              <a:t>to be a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structured</a:t>
            </a:r>
            <a:r>
              <a:rPr lang="en-US" sz="3600" dirty="0"/>
              <a:t> language.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662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Historical developments of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C(Background)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8497255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1572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Brief History of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C programming language is a </a:t>
            </a:r>
            <a:r>
              <a:rPr lang="en-US" dirty="0" smtClean="0"/>
              <a:t>structure oriented </a:t>
            </a:r>
            <a:r>
              <a:rPr lang="en-US" dirty="0"/>
              <a:t>programming language, developed </a:t>
            </a:r>
            <a:r>
              <a:rPr lang="en-US" dirty="0" smtClean="0"/>
              <a:t>at Bell </a:t>
            </a:r>
            <a:r>
              <a:rPr lang="en-US" dirty="0"/>
              <a:t>Laboratories in 1972 by Dennis Ritchie.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C </a:t>
            </a:r>
            <a:r>
              <a:rPr lang="en-US" dirty="0"/>
              <a:t>programming language features were derived from an earlier language called “B</a:t>
            </a:r>
            <a:r>
              <a:rPr lang="en-US" dirty="0" smtClean="0"/>
              <a:t>” (</a:t>
            </a:r>
            <a:r>
              <a:rPr lang="en-US" dirty="0"/>
              <a:t>Basic Combined Programming Language – BCPL)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dirty="0"/>
              <a:t>C language was invented for </a:t>
            </a:r>
            <a:r>
              <a:rPr lang="en-US" dirty="0" smtClean="0"/>
              <a:t>implementing UNIX </a:t>
            </a:r>
            <a:r>
              <a:rPr lang="en-US" dirty="0"/>
              <a:t>operating system.</a:t>
            </a:r>
          </a:p>
        </p:txBody>
      </p:sp>
    </p:spTree>
    <p:extLst>
      <p:ext uri="{BB962C8B-B14F-4D97-AF65-F5344CB8AC3E}">
        <p14:creationId xmlns:p14="http://schemas.microsoft.com/office/powerpoint/2010/main" val="3497133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Brief History of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/>
              <a:t>In </a:t>
            </a:r>
            <a:r>
              <a:rPr lang="en-US" dirty="0"/>
              <a:t>1978, Dennis Ritchie and Brian Kernighan published the first edition “The </a:t>
            </a:r>
            <a:r>
              <a:rPr lang="en-US" dirty="0" smtClean="0"/>
              <a:t>C Programming </a:t>
            </a:r>
            <a:r>
              <a:rPr lang="en-US" dirty="0"/>
              <a:t>Language” and is commonly known as K&amp;R C.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In </a:t>
            </a:r>
            <a:r>
              <a:rPr lang="en-US" dirty="0"/>
              <a:t>1983, the American National Standards Institute (ANSI) established a committee </a:t>
            </a:r>
            <a:r>
              <a:rPr lang="en-US" dirty="0" smtClean="0"/>
              <a:t>to provide </a:t>
            </a:r>
            <a:r>
              <a:rPr lang="en-US" dirty="0"/>
              <a:t>a modern, comprehensive definition of C. The resulting definition, the </a:t>
            </a:r>
            <a:r>
              <a:rPr lang="en-US" dirty="0" smtClean="0"/>
              <a:t>ANSI standard</a:t>
            </a:r>
            <a:r>
              <a:rPr lang="en-US" dirty="0"/>
              <a:t>, or “ANSI C”, was completed late 1988.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Many </a:t>
            </a:r>
            <a:r>
              <a:rPr lang="en-US" dirty="0"/>
              <a:t>of C’s ideas &amp; principles were derived from the earlier language B, thereby </a:t>
            </a:r>
            <a:r>
              <a:rPr lang="en-US" dirty="0" smtClean="0"/>
              <a:t>naming this </a:t>
            </a:r>
            <a:r>
              <a:rPr lang="en-US" dirty="0"/>
              <a:t>new language “C”.</a:t>
            </a:r>
          </a:p>
        </p:txBody>
      </p:sp>
    </p:spTree>
    <p:extLst>
      <p:ext uri="{BB962C8B-B14F-4D97-AF65-F5344CB8AC3E}">
        <p14:creationId xmlns:p14="http://schemas.microsoft.com/office/powerpoint/2010/main" val="171047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Brief History of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066800"/>
            <a:ext cx="3886200" cy="554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341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C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POPULAR?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/>
              <a:t>It </a:t>
            </a:r>
            <a:r>
              <a:rPr lang="en-US" dirty="0"/>
              <a:t>is reliable, simple and easy to use.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C </a:t>
            </a:r>
            <a:r>
              <a:rPr lang="en-US" dirty="0"/>
              <a:t>is a small, block-structured </a:t>
            </a:r>
            <a:r>
              <a:rPr lang="en-US" dirty="0" smtClean="0"/>
              <a:t>programming language</a:t>
            </a:r>
            <a:r>
              <a:rPr lang="en-US" dirty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C </a:t>
            </a:r>
            <a:r>
              <a:rPr lang="en-US" dirty="0"/>
              <a:t>is a portable language, which means that C programs written on one system can be </a:t>
            </a:r>
            <a:r>
              <a:rPr lang="en-US" dirty="0" smtClean="0"/>
              <a:t>run on </a:t>
            </a:r>
            <a:r>
              <a:rPr lang="en-US" dirty="0"/>
              <a:t>other systems with little or no modification.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C </a:t>
            </a:r>
            <a:r>
              <a:rPr lang="en-US" dirty="0"/>
              <a:t>has one of the largest assortments of operators, such as those used for calculations </a:t>
            </a:r>
            <a:r>
              <a:rPr lang="en-US" dirty="0" smtClean="0"/>
              <a:t>and data </a:t>
            </a:r>
            <a:r>
              <a:rPr lang="en-US" dirty="0"/>
              <a:t>comparisons.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Although </a:t>
            </a:r>
            <a:r>
              <a:rPr lang="en-US" dirty="0"/>
              <a:t>the programmer has more freedom with data storage, the languages do </a:t>
            </a:r>
            <a:r>
              <a:rPr lang="en-US" dirty="0" smtClean="0"/>
              <a:t>not check </a:t>
            </a:r>
            <a:r>
              <a:rPr lang="en-US" dirty="0"/>
              <a:t>data type accuracy for the programmer.</a:t>
            </a:r>
          </a:p>
        </p:txBody>
      </p:sp>
    </p:spTree>
    <p:extLst>
      <p:ext uri="{BB962C8B-B14F-4D97-AF65-F5344CB8AC3E}">
        <p14:creationId xmlns:p14="http://schemas.microsoft.com/office/powerpoint/2010/main" val="138452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TO STUDY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/>
              <a:t>By the early 1980s, C was already a dominant language in the minicomputer world </a:t>
            </a:r>
            <a:r>
              <a:rPr lang="en-US" dirty="0" smtClean="0"/>
              <a:t>of Unix </a:t>
            </a:r>
            <a:r>
              <a:rPr lang="en-US" dirty="0"/>
              <a:t>systems. Since then, it has spread to personal computers (microcomputers) and </a:t>
            </a:r>
            <a:r>
              <a:rPr lang="en-US" dirty="0" smtClean="0"/>
              <a:t>to mainframes</a:t>
            </a:r>
            <a:r>
              <a:rPr lang="en-US" dirty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Many </a:t>
            </a:r>
            <a:r>
              <a:rPr lang="en-US" dirty="0"/>
              <a:t>software houses use C as the preferred language for producing word </a:t>
            </a:r>
            <a:r>
              <a:rPr lang="en-US" dirty="0" smtClean="0"/>
              <a:t>processing programs</a:t>
            </a:r>
            <a:r>
              <a:rPr lang="en-US" dirty="0"/>
              <a:t>, spreadsheets, compilers, and other products.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C </a:t>
            </a:r>
            <a:r>
              <a:rPr lang="en-US" dirty="0"/>
              <a:t>is an extremely flexible language—particularly if it is to be used to write </a:t>
            </a:r>
            <a:r>
              <a:rPr lang="en-US" dirty="0" smtClean="0"/>
              <a:t>operating systems</a:t>
            </a:r>
            <a:r>
              <a:rPr lang="en-US" dirty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Unlike </a:t>
            </a:r>
            <a:r>
              <a:rPr lang="en-US" dirty="0"/>
              <a:t>most other languages that have only four or five levels of precedence, C has 15</a:t>
            </a:r>
          </a:p>
        </p:txBody>
      </p:sp>
    </p:spTree>
    <p:extLst>
      <p:ext uri="{BB962C8B-B14F-4D97-AF65-F5344CB8AC3E}">
        <p14:creationId xmlns:p14="http://schemas.microsoft.com/office/powerpoint/2010/main" val="189722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CHARECTERESTICS OF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/>
              <a:t>Middle level </a:t>
            </a:r>
            <a:r>
              <a:rPr lang="en-US" dirty="0" smtClean="0"/>
              <a:t>language.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72652"/>
            <a:ext cx="9144000" cy="3150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1231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CHARECTERESTICS OF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Small </a:t>
            </a:r>
            <a:r>
              <a:rPr lang="en-US" sz="3600" dirty="0"/>
              <a:t>size – has only 32 keywords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Extensive </a:t>
            </a:r>
            <a:r>
              <a:rPr lang="en-US" sz="3600" dirty="0"/>
              <a:t>use of function calls- enables the end user to add their own functions to the </a:t>
            </a:r>
            <a:r>
              <a:rPr lang="en-US" sz="3600" dirty="0" smtClean="0"/>
              <a:t>C library</a:t>
            </a:r>
            <a:r>
              <a:rPr lang="en-US" sz="3600" dirty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Supports </a:t>
            </a:r>
            <a:r>
              <a:rPr lang="en-US" sz="3600" dirty="0"/>
              <a:t>loose typing – a character can be treated as an integer &amp; vice </a:t>
            </a:r>
            <a:r>
              <a:rPr lang="en-US" sz="3600" dirty="0" smtClean="0"/>
              <a:t>versa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/>
              <a:t>Structured language</a:t>
            </a:r>
          </a:p>
        </p:txBody>
      </p:sp>
    </p:spTree>
    <p:extLst>
      <p:ext uri="{BB962C8B-B14F-4D97-AF65-F5344CB8AC3E}">
        <p14:creationId xmlns:p14="http://schemas.microsoft.com/office/powerpoint/2010/main" val="363953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CHARECTERESTICS OF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1" y="1143000"/>
            <a:ext cx="9067799" cy="4282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2080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CHARECTERESTICS OF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fontScale="925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Low </a:t>
            </a:r>
            <a:r>
              <a:rPr lang="en-US" sz="3600" dirty="0"/>
              <a:t>level (Bit Wise) programming readily </a:t>
            </a:r>
            <a:r>
              <a:rPr lang="en-US" sz="3600" dirty="0" smtClean="0"/>
              <a:t>available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Pointer </a:t>
            </a:r>
            <a:r>
              <a:rPr lang="en-US" sz="3600" dirty="0"/>
              <a:t>implementation - extensive use of pointers for memory, array, structures </a:t>
            </a:r>
            <a:r>
              <a:rPr lang="en-US" sz="3600" dirty="0" smtClean="0"/>
              <a:t>and functions</a:t>
            </a:r>
            <a:r>
              <a:rPr lang="en-US" sz="3600" dirty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It </a:t>
            </a:r>
            <a:r>
              <a:rPr lang="en-US" sz="3600" dirty="0"/>
              <a:t>has high-level constructs.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It </a:t>
            </a:r>
            <a:r>
              <a:rPr lang="en-US" sz="3600" dirty="0"/>
              <a:t>can handle low-level activities.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It </a:t>
            </a:r>
            <a:r>
              <a:rPr lang="en-US" sz="3600" dirty="0"/>
              <a:t>produces efficient programs.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It </a:t>
            </a:r>
            <a:r>
              <a:rPr lang="en-US" sz="3600" dirty="0"/>
              <a:t>can be compiled on a variety of computers.</a:t>
            </a:r>
          </a:p>
        </p:txBody>
      </p:sp>
    </p:spTree>
    <p:extLst>
      <p:ext uri="{BB962C8B-B14F-4D97-AF65-F5344CB8AC3E}">
        <p14:creationId xmlns:p14="http://schemas.microsoft.com/office/powerpoint/2010/main" val="3629853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USES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C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sz="3600" dirty="0"/>
              <a:t>The C programming language is used for developing system applications that forms a </a:t>
            </a:r>
            <a:r>
              <a:rPr lang="en-US" sz="3600" dirty="0" smtClean="0"/>
              <a:t>major portion </a:t>
            </a:r>
            <a:r>
              <a:rPr lang="en-US" sz="3600" dirty="0"/>
              <a:t>of operating systems such as Windows, UNIX and Linux. Below are some examples of </a:t>
            </a:r>
            <a:r>
              <a:rPr lang="en-US" sz="3600" dirty="0" smtClean="0"/>
              <a:t>C being </a:t>
            </a:r>
            <a:r>
              <a:rPr lang="en-US" sz="3600" dirty="0"/>
              <a:t>used</a:t>
            </a:r>
            <a:r>
              <a:rPr lang="en-US" sz="3600" dirty="0" smtClean="0"/>
              <a:t>: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600" dirty="0" smtClean="0"/>
              <a:t>Database </a:t>
            </a:r>
            <a:r>
              <a:rPr lang="en-US" sz="3600" dirty="0"/>
              <a:t>systems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600" dirty="0" smtClean="0"/>
              <a:t> </a:t>
            </a:r>
            <a:r>
              <a:rPr lang="en-US" sz="3600" dirty="0"/>
              <a:t>Graphics packages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600" dirty="0" smtClean="0"/>
              <a:t> </a:t>
            </a:r>
            <a:r>
              <a:rPr lang="en-US" sz="3600" dirty="0"/>
              <a:t>Word processors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600" dirty="0" smtClean="0"/>
              <a:t> </a:t>
            </a:r>
            <a:r>
              <a:rPr lang="en-US" sz="3600" dirty="0"/>
              <a:t>Spreadsheets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600" dirty="0" smtClean="0"/>
              <a:t> </a:t>
            </a:r>
            <a:r>
              <a:rPr lang="en-US" sz="3600" dirty="0"/>
              <a:t>Operating system development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600" dirty="0" smtClean="0"/>
              <a:t> </a:t>
            </a:r>
            <a:r>
              <a:rPr lang="en-US" sz="3600" dirty="0"/>
              <a:t>Compilers and Assemblers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600" dirty="0" smtClean="0"/>
              <a:t> </a:t>
            </a:r>
            <a:r>
              <a:rPr lang="en-US" sz="3600" dirty="0"/>
              <a:t>Network drivers</a:t>
            </a:r>
          </a:p>
          <a:p>
            <a:pPr algn="just">
              <a:buFont typeface="Wingdings" pitchFamily="2" charset="2"/>
              <a:buChar char="§"/>
            </a:pPr>
            <a:r>
              <a:rPr lang="en-US" sz="3600" dirty="0" smtClean="0"/>
              <a:t> </a:t>
            </a:r>
            <a:r>
              <a:rPr lang="en-US" sz="3600" dirty="0"/>
              <a:t>Interpreters</a:t>
            </a:r>
          </a:p>
        </p:txBody>
      </p:sp>
    </p:spTree>
    <p:extLst>
      <p:ext uri="{BB962C8B-B14F-4D97-AF65-F5344CB8AC3E}">
        <p14:creationId xmlns:p14="http://schemas.microsoft.com/office/powerpoint/2010/main" val="3744546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OF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990600"/>
            <a:ext cx="5943600" cy="5496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6361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OF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Autofit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documentation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section </a:t>
            </a:r>
            <a:r>
              <a:rPr lang="en-US" dirty="0"/>
              <a:t>is used for </a:t>
            </a:r>
            <a:r>
              <a:rPr lang="en-US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displaying any information about </a:t>
            </a:r>
            <a:r>
              <a:rPr lang="en-US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program </a:t>
            </a:r>
            <a:r>
              <a:rPr lang="en-US" dirty="0"/>
              <a:t>like the </a:t>
            </a:r>
            <a:r>
              <a:rPr lang="en-US" b="1" dirty="0">
                <a:solidFill>
                  <a:srgbClr val="FF0000"/>
                </a:solidFill>
              </a:rPr>
              <a:t>purpose of the program, name of the author, date and time </a:t>
            </a:r>
            <a:r>
              <a:rPr lang="en-US" b="1" dirty="0" smtClean="0">
                <a:solidFill>
                  <a:srgbClr val="FF0000"/>
                </a:solidFill>
              </a:rPr>
              <a:t>written </a:t>
            </a:r>
            <a:r>
              <a:rPr lang="en-US" b="1" dirty="0" err="1" smtClean="0">
                <a:solidFill>
                  <a:srgbClr val="FF0000"/>
                </a:solidFill>
              </a:rPr>
              <a:t>etc</a:t>
            </a:r>
            <a:r>
              <a:rPr lang="en-US" dirty="0"/>
              <a:t>, and this section should be enclosed within comment lines. The statements </a:t>
            </a:r>
            <a:r>
              <a:rPr lang="en-US" dirty="0" smtClean="0"/>
              <a:t>in the </a:t>
            </a:r>
            <a:r>
              <a:rPr lang="en-US" dirty="0"/>
              <a:t>documentation section are ignored by the compiler.</a:t>
            </a:r>
          </a:p>
          <a:p>
            <a:pPr algn="just"/>
            <a:r>
              <a:rPr lang="en-US" dirty="0" smtClean="0"/>
              <a:t>The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link section </a:t>
            </a:r>
            <a:r>
              <a:rPr lang="en-US" dirty="0"/>
              <a:t>consists of the </a:t>
            </a:r>
            <a:r>
              <a:rPr lang="en-US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inclusion of header files</a:t>
            </a:r>
          </a:p>
        </p:txBody>
      </p:sp>
    </p:spTree>
    <p:extLst>
      <p:ext uri="{BB962C8B-B14F-4D97-AF65-F5344CB8AC3E}">
        <p14:creationId xmlns:p14="http://schemas.microsoft.com/office/powerpoint/2010/main" val="5773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OF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Autofit/>
          </a:bodyPr>
          <a:lstStyle/>
          <a:p>
            <a:pPr algn="just"/>
            <a:r>
              <a:rPr lang="en-US" sz="2800" dirty="0" smtClean="0"/>
              <a:t>The </a:t>
            </a:r>
            <a:r>
              <a:rPr lang="en-US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definition section </a:t>
            </a:r>
            <a:r>
              <a:rPr lang="en-US" sz="2800" dirty="0"/>
              <a:t>consists of macro definitions, defining constants </a:t>
            </a:r>
            <a:r>
              <a:rPr lang="en-US" sz="2800" dirty="0" err="1"/>
              <a:t>etc</a:t>
            </a:r>
            <a:r>
              <a:rPr lang="en-US" sz="2800" dirty="0"/>
              <a:t>,.</a:t>
            </a:r>
          </a:p>
          <a:p>
            <a:pPr algn="just"/>
            <a:r>
              <a:rPr lang="en-US" sz="2800" dirty="0" smtClean="0"/>
              <a:t>Anything </a:t>
            </a:r>
            <a:r>
              <a:rPr lang="en-US" sz="2800" dirty="0"/>
              <a:t>declared in the </a:t>
            </a:r>
            <a:r>
              <a:rPr lang="en-US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global declaration </a:t>
            </a:r>
            <a:r>
              <a:rPr lang="en-US" sz="2800" dirty="0"/>
              <a:t>section is accessible </a:t>
            </a:r>
            <a:r>
              <a:rPr lang="en-US" sz="2800" dirty="0" smtClean="0"/>
              <a:t>throughout the </a:t>
            </a:r>
            <a:r>
              <a:rPr lang="en-US" sz="2800" dirty="0"/>
              <a:t>program, i.e. </a:t>
            </a:r>
            <a:r>
              <a:rPr lang="en-US" sz="2800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accessible to all the functions in the program</a:t>
            </a:r>
            <a:r>
              <a:rPr lang="en-US" sz="2800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just"/>
            <a:r>
              <a:rPr lang="en-US" sz="28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</a:t>
            </a:r>
            <a:r>
              <a:rPr lang="en-US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function </a:t>
            </a:r>
            <a:r>
              <a:rPr lang="en-US" sz="2800" dirty="0"/>
              <a:t>is </a:t>
            </a:r>
            <a:r>
              <a:rPr lang="en-US" sz="2800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mandatory for any program </a:t>
            </a:r>
            <a:r>
              <a:rPr lang="en-US" sz="2800" dirty="0"/>
              <a:t>and it includes </a:t>
            </a:r>
            <a:r>
              <a:rPr lang="en-US" sz="2800" b="1" dirty="0">
                <a:solidFill>
                  <a:srgbClr val="FF0000"/>
                </a:solidFill>
              </a:rPr>
              <a:t>two parts, </a:t>
            </a:r>
            <a:r>
              <a:rPr lang="en-US" sz="2800" b="1" dirty="0" smtClean="0">
                <a:solidFill>
                  <a:srgbClr val="FF0000"/>
                </a:solidFill>
              </a:rPr>
              <a:t>the declaration </a:t>
            </a:r>
            <a:r>
              <a:rPr lang="en-US" sz="2800" b="1" dirty="0">
                <a:solidFill>
                  <a:srgbClr val="FF0000"/>
                </a:solidFill>
              </a:rPr>
              <a:t>part and the executable part.</a:t>
            </a:r>
          </a:p>
          <a:p>
            <a:pPr algn="just"/>
            <a:r>
              <a:rPr lang="en-US" sz="2800" dirty="0" smtClean="0"/>
              <a:t>The </a:t>
            </a:r>
            <a:r>
              <a:rPr lang="en-US" sz="2800" dirty="0"/>
              <a:t>last section, i.e. </a:t>
            </a:r>
            <a:r>
              <a:rPr lang="en-US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sub-program section </a:t>
            </a:r>
            <a:r>
              <a:rPr lang="en-US" sz="2800" dirty="0"/>
              <a:t>is </a:t>
            </a:r>
            <a:r>
              <a:rPr lang="en-US" sz="2800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optiona</a:t>
            </a:r>
            <a:r>
              <a:rPr lang="en-US" sz="2800" dirty="0"/>
              <a:t>l and used when we </a:t>
            </a:r>
            <a:r>
              <a:rPr lang="en-US" sz="2800" dirty="0" smtClean="0"/>
              <a:t>require including </a:t>
            </a:r>
            <a:r>
              <a:rPr lang="en-US" sz="2800" dirty="0"/>
              <a:t>user defined functions in the program.</a:t>
            </a:r>
          </a:p>
        </p:txBody>
      </p:sp>
    </p:spTree>
    <p:extLst>
      <p:ext uri="{BB962C8B-B14F-4D97-AF65-F5344CB8AC3E}">
        <p14:creationId xmlns:p14="http://schemas.microsoft.com/office/powerpoint/2010/main" val="327470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OF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14400"/>
            <a:ext cx="8001000" cy="5849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8304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OF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Based on this structure, we can sketch a C program.</a:t>
            </a:r>
          </a:p>
          <a:p>
            <a:pPr marL="0" indent="0" algn="just">
              <a:buNone/>
            </a:pPr>
            <a:r>
              <a:rPr lang="en-US" dirty="0"/>
              <a:t>Example</a:t>
            </a:r>
            <a:r>
              <a:rPr lang="en-US" dirty="0" smtClean="0"/>
              <a:t>: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62726"/>
            <a:ext cx="8001000" cy="4176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3115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OF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sz="3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</a:t>
            </a:r>
            <a:r>
              <a:rPr lang="en-US" sz="3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include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part of the compiler which actually gets your program from the source file is </a:t>
            </a:r>
            <a:r>
              <a:rPr lang="en-US" dirty="0" smtClean="0"/>
              <a:t>called the </a:t>
            </a:r>
            <a:r>
              <a:rPr lang="en-US" dirty="0"/>
              <a:t>preprocessor.</a:t>
            </a:r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	#</a:t>
            </a:r>
            <a:r>
              <a:rPr lang="en-US" dirty="0"/>
              <a:t>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#</a:t>
            </a:r>
            <a:r>
              <a:rPr lang="en-US" dirty="0"/>
              <a:t>include is a pre-processor directive. It is not really part of our program, but instead it </a:t>
            </a:r>
            <a:r>
              <a:rPr lang="en-US" dirty="0" smtClean="0"/>
              <a:t>is an </a:t>
            </a:r>
            <a:r>
              <a:rPr lang="en-US" dirty="0"/>
              <a:t>instruction to the compiler to make it do something.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tells the C compiler to 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include the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 of a file</a:t>
            </a:r>
            <a:r>
              <a:rPr lang="en-US" dirty="0"/>
              <a:t> (in this case the system file called </a:t>
            </a:r>
            <a:r>
              <a:rPr lang="en-US" dirty="0" err="1"/>
              <a:t>stdio.h</a:t>
            </a:r>
            <a:r>
              <a:rPr lang="en-US" dirty="0"/>
              <a:t>).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compiler knows it is a </a:t>
            </a:r>
            <a:r>
              <a:rPr lang="en-US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file</a:t>
            </a:r>
            <a:r>
              <a:rPr lang="en-US" dirty="0"/>
              <a:t>, and therefore must be looked for in a special </a:t>
            </a:r>
            <a:r>
              <a:rPr lang="en-US" dirty="0" smtClean="0"/>
              <a:t>place, by </a:t>
            </a:r>
            <a:r>
              <a:rPr lang="en-US" dirty="0"/>
              <a:t>the fact that the filename is </a:t>
            </a:r>
            <a:r>
              <a:rPr lang="en-US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enclosed in &lt;&gt; characters</a:t>
            </a:r>
          </a:p>
        </p:txBody>
      </p:sp>
    </p:spTree>
    <p:extLst>
      <p:ext uri="{BB962C8B-B14F-4D97-AF65-F5344CB8AC3E}">
        <p14:creationId xmlns:p14="http://schemas.microsoft.com/office/powerpoint/2010/main" val="2549497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OF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sz="3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en-US" sz="3800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stdio.h</a:t>
            </a:r>
            <a:r>
              <a:rPr lang="en-US" sz="3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pPr marL="0" indent="0" algn="just">
              <a:buNone/>
            </a:pPr>
            <a:endParaRPr lang="en-US" dirty="0" smtClean="0"/>
          </a:p>
          <a:p>
            <a:pPr algn="just">
              <a:buFont typeface="Wingdings" pitchFamily="2" charset="2"/>
              <a:buChar char="Ø"/>
            </a:pPr>
            <a:r>
              <a:rPr lang="en-US" dirty="0" err="1" smtClean="0"/>
              <a:t>stdio.h</a:t>
            </a:r>
            <a:r>
              <a:rPr lang="en-US" dirty="0" smtClean="0"/>
              <a:t> </a:t>
            </a:r>
            <a:r>
              <a:rPr lang="en-US" dirty="0"/>
              <a:t>is the name of the standard library definition file for all </a:t>
            </a:r>
            <a:r>
              <a:rPr lang="en-US" b="1" dirty="0" err="1">
                <a:solidFill>
                  <a:srgbClr val="FF0000"/>
                </a:solidFill>
              </a:rPr>
              <a:t>ST</a:t>
            </a:r>
            <a:r>
              <a:rPr lang="en-US" dirty="0" err="1"/>
              <a:t>an</a:t>
            </a:r>
            <a:r>
              <a:rPr lang="en-US" b="1" dirty="0" err="1">
                <a:solidFill>
                  <a:srgbClr val="FF0000"/>
                </a:solidFill>
              </a:rPr>
              <a:t>D</a:t>
            </a:r>
            <a:r>
              <a:rPr lang="en-US" dirty="0" err="1"/>
              <a:t>ard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dirty="0"/>
              <a:t>nput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FF0000"/>
                </a:solidFill>
              </a:rPr>
              <a:t>O</a:t>
            </a:r>
            <a:r>
              <a:rPr lang="en-US" dirty="0" smtClean="0"/>
              <a:t>utput </a:t>
            </a:r>
            <a:r>
              <a:rPr lang="en-US" dirty="0"/>
              <a:t>functions.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Your </a:t>
            </a:r>
            <a:r>
              <a:rPr lang="en-US" dirty="0"/>
              <a:t>program will almost certainly want to </a:t>
            </a:r>
            <a:r>
              <a:rPr lang="en-US" dirty="0">
                <a:solidFill>
                  <a:srgbClr val="0000CC"/>
                </a:solidFill>
              </a:rPr>
              <a:t>send information to the screen</a:t>
            </a:r>
            <a:r>
              <a:rPr lang="en-US" dirty="0"/>
              <a:t> and </a:t>
            </a:r>
            <a:r>
              <a:rPr lang="en-US" dirty="0">
                <a:solidFill>
                  <a:srgbClr val="B606BA"/>
                </a:solidFill>
              </a:rPr>
              <a:t>read </a:t>
            </a:r>
            <a:r>
              <a:rPr lang="en-US" dirty="0" smtClean="0">
                <a:solidFill>
                  <a:srgbClr val="B606BA"/>
                </a:solidFill>
              </a:rPr>
              <a:t>things from </a:t>
            </a:r>
            <a:r>
              <a:rPr lang="en-US" dirty="0">
                <a:solidFill>
                  <a:srgbClr val="B606BA"/>
                </a:solidFill>
              </a:rPr>
              <a:t>the keyboard</a:t>
            </a:r>
            <a:r>
              <a:rPr lang="en-US" dirty="0"/>
              <a:t>, and </a:t>
            </a:r>
            <a:r>
              <a:rPr lang="en-US" dirty="0" err="1"/>
              <a:t>stdio.h</a:t>
            </a:r>
            <a:r>
              <a:rPr lang="en-US" dirty="0"/>
              <a:t> is the name of the file in which the functions that we </a:t>
            </a:r>
            <a:r>
              <a:rPr lang="en-US" dirty="0" smtClean="0"/>
              <a:t>want to </a:t>
            </a:r>
            <a:r>
              <a:rPr lang="en-US" dirty="0"/>
              <a:t>use are defined.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function we want to use is called </a:t>
            </a:r>
            <a:r>
              <a:rPr lang="en-US" dirty="0" err="1"/>
              <a:t>printf</a:t>
            </a:r>
            <a:r>
              <a:rPr lang="en-US" dirty="0"/>
              <a:t>. The actual code of </a:t>
            </a:r>
            <a:r>
              <a:rPr lang="en-US" dirty="0" err="1"/>
              <a:t>printf</a:t>
            </a:r>
            <a:r>
              <a:rPr lang="en-US" dirty="0"/>
              <a:t> will be tied in </a:t>
            </a:r>
            <a:r>
              <a:rPr lang="en-US" dirty="0" smtClean="0"/>
              <a:t>later by </a:t>
            </a:r>
            <a:r>
              <a:rPr lang="en-US" dirty="0"/>
              <a:t>the linker.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The </a:t>
            </a:r>
            <a:r>
              <a:rPr lang="en-US" dirty="0"/>
              <a:t>".h" portion of the filename is the language extension, which denotes an include file.</a:t>
            </a:r>
            <a:endParaRPr lang="en-US" dirty="0">
              <a:solidFill>
                <a:srgbClr val="B606B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0772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OF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This </a:t>
            </a:r>
            <a:r>
              <a:rPr lang="en-US" sz="3600" dirty="0"/>
              <a:t>literally means that </a:t>
            </a:r>
            <a:r>
              <a:rPr lang="en-US" sz="3600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means nothing</a:t>
            </a:r>
            <a:r>
              <a:rPr lang="en-US" sz="3600" dirty="0"/>
              <a:t>. In this case, it is referring to the </a:t>
            </a:r>
            <a:r>
              <a:rPr lang="en-US" sz="3600" dirty="0" smtClean="0"/>
              <a:t>function whose </a:t>
            </a:r>
            <a:r>
              <a:rPr lang="en-US" sz="3600" dirty="0"/>
              <a:t>name follows.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Void </a:t>
            </a:r>
            <a:r>
              <a:rPr lang="en-US" sz="3600" dirty="0"/>
              <a:t>tells to C compiler that a </a:t>
            </a:r>
            <a:r>
              <a:rPr lang="en-US" sz="3600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given entity has no meaning, and produces no error.</a:t>
            </a:r>
            <a:endParaRPr lang="en-US" sz="3600" dirty="0" smtClean="0">
              <a:solidFill>
                <a:srgbClr val="B606B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650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OF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3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In </a:t>
            </a:r>
            <a:r>
              <a:rPr lang="en-US" sz="3600" dirty="0"/>
              <a:t>this particular example, the only function in the program is called main.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A </a:t>
            </a:r>
            <a:r>
              <a:rPr lang="en-US" sz="3600" dirty="0"/>
              <a:t>C program is typically </a:t>
            </a:r>
            <a:r>
              <a:rPr lang="en-US" sz="3600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made up of large number of functions</a:t>
            </a:r>
            <a:r>
              <a:rPr lang="en-US" sz="3600" dirty="0"/>
              <a:t>. Each of these is given </a:t>
            </a:r>
            <a:r>
              <a:rPr lang="en-US" sz="3600" dirty="0" smtClean="0"/>
              <a:t>a name </a:t>
            </a:r>
            <a:r>
              <a:rPr lang="en-US" sz="3600" dirty="0"/>
              <a:t>by the programmer and they refer to each other as the program runs.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</a:t>
            </a:r>
            <a:r>
              <a:rPr lang="en-US" sz="3600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regards the name main as a special case and will run this function first</a:t>
            </a:r>
            <a:r>
              <a:rPr lang="en-US" sz="3600" dirty="0"/>
              <a:t> i.e. </a:t>
            </a:r>
            <a:r>
              <a:rPr lang="en-US" sz="3600" b="1" dirty="0">
                <a:solidFill>
                  <a:srgbClr val="FF0000"/>
                </a:solidFill>
              </a:rPr>
              <a:t>the </a:t>
            </a:r>
            <a:r>
              <a:rPr lang="en-US" sz="3600" b="1" dirty="0" smtClean="0">
                <a:solidFill>
                  <a:srgbClr val="FF0000"/>
                </a:solidFill>
              </a:rPr>
              <a:t>program execution </a:t>
            </a:r>
            <a:r>
              <a:rPr lang="en-US" sz="3600" b="1" dirty="0">
                <a:solidFill>
                  <a:srgbClr val="FF0000"/>
                </a:solidFill>
              </a:rPr>
              <a:t>starts from main.</a:t>
            </a:r>
            <a:endParaRPr lang="en-US" sz="36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8727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OF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(void</a:t>
            </a:r>
            <a:r>
              <a:rPr lang="en-US" sz="3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This </a:t>
            </a:r>
            <a:r>
              <a:rPr lang="en-US" sz="3600" dirty="0"/>
              <a:t>is a pair of brackets enclosing the keyword void.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It </a:t>
            </a:r>
            <a:r>
              <a:rPr lang="en-US" sz="3600" dirty="0"/>
              <a:t>tells the compiler that </a:t>
            </a:r>
            <a:r>
              <a:rPr lang="en-US" sz="3600" dirty="0">
                <a:solidFill>
                  <a:srgbClr val="FF0000"/>
                </a:solidFill>
              </a:rPr>
              <a:t>the function main has no parameters</a:t>
            </a:r>
            <a:r>
              <a:rPr lang="en-US" sz="3600" dirty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A </a:t>
            </a:r>
            <a:r>
              <a:rPr lang="en-US" sz="3600" dirty="0"/>
              <a:t>parameter to a function gives the function something to work on.</a:t>
            </a:r>
            <a:endParaRPr lang="en-US" sz="36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13516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OF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3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(Brace</a:t>
            </a:r>
            <a:r>
              <a:rPr lang="en-US" sz="3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This </a:t>
            </a:r>
            <a:r>
              <a:rPr lang="en-US" sz="3600" dirty="0"/>
              <a:t>is a brace (or </a:t>
            </a:r>
            <a:r>
              <a:rPr lang="en-US" sz="3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curly bracket</a:t>
            </a:r>
            <a:r>
              <a:rPr lang="en-US" sz="3600" dirty="0"/>
              <a:t>). As the name implies, braces come in packs of two </a:t>
            </a:r>
            <a:r>
              <a:rPr lang="en-US" sz="3600" dirty="0" smtClean="0"/>
              <a:t>– </a:t>
            </a:r>
            <a:r>
              <a:rPr lang="en-US" sz="36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every </a:t>
            </a:r>
            <a:r>
              <a:rPr lang="en-US" sz="3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 brace there must be a matching close one</a:t>
            </a:r>
            <a:r>
              <a:rPr lang="en-US" sz="3600" dirty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Braces </a:t>
            </a:r>
            <a:r>
              <a:rPr lang="en-US" sz="3600" dirty="0"/>
              <a:t>allow us to group pieces of program together, often called a </a:t>
            </a:r>
            <a:r>
              <a:rPr lang="en-US" sz="3600" dirty="0">
                <a:solidFill>
                  <a:srgbClr val="FF0000"/>
                </a:solidFill>
              </a:rPr>
              <a:t>block.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A </a:t>
            </a:r>
            <a:r>
              <a:rPr lang="en-US" sz="3600" dirty="0"/>
              <a:t>block can contain the </a:t>
            </a:r>
            <a:r>
              <a:rPr lang="en-US" sz="3600" dirty="0">
                <a:solidFill>
                  <a:srgbClr val="B606BA"/>
                </a:solidFill>
              </a:rPr>
              <a:t>declaration of variable </a:t>
            </a:r>
            <a:r>
              <a:rPr lang="en-US" sz="3600" dirty="0"/>
              <a:t>used within it, </a:t>
            </a:r>
            <a:r>
              <a:rPr lang="en-US" sz="3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followed by a sequence </a:t>
            </a:r>
            <a:r>
              <a:rPr lang="en-US" sz="36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program </a:t>
            </a:r>
            <a:r>
              <a:rPr lang="en-US" sz="3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3600" dirty="0" smtClean="0"/>
              <a:t>In </a:t>
            </a:r>
            <a:r>
              <a:rPr lang="en-US" sz="3600" dirty="0"/>
              <a:t>this case the braces enclose the working parts of the function main.</a:t>
            </a:r>
            <a:endParaRPr lang="en-US" sz="36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99118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OF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sz="4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(semicolon</a:t>
            </a:r>
            <a:r>
              <a:rPr lang="en-US" sz="4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sz="38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4600" dirty="0" smtClean="0"/>
              <a:t>The </a:t>
            </a:r>
            <a:r>
              <a:rPr lang="en-US" sz="4600" dirty="0"/>
              <a:t>semicolon marks the </a:t>
            </a:r>
            <a:r>
              <a:rPr lang="en-US" sz="4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 of the list of variable names</a:t>
            </a:r>
            <a:r>
              <a:rPr lang="en-US" sz="4600" dirty="0"/>
              <a:t>, and also </a:t>
            </a:r>
            <a:r>
              <a:rPr lang="en-US" sz="4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end of </a:t>
            </a:r>
            <a:r>
              <a:rPr lang="en-US" sz="46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that declaration </a:t>
            </a:r>
            <a:r>
              <a:rPr lang="en-US" sz="4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</a:t>
            </a:r>
            <a:r>
              <a:rPr lang="en-US" sz="4600" dirty="0"/>
              <a:t>t.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4600" dirty="0" smtClean="0"/>
              <a:t>All </a:t>
            </a:r>
            <a:r>
              <a:rPr lang="en-US" sz="4600" dirty="0"/>
              <a:t>statements in C programs are separated by ";" (semicolon) characters.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4600" dirty="0" smtClean="0"/>
              <a:t>The </a:t>
            </a:r>
            <a:r>
              <a:rPr lang="en-US" sz="4600" dirty="0"/>
              <a:t>";" character is actually very important. It tells the compiler where a </a:t>
            </a:r>
            <a:r>
              <a:rPr lang="en-US" sz="4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given </a:t>
            </a:r>
            <a:r>
              <a:rPr lang="en-US" sz="4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 ends</a:t>
            </a:r>
            <a:r>
              <a:rPr lang="en-US" sz="4600" dirty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4600" dirty="0" smtClean="0"/>
              <a:t>If </a:t>
            </a:r>
            <a:r>
              <a:rPr lang="en-US" sz="4600" dirty="0"/>
              <a:t>the compiler does not find one of these characters where it expects to see one, </a:t>
            </a:r>
            <a:r>
              <a:rPr lang="en-US" sz="4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then </a:t>
            </a:r>
            <a:r>
              <a:rPr lang="en-US" sz="46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will </a:t>
            </a:r>
            <a:r>
              <a:rPr lang="en-US" sz="4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produce an error.</a:t>
            </a:r>
            <a:endParaRPr lang="en-US" sz="4600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1971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OF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sz="5800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endParaRPr lang="en-US" sz="5800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4600" dirty="0" smtClean="0"/>
              <a:t>In </a:t>
            </a:r>
            <a:r>
              <a:rPr lang="en-US" sz="4600" dirty="0"/>
              <a:t>other programming languages, the printing and reading functions are a part of </a:t>
            </a:r>
            <a:r>
              <a:rPr lang="en-US" sz="4600" dirty="0" smtClean="0"/>
              <a:t>the language.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4600" dirty="0" smtClean="0"/>
              <a:t>In </a:t>
            </a:r>
            <a:r>
              <a:rPr lang="en-US" sz="4600" dirty="0"/>
              <a:t>C this is not the case; instead they are defined as standard functions which are part </a:t>
            </a:r>
            <a:r>
              <a:rPr lang="en-US" sz="4600" dirty="0" smtClean="0"/>
              <a:t>of the </a:t>
            </a:r>
            <a:r>
              <a:rPr lang="en-US" sz="4600" dirty="0"/>
              <a:t>language specification, but are not a part of the language </a:t>
            </a:r>
            <a:r>
              <a:rPr lang="en-US" sz="4600" dirty="0" smtClean="0"/>
              <a:t>itself.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4600" dirty="0" smtClean="0"/>
              <a:t>The </a:t>
            </a:r>
            <a:r>
              <a:rPr lang="en-US" sz="4600" dirty="0"/>
              <a:t>standard input/output library contains a number of functions for formatted </a:t>
            </a:r>
            <a:r>
              <a:rPr lang="en-US" sz="4600" dirty="0" smtClean="0"/>
              <a:t>data transfer</a:t>
            </a:r>
            <a:r>
              <a:rPr lang="en-US" sz="4600" dirty="0"/>
              <a:t>; the two we are going to use are </a:t>
            </a:r>
            <a:r>
              <a:rPr lang="en-US" sz="4600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en-US" sz="4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(scan formatted</a:t>
            </a:r>
            <a:r>
              <a:rPr lang="en-US" sz="4600" dirty="0"/>
              <a:t>) and </a:t>
            </a:r>
            <a:r>
              <a:rPr lang="en-US" sz="46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4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n-US" sz="4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 formatted</a:t>
            </a:r>
            <a:r>
              <a:rPr lang="en-US" sz="4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en-US" sz="4600" dirty="0"/>
              <a:t>.</a:t>
            </a:r>
            <a:endParaRPr lang="en-US" sz="4600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68560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OF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sz="5800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endParaRPr lang="en-US" sz="5800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5000" dirty="0" smtClean="0"/>
              <a:t>The </a:t>
            </a:r>
            <a:r>
              <a:rPr lang="en-US" sz="5000" dirty="0" err="1"/>
              <a:t>printf</a:t>
            </a:r>
            <a:r>
              <a:rPr lang="en-US" sz="5000" dirty="0"/>
              <a:t> function is the opposite of </a:t>
            </a:r>
            <a:r>
              <a:rPr lang="en-US" sz="5000" dirty="0" err="1"/>
              <a:t>scanf</a:t>
            </a:r>
            <a:r>
              <a:rPr lang="en-US" sz="5000" dirty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5000" dirty="0" smtClean="0"/>
              <a:t>It </a:t>
            </a:r>
            <a:r>
              <a:rPr lang="en-US" sz="5000" dirty="0"/>
              <a:t>takes text and values from within the program and </a:t>
            </a:r>
            <a:r>
              <a:rPr lang="en-US" sz="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sends it out onto the screen</a:t>
            </a:r>
            <a:r>
              <a:rPr lang="en-US" sz="5000" dirty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5000" dirty="0" smtClean="0"/>
              <a:t>Just </a:t>
            </a:r>
            <a:r>
              <a:rPr lang="en-US" sz="5000" dirty="0"/>
              <a:t>like </a:t>
            </a:r>
            <a:r>
              <a:rPr lang="en-US" sz="5000" dirty="0" err="1"/>
              <a:t>scanf</a:t>
            </a:r>
            <a:r>
              <a:rPr lang="en-US" sz="5000" dirty="0"/>
              <a:t>, it is common to all versions of C and just like </a:t>
            </a:r>
            <a:r>
              <a:rPr lang="en-US" sz="5000" dirty="0" err="1"/>
              <a:t>scanf</a:t>
            </a:r>
            <a:r>
              <a:rPr lang="en-US" sz="5000" dirty="0"/>
              <a:t>, it is described in </a:t>
            </a:r>
            <a:r>
              <a:rPr lang="en-US" sz="5000" dirty="0" smtClean="0"/>
              <a:t>the system </a:t>
            </a:r>
            <a:r>
              <a:rPr lang="en-US" sz="5000" dirty="0"/>
              <a:t>file </a:t>
            </a:r>
            <a:r>
              <a:rPr lang="en-US" sz="5000" dirty="0" err="1"/>
              <a:t>stdio.h</a:t>
            </a:r>
            <a:r>
              <a:rPr lang="en-US" sz="5000" dirty="0"/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en-US" sz="5000" dirty="0" smtClean="0"/>
              <a:t>The </a:t>
            </a:r>
            <a:r>
              <a:rPr lang="en-US" sz="5000" dirty="0"/>
              <a:t>first parameter to a </a:t>
            </a:r>
            <a:r>
              <a:rPr lang="en-US" sz="5000" dirty="0" err="1"/>
              <a:t>printf</a:t>
            </a:r>
            <a:r>
              <a:rPr lang="en-US" sz="5000" dirty="0"/>
              <a:t> is the format string, which contains text, value </a:t>
            </a:r>
            <a:r>
              <a:rPr lang="en-US" sz="5000" dirty="0" smtClean="0"/>
              <a:t>descriptions and </a:t>
            </a:r>
            <a:r>
              <a:rPr lang="en-US" sz="5000" dirty="0"/>
              <a:t>formatting instructions.</a:t>
            </a:r>
            <a:endParaRPr lang="en-US" sz="5000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58834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FILES USED IN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Source File- </a:t>
            </a:r>
            <a:r>
              <a:rPr lang="en-US" sz="3600" dirty="0"/>
              <a:t>This file contains the source code of the program. The file extension of any </a:t>
            </a:r>
            <a:r>
              <a:rPr lang="en-US" sz="3600" dirty="0" smtClean="0"/>
              <a:t>c file </a:t>
            </a:r>
            <a:r>
              <a:rPr lang="en-US" sz="3600" dirty="0"/>
              <a:t>is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.c</a:t>
            </a:r>
            <a:r>
              <a:rPr lang="en-US" sz="3600" dirty="0"/>
              <a:t>. The file contains C source code that defines the main function &amp; maybe </a:t>
            </a:r>
            <a:r>
              <a:rPr lang="en-US" sz="3600" dirty="0" smtClean="0"/>
              <a:t>other functions.</a:t>
            </a:r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Header File- </a:t>
            </a:r>
            <a:r>
              <a:rPr lang="en-US" sz="3600" dirty="0"/>
              <a:t>A header file is a file with extension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.h</a:t>
            </a:r>
            <a:r>
              <a:rPr lang="en-US" sz="3600" dirty="0"/>
              <a:t> which contains the C </a:t>
            </a:r>
            <a:r>
              <a:rPr lang="en-US" sz="3600" dirty="0" smtClean="0"/>
              <a:t>function declarations </a:t>
            </a:r>
            <a:r>
              <a:rPr lang="en-US" sz="3600" dirty="0"/>
              <a:t>and macro definitions and to be shared between several source files.</a:t>
            </a: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424392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FILES USED IN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File-</a:t>
            </a:r>
            <a:r>
              <a:rPr lang="en-US" sz="3600" dirty="0"/>
              <a:t> An object file is a file containing object code, with an extension </a:t>
            </a:r>
            <a:r>
              <a:rPr lang="en-US" sz="3600" b="1" dirty="0">
                <a:solidFill>
                  <a:srgbClr val="FF0000"/>
                </a:solidFill>
              </a:rPr>
              <a:t>.o</a:t>
            </a:r>
            <a:r>
              <a:rPr lang="en-US" sz="3600" dirty="0"/>
              <a:t>, </a:t>
            </a:r>
            <a:r>
              <a:rPr lang="en-US" sz="3600" dirty="0" smtClean="0"/>
              <a:t>meaning </a:t>
            </a:r>
            <a:r>
              <a:rPr lang="en-US" sz="3600" dirty="0" err="1" smtClean="0"/>
              <a:t>relocatable</a:t>
            </a:r>
            <a:r>
              <a:rPr lang="en-US" sz="3600" dirty="0" smtClean="0"/>
              <a:t> </a:t>
            </a:r>
            <a:r>
              <a:rPr lang="en-US" sz="3600" dirty="0"/>
              <a:t>format machine code that is usually not directly executable. Object files </a:t>
            </a:r>
            <a:r>
              <a:rPr lang="en-US" sz="3600" dirty="0" smtClean="0"/>
              <a:t>are produced </a:t>
            </a:r>
            <a:r>
              <a:rPr lang="en-US" sz="3600" dirty="0"/>
              <a:t>by an assembler, compiler, or other language translator, and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used as input to </a:t>
            </a: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linker</a:t>
            </a:r>
            <a:r>
              <a:rPr lang="en-US" sz="3600" dirty="0"/>
              <a:t>, which in turn typically generates an executable or library by combining parts </a:t>
            </a:r>
            <a:r>
              <a:rPr lang="en-US" sz="3600" dirty="0" smtClean="0"/>
              <a:t>of object </a:t>
            </a:r>
            <a:r>
              <a:rPr lang="en-US" sz="3600" dirty="0"/>
              <a:t>files.</a:t>
            </a: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436534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FILES USED IN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Executable File-</a:t>
            </a:r>
            <a:r>
              <a:rPr lang="en-US" sz="3600" dirty="0"/>
              <a:t>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binary executable file is generated by the linker</a:t>
            </a:r>
            <a:r>
              <a:rPr lang="en-US" sz="3600" dirty="0"/>
              <a:t>. The linker links </a:t>
            </a:r>
            <a:r>
              <a:rPr lang="en-US" sz="3600" dirty="0" smtClean="0"/>
              <a:t>the various </a:t>
            </a:r>
            <a:r>
              <a:rPr lang="en-US" sz="3600" dirty="0"/>
              <a:t>object files to produce a binary file that can be directly executed</a:t>
            </a: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418055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COMPLIATION &amp; EXECUTION OF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838199"/>
            <a:ext cx="5105400" cy="5931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133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COMPLIATION &amp; EXECUTION OF A C PROGRAM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914400"/>
            <a:ext cx="6172200" cy="5848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970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05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2489</TotalTime>
  <Words>1777</Words>
  <Application>Microsoft Office PowerPoint</Application>
  <PresentationFormat>On-screen Show (4:3)</PresentationFormat>
  <Paragraphs>244</Paragraphs>
  <Slides>35</Slides>
  <Notes>33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37" baseType="lpstr">
      <vt:lpstr>Office Theme</vt:lpstr>
      <vt:lpstr>1_Slipstream</vt:lpstr>
      <vt:lpstr>Structure Programming  ICT-1105  Information and Communication Technology</vt:lpstr>
      <vt:lpstr>PowerPoint Presentation</vt:lpstr>
      <vt:lpstr>What is C?</vt:lpstr>
      <vt:lpstr>Features of C</vt:lpstr>
      <vt:lpstr>Historical developments of C(Background)</vt:lpstr>
      <vt:lpstr>Brief History of C</vt:lpstr>
      <vt:lpstr>Brief History of C</vt:lpstr>
      <vt:lpstr>Brief History of C</vt:lpstr>
      <vt:lpstr>WHY IS C POPULAR?</vt:lpstr>
      <vt:lpstr>WHY TO STUDY C</vt:lpstr>
      <vt:lpstr>CHARECTERESTICS OF A C PROGRAM</vt:lpstr>
      <vt:lpstr>CHARECTERESTICS OF A C PROGRAM</vt:lpstr>
      <vt:lpstr>CHARECTERESTICS OF A C PROGRAM</vt:lpstr>
      <vt:lpstr>CHARECTERESTICS OF A C PROGRAM</vt:lpstr>
      <vt:lpstr>USES OF C</vt:lpstr>
      <vt:lpstr>STRUCTURE OF A C PROGRAM</vt:lpstr>
      <vt:lpstr>STRUCTURE OF A C PROGRAM</vt:lpstr>
      <vt:lpstr>STRUCTURE OF A C PROGRAM</vt:lpstr>
      <vt:lpstr>STRUCTURE OF A C PROGRAM</vt:lpstr>
      <vt:lpstr>STRUCTURE OF A C PROGRAM</vt:lpstr>
      <vt:lpstr>STRUCTURE OF A C PROGRAM</vt:lpstr>
      <vt:lpstr>STRUCTURE OF A C PROGRAM</vt:lpstr>
      <vt:lpstr>STRUCTURE OF A C PROGRAM</vt:lpstr>
      <vt:lpstr>STRUCTURE OF A C PROGRAM</vt:lpstr>
      <vt:lpstr>STRUCTURE OF A C PROGRAM</vt:lpstr>
      <vt:lpstr>STRUCTURE OF A C PROGRAM</vt:lpstr>
      <vt:lpstr>STRUCTURE OF A C PROGRAM</vt:lpstr>
      <vt:lpstr>STRUCTURE OF A C PROGRAM</vt:lpstr>
      <vt:lpstr>STRUCTURE OF A C PROGRAM</vt:lpstr>
      <vt:lpstr>FILES USED IN A C PROGRAM</vt:lpstr>
      <vt:lpstr>FILES USED IN A C PROGRAM</vt:lpstr>
      <vt:lpstr>FILES USED IN A C PROGRAM</vt:lpstr>
      <vt:lpstr>COMPLIATION &amp; EXECUTION OF A C PROGRAM</vt:lpstr>
      <vt:lpstr>COMPLIATION &amp; EXECUTION OF A C PROGRAM</vt:lpstr>
      <vt:lpstr>Thank you….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AION</dc:creator>
  <cp:lastModifiedBy>AION</cp:lastModifiedBy>
  <cp:revision>206</cp:revision>
  <dcterms:created xsi:type="dcterms:W3CDTF">2019-09-20T11:10:00Z</dcterms:created>
  <dcterms:modified xsi:type="dcterms:W3CDTF">2024-12-01T17:17:04Z</dcterms:modified>
</cp:coreProperties>
</file>