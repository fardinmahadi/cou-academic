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78" r:id="rId2"/>
  </p:sldMasterIdLst>
  <p:notesMasterIdLst>
    <p:notesMasterId r:id="rId35"/>
  </p:notesMasterIdLst>
  <p:sldIdLst>
    <p:sldId id="463" r:id="rId3"/>
    <p:sldId id="467" r:id="rId4"/>
    <p:sldId id="468" r:id="rId5"/>
    <p:sldId id="469" r:id="rId6"/>
    <p:sldId id="470" r:id="rId7"/>
    <p:sldId id="471" r:id="rId8"/>
    <p:sldId id="472" r:id="rId9"/>
    <p:sldId id="473" r:id="rId10"/>
    <p:sldId id="474" r:id="rId11"/>
    <p:sldId id="475" r:id="rId12"/>
    <p:sldId id="476" r:id="rId13"/>
    <p:sldId id="477" r:id="rId14"/>
    <p:sldId id="478" r:id="rId15"/>
    <p:sldId id="479" r:id="rId16"/>
    <p:sldId id="480" r:id="rId17"/>
    <p:sldId id="481" r:id="rId18"/>
    <p:sldId id="482" r:id="rId19"/>
    <p:sldId id="483" r:id="rId20"/>
    <p:sldId id="484" r:id="rId21"/>
    <p:sldId id="485" r:id="rId22"/>
    <p:sldId id="486" r:id="rId23"/>
    <p:sldId id="487" r:id="rId24"/>
    <p:sldId id="488" r:id="rId25"/>
    <p:sldId id="489" r:id="rId26"/>
    <p:sldId id="490" r:id="rId27"/>
    <p:sldId id="491" r:id="rId28"/>
    <p:sldId id="492" r:id="rId29"/>
    <p:sldId id="493" r:id="rId30"/>
    <p:sldId id="494" r:id="rId31"/>
    <p:sldId id="495" r:id="rId32"/>
    <p:sldId id="496" r:id="rId33"/>
    <p:sldId id="461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06BA"/>
    <a:srgbClr val="0000CC"/>
    <a:srgbClr val="1DA37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81317" autoAdjust="0"/>
  </p:normalViewPr>
  <p:slideViewPr>
    <p:cSldViewPr>
      <p:cViewPr varScale="1">
        <p:scale>
          <a:sx n="59" d="100"/>
          <a:sy n="59" d="100"/>
        </p:scale>
        <p:origin x="-168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5DCD7-0DB4-4E0B-B99D-38F426DFA1ED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4FB36-99AC-4CD3-8A8F-04DE1EFF5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5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08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5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0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33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4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3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0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33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64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8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183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93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605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642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952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43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037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015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680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687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025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48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22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364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5431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348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65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7" y="731567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12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8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99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86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48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48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48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6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998720"/>
            <a:ext cx="6400800" cy="1402080"/>
          </a:xfrm>
        </p:spPr>
        <p:txBody>
          <a:bodyPr rtlCol="0">
            <a:normAutofit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Lecture-03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50210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Structure Programming</a:t>
            </a:r>
            <a: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ICT-1105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D62340-A1EA-4CE0-A397-B868A3BF73D1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1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701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Creating and Running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3600" dirty="0"/>
              <a:t>There are four steps in this process.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</a:t>
            </a:r>
            <a:r>
              <a:rPr lang="en-US" sz="3600" dirty="0"/>
              <a:t> Writing and editing the program using Text editor (source code).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</a:t>
            </a:r>
            <a:r>
              <a:rPr lang="en-US" sz="3600" dirty="0"/>
              <a:t> Compile the program using any C compiler.(.</a:t>
            </a:r>
            <a:r>
              <a:rPr lang="en-US" sz="3600" dirty="0" err="1"/>
              <a:t>bak</a:t>
            </a:r>
            <a:r>
              <a:rPr lang="en-US" sz="3600" dirty="0"/>
              <a:t> file)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</a:t>
            </a:r>
            <a:r>
              <a:rPr lang="en-US" sz="3600" dirty="0"/>
              <a:t> Linking the program with the required library modules(object file)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</a:t>
            </a:r>
            <a:r>
              <a:rPr lang="en-US" sz="3600" dirty="0"/>
              <a:t> Executing the program. (.Exe file)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55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Creating and Running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Creating and Editing a C Program in C Programming Language compiler:</a:t>
            </a:r>
          </a:p>
          <a:p>
            <a:pPr marL="0" indent="0" algn="just">
              <a:buNone/>
            </a:pPr>
            <a:r>
              <a:rPr lang="en-US" sz="3600" dirty="0"/>
              <a:t>Writing or 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creating</a:t>
            </a:r>
            <a:r>
              <a:rPr lang="en-US" sz="3600" dirty="0"/>
              <a:t> and 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editing</a:t>
            </a:r>
            <a:r>
              <a:rPr lang="en-US" sz="3600" dirty="0"/>
              <a:t> 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source program</a:t>
            </a:r>
            <a:r>
              <a:rPr lang="en-US" sz="3600" dirty="0"/>
              <a:t> is a 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step in c language</a:t>
            </a:r>
            <a:r>
              <a:rPr lang="en-US" sz="3600" dirty="0"/>
              <a:t>. Source</a:t>
            </a:r>
          </a:p>
          <a:p>
            <a:pPr marL="0" indent="0" algn="just">
              <a:buNone/>
            </a:pPr>
            <a:r>
              <a:rPr lang="en-US" sz="3600" dirty="0"/>
              <a:t>code is written in c programming language according to the type of problem </a:t>
            </a:r>
            <a:r>
              <a:rPr lang="en-US" sz="3600" dirty="0" smtClean="0"/>
              <a:t>or requirement</a:t>
            </a:r>
            <a:r>
              <a:rPr lang="en-US" sz="3600" dirty="0"/>
              <a:t>, in any text editor.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751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Creating and Running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Saving C Program in C Programming Language: </a:t>
            </a:r>
            <a:endParaRPr lang="en-US" sz="3600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3600" dirty="0" smtClean="0"/>
              <a:t>Source </a:t>
            </a:r>
            <a:r>
              <a:rPr lang="en-US" sz="3600" dirty="0"/>
              <a:t>code is 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saved</a:t>
            </a:r>
            <a:r>
              <a:rPr lang="en-US" sz="3600" dirty="0"/>
              <a:t> on </a:t>
            </a:r>
            <a:r>
              <a:rPr lang="en-US" sz="3600" dirty="0" smtClean="0"/>
              <a:t>the </a:t>
            </a: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secondary 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storage</a:t>
            </a:r>
            <a:r>
              <a:rPr lang="en-US" sz="3600" dirty="0"/>
              <a:t>. Source code is saved as text file. The 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extension of file must </a:t>
            </a: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 ".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c"</a:t>
            </a:r>
            <a:r>
              <a:rPr lang="en-US" sz="3600" dirty="0"/>
              <a:t>. </a:t>
            </a:r>
          </a:p>
          <a:p>
            <a:pPr marL="0" indent="0" algn="just">
              <a:buNone/>
            </a:pPr>
            <a:r>
              <a:rPr lang="en-US" sz="3600" dirty="0" smtClean="0"/>
              <a:t>Example: The </a:t>
            </a:r>
            <a:r>
              <a:rPr lang="en-US" sz="3600" dirty="0"/>
              <a:t>file name is "</a:t>
            </a:r>
            <a:r>
              <a:rPr lang="en-US" sz="3600" b="1" dirty="0">
                <a:solidFill>
                  <a:srgbClr val="0000CC"/>
                </a:solidFill>
              </a:rPr>
              <a:t>learn c programming </a:t>
            </a:r>
            <a:r>
              <a:rPr lang="en-US" sz="3600" b="1" dirty="0" err="1">
                <a:solidFill>
                  <a:srgbClr val="0000CC"/>
                </a:solidFill>
              </a:rPr>
              <a:t>language.c</a:t>
            </a:r>
            <a:r>
              <a:rPr lang="en-US" sz="3600" dirty="0"/>
              <a:t>"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966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Creating and Running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Compiling C program in C Programming Language:</a:t>
            </a:r>
            <a:r>
              <a:rPr lang="en-US" sz="3600" dirty="0"/>
              <a:t> </a:t>
            </a:r>
            <a:endParaRPr lang="en-US" sz="3600" dirty="0" smtClean="0"/>
          </a:p>
          <a:p>
            <a:pPr marL="0" indent="0" algn="just">
              <a:buNone/>
            </a:pPr>
            <a:r>
              <a:rPr lang="en-US" sz="3600" dirty="0" smtClean="0"/>
              <a:t>Computer </a:t>
            </a:r>
            <a:r>
              <a:rPr lang="en-US" sz="3600" dirty="0"/>
              <a:t>does </a:t>
            </a:r>
            <a:r>
              <a:rPr lang="en-US" sz="3600" dirty="0" smtClean="0"/>
              <a:t>not understand </a:t>
            </a:r>
            <a:r>
              <a:rPr lang="en-US" sz="3600" dirty="0"/>
              <a:t>c programming language. It 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understands</a:t>
            </a:r>
            <a:r>
              <a:rPr lang="en-US" sz="3600" dirty="0"/>
              <a:t> 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only 0 and 1 </a:t>
            </a:r>
            <a:r>
              <a:rPr lang="en-US" sz="3600" dirty="0"/>
              <a:t>means </a:t>
            </a:r>
            <a:r>
              <a:rPr lang="en-US" sz="3600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machine language</a:t>
            </a:r>
            <a:r>
              <a:rPr lang="en-US" sz="3600" dirty="0"/>
              <a:t>. So c programming language code is converted into machine </a:t>
            </a:r>
            <a:r>
              <a:rPr lang="en-US" sz="3600" dirty="0" smtClean="0"/>
              <a:t>language. </a:t>
            </a:r>
            <a:r>
              <a:rPr lang="en-US" sz="3600" b="1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z="3600" b="1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 of converting source code in to machine code is called </a:t>
            </a:r>
            <a:r>
              <a:rPr lang="en-US" sz="3600" b="1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compiling.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627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Creating and Running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Compiling C program in C Programming Language:</a:t>
            </a:r>
            <a:r>
              <a:rPr lang="en-US" sz="3600" dirty="0"/>
              <a:t> </a:t>
            </a:r>
            <a:endParaRPr lang="en-US" sz="3600" dirty="0" smtClean="0"/>
          </a:p>
          <a:p>
            <a:pPr marL="0" indent="0" algn="just">
              <a:buNone/>
            </a:pPr>
            <a:r>
              <a:rPr lang="en-US" sz="3600" dirty="0" smtClean="0"/>
              <a:t>Compiler </a:t>
            </a:r>
            <a:r>
              <a:rPr lang="en-US" sz="3600" dirty="0"/>
              <a:t>is a program that compiles source code. 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Compiler also detects errors in </a:t>
            </a: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source program</a:t>
            </a:r>
            <a:r>
              <a:rPr lang="en-US" sz="3600" dirty="0"/>
              <a:t>. If compiling is successful source program is converted into </a:t>
            </a:r>
            <a:r>
              <a:rPr lang="en-US" sz="3600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 program</a:t>
            </a:r>
            <a:r>
              <a:rPr lang="en-US" sz="3600" dirty="0"/>
              <a:t>. </a:t>
            </a:r>
            <a:r>
              <a:rPr lang="en-US" sz="3600" dirty="0" smtClean="0"/>
              <a:t>Object program </a:t>
            </a:r>
            <a:r>
              <a:rPr lang="en-US" sz="3600" dirty="0"/>
              <a:t>is saved on disk. </a:t>
            </a:r>
            <a:r>
              <a:rPr lang="en-US" sz="3600" dirty="0">
                <a:solidFill>
                  <a:srgbClr val="B606BA"/>
                </a:solidFill>
              </a:rPr>
              <a:t>The extension of file is ".</a:t>
            </a:r>
            <a:r>
              <a:rPr lang="en-US" sz="3600" dirty="0" err="1">
                <a:solidFill>
                  <a:srgbClr val="B606BA"/>
                </a:solidFill>
              </a:rPr>
              <a:t>obj</a:t>
            </a:r>
            <a:r>
              <a:rPr lang="en-US" sz="3600" dirty="0">
                <a:solidFill>
                  <a:srgbClr val="B606BA"/>
                </a:solidFill>
              </a:rPr>
              <a:t>"</a:t>
            </a:r>
            <a:endParaRPr lang="en-US" sz="3600" dirty="0" smtClean="0">
              <a:solidFill>
                <a:srgbClr val="B606BA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397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Creating and Running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Linking in C programming Language: </a:t>
            </a:r>
            <a:endParaRPr lang="en-US" sz="3600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3600" dirty="0" smtClean="0"/>
              <a:t>There </a:t>
            </a:r>
            <a:r>
              <a:rPr lang="en-US" sz="3600" dirty="0"/>
              <a:t>are 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many built in </a:t>
            </a: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functions </a:t>
            </a:r>
            <a:r>
              <a:rPr lang="en-US" sz="3600" dirty="0" smtClean="0"/>
              <a:t>available </a:t>
            </a:r>
            <a:r>
              <a:rPr lang="en-US" sz="3600" dirty="0"/>
              <a:t>in c programming language. These functions are also called </a:t>
            </a: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library functions</a:t>
            </a:r>
            <a:r>
              <a:rPr lang="en-US" sz="3600" dirty="0"/>
              <a:t>. </a:t>
            </a:r>
            <a:r>
              <a:rPr lang="en-US" sz="3600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These functions are stored in different header </a:t>
            </a:r>
            <a:r>
              <a:rPr lang="en-US" sz="3600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85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Creating and Running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Loading program:</a:t>
            </a:r>
            <a:r>
              <a:rPr lang="en-US" sz="3600" dirty="0"/>
              <a:t> </a:t>
            </a:r>
            <a:endParaRPr lang="en-US" sz="3600" dirty="0" smtClean="0"/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r>
              <a:rPr lang="en-US" sz="3600" dirty="0" smtClean="0"/>
              <a:t>The </a:t>
            </a:r>
            <a:r>
              <a:rPr lang="en-US" sz="3600" dirty="0"/>
              <a:t>process of 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transferring a program </a:t>
            </a:r>
            <a:r>
              <a:rPr lang="en-US" sz="3600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secondary </a:t>
            </a:r>
            <a:r>
              <a:rPr lang="en-US" sz="3600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storage to </a:t>
            </a:r>
            <a:r>
              <a:rPr lang="en-US" sz="3600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 memory</a:t>
            </a:r>
            <a:r>
              <a:rPr lang="en-US" sz="3600" dirty="0"/>
              <a:t> </a:t>
            </a:r>
            <a:r>
              <a:rPr lang="en-US" sz="36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execution</a:t>
            </a:r>
            <a:r>
              <a:rPr lang="en-US" sz="3600" dirty="0"/>
              <a:t> is called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loading a program</a:t>
            </a:r>
            <a:r>
              <a:rPr lang="en-US" sz="3600" dirty="0"/>
              <a:t>. </a:t>
            </a:r>
            <a:endParaRPr lang="en-US" sz="3600" dirty="0" smtClean="0"/>
          </a:p>
          <a:p>
            <a:pPr marL="0" indent="0" algn="just">
              <a:buNone/>
            </a:pP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A </a:t>
            </a:r>
            <a:r>
              <a:rPr lang="en-US" sz="3600" dirty="0"/>
              <a:t>program called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loader</a:t>
            </a:r>
            <a:r>
              <a:rPr lang="en-US" sz="3600" dirty="0"/>
              <a:t> does loading.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271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Creating and Running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Executing program: </a:t>
            </a:r>
            <a:endParaRPr lang="en-US" sz="3600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3600" dirty="0" smtClean="0"/>
              <a:t>Execution </a:t>
            </a:r>
            <a:r>
              <a:rPr lang="en-US" sz="3600" dirty="0"/>
              <a:t>is the 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last step</a:t>
            </a:r>
            <a:r>
              <a:rPr lang="en-US" sz="3600" dirty="0"/>
              <a:t>. In this step program </a:t>
            </a:r>
            <a:r>
              <a:rPr lang="en-US" sz="3600" dirty="0" smtClean="0"/>
              <a:t>starts execution</a:t>
            </a:r>
            <a:r>
              <a:rPr lang="en-US" sz="3600" dirty="0"/>
              <a:t>. Its </a:t>
            </a:r>
            <a:r>
              <a:rPr lang="en-US" sz="3600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instructions start working</a:t>
            </a:r>
            <a:r>
              <a:rPr lang="en-US" sz="3600" dirty="0"/>
              <a:t> and </a:t>
            </a:r>
            <a:r>
              <a:rPr lang="en-US" sz="36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 of the program display on </a:t>
            </a:r>
            <a:r>
              <a:rPr lang="en-US" sz="3600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68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2084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Creating and Running Programs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685800"/>
            <a:ext cx="6172200" cy="617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5126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Pseudocode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 smtClean="0"/>
              <a:t>An </a:t>
            </a:r>
            <a:r>
              <a:rPr lang="en-US" sz="3600" dirty="0"/>
              <a:t>artificial and informal language that helps programmers </a:t>
            </a:r>
            <a:r>
              <a:rPr lang="en-US" sz="3600" dirty="0" smtClean="0"/>
              <a:t>develop algorithms</a:t>
            </a:r>
            <a:r>
              <a:rPr lang="en-US" sz="3600" dirty="0"/>
              <a:t>. </a:t>
            </a:r>
            <a:r>
              <a:rPr lang="en-US" sz="3600" dirty="0" err="1"/>
              <a:t>Pseudocode</a:t>
            </a:r>
            <a:r>
              <a:rPr lang="en-US" sz="3600" dirty="0"/>
              <a:t> is very similar to everyday English.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2549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Algorithm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00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An algorithm is a description of a procedure which terminates with a result. Algorithm is </a:t>
            </a:r>
            <a:r>
              <a:rPr lang="en-US" sz="3600" dirty="0" smtClean="0"/>
              <a:t>a </a:t>
            </a:r>
            <a:r>
              <a:rPr lang="en-US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step-by-step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 of solving a problem</a:t>
            </a:r>
            <a:r>
              <a:rPr lang="en-US" sz="3600" dirty="0"/>
              <a:t>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321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Properties of an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Algorithm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4102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1.Finiteness:</a:t>
            </a:r>
            <a:r>
              <a:rPr lang="en-US" sz="2600" dirty="0" smtClean="0"/>
              <a:t>- </a:t>
            </a:r>
            <a:r>
              <a:rPr lang="en-US" sz="2600" dirty="0"/>
              <a:t>An algorithm </a:t>
            </a:r>
            <a:r>
              <a:rPr 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terminates</a:t>
            </a:r>
            <a:r>
              <a:rPr lang="en-US" sz="2600" dirty="0"/>
              <a:t> after a finite numbers of steps</a:t>
            </a:r>
            <a:r>
              <a:rPr lang="en-US" sz="2600" dirty="0" smtClean="0"/>
              <a:t>.</a:t>
            </a:r>
            <a:endParaRPr lang="en-US" sz="2600" dirty="0"/>
          </a:p>
          <a:p>
            <a:pPr marL="0" indent="0" algn="just">
              <a:buNone/>
            </a:pPr>
            <a:r>
              <a:rPr lang="en-US" sz="2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2.Definiteness:</a:t>
            </a:r>
            <a:r>
              <a:rPr lang="en-US" sz="2600" dirty="0" smtClean="0"/>
              <a:t>- Each </a:t>
            </a:r>
            <a:r>
              <a:rPr lang="en-US" sz="2600" dirty="0"/>
              <a:t>step in algorithm is </a:t>
            </a:r>
            <a:r>
              <a:rPr lang="en-US" sz="26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unambiguous</a:t>
            </a:r>
            <a:r>
              <a:rPr lang="en-US" sz="2600" dirty="0"/>
              <a:t>. This means that the </a:t>
            </a:r>
            <a:r>
              <a:rPr lang="en-US" sz="2600" dirty="0" smtClean="0"/>
              <a:t>action specified </a:t>
            </a:r>
            <a:r>
              <a:rPr lang="en-US" sz="2600" dirty="0"/>
              <a:t>by the step cannot be interpreted (explain the meaning of) in multiple ways &amp; </a:t>
            </a:r>
            <a:r>
              <a:rPr lang="en-US" sz="2600" dirty="0" smtClean="0"/>
              <a:t>can be </a:t>
            </a:r>
            <a:r>
              <a:rPr lang="en-US" sz="2600" dirty="0"/>
              <a:t>performed without any confusion</a:t>
            </a:r>
            <a:r>
              <a:rPr lang="en-US" sz="2600" dirty="0" smtClean="0"/>
              <a:t>.</a:t>
            </a:r>
            <a:endParaRPr lang="en-US" sz="2600" dirty="0"/>
          </a:p>
          <a:p>
            <a:pPr marL="0" indent="0" algn="just">
              <a:buNone/>
            </a:pPr>
            <a:r>
              <a:rPr lang="en-US" sz="2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3.Input</a:t>
            </a:r>
            <a:r>
              <a:rPr lang="en-US" sz="2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US" sz="2600" dirty="0"/>
              <a:t> - An algorithm accepts </a:t>
            </a:r>
            <a:r>
              <a:rPr 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zero or more </a:t>
            </a:r>
            <a:r>
              <a:rPr lang="en-US" sz="2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inputs.</a:t>
            </a:r>
            <a:endParaRPr lang="en-US" sz="2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2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4.Output</a:t>
            </a:r>
            <a:r>
              <a:rPr 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US" sz="2600" dirty="0"/>
              <a:t>- An algorithm should produce </a:t>
            </a:r>
            <a:r>
              <a:rPr lang="en-US" sz="26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 least one output</a:t>
            </a:r>
            <a:r>
              <a:rPr lang="en-US" sz="2600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 algn="just">
              <a:buNone/>
            </a:pPr>
            <a:r>
              <a:rPr lang="en-US" sz="2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5.Effectiveness:-</a:t>
            </a:r>
            <a:r>
              <a:rPr lang="en-US" sz="2600" dirty="0" smtClean="0"/>
              <a:t> </a:t>
            </a:r>
            <a:r>
              <a:rPr lang="en-US" sz="2600" dirty="0"/>
              <a:t>It consists of basic instructions that are realizable. This means that </a:t>
            </a:r>
            <a:r>
              <a:rPr lang="en-US" sz="2600" dirty="0" smtClean="0"/>
              <a:t>the instructions </a:t>
            </a:r>
            <a:r>
              <a:rPr lang="en-US" sz="2600" dirty="0"/>
              <a:t>can be performed by using the given inputs </a:t>
            </a:r>
            <a:r>
              <a:rPr 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a finite amount of time.</a:t>
            </a:r>
            <a:endParaRPr lang="en-US" sz="2600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5428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Writing 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/>
              <a:t>An algorithm can be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written in English</a:t>
            </a:r>
            <a:r>
              <a:rPr lang="en-US" dirty="0"/>
              <a:t>, like sentences and using </a:t>
            </a:r>
            <a:r>
              <a:rPr lang="en-US" dirty="0" smtClean="0"/>
              <a:t>mathematical formulas</a:t>
            </a:r>
            <a:r>
              <a:rPr lang="en-US" dirty="0"/>
              <a:t>. Sometimes algorithm written in English like language is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Pseudo code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Examples:</a:t>
            </a:r>
            <a:endParaRPr lang="en-US" dirty="0"/>
          </a:p>
          <a:p>
            <a:pPr marL="0" indent="0" algn="just">
              <a:buNone/>
            </a:pPr>
            <a:r>
              <a:rPr lang="en-US" b="1" dirty="0" smtClean="0"/>
              <a:t>Finding </a:t>
            </a:r>
            <a:r>
              <a:rPr lang="en-US" b="1" dirty="0"/>
              <a:t>the average of three numbers</a:t>
            </a:r>
            <a:endParaRPr lang="en-US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9455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Writing 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/>
              <a:t>1. Let </a:t>
            </a:r>
            <a:r>
              <a:rPr lang="en-US" dirty="0" err="1"/>
              <a:t>a,b,c</a:t>
            </a:r>
            <a:r>
              <a:rPr lang="en-US" dirty="0"/>
              <a:t> are three integers</a:t>
            </a:r>
          </a:p>
          <a:p>
            <a:pPr marL="0" indent="0" algn="just">
              <a:buNone/>
            </a:pPr>
            <a:r>
              <a:rPr lang="en-US" dirty="0"/>
              <a:t>2. Let d is float</a:t>
            </a:r>
          </a:p>
          <a:p>
            <a:pPr marL="0" indent="0" algn="just">
              <a:buNone/>
            </a:pPr>
            <a:r>
              <a:rPr lang="en-US" dirty="0"/>
              <a:t>3. Display the message “Enter any three integers:”</a:t>
            </a:r>
          </a:p>
          <a:p>
            <a:pPr marL="0" indent="0" algn="just">
              <a:buNone/>
            </a:pPr>
            <a:r>
              <a:rPr lang="en-US" dirty="0"/>
              <a:t>4. Read three integers and stores in </a:t>
            </a:r>
            <a:r>
              <a:rPr lang="en-US" dirty="0" err="1"/>
              <a:t>a,b,c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5. Compute the d = (</a:t>
            </a:r>
            <a:r>
              <a:rPr lang="en-US" dirty="0" err="1"/>
              <a:t>a+b+c</a:t>
            </a:r>
            <a:r>
              <a:rPr lang="en-US" dirty="0"/>
              <a:t>)/3.0</a:t>
            </a:r>
          </a:p>
          <a:p>
            <a:pPr marL="0" indent="0" algn="just">
              <a:buNone/>
            </a:pPr>
            <a:r>
              <a:rPr lang="en-US" dirty="0"/>
              <a:t>6. Display “The </a:t>
            </a:r>
            <a:r>
              <a:rPr lang="en-US" dirty="0" err="1"/>
              <a:t>avg</a:t>
            </a:r>
            <a:r>
              <a:rPr lang="en-US" dirty="0"/>
              <a:t> is:” , d</a:t>
            </a:r>
          </a:p>
          <a:p>
            <a:pPr marL="0" indent="0" algn="just">
              <a:buNone/>
            </a:pPr>
            <a:r>
              <a:rPr lang="en-US" dirty="0"/>
              <a:t>7. End.</a:t>
            </a:r>
            <a:endParaRPr lang="en-US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909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Writing 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1: </a:t>
            </a:r>
            <a:endParaRPr lang="en-US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dirty="0" smtClean="0"/>
              <a:t>Write </a:t>
            </a:r>
            <a:r>
              <a:rPr lang="en-US" dirty="0"/>
              <a:t>an algorithm to determine a </a:t>
            </a:r>
            <a:r>
              <a:rPr lang="en-US" dirty="0" smtClean="0"/>
              <a:t>student’s </a:t>
            </a:r>
            <a:r>
              <a:rPr lang="en-US" dirty="0"/>
              <a:t>final grade and indicate </a:t>
            </a:r>
            <a:r>
              <a:rPr lang="en-US" dirty="0" smtClean="0"/>
              <a:t>whether it </a:t>
            </a:r>
            <a:r>
              <a:rPr lang="en-US" dirty="0"/>
              <a:t>is passing or failing. The final grade is calculated as the average of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four</a:t>
            </a:r>
            <a:r>
              <a:rPr lang="en-US" dirty="0"/>
              <a:t> marks.</a:t>
            </a:r>
            <a:endParaRPr lang="en-US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955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Writing 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 err="1">
                <a:solidFill>
                  <a:srgbClr val="0000CC"/>
                </a:solidFill>
              </a:rPr>
              <a:t>Pseudocode</a:t>
            </a:r>
            <a:r>
              <a:rPr lang="en-US" b="1" dirty="0" smtClean="0">
                <a:solidFill>
                  <a:srgbClr val="0000CC"/>
                </a:solidFill>
              </a:rPr>
              <a:t>:</a:t>
            </a:r>
            <a:endParaRPr lang="en-US" b="1" dirty="0">
              <a:solidFill>
                <a:srgbClr val="0000CC"/>
              </a:solidFill>
            </a:endParaRP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Input </a:t>
            </a:r>
            <a:r>
              <a:rPr lang="en-US" b="1" dirty="0"/>
              <a:t>a set of 4 marks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Calculate </a:t>
            </a:r>
            <a:r>
              <a:rPr lang="en-US" b="1" dirty="0"/>
              <a:t>their average by summing and dividing by 4</a:t>
            </a:r>
          </a:p>
          <a:p>
            <a:pPr algn="just">
              <a:buFont typeface="Wingdings" pitchFamily="2" charset="2"/>
              <a:buChar char="§"/>
            </a:pPr>
            <a:r>
              <a:rPr lang="en-US" b="1" dirty="0" smtClean="0"/>
              <a:t>if </a:t>
            </a:r>
            <a:r>
              <a:rPr lang="en-US" b="1" dirty="0"/>
              <a:t>average is below </a:t>
            </a:r>
            <a:r>
              <a:rPr lang="en-US" b="1" dirty="0" smtClean="0">
                <a:solidFill>
                  <a:srgbClr val="B606BA"/>
                </a:solidFill>
              </a:rPr>
              <a:t>40</a:t>
            </a:r>
          </a:p>
          <a:p>
            <a:pPr marL="0" indent="0" algn="just">
              <a:buNone/>
            </a:pPr>
            <a:r>
              <a:rPr lang="en-US" b="1" dirty="0" smtClean="0"/>
              <a:t>	Print </a:t>
            </a:r>
            <a:r>
              <a:rPr lang="en-US" b="1" dirty="0"/>
              <a:t>“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FAIL</a:t>
            </a:r>
            <a:r>
              <a:rPr lang="en-US" b="1" dirty="0"/>
              <a:t>”</a:t>
            </a:r>
          </a:p>
          <a:p>
            <a:pPr marL="0" indent="0" algn="just">
              <a:buNone/>
            </a:pPr>
            <a:r>
              <a:rPr lang="en-US" b="1" dirty="0" smtClean="0"/>
              <a:t>   else</a:t>
            </a:r>
            <a:endParaRPr lang="en-US" b="1" dirty="0"/>
          </a:p>
          <a:p>
            <a:pPr marL="0" indent="0" algn="just">
              <a:buNone/>
            </a:pPr>
            <a:r>
              <a:rPr lang="en-US" b="1" dirty="0" smtClean="0"/>
              <a:t>	Print </a:t>
            </a:r>
            <a:r>
              <a:rPr lang="en-US" b="1" dirty="0"/>
              <a:t>“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</a:t>
            </a:r>
            <a:r>
              <a:rPr lang="en-US" b="1" dirty="0"/>
              <a:t>”</a:t>
            </a:r>
            <a:endParaRPr lang="en-US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587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Writing 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Detailed Algorithm :</a:t>
            </a:r>
          </a:p>
          <a:p>
            <a:pPr marL="0" indent="0" algn="just">
              <a:buNone/>
            </a:pPr>
            <a:r>
              <a:rPr lang="en-US" b="1" dirty="0" smtClean="0"/>
              <a:t>Step </a:t>
            </a:r>
            <a:r>
              <a:rPr lang="en-US" b="1" dirty="0"/>
              <a:t>1: Input M1,M2,M3,M4</a:t>
            </a:r>
          </a:p>
          <a:p>
            <a:pPr marL="0" indent="0" algn="just">
              <a:buNone/>
            </a:pPr>
            <a:r>
              <a:rPr lang="en-US" b="1" dirty="0"/>
              <a:t>Step 2: GRADE </a:t>
            </a:r>
            <a:r>
              <a:rPr lang="en-US" b="1" dirty="0" smtClean="0"/>
              <a:t>← </a:t>
            </a:r>
            <a:r>
              <a:rPr lang="en-US" b="1" dirty="0"/>
              <a:t>(M1+M2+M3+M4)/4</a:t>
            </a:r>
          </a:p>
          <a:p>
            <a:pPr marL="0" indent="0" algn="just">
              <a:buNone/>
            </a:pPr>
            <a:r>
              <a:rPr lang="en-US" b="1" dirty="0"/>
              <a:t>Step 3: if (GRADE &lt; </a:t>
            </a:r>
            <a:r>
              <a:rPr lang="en-US" b="1" dirty="0" smtClean="0"/>
              <a:t>40</a:t>
            </a:r>
            <a:r>
              <a:rPr lang="en-US" b="1" dirty="0"/>
              <a:t>) then</a:t>
            </a:r>
          </a:p>
          <a:p>
            <a:pPr marL="0" indent="0" algn="just">
              <a:buNone/>
            </a:pPr>
            <a:r>
              <a:rPr lang="en-US" b="1" dirty="0" smtClean="0"/>
              <a:t>			Print </a:t>
            </a:r>
            <a:r>
              <a:rPr lang="en-US" b="1" dirty="0"/>
              <a:t>“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FAIL</a:t>
            </a:r>
            <a:r>
              <a:rPr lang="en-US" b="1" dirty="0"/>
              <a:t>”</a:t>
            </a:r>
          </a:p>
          <a:p>
            <a:pPr marL="0" indent="0" algn="just">
              <a:buNone/>
            </a:pPr>
            <a:r>
              <a:rPr lang="en-US" b="1" dirty="0" smtClean="0"/>
              <a:t>	    else</a:t>
            </a:r>
            <a:endParaRPr lang="en-US" b="1" dirty="0"/>
          </a:p>
          <a:p>
            <a:pPr marL="0" indent="0" algn="just">
              <a:buNone/>
            </a:pPr>
            <a:r>
              <a:rPr lang="en-US" b="1" dirty="0" smtClean="0"/>
              <a:t>			Print </a:t>
            </a:r>
            <a:r>
              <a:rPr lang="en-US" b="1" dirty="0"/>
              <a:t>“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</a:t>
            </a:r>
            <a:r>
              <a:rPr lang="en-US" b="1" dirty="0"/>
              <a:t>”</a:t>
            </a:r>
          </a:p>
          <a:p>
            <a:pPr marL="0" indent="0" algn="just">
              <a:buNone/>
            </a:pPr>
            <a:r>
              <a:rPr lang="en-US" b="1" dirty="0" smtClean="0"/>
              <a:t>              end if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626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Flowcharts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pictorial representation of algorithm is called flowchart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Uses of flow chart:</a:t>
            </a:r>
          </a:p>
          <a:p>
            <a:pPr marL="0" indent="0" algn="just">
              <a:buNone/>
            </a:pPr>
            <a:r>
              <a:rPr lang="en-US" dirty="0" smtClean="0"/>
              <a:t>1. </a:t>
            </a:r>
            <a:r>
              <a:rPr lang="en-US" dirty="0"/>
              <a:t>F</a:t>
            </a:r>
            <a:r>
              <a:rPr lang="en-US" dirty="0" smtClean="0"/>
              <a:t>low </a:t>
            </a:r>
            <a:r>
              <a:rPr lang="en-US" dirty="0"/>
              <a:t>chart helps to </a:t>
            </a:r>
            <a:r>
              <a:rPr lang="en-US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understand the program easily.</a:t>
            </a:r>
          </a:p>
          <a:p>
            <a:pPr marL="0" indent="0" algn="just">
              <a:buNone/>
            </a:pPr>
            <a:r>
              <a:rPr lang="en-US" dirty="0" smtClean="0"/>
              <a:t>2. </a:t>
            </a:r>
            <a:r>
              <a:rPr lang="en-US" dirty="0"/>
              <a:t>A</a:t>
            </a:r>
            <a:r>
              <a:rPr lang="en-US" dirty="0" smtClean="0"/>
              <a:t>s </a:t>
            </a:r>
            <a:r>
              <a:rPr lang="en-US" dirty="0"/>
              <a:t>different symbols are used to specify the type of operation performed, it is </a:t>
            </a:r>
            <a:r>
              <a:rPr lang="en-US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easier </a:t>
            </a:r>
            <a:r>
              <a:rPr lang="en-US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understand </a:t>
            </a:r>
            <a:r>
              <a:rPr lang="en-US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complex programs </a:t>
            </a:r>
            <a:r>
              <a:rPr lang="en-US" dirty="0"/>
              <a:t>with the help of flowcharts.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7224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Flowchart Symbols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90600"/>
            <a:ext cx="8785187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410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Flowchart Symbols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84" y="1065514"/>
            <a:ext cx="8458200" cy="612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68" y="1371600"/>
            <a:ext cx="8698832" cy="5302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0704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Writing 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Try yourself:</a:t>
            </a:r>
          </a:p>
          <a:p>
            <a:pPr marL="0" indent="0" algn="just">
              <a:buNone/>
            </a:pPr>
            <a:endParaRPr lang="en-US" b="1" dirty="0"/>
          </a:p>
          <a:p>
            <a:pPr marL="0" indent="0" algn="just">
              <a:buNone/>
            </a:pPr>
            <a:r>
              <a:rPr lang="en-US" b="1" dirty="0"/>
              <a:t>Algorithm to find whether a number even or odd</a:t>
            </a:r>
            <a:endParaRPr lang="en-US" b="1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1098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Development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24000"/>
            <a:ext cx="8714606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859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Development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1143000"/>
            <a:ext cx="8069869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19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Development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r>
              <a:rPr lang="en-US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</a:t>
            </a: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>
              <a:buFont typeface="Wingdings" pitchFamily="2" charset="2"/>
              <a:buChar char="q"/>
            </a:pPr>
            <a:r>
              <a:rPr lang="en-US" sz="3600" dirty="0" smtClean="0"/>
              <a:t>Working </a:t>
            </a:r>
            <a:r>
              <a:rPr lang="en-US" sz="3600" dirty="0"/>
              <a:t>with 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existing system</a:t>
            </a:r>
            <a:r>
              <a:rPr lang="en-US" sz="3600" dirty="0"/>
              <a:t> and </a:t>
            </a:r>
            <a:r>
              <a:rPr lang="en-US" sz="3600" dirty="0" smtClean="0"/>
              <a:t>using </a:t>
            </a: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proper 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questionnaire</a:t>
            </a:r>
            <a:r>
              <a:rPr lang="en-US" sz="3600" dirty="0"/>
              <a:t>, the problem should </a:t>
            </a:r>
            <a:r>
              <a:rPr lang="en-US" sz="3600" dirty="0" smtClean="0"/>
              <a:t>be </a:t>
            </a:r>
            <a:r>
              <a:rPr lang="en-US" sz="3600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explained clearly</a:t>
            </a:r>
            <a:r>
              <a:rPr lang="en-US" sz="3600" dirty="0" smtClean="0"/>
              <a:t>.</a:t>
            </a:r>
            <a:endParaRPr lang="en-US" sz="3600" dirty="0"/>
          </a:p>
          <a:p>
            <a:pPr algn="just">
              <a:buFont typeface="Wingdings" pitchFamily="2" charset="2"/>
              <a:buChar char="q"/>
            </a:pPr>
            <a:r>
              <a:rPr lang="en-US" sz="3600" dirty="0" smtClean="0"/>
              <a:t>What </a:t>
            </a:r>
            <a:r>
              <a:rPr lang="en-US" sz="3600" dirty="0"/>
              <a:t>inputs are available, what outputs are required and what is needed for creating </a:t>
            </a:r>
            <a:r>
              <a:rPr lang="en-US" sz="3600" dirty="0" smtClean="0"/>
              <a:t>workable solution</a:t>
            </a:r>
            <a:r>
              <a:rPr lang="en-US" sz="3600" dirty="0"/>
              <a:t>, should be understood clearly</a:t>
            </a:r>
          </a:p>
        </p:txBody>
      </p:sp>
    </p:spTree>
    <p:extLst>
      <p:ext uri="{BB962C8B-B14F-4D97-AF65-F5344CB8AC3E}">
        <p14:creationId xmlns:p14="http://schemas.microsoft.com/office/powerpoint/2010/main" val="2163237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Development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Analysis</a:t>
            </a:r>
          </a:p>
          <a:p>
            <a:pPr algn="just">
              <a:buFont typeface="Wingdings" pitchFamily="2" charset="2"/>
              <a:buChar char="q"/>
            </a:pPr>
            <a:r>
              <a:rPr lang="en-US" sz="3600" dirty="0" smtClean="0"/>
              <a:t>The </a:t>
            </a:r>
            <a:r>
              <a:rPr lang="en-US" sz="3600" dirty="0"/>
              <a:t>method of solutions to solve the problem can be identified.</a:t>
            </a:r>
          </a:p>
          <a:p>
            <a:pPr algn="just">
              <a:buFont typeface="Wingdings" pitchFamily="2" charset="2"/>
              <a:buChar char="q"/>
            </a:pPr>
            <a:r>
              <a:rPr lang="en-US" sz="3600" dirty="0" smtClean="0"/>
              <a:t>We </a:t>
            </a:r>
            <a:r>
              <a:rPr lang="en-US" sz="3600" dirty="0"/>
              <a:t>also judge that 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which method gives best results </a:t>
            </a:r>
            <a:r>
              <a:rPr lang="en-US" sz="3600" dirty="0"/>
              <a:t>among different methods of solution.</a:t>
            </a:r>
          </a:p>
        </p:txBody>
      </p:sp>
    </p:spTree>
    <p:extLst>
      <p:ext uri="{BB962C8B-B14F-4D97-AF65-F5344CB8AC3E}">
        <p14:creationId xmlns:p14="http://schemas.microsoft.com/office/powerpoint/2010/main" val="1538078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Development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Design</a:t>
            </a:r>
          </a:p>
          <a:p>
            <a:pPr algn="just">
              <a:buFont typeface="Wingdings" pitchFamily="2" charset="2"/>
              <a:buChar char="q"/>
            </a:pP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Algorithms</a:t>
            </a:r>
            <a:r>
              <a:rPr lang="en-US" sz="3600" dirty="0" smtClean="0"/>
              <a:t> </a:t>
            </a:r>
            <a:r>
              <a:rPr lang="en-US" sz="3600" dirty="0"/>
              <a:t>and </a:t>
            </a:r>
            <a:r>
              <a:rPr lang="en-US" sz="3600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flow charts</a:t>
            </a:r>
            <a:r>
              <a:rPr lang="en-US" sz="3600" dirty="0"/>
              <a:t> will be prepared.</a:t>
            </a:r>
          </a:p>
          <a:p>
            <a:pPr algn="just">
              <a:buFont typeface="Wingdings" pitchFamily="2" charset="2"/>
              <a:buChar char="q"/>
            </a:pPr>
            <a:r>
              <a:rPr lang="en-US" sz="3600" dirty="0" smtClean="0"/>
              <a:t>Focus </a:t>
            </a:r>
            <a:r>
              <a:rPr lang="en-US" sz="3600" dirty="0"/>
              <a:t>on </a:t>
            </a:r>
            <a:r>
              <a:rPr lang="en-US" sz="3600" dirty="0">
                <a:solidFill>
                  <a:srgbClr val="0000CC"/>
                </a:solidFill>
              </a:rPr>
              <a:t>data</a:t>
            </a:r>
            <a:r>
              <a:rPr lang="en-US" sz="3600" dirty="0"/>
              <a:t>, </a:t>
            </a:r>
            <a:r>
              <a:rPr lang="en-US" sz="3600" dirty="0">
                <a:solidFill>
                  <a:srgbClr val="FF0000"/>
                </a:solidFill>
              </a:rPr>
              <a:t>architecture</a:t>
            </a:r>
            <a:r>
              <a:rPr lang="en-US" sz="3600" dirty="0"/>
              <a:t>, </a:t>
            </a:r>
            <a:r>
              <a:rPr lang="en-US" sz="3600" dirty="0">
                <a:solidFill>
                  <a:srgbClr val="0000CC"/>
                </a:solidFill>
              </a:rPr>
              <a:t>user interfaces</a:t>
            </a:r>
            <a:r>
              <a:rPr lang="en-US" sz="3600" dirty="0"/>
              <a:t> and </a:t>
            </a:r>
            <a:r>
              <a:rPr lang="en-US" sz="3600" dirty="0">
                <a:solidFill>
                  <a:srgbClr val="B606BA"/>
                </a:solidFill>
              </a:rPr>
              <a:t>program components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4693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Development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System Test</a:t>
            </a:r>
          </a:p>
          <a:p>
            <a:pPr marL="0" indent="0" algn="just">
              <a:buNone/>
            </a:pPr>
            <a:r>
              <a:rPr lang="en-US" sz="3600" dirty="0"/>
              <a:t>The </a:t>
            </a: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algorithms</a:t>
            </a:r>
            <a:r>
              <a:rPr lang="en-US" sz="3600" dirty="0"/>
              <a:t> and </a:t>
            </a:r>
            <a:r>
              <a:rPr lang="en-US" sz="3600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flow charts </a:t>
            </a:r>
            <a:r>
              <a:rPr lang="en-US" sz="3600" dirty="0"/>
              <a:t>developed in the previous steps are </a:t>
            </a:r>
            <a:r>
              <a:rPr lang="en-US" sz="36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converted into </a:t>
            </a:r>
            <a:r>
              <a:rPr lang="en-US" sz="3600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programs</a:t>
            </a:r>
            <a:r>
              <a:rPr lang="en-US" sz="3600" dirty="0" smtClean="0"/>
              <a:t> </a:t>
            </a:r>
            <a:r>
              <a:rPr lang="en-US" sz="3600" dirty="0"/>
              <a:t>in the high level languages like C.</a:t>
            </a:r>
          </a:p>
        </p:txBody>
      </p:sp>
    </p:spTree>
    <p:extLst>
      <p:ext uri="{BB962C8B-B14F-4D97-AF65-F5344CB8AC3E}">
        <p14:creationId xmlns:p14="http://schemas.microsoft.com/office/powerpoint/2010/main" val="640242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Development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864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System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a. Compilation</a:t>
            </a:r>
          </a:p>
          <a:p>
            <a:pPr marL="0" indent="0" algn="just">
              <a:buNone/>
            </a:pPr>
            <a:r>
              <a:rPr lang="en-US" sz="3500" dirty="0">
                <a:solidFill>
                  <a:srgbClr val="B606BA"/>
                </a:solidFill>
              </a:rPr>
              <a:t>The process of translating the program into machine code is called as Compilation.</a:t>
            </a:r>
            <a:r>
              <a:rPr lang="en-US" sz="3500" dirty="0"/>
              <a:t> </a:t>
            </a:r>
            <a:r>
              <a:rPr lang="en-US" sz="3500" dirty="0" smtClean="0"/>
              <a:t>Syntactic errors </a:t>
            </a:r>
            <a:r>
              <a:rPr lang="en-US" sz="3500" dirty="0"/>
              <a:t>are found quickly at the time of compiling the program. These errors occur due to </a:t>
            </a:r>
            <a:r>
              <a:rPr lang="en-US" sz="3500" dirty="0" smtClean="0"/>
              <a:t>the usage </a:t>
            </a:r>
            <a:r>
              <a:rPr lang="en-US" sz="3500" dirty="0"/>
              <a:t>of wrong syntaxes for the statements.</a:t>
            </a:r>
          </a:p>
          <a:p>
            <a:pPr marL="0" indent="0" algn="just">
              <a:buNone/>
            </a:pPr>
            <a:endParaRPr lang="en-US" sz="3500" dirty="0" smtClean="0"/>
          </a:p>
          <a:p>
            <a:pPr marL="0" indent="0" algn="just">
              <a:buNone/>
            </a:pPr>
            <a:r>
              <a:rPr lang="en-US" sz="3500" dirty="0" err="1" smtClean="0"/>
              <a:t>Eg</a:t>
            </a:r>
            <a:r>
              <a:rPr lang="en-US" sz="3500" dirty="0"/>
              <a:t>: </a:t>
            </a:r>
            <a:r>
              <a:rPr lang="en-US" sz="3500" dirty="0" smtClean="0"/>
              <a:t>x = a * y + b</a:t>
            </a:r>
            <a:endParaRPr lang="en-US" sz="3500" dirty="0"/>
          </a:p>
          <a:p>
            <a:pPr marL="0" indent="0" algn="just">
              <a:buNone/>
            </a:pPr>
            <a:endParaRPr lang="en-US" sz="3500" dirty="0" smtClean="0"/>
          </a:p>
          <a:p>
            <a:pPr marL="0" indent="0" algn="just">
              <a:buNone/>
            </a:pPr>
            <a:r>
              <a:rPr lang="en-US" sz="3500" dirty="0" smtClean="0"/>
              <a:t>There </a:t>
            </a:r>
            <a:r>
              <a:rPr lang="en-US" sz="3500" dirty="0"/>
              <a:t>is a </a:t>
            </a:r>
            <a:r>
              <a:rPr lang="en-US" sz="35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error </a:t>
            </a:r>
            <a:r>
              <a:rPr lang="en-US" sz="3500" dirty="0"/>
              <a:t>in this statement, since, each and every statement in C language ends </a:t>
            </a:r>
            <a:r>
              <a:rPr lang="en-US" sz="3500" dirty="0" smtClean="0"/>
              <a:t>with a </a:t>
            </a:r>
            <a:r>
              <a:rPr lang="en-US" sz="3500" dirty="0"/>
              <a:t>semicolon (;).</a:t>
            </a:r>
          </a:p>
        </p:txBody>
      </p:sp>
    </p:spTree>
    <p:extLst>
      <p:ext uri="{BB962C8B-B14F-4D97-AF65-F5344CB8AC3E}">
        <p14:creationId xmlns:p14="http://schemas.microsoft.com/office/powerpoint/2010/main" val="1663213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Development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System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b. Execution</a:t>
            </a:r>
          </a:p>
          <a:p>
            <a:pPr marL="0" indent="0" algn="just">
              <a:buNone/>
            </a:pPr>
            <a:r>
              <a:rPr lang="en-US" dirty="0"/>
              <a:t>The next step is Program execution. In this phase, we may encounter </a:t>
            </a:r>
            <a:r>
              <a:rPr lang="en-US" b="1" dirty="0"/>
              <a:t>two types </a:t>
            </a:r>
            <a:r>
              <a:rPr lang="en-US" dirty="0"/>
              <a:t>of errors.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Runtime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Errors: </a:t>
            </a:r>
            <a:r>
              <a:rPr lang="en-US" dirty="0" smtClean="0"/>
              <a:t>These </a:t>
            </a:r>
            <a:r>
              <a:rPr lang="en-US" dirty="0"/>
              <a:t>errors occur </a:t>
            </a:r>
            <a:r>
              <a:rPr lang="en-US" dirty="0">
                <a:solidFill>
                  <a:srgbClr val="FF0000"/>
                </a:solidFill>
              </a:rPr>
              <a:t>during the execution of the program</a:t>
            </a:r>
            <a:r>
              <a:rPr lang="en-US" dirty="0"/>
              <a:t> and </a:t>
            </a:r>
            <a:r>
              <a:rPr lang="en-US" dirty="0">
                <a:solidFill>
                  <a:srgbClr val="B606BA"/>
                </a:solidFill>
              </a:rPr>
              <a:t>terminate </a:t>
            </a:r>
            <a:r>
              <a:rPr lang="en-US" dirty="0" smtClean="0">
                <a:solidFill>
                  <a:srgbClr val="B606BA"/>
                </a:solidFill>
              </a:rPr>
              <a:t>the program </a:t>
            </a:r>
            <a:r>
              <a:rPr lang="en-US" dirty="0">
                <a:solidFill>
                  <a:srgbClr val="B606BA"/>
                </a:solidFill>
              </a:rPr>
              <a:t>abnormally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Errors: </a:t>
            </a:r>
            <a:r>
              <a:rPr lang="en-US" dirty="0" smtClean="0"/>
              <a:t>These </a:t>
            </a:r>
            <a:r>
              <a:rPr lang="en-US" dirty="0"/>
              <a:t>errors occur due to </a:t>
            </a:r>
            <a:r>
              <a:rPr lang="en-US" dirty="0">
                <a:solidFill>
                  <a:srgbClr val="FF0000"/>
                </a:solidFill>
              </a:rPr>
              <a:t>incorrect usage of the instructions in the program</a:t>
            </a:r>
            <a:r>
              <a:rPr lang="en-US" dirty="0"/>
              <a:t>. </a:t>
            </a:r>
            <a:r>
              <a:rPr lang="en-US" dirty="0" smtClean="0"/>
              <a:t>These errors </a:t>
            </a:r>
            <a:r>
              <a:rPr lang="en-US" dirty="0"/>
              <a:t>are neither detected during compilation or execution nor cause any stoppage to </a:t>
            </a:r>
            <a:r>
              <a:rPr lang="en-US" dirty="0" smtClean="0"/>
              <a:t>the program </a:t>
            </a:r>
            <a:r>
              <a:rPr lang="en-US" dirty="0"/>
              <a:t>execution but </a:t>
            </a:r>
            <a:r>
              <a:rPr lang="en-US" dirty="0">
                <a:solidFill>
                  <a:srgbClr val="B606BA"/>
                </a:solidFill>
              </a:rPr>
              <a:t>produces incorrect output</a:t>
            </a:r>
            <a:r>
              <a:rPr lang="en-US" dirty="0"/>
              <a:t>.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2778282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Development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5. Maintenance</a:t>
            </a:r>
          </a:p>
          <a:p>
            <a:pPr marL="0" indent="0" algn="just">
              <a:buNone/>
            </a:pPr>
            <a:r>
              <a:rPr lang="en-US" sz="3600" dirty="0"/>
              <a:t>We are maintenance the software by </a:t>
            </a:r>
            <a:r>
              <a:rPr lang="en-US" sz="3600" dirty="0">
                <a:solidFill>
                  <a:srgbClr val="FF0000"/>
                </a:solidFill>
              </a:rPr>
              <a:t>updating the information</a:t>
            </a:r>
            <a:r>
              <a:rPr lang="en-US" sz="3600" dirty="0"/>
              <a:t>, </a:t>
            </a:r>
            <a:r>
              <a:rPr lang="en-US" sz="3600" dirty="0">
                <a:solidFill>
                  <a:srgbClr val="0000CC"/>
                </a:solidFill>
              </a:rPr>
              <a:t>providing the security</a:t>
            </a:r>
            <a:r>
              <a:rPr lang="en-US" sz="3600" dirty="0"/>
              <a:t> and </a:t>
            </a:r>
            <a:r>
              <a:rPr lang="en-US" sz="3600" dirty="0" smtClean="0">
                <a:solidFill>
                  <a:srgbClr val="B606BA"/>
                </a:solidFill>
              </a:rPr>
              <a:t>license for </a:t>
            </a:r>
            <a:r>
              <a:rPr lang="en-US" sz="3600" dirty="0">
                <a:solidFill>
                  <a:srgbClr val="B606BA"/>
                </a:solidFill>
              </a:rPr>
              <a:t>the software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6378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you….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405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2016</TotalTime>
  <Words>1192</Words>
  <Application>Microsoft Office PowerPoint</Application>
  <PresentationFormat>On-screen Show (4:3)</PresentationFormat>
  <Paragraphs>189</Paragraphs>
  <Slides>32</Slides>
  <Notes>30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4" baseType="lpstr">
      <vt:lpstr>Office Theme</vt:lpstr>
      <vt:lpstr>1_Slipstream</vt:lpstr>
      <vt:lpstr>Structure Programming  ICT-1105  Information and Communication Technology</vt:lpstr>
      <vt:lpstr>Creating and Running Programs</vt:lpstr>
      <vt:lpstr>Creating and Running Programs</vt:lpstr>
      <vt:lpstr>Creating and Running Programs</vt:lpstr>
      <vt:lpstr>Creating and Running Programs</vt:lpstr>
      <vt:lpstr>Creating and Running Programs</vt:lpstr>
      <vt:lpstr>Creating and Running Programs</vt:lpstr>
      <vt:lpstr>Creating and Running Programs</vt:lpstr>
      <vt:lpstr>Creating and Running Programs</vt:lpstr>
      <vt:lpstr>Creating and Running Programs</vt:lpstr>
      <vt:lpstr>Pseudocode</vt:lpstr>
      <vt:lpstr>Algorithm</vt:lpstr>
      <vt:lpstr>Properties of an Algorithm</vt:lpstr>
      <vt:lpstr>Writing an algorithm</vt:lpstr>
      <vt:lpstr>Writing an algorithm</vt:lpstr>
      <vt:lpstr>Writing an algorithm</vt:lpstr>
      <vt:lpstr>Writing an algorithm</vt:lpstr>
      <vt:lpstr>Writing an algorithm</vt:lpstr>
      <vt:lpstr>Flowcharts</vt:lpstr>
      <vt:lpstr>Flowchart Symbols</vt:lpstr>
      <vt:lpstr>Flowchart Symbols</vt:lpstr>
      <vt:lpstr>Writing an algorithm</vt:lpstr>
      <vt:lpstr>System Development</vt:lpstr>
      <vt:lpstr>System Development</vt:lpstr>
      <vt:lpstr>System Development</vt:lpstr>
      <vt:lpstr>System Development</vt:lpstr>
      <vt:lpstr>System Development</vt:lpstr>
      <vt:lpstr>System Development</vt:lpstr>
      <vt:lpstr>System Development</vt:lpstr>
      <vt:lpstr>System Development</vt:lpstr>
      <vt:lpstr>System Development</vt:lpstr>
      <vt:lpstr>Thank you….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Output devices</dc:title>
  <dc:creator>AION</dc:creator>
  <cp:lastModifiedBy>AION</cp:lastModifiedBy>
  <cp:revision>181</cp:revision>
  <dcterms:created xsi:type="dcterms:W3CDTF">2019-09-20T11:10:00Z</dcterms:created>
  <dcterms:modified xsi:type="dcterms:W3CDTF">2024-11-13T04:13:17Z</dcterms:modified>
</cp:coreProperties>
</file>