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  <p:sldMasterId id="2147483890" r:id="rId3"/>
  </p:sldMasterIdLst>
  <p:notesMasterIdLst>
    <p:notesMasterId r:id="rId37"/>
  </p:notesMasterIdLst>
  <p:sldIdLst>
    <p:sldId id="463" r:id="rId4"/>
    <p:sldId id="467" r:id="rId5"/>
    <p:sldId id="534" r:id="rId6"/>
    <p:sldId id="623" r:id="rId7"/>
    <p:sldId id="624" r:id="rId8"/>
    <p:sldId id="625" r:id="rId9"/>
    <p:sldId id="626" r:id="rId10"/>
    <p:sldId id="627" r:id="rId11"/>
    <p:sldId id="628" r:id="rId12"/>
    <p:sldId id="629" r:id="rId13"/>
    <p:sldId id="630" r:id="rId14"/>
    <p:sldId id="631" r:id="rId15"/>
    <p:sldId id="632" r:id="rId16"/>
    <p:sldId id="633" r:id="rId17"/>
    <p:sldId id="634" r:id="rId18"/>
    <p:sldId id="635" r:id="rId19"/>
    <p:sldId id="636" r:id="rId20"/>
    <p:sldId id="637" r:id="rId21"/>
    <p:sldId id="638" r:id="rId22"/>
    <p:sldId id="639" r:id="rId23"/>
    <p:sldId id="641" r:id="rId24"/>
    <p:sldId id="640" r:id="rId25"/>
    <p:sldId id="642" r:id="rId26"/>
    <p:sldId id="643" r:id="rId27"/>
    <p:sldId id="644" r:id="rId28"/>
    <p:sldId id="645" r:id="rId29"/>
    <p:sldId id="646" r:id="rId30"/>
    <p:sldId id="647" r:id="rId31"/>
    <p:sldId id="648" r:id="rId32"/>
    <p:sldId id="649" r:id="rId33"/>
    <p:sldId id="650" r:id="rId34"/>
    <p:sldId id="651" r:id="rId35"/>
    <p:sldId id="461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3BD57"/>
    <a:srgbClr val="06661F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2/16/2025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887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6780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1941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59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017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2653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1701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491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7055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2234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2943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6028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92524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3620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006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6778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0529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85267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97945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84062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8940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0089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0089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0089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0089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0089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0089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008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397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5910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685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48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8570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869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14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26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034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278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2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9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Lecture-15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Functions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02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/>
              <a:t>Parameters </a:t>
            </a:r>
            <a:r>
              <a:rPr lang="en-US" dirty="0"/>
              <a:t>provides the data communication between the calling function and </a:t>
            </a:r>
            <a:r>
              <a:rPr lang="en-US" dirty="0" smtClean="0"/>
              <a:t>called function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They are two types of </a:t>
            </a:r>
            <a:r>
              <a:rPr lang="en-US" dirty="0" smtClean="0"/>
              <a:t>parameters.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Actual parameters.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Formal parameters.</a:t>
            </a:r>
            <a:endParaRPr lang="en-US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55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ctual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Parameters </a:t>
            </a:r>
            <a:r>
              <a:rPr lang="en-US" dirty="0"/>
              <a:t>: These are the parameters transferred from the calling function (</a:t>
            </a:r>
            <a:r>
              <a:rPr lang="en-US" dirty="0" smtClean="0"/>
              <a:t>main program</a:t>
            </a:r>
            <a:r>
              <a:rPr lang="en-US" dirty="0"/>
              <a:t>) to the called function (function).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Formal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Parameters </a:t>
            </a:r>
            <a:r>
              <a:rPr lang="en-US" dirty="0"/>
              <a:t>:These are the parameters transferred into the calling function (</a:t>
            </a:r>
            <a:r>
              <a:rPr lang="en-US" dirty="0" smtClean="0"/>
              <a:t>main program</a:t>
            </a:r>
            <a:r>
              <a:rPr lang="en-US" dirty="0"/>
              <a:t>) from the called function(function).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0000CC"/>
                </a:solidFill>
              </a:rPr>
              <a:t>The </a:t>
            </a:r>
            <a:r>
              <a:rPr lang="en-US" b="1" dirty="0">
                <a:solidFill>
                  <a:srgbClr val="0000CC"/>
                </a:solidFill>
              </a:rPr>
              <a:t>parameters specified in calling function are said to be Actual Parameters.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FF0000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parameters declared in called function are said to be Formal Parameters.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0000CC"/>
                </a:solidFill>
              </a:rPr>
              <a:t>The </a:t>
            </a:r>
            <a:r>
              <a:rPr lang="en-US" b="1" dirty="0">
                <a:solidFill>
                  <a:srgbClr val="0000CC"/>
                </a:solidFill>
              </a:rPr>
              <a:t>value of actual parameters is always copied into formal parameters.</a:t>
            </a:r>
          </a:p>
        </p:txBody>
      </p:sp>
    </p:spTree>
    <p:extLst>
      <p:ext uri="{BB962C8B-B14F-4D97-AF65-F5344CB8AC3E}">
        <p14:creationId xmlns:p14="http://schemas.microsoft.com/office/powerpoint/2010/main" val="59726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28800" y="990600"/>
            <a:ext cx="4724400" cy="55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07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Difference between Actual Parameters and Formal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3779605"/>
              </p:ext>
            </p:extLst>
          </p:nvPr>
        </p:nvGraphicFramePr>
        <p:xfrm>
          <a:off x="457200" y="1143000"/>
          <a:ext cx="8229600" cy="3845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xmlns="" val="35983006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xmlns="" val="4289541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Actual Parameters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Formal Parameters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94938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: Actual parameters are used in calling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when a function is invoked.</a:t>
                      </a:r>
                    </a:p>
                    <a:p>
                      <a:endPara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 : </a:t>
                      </a:r>
                      <a:r>
                        <a:rPr lang="en-US" b="1" i="1" dirty="0" smtClean="0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c=add(</a:t>
                      </a:r>
                      <a:r>
                        <a:rPr lang="en-US" b="1" i="1" dirty="0" err="1" smtClean="0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a,b</a:t>
                      </a:r>
                      <a:r>
                        <a:rPr lang="en-US" b="1" i="1" dirty="0" smtClean="0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);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Here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a,b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are actual parameters.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: Formal parameters are used in the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header of a called function.</a:t>
                      </a:r>
                    </a:p>
                    <a:p>
                      <a:endPara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 :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i="1" dirty="0" err="1" smtClean="0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b="1" i="1" dirty="0" smtClean="0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add(</a:t>
                      </a:r>
                      <a:r>
                        <a:rPr lang="en-US" b="1" i="1" dirty="0" err="1" smtClean="0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b="1" i="1" dirty="0" smtClean="0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i="1" dirty="0" err="1" smtClean="0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m,int</a:t>
                      </a:r>
                      <a:r>
                        <a:rPr lang="en-US" b="1" i="1" dirty="0" smtClean="0"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n);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Here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m,n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are called formal parameters.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9644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: Actual parameters can be constants,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 or expression.</a:t>
                      </a:r>
                    </a:p>
                    <a:p>
                      <a:endPara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 : 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c=add(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a,b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//</a:t>
                      </a:r>
                      <a:r>
                        <a:rPr 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c=add(a+5,b); //</a:t>
                      </a:r>
                      <a:r>
                        <a:rPr 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expression.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c=add(10,20); //</a:t>
                      </a:r>
                      <a:r>
                        <a:rPr 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constants.</a:t>
                      </a:r>
                      <a:endParaRPr 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: Formal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parametes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should be 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Expression and constants are not</a:t>
                      </a:r>
                    </a:p>
                    <a:p>
                      <a:pPr algn="just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allowed.</a:t>
                      </a:r>
                    </a:p>
                    <a:p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 :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add(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m,n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); //</a:t>
                      </a:r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</a:t>
                      </a:r>
                    </a:p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add(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m+n,int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n) //</a:t>
                      </a:r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WRONG</a:t>
                      </a:r>
                    </a:p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add(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m,10); //</a:t>
                      </a:r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WRONG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36095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302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Difference between Actual Parameters and Formal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8737698"/>
              </p:ext>
            </p:extLst>
          </p:nvPr>
        </p:nvGraphicFramePr>
        <p:xfrm>
          <a:off x="457200" y="1143000"/>
          <a:ext cx="8229600" cy="2748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xmlns="" val="35983006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xmlns="" val="4289541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Actual Parameters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Formal Parameters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94938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: Actual parameters sends values to the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 parameters.</a:t>
                      </a:r>
                    </a:p>
                    <a:p>
                      <a:r>
                        <a:rPr 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 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b="1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c=add(4,5);</a:t>
                      </a:r>
                      <a:endParaRPr lang="en-US" b="1" strike="noStrike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: Formal parameters receive values from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actual parameters.</a:t>
                      </a:r>
                    </a:p>
                    <a:p>
                      <a:r>
                        <a:rPr 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b="1" dirty="0" err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add(</a:t>
                      </a:r>
                      <a:r>
                        <a:rPr lang="en-US" b="1" dirty="0" err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m,int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n);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Here m will have the value 4 and n will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have the value 5.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9644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: Address of actual parameters can be sent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formal parameters</a:t>
                      </a:r>
                      <a:endParaRPr 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: if formal parameters contains address,</a:t>
                      </a:r>
                    </a:p>
                    <a:p>
                      <a:pPr algn="just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should be declared as pointers.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36095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686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parameters to functions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831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There are two ways to pass value or data </a:t>
            </a:r>
            <a:r>
              <a:rPr lang="en-US" dirty="0" smtClean="0"/>
              <a:t>to function </a:t>
            </a:r>
            <a:r>
              <a:rPr lang="en-US" dirty="0"/>
              <a:t>in C language: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by value </a:t>
            </a:r>
            <a:r>
              <a:rPr lang="en-US" dirty="0"/>
              <a:t>and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by reference</a:t>
            </a:r>
            <a:r>
              <a:rPr lang="en-US" dirty="0"/>
              <a:t>. 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Original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 is not modified in call by value but it is modified in call by reference.</a:t>
            </a:r>
          </a:p>
        </p:txBody>
      </p:sp>
    </p:spTree>
    <p:extLst>
      <p:ext uri="{BB962C8B-B14F-4D97-AF65-F5344CB8AC3E}">
        <p14:creationId xmlns:p14="http://schemas.microsoft.com/office/powerpoint/2010/main" val="203364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parameters to functions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831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</a:rPr>
              <a:t>The called function receives the information from the calling function through the parameters.</a:t>
            </a:r>
          </a:p>
          <a:p>
            <a:pPr marL="0" indent="0" algn="just">
              <a:buNone/>
            </a:pPr>
            <a:r>
              <a:rPr lang="en-US" dirty="0"/>
              <a:t>The variables used while invoking the calling function are called actual parameters and </a:t>
            </a:r>
            <a:r>
              <a:rPr lang="en-US" dirty="0" smtClean="0"/>
              <a:t>the variables </a:t>
            </a:r>
            <a:r>
              <a:rPr lang="en-US" dirty="0"/>
              <a:t>used in the function header of the called function are called formal parameters.</a:t>
            </a:r>
          </a:p>
          <a:p>
            <a:pPr marL="0" indent="0" algn="just">
              <a:buNone/>
            </a:pPr>
            <a:r>
              <a:rPr lang="en-US" dirty="0"/>
              <a:t>C provides two mechanisms to pass parameters to a function.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Pass by value (OR) Call by value.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Pass by reference (OR) Call by Reference</a:t>
            </a:r>
          </a:p>
        </p:txBody>
      </p:sp>
    </p:spTree>
    <p:extLst>
      <p:ext uri="{BB962C8B-B14F-4D97-AF65-F5344CB8AC3E}">
        <p14:creationId xmlns:p14="http://schemas.microsoft.com/office/powerpoint/2010/main" val="2871326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 by value (OR) Call by value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In call by value, value being passed to the function is locally stored by the function parameter </a:t>
            </a:r>
            <a:r>
              <a:rPr lang="en-US" dirty="0" smtClean="0"/>
              <a:t>in stack </a:t>
            </a:r>
            <a:r>
              <a:rPr lang="en-US" dirty="0"/>
              <a:t>memory location. If you change the value of function parameter, it is changed for </a:t>
            </a:r>
            <a:r>
              <a:rPr lang="en-US" dirty="0" smtClean="0"/>
              <a:t>the current </a:t>
            </a:r>
            <a:r>
              <a:rPr lang="en-US" dirty="0"/>
              <a:t>function only. It will not change the value of variable inside the caller </a:t>
            </a:r>
            <a:r>
              <a:rPr lang="en-US" dirty="0" smtClean="0"/>
              <a:t>method </a:t>
            </a:r>
            <a:r>
              <a:rPr lang="en-US" dirty="0"/>
              <a:t>such </a:t>
            </a:r>
            <a:r>
              <a:rPr lang="en-US" dirty="0" smtClean="0"/>
              <a:t>as main().</a:t>
            </a:r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7305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 by value (OR) Call by value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When a function is called with actual parameters, the values of actual parameters are copied </a:t>
            </a:r>
            <a:r>
              <a:rPr lang="en-US" dirty="0" smtClean="0"/>
              <a:t>into formal </a:t>
            </a:r>
            <a:r>
              <a:rPr lang="en-US" dirty="0"/>
              <a:t>parameters. If the values of the formal </a:t>
            </a:r>
            <a:r>
              <a:rPr lang="en-US" dirty="0" err="1"/>
              <a:t>parametes</a:t>
            </a:r>
            <a:r>
              <a:rPr lang="en-US" dirty="0"/>
              <a:t> changes in the function, the values </a:t>
            </a:r>
            <a:r>
              <a:rPr lang="en-US" dirty="0" smtClean="0"/>
              <a:t>of the </a:t>
            </a:r>
            <a:r>
              <a:rPr lang="en-US" dirty="0"/>
              <a:t>actual parameters are not changed. This way of passing parameters is called pass by value </a:t>
            </a:r>
            <a:r>
              <a:rPr lang="en-US" dirty="0" smtClean="0"/>
              <a:t>or call </a:t>
            </a:r>
            <a:r>
              <a:rPr lang="en-US" dirty="0"/>
              <a:t>by value</a:t>
            </a:r>
            <a:r>
              <a:rPr lang="en-US" dirty="0" smtClean="0"/>
              <a:t>.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582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 -Example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8316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 smtClean="0"/>
              <a:t>&gt;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void swap(</a:t>
            </a:r>
            <a:r>
              <a:rPr lang="en-US" dirty="0" err="1"/>
              <a:t>int</a:t>
            </a:r>
            <a:r>
              <a:rPr lang="en-US" dirty="0"/>
              <a:t> ,</a:t>
            </a:r>
            <a:r>
              <a:rPr lang="en-US" dirty="0" err="1"/>
              <a:t>int</a:t>
            </a:r>
            <a:r>
              <a:rPr lang="en-US" dirty="0"/>
              <a:t> 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void </a:t>
            </a:r>
            <a:r>
              <a:rPr lang="en-US" dirty="0"/>
              <a:t>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i,j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</a:t>
            </a:r>
            <a:r>
              <a:rPr lang="en-US" dirty="0" err="1"/>
              <a:t>i</a:t>
            </a:r>
            <a:r>
              <a:rPr lang="en-US" dirty="0"/>
              <a:t> and j values:");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d%d</a:t>
            </a:r>
            <a:r>
              <a:rPr lang="en-US" dirty="0"/>
              <a:t>",&amp;</a:t>
            </a:r>
            <a:r>
              <a:rPr lang="en-US" dirty="0" err="1"/>
              <a:t>i</a:t>
            </a:r>
            <a:r>
              <a:rPr lang="en-US" dirty="0"/>
              <a:t>,&amp;j);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("Before swapping:%</a:t>
            </a:r>
            <a:r>
              <a:rPr lang="en-US" dirty="0" err="1"/>
              <a:t>d%d</a:t>
            </a:r>
            <a:r>
              <a:rPr lang="en-US" dirty="0"/>
              <a:t>\n",</a:t>
            </a:r>
            <a:r>
              <a:rPr lang="en-US" dirty="0" err="1"/>
              <a:t>i,j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swap(</a:t>
            </a:r>
            <a:r>
              <a:rPr lang="en-US" dirty="0" err="1"/>
              <a:t>i,j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("After swapping:%</a:t>
            </a:r>
            <a:r>
              <a:rPr lang="en-US" dirty="0" err="1"/>
              <a:t>d%d</a:t>
            </a:r>
            <a:r>
              <a:rPr lang="en-US" dirty="0"/>
              <a:t>\n",</a:t>
            </a:r>
            <a:r>
              <a:rPr lang="en-US" dirty="0" err="1"/>
              <a:t>i,j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 -Example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void swap(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a,int</a:t>
            </a:r>
            <a:r>
              <a:rPr lang="en-US" dirty="0"/>
              <a:t> b)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temp;</a:t>
            </a:r>
          </a:p>
          <a:p>
            <a:pPr marL="0" indent="0" algn="just">
              <a:buNone/>
            </a:pPr>
            <a:r>
              <a:rPr lang="en-US" dirty="0"/>
              <a:t>temp=a;</a:t>
            </a:r>
          </a:p>
          <a:p>
            <a:pPr marL="0" indent="0" algn="just">
              <a:buNone/>
            </a:pPr>
            <a:r>
              <a:rPr lang="en-US" dirty="0"/>
              <a:t>a=b;</a:t>
            </a:r>
          </a:p>
          <a:p>
            <a:pPr marL="0" indent="0" algn="just">
              <a:buNone/>
            </a:pPr>
            <a:r>
              <a:rPr lang="en-US" dirty="0"/>
              <a:t>b=temp;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smtClean="0"/>
              <a:t>Output: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373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reference (OR) Call by 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831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In pass by reference, a function is called </a:t>
            </a:r>
            <a:r>
              <a:rPr lang="en-US" dirty="0" smtClean="0"/>
              <a:t>with addresses </a:t>
            </a:r>
            <a:r>
              <a:rPr lang="en-US" dirty="0"/>
              <a:t>of actual parameters. In the function header, the formal parameters receive </a:t>
            </a:r>
            <a:r>
              <a:rPr lang="en-US" dirty="0" smtClean="0"/>
              <a:t>the addresses </a:t>
            </a:r>
            <a:r>
              <a:rPr lang="en-US" dirty="0"/>
              <a:t>of actual parameters. 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Now </a:t>
            </a:r>
            <a:r>
              <a:rPr lang="en-US" dirty="0"/>
              <a:t>the formal parameters do not contain values, instead </a:t>
            </a:r>
            <a:r>
              <a:rPr lang="en-US" dirty="0" smtClean="0"/>
              <a:t>they contain </a:t>
            </a:r>
            <a:r>
              <a:rPr lang="en-US" dirty="0"/>
              <a:t>addresses. Any variable if it contains an address, it is called a pointer variable. </a:t>
            </a:r>
            <a:r>
              <a:rPr lang="en-US" dirty="0" smtClean="0"/>
              <a:t>Using pointer </a:t>
            </a:r>
            <a:r>
              <a:rPr lang="en-US" dirty="0"/>
              <a:t>variables, the values of the actual parameters can be changed. This way of </a:t>
            </a:r>
            <a:r>
              <a:rPr lang="en-US" dirty="0" smtClean="0"/>
              <a:t>passing parameters </a:t>
            </a:r>
            <a:r>
              <a:rPr lang="en-US" dirty="0"/>
              <a:t>is called call by reference or pass by reference.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135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Reference-Example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8316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smtClean="0"/>
              <a:t>void </a:t>
            </a:r>
            <a:r>
              <a:rPr lang="en-US" dirty="0"/>
              <a:t>swap(</a:t>
            </a:r>
            <a:r>
              <a:rPr lang="en-US" dirty="0" err="1"/>
              <a:t>int</a:t>
            </a:r>
            <a:r>
              <a:rPr lang="en-US" dirty="0"/>
              <a:t> *,</a:t>
            </a:r>
            <a:r>
              <a:rPr lang="en-US" dirty="0" err="1"/>
              <a:t>int</a:t>
            </a:r>
            <a:r>
              <a:rPr lang="en-US" dirty="0"/>
              <a:t> *);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void </a:t>
            </a:r>
            <a:r>
              <a:rPr lang="en-US" dirty="0"/>
              <a:t>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i,j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</a:t>
            </a:r>
            <a:r>
              <a:rPr lang="en-US" dirty="0" err="1"/>
              <a:t>i</a:t>
            </a:r>
            <a:r>
              <a:rPr lang="en-US" dirty="0"/>
              <a:t> and j values:");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d%d</a:t>
            </a:r>
            <a:r>
              <a:rPr lang="en-US" dirty="0"/>
              <a:t>",&amp;</a:t>
            </a:r>
            <a:r>
              <a:rPr lang="en-US" dirty="0" err="1"/>
              <a:t>i</a:t>
            </a:r>
            <a:r>
              <a:rPr lang="en-US" dirty="0"/>
              <a:t>,&amp;j);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("Before swapping:%</a:t>
            </a:r>
            <a:r>
              <a:rPr lang="en-US" dirty="0" err="1"/>
              <a:t>d%d</a:t>
            </a:r>
            <a:r>
              <a:rPr lang="en-US" dirty="0"/>
              <a:t>\n",</a:t>
            </a:r>
            <a:r>
              <a:rPr lang="en-US" dirty="0" err="1"/>
              <a:t>i,j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swap(&amp;</a:t>
            </a:r>
            <a:r>
              <a:rPr lang="en-US" dirty="0" err="1"/>
              <a:t>i</a:t>
            </a:r>
            <a:r>
              <a:rPr lang="en-US" dirty="0"/>
              <a:t> ,&amp;j);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("After swapping:%</a:t>
            </a:r>
            <a:r>
              <a:rPr lang="en-US" dirty="0" err="1"/>
              <a:t>d%d</a:t>
            </a:r>
            <a:r>
              <a:rPr lang="en-US" dirty="0"/>
              <a:t>\n",</a:t>
            </a:r>
            <a:r>
              <a:rPr lang="en-US" dirty="0" err="1"/>
              <a:t>i,j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98816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Reference-Example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void swap(</a:t>
            </a:r>
            <a:r>
              <a:rPr lang="en-US" dirty="0" err="1"/>
              <a:t>int</a:t>
            </a:r>
            <a:r>
              <a:rPr lang="en-US" dirty="0"/>
              <a:t> *</a:t>
            </a:r>
            <a:r>
              <a:rPr lang="en-US" dirty="0" err="1"/>
              <a:t>a,int</a:t>
            </a:r>
            <a:r>
              <a:rPr lang="en-US" dirty="0"/>
              <a:t> *b)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temp;</a:t>
            </a:r>
          </a:p>
          <a:p>
            <a:pPr marL="0" indent="0" algn="just">
              <a:buNone/>
            </a:pPr>
            <a:r>
              <a:rPr lang="en-US" dirty="0"/>
              <a:t>temp=*a;</a:t>
            </a:r>
          </a:p>
          <a:p>
            <a:pPr marL="0" indent="0" algn="just">
              <a:buNone/>
            </a:pPr>
            <a:r>
              <a:rPr lang="en-US" dirty="0"/>
              <a:t>*a=*b;</a:t>
            </a:r>
          </a:p>
          <a:p>
            <a:pPr marL="0" indent="0" algn="just">
              <a:buNone/>
            </a:pPr>
            <a:r>
              <a:rPr lang="en-US" dirty="0"/>
              <a:t>*b=temp</a:t>
            </a:r>
            <a:r>
              <a:rPr lang="en-US" dirty="0" smtClean="0"/>
              <a:t>;</a:t>
            </a:r>
          </a:p>
          <a:p>
            <a:pPr marL="0" indent="0" algn="just">
              <a:buNone/>
            </a:pP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959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Differnce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between Call by value and Call by referen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447800"/>
            <a:ext cx="8991600" cy="344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4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Categories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four main categories of the functions these are as follows: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with no arguments and no return values.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Function with no arguments and a return value.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with arguments and no return values.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with arguments and return values</a:t>
            </a:r>
          </a:p>
        </p:txBody>
      </p:sp>
    </p:spTree>
    <p:extLst>
      <p:ext uri="{BB962C8B-B14F-4D97-AF65-F5344CB8AC3E}">
        <p14:creationId xmlns:p14="http://schemas.microsoft.com/office/powerpoint/2010/main" val="140032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Functions with no p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arameters/arguments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no 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values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/>
              <a:t>In this category, </a:t>
            </a:r>
            <a:r>
              <a:rPr lang="en-US" b="1" dirty="0">
                <a:solidFill>
                  <a:srgbClr val="FF0000"/>
                </a:solidFill>
              </a:rPr>
              <a:t>there is no data </a:t>
            </a:r>
            <a:r>
              <a:rPr lang="en-US" b="1" dirty="0" smtClean="0">
                <a:solidFill>
                  <a:srgbClr val="FF0000"/>
                </a:solidFill>
              </a:rPr>
              <a:t>transfer  between </a:t>
            </a:r>
            <a:r>
              <a:rPr lang="en-US" b="1" dirty="0">
                <a:solidFill>
                  <a:srgbClr val="FF0000"/>
                </a:solidFill>
              </a:rPr>
              <a:t>the calling function and called function.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But </a:t>
            </a:r>
            <a:r>
              <a:rPr lang="en-US" dirty="0"/>
              <a:t>there is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 of control</a:t>
            </a:r>
            <a:r>
              <a:rPr lang="en-US" dirty="0"/>
              <a:t> from calling function to the called function.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When </a:t>
            </a:r>
            <a:r>
              <a:rPr lang="en-US" dirty="0"/>
              <a:t>no parameters are there , the function cannot receive any value from the </a:t>
            </a:r>
            <a:r>
              <a:rPr lang="en-US" dirty="0" smtClean="0"/>
              <a:t>calling function</a:t>
            </a:r>
            <a:r>
              <a:rPr lang="en-US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 When </a:t>
            </a:r>
            <a:r>
              <a:rPr lang="en-US" dirty="0"/>
              <a:t>the function does not return a value, the calling function cannot receive any value </a:t>
            </a:r>
            <a:r>
              <a:rPr lang="en-US" dirty="0" smtClean="0"/>
              <a:t>from the </a:t>
            </a:r>
            <a:r>
              <a:rPr lang="en-US" dirty="0"/>
              <a:t>called function.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8369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Functions with no p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arameters/arguments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no 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values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800" dirty="0" smtClean="0"/>
              <a:t>syntax</a:t>
            </a:r>
            <a:r>
              <a:rPr lang="en-US" sz="2800" dirty="0"/>
              <a:t>:</a:t>
            </a:r>
          </a:p>
          <a:p>
            <a:pPr marL="0" indent="0" algn="just">
              <a:buNone/>
            </a:pPr>
            <a:r>
              <a:rPr lang="en-US" sz="2800" i="1" dirty="0"/>
              <a:t>void </a:t>
            </a:r>
            <a:r>
              <a:rPr lang="en-US" sz="2800" i="1" dirty="0" err="1"/>
              <a:t>funct</a:t>
            </a:r>
            <a:r>
              <a:rPr lang="en-US" sz="2800" i="1" dirty="0"/>
              <a:t> (void);</a:t>
            </a:r>
          </a:p>
          <a:p>
            <a:pPr marL="0" indent="0" algn="just">
              <a:buNone/>
            </a:pPr>
            <a:r>
              <a:rPr lang="en-US" sz="2800" i="1" dirty="0"/>
              <a:t>main ( )</a:t>
            </a:r>
          </a:p>
          <a:p>
            <a:pPr marL="0" indent="0" algn="just">
              <a:buNone/>
            </a:pPr>
            <a:r>
              <a:rPr lang="en-US" sz="2800" i="1" dirty="0"/>
              <a:t>{</a:t>
            </a:r>
          </a:p>
          <a:p>
            <a:pPr marL="0" indent="0" algn="just">
              <a:buNone/>
            </a:pPr>
            <a:r>
              <a:rPr lang="en-US" sz="2800" i="1" dirty="0" err="1"/>
              <a:t>funct</a:t>
            </a:r>
            <a:r>
              <a:rPr lang="en-US" sz="2800" i="1" dirty="0"/>
              <a:t> ( );</a:t>
            </a:r>
          </a:p>
          <a:p>
            <a:pPr marL="0" indent="0" algn="just">
              <a:buNone/>
            </a:pPr>
            <a:r>
              <a:rPr lang="en-US" sz="2800" i="1" dirty="0"/>
              <a:t>}</a:t>
            </a:r>
          </a:p>
          <a:p>
            <a:pPr marL="0" indent="0" algn="just">
              <a:buNone/>
            </a:pPr>
            <a:r>
              <a:rPr lang="en-US" sz="2800" i="1" dirty="0"/>
              <a:t>void </a:t>
            </a:r>
            <a:r>
              <a:rPr lang="en-US" sz="2800" i="1" dirty="0" err="1"/>
              <a:t>funct</a:t>
            </a:r>
            <a:r>
              <a:rPr lang="en-US" sz="2800" i="1" dirty="0"/>
              <a:t> ( void );</a:t>
            </a:r>
          </a:p>
          <a:p>
            <a:pPr marL="0" indent="0" algn="just">
              <a:buNone/>
            </a:pPr>
            <a:r>
              <a:rPr lang="en-US" sz="2800" i="1" dirty="0"/>
              <a:t>{</a:t>
            </a:r>
          </a:p>
          <a:p>
            <a:pPr marL="0" indent="0" algn="just">
              <a:buNone/>
            </a:pPr>
            <a:r>
              <a:rPr lang="en-US" sz="2800" i="1" dirty="0" smtClean="0"/>
              <a:t>}</a:t>
            </a:r>
          </a:p>
          <a:p>
            <a:pPr marL="0" indent="0" algn="just">
              <a:buNone/>
            </a:pPr>
            <a:r>
              <a:rPr lang="en-US" sz="2800" i="1" dirty="0"/>
              <a:t>NOTE: There is no communication between calling and called function. Functions </a:t>
            </a:r>
            <a:r>
              <a:rPr lang="en-US" sz="2800" i="1" dirty="0" smtClean="0"/>
              <a:t>are executed </a:t>
            </a:r>
            <a:r>
              <a:rPr lang="en-US" sz="2800" i="1" dirty="0"/>
              <a:t>independently, they read data &amp; print result in same block.</a:t>
            </a:r>
          </a:p>
        </p:txBody>
      </p:sp>
    </p:spTree>
    <p:extLst>
      <p:ext uri="{BB962C8B-B14F-4D97-AF65-F5344CB8AC3E}">
        <p14:creationId xmlns:p14="http://schemas.microsoft.com/office/powerpoint/2010/main" val="23604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Functions with no p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arameters/arguments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no 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values - Example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2800" dirty="0"/>
              <a:t>#include&lt;</a:t>
            </a:r>
            <a:r>
              <a:rPr lang="en-US" sz="2800" dirty="0" err="1"/>
              <a:t>stdio.h</a:t>
            </a:r>
            <a:r>
              <a:rPr lang="en-US" sz="2800" dirty="0" smtClean="0"/>
              <a:t>&gt;</a:t>
            </a:r>
          </a:p>
          <a:p>
            <a:pPr marL="0" indent="0" algn="just">
              <a:buNone/>
            </a:pPr>
            <a:r>
              <a:rPr lang="en-US" sz="2800" dirty="0"/>
              <a:t>void sum();</a:t>
            </a:r>
          </a:p>
          <a:p>
            <a:pPr marL="0" indent="0" algn="just">
              <a:buNone/>
            </a:pPr>
            <a:r>
              <a:rPr lang="en-US" sz="2800" dirty="0"/>
              <a:t>void main()</a:t>
            </a:r>
          </a:p>
          <a:p>
            <a:pPr marL="0" indent="0" algn="just">
              <a:buNone/>
            </a:pPr>
            <a:r>
              <a:rPr lang="en-US" sz="2800" dirty="0"/>
              <a:t>{</a:t>
            </a:r>
          </a:p>
          <a:p>
            <a:pPr marL="0" indent="0" algn="just">
              <a:buNone/>
            </a:pPr>
            <a:r>
              <a:rPr lang="en-US" sz="2800" dirty="0"/>
              <a:t>sum();</a:t>
            </a:r>
          </a:p>
          <a:p>
            <a:pPr marL="0" indent="0" algn="just">
              <a:buNone/>
            </a:pPr>
            <a:r>
              <a:rPr lang="en-US" sz="2800" dirty="0" err="1"/>
              <a:t>getch</a:t>
            </a:r>
            <a:r>
              <a:rPr lang="en-US" sz="2800" dirty="0"/>
              <a:t>();</a:t>
            </a:r>
          </a:p>
          <a:p>
            <a:pPr marL="0" indent="0" algn="just">
              <a:buNone/>
            </a:pPr>
            <a:r>
              <a:rPr lang="en-US" sz="2800" dirty="0"/>
              <a:t>}</a:t>
            </a:r>
          </a:p>
          <a:p>
            <a:pPr marL="0" indent="0" algn="just">
              <a:buNone/>
            </a:pPr>
            <a:r>
              <a:rPr lang="en-US" sz="2800" dirty="0"/>
              <a:t>void sum()</a:t>
            </a:r>
          </a:p>
          <a:p>
            <a:pPr marL="0" indent="0" algn="just">
              <a:buNone/>
            </a:pPr>
            <a:r>
              <a:rPr lang="en-US" sz="2800" dirty="0"/>
              <a:t>{</a:t>
            </a:r>
          </a:p>
          <a:p>
            <a:pPr marL="0" indent="0" algn="just">
              <a:buNone/>
            </a:pPr>
            <a:r>
              <a:rPr lang="en-US" sz="2800" dirty="0" err="1"/>
              <a:t>int</a:t>
            </a:r>
            <a:r>
              <a:rPr lang="en-US" sz="2800" dirty="0"/>
              <a:t> </a:t>
            </a:r>
            <a:r>
              <a:rPr lang="en-US" sz="2800" dirty="0" err="1"/>
              <a:t>a,b,c</a:t>
            </a:r>
            <a:r>
              <a:rPr lang="en-US" sz="2800" dirty="0"/>
              <a:t>;</a:t>
            </a:r>
          </a:p>
          <a:p>
            <a:pPr marL="0" indent="0" algn="just">
              <a:buNone/>
            </a:pPr>
            <a:r>
              <a:rPr lang="en-US" sz="2800" dirty="0" err="1"/>
              <a:t>printf</a:t>
            </a:r>
            <a:r>
              <a:rPr lang="en-US" sz="2800" dirty="0"/>
              <a:t>("enter the values of a and b");</a:t>
            </a:r>
          </a:p>
          <a:p>
            <a:pPr marL="0" indent="0" algn="just">
              <a:buNone/>
            </a:pPr>
            <a:r>
              <a:rPr lang="en-US" sz="2800" dirty="0" err="1"/>
              <a:t>scanf</a:t>
            </a:r>
            <a:r>
              <a:rPr lang="en-US" sz="2800" dirty="0"/>
              <a:t>("%</a:t>
            </a:r>
            <a:r>
              <a:rPr lang="en-US" sz="2800" dirty="0" err="1"/>
              <a:t>d%d</a:t>
            </a:r>
            <a:r>
              <a:rPr lang="en-US" sz="2800" dirty="0"/>
              <a:t>",&amp;</a:t>
            </a:r>
            <a:r>
              <a:rPr lang="en-US" sz="2800" dirty="0" err="1"/>
              <a:t>a,&amp;b</a:t>
            </a:r>
            <a:r>
              <a:rPr lang="en-US" sz="2800" dirty="0"/>
              <a:t>);</a:t>
            </a:r>
          </a:p>
          <a:p>
            <a:pPr marL="0" indent="0" algn="just">
              <a:buNone/>
            </a:pPr>
            <a:r>
              <a:rPr lang="en-US" sz="2800" dirty="0"/>
              <a:t>c=</a:t>
            </a:r>
            <a:r>
              <a:rPr lang="en-US" sz="2800" dirty="0" err="1"/>
              <a:t>a+b</a:t>
            </a:r>
            <a:r>
              <a:rPr lang="en-US" sz="2800" dirty="0"/>
              <a:t>;</a:t>
            </a:r>
          </a:p>
          <a:p>
            <a:pPr marL="0" indent="0" algn="just">
              <a:buNone/>
            </a:pPr>
            <a:r>
              <a:rPr lang="en-US" sz="2800" dirty="0" err="1"/>
              <a:t>printf</a:t>
            </a:r>
            <a:r>
              <a:rPr lang="en-US" sz="2800" dirty="0"/>
              <a:t>("sum=%</a:t>
            </a:r>
            <a:r>
              <a:rPr lang="en-US" sz="2800" dirty="0" err="1"/>
              <a:t>d",c</a:t>
            </a:r>
            <a:r>
              <a:rPr lang="en-US" sz="2800" dirty="0"/>
              <a:t>);</a:t>
            </a:r>
          </a:p>
          <a:p>
            <a:pPr marL="0" indent="0" algn="just">
              <a:buNone/>
            </a:pPr>
            <a:r>
              <a:rPr lang="en-US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610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2: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with no Parameters and Return Values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smtClean="0"/>
              <a:t>In </a:t>
            </a:r>
            <a:r>
              <a:rPr lang="en-US" dirty="0"/>
              <a:t>this category, there is no data transfer between the calling function and called function.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/>
              <a:t>But there is data transfer from called function to the calling function.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When </a:t>
            </a:r>
            <a:r>
              <a:rPr lang="en-US" dirty="0"/>
              <a:t>no parameters are there , the function cannot receive any values from the </a:t>
            </a:r>
            <a:r>
              <a:rPr lang="en-US" dirty="0" smtClean="0"/>
              <a:t>calling function</a:t>
            </a:r>
            <a:r>
              <a:rPr lang="en-US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When </a:t>
            </a:r>
            <a:r>
              <a:rPr lang="en-US" dirty="0"/>
              <a:t>the function returns a value, the calling function receives one value from the </a:t>
            </a:r>
            <a:r>
              <a:rPr lang="en-US" dirty="0" smtClean="0"/>
              <a:t>called function</a:t>
            </a:r>
            <a:r>
              <a:rPr lang="en-US" dirty="0"/>
              <a:t>.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2206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2: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with no Parameters and Return Values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smtClean="0"/>
              <a:t>In </a:t>
            </a:r>
            <a:r>
              <a:rPr lang="en-US" dirty="0"/>
              <a:t>this category, there is no data transfer between the calling function and called function.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/>
              <a:t>But there is data transfer from called function to the calling function.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When </a:t>
            </a:r>
            <a:r>
              <a:rPr lang="en-US" dirty="0"/>
              <a:t>no parameters are there , the function cannot receive any values from the </a:t>
            </a:r>
            <a:r>
              <a:rPr lang="en-US" dirty="0" smtClean="0"/>
              <a:t>calling function</a:t>
            </a:r>
            <a:r>
              <a:rPr lang="en-US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When </a:t>
            </a:r>
            <a:r>
              <a:rPr lang="en-US" dirty="0"/>
              <a:t>the function returns a value, the calling function receives one value from the </a:t>
            </a:r>
            <a:r>
              <a:rPr lang="en-US" dirty="0" smtClean="0"/>
              <a:t>called function</a:t>
            </a:r>
            <a:r>
              <a:rPr lang="en-US" dirty="0"/>
              <a:t>.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03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2: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with no Parameters and Return Values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Example:</a:t>
            </a:r>
          </a:p>
          <a:p>
            <a:pPr marL="0" indent="0" algn="just">
              <a:buNone/>
            </a:pPr>
            <a:r>
              <a:rPr lang="en-US" sz="2800" b="1" i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2800" b="1" i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</a:t>
            </a: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(void) ;</a:t>
            </a:r>
          </a:p>
          <a:p>
            <a:pPr marL="0" indent="0" algn="just">
              <a:buNone/>
            </a:pPr>
            <a:r>
              <a:rPr lang="en-US" sz="2800" b="1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 ( )</a:t>
            </a:r>
          </a:p>
          <a:p>
            <a:pPr marL="0" indent="0" algn="just">
              <a:buNone/>
            </a:pP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 algn="just">
              <a:buNone/>
            </a:pPr>
            <a:r>
              <a:rPr lang="en-US" sz="2800" b="1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 = </a:t>
            </a:r>
            <a:r>
              <a:rPr lang="en-US" sz="2800" b="1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</a:t>
            </a: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 );</a:t>
            </a:r>
          </a:p>
          <a:p>
            <a:pPr marL="0" indent="0" algn="just">
              <a:buNone/>
            </a:pPr>
            <a:r>
              <a:rPr lang="en-US" sz="2800" b="1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“summation = %d” , s);</a:t>
            </a:r>
          </a:p>
          <a:p>
            <a:pPr marL="0" indent="0" algn="just">
              <a:buNone/>
            </a:pP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  <a:p>
            <a:pPr marL="0" indent="0" algn="just">
              <a:buNone/>
            </a:pPr>
            <a:r>
              <a:rPr lang="en-US" sz="2800" b="1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</a:t>
            </a: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 void )</a:t>
            </a:r>
          </a:p>
          <a:p>
            <a:pPr marL="0" indent="0" algn="just">
              <a:buNone/>
            </a:pP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 algn="just">
              <a:buNone/>
            </a:pPr>
            <a:r>
              <a:rPr lang="en-US" sz="2800" b="1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a, b, sum ;</a:t>
            </a:r>
          </a:p>
          <a:p>
            <a:pPr marL="0" indent="0" algn="just">
              <a:buNone/>
            </a:pP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 = </a:t>
            </a:r>
            <a:r>
              <a:rPr lang="en-US" sz="2800" b="1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a+b</a:t>
            </a: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;</a:t>
            </a:r>
          </a:p>
          <a:p>
            <a:pPr marL="0" indent="0" algn="just">
              <a:buNone/>
            </a:pP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(sum) ;</a:t>
            </a:r>
          </a:p>
          <a:p>
            <a:pPr marL="0" indent="0" algn="just">
              <a:buNone/>
            </a:pPr>
            <a:r>
              <a:rPr lang="en-US" sz="2800" b="1" i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  <a:p>
            <a:pPr marL="0" indent="0" algn="just">
              <a:buNone/>
            </a:pP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Here called function is independent, it read the value from the keyboard, initialize </a:t>
            </a:r>
            <a:r>
              <a:rPr lang="en-US" sz="2800" b="1" i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return </a:t>
            </a: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value .Both calling and called function are partly communicated with each other</a:t>
            </a:r>
          </a:p>
        </p:txBody>
      </p:sp>
    </p:spTree>
    <p:extLst>
      <p:ext uri="{BB962C8B-B14F-4D97-AF65-F5344CB8AC3E}">
        <p14:creationId xmlns:p14="http://schemas.microsoft.com/office/powerpoint/2010/main" val="181735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2: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with no Parameters and Return Values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Example:</a:t>
            </a:r>
          </a:p>
          <a:p>
            <a:pPr marL="0" indent="0" algn="just">
              <a:buNone/>
            </a:pP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#include&lt;</a:t>
            </a:r>
            <a:r>
              <a:rPr lang="en-US" sz="2800" b="1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stdio.h</a:t>
            </a:r>
            <a:r>
              <a:rPr lang="en-US" sz="28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pPr marL="0" indent="0" algn="just">
              <a:buNone/>
            </a:pPr>
            <a:r>
              <a:rPr lang="en-US" sz="2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2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</a:t>
            </a:r>
            <a:r>
              <a:rPr lang="en-US" sz="2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</a:p>
          <a:p>
            <a:pPr marL="0" indent="0" algn="just">
              <a:buNone/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main()</a:t>
            </a:r>
          </a:p>
          <a:p>
            <a:pPr marL="0" indent="0" algn="just">
              <a:buNone/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 algn="just">
              <a:buNone/>
            </a:pPr>
            <a:r>
              <a:rPr lang="en-US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c;</a:t>
            </a:r>
          </a:p>
          <a:p>
            <a:pPr marL="0" indent="0" algn="just">
              <a:buNone/>
            </a:pPr>
            <a:r>
              <a:rPr lang="en-US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clrscr</a:t>
            </a: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</a:p>
          <a:p>
            <a:pPr marL="0" indent="0" algn="just">
              <a:buNone/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c=sum();</a:t>
            </a:r>
          </a:p>
          <a:p>
            <a:pPr marL="0" indent="0" algn="just">
              <a:buNone/>
            </a:pPr>
            <a:r>
              <a:rPr lang="en-US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("sum=%</a:t>
            </a:r>
            <a:r>
              <a:rPr lang="en-US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d",c</a:t>
            </a: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pPr marL="0" indent="0" algn="just">
              <a:buNone/>
            </a:pPr>
            <a:r>
              <a:rPr lang="en-US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</a:t>
            </a: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</a:p>
          <a:p>
            <a:pPr marL="0" indent="0" algn="just">
              <a:buNone/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  <a:p>
            <a:pPr marL="0" indent="0" algn="just">
              <a:buNone/>
            </a:pPr>
            <a:r>
              <a:rPr lang="en-US" sz="28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endParaRPr lang="en-US" sz="2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168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3: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with Parameters and no Return Values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In </a:t>
            </a:r>
            <a:r>
              <a:rPr lang="en-US" dirty="0"/>
              <a:t>this category, there is data transfer from the calling function to the called function </a:t>
            </a:r>
            <a:r>
              <a:rPr lang="en-US" dirty="0" smtClean="0"/>
              <a:t>using parameters</a:t>
            </a:r>
            <a:r>
              <a:rPr lang="en-US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But </a:t>
            </a:r>
            <a:r>
              <a:rPr lang="en-US" dirty="0"/>
              <a:t>there is no data transfer from called function to the calling function.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When </a:t>
            </a:r>
            <a:r>
              <a:rPr lang="en-US" dirty="0"/>
              <a:t>parameters are there , the function can receive any values from the calling function.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When </a:t>
            </a:r>
            <a:r>
              <a:rPr lang="en-US" dirty="0"/>
              <a:t>the function does not return a value, the calling function cannot receive any value </a:t>
            </a:r>
            <a:r>
              <a:rPr lang="en-US" dirty="0" smtClean="0"/>
              <a:t>from the </a:t>
            </a:r>
            <a:r>
              <a:rPr lang="en-US" dirty="0"/>
              <a:t>called function.</a:t>
            </a:r>
            <a:endParaRPr lang="en-US" sz="2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76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3: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with Parameters and no Return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Values_Example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800" i="1" dirty="0"/>
              <a:t>#include&lt;</a:t>
            </a:r>
            <a:r>
              <a:rPr lang="en-US" sz="2800" i="1" dirty="0" err="1"/>
              <a:t>stdio</a:t>
            </a:r>
            <a:r>
              <a:rPr lang="en-US" sz="2800" i="1" dirty="0" smtClean="0"/>
              <a:t>.</a:t>
            </a:r>
          </a:p>
          <a:p>
            <a:pPr marL="0" indent="0" algn="just">
              <a:buNone/>
            </a:pPr>
            <a:r>
              <a:rPr lang="en-US" sz="2800" i="1" dirty="0"/>
              <a:t>void sum(</a:t>
            </a:r>
            <a:r>
              <a:rPr lang="en-US" sz="2800" i="1" dirty="0" err="1"/>
              <a:t>int</a:t>
            </a:r>
            <a:r>
              <a:rPr lang="en-US" sz="2800" i="1" dirty="0"/>
              <a:t> </a:t>
            </a:r>
            <a:r>
              <a:rPr lang="en-US" sz="2800" i="1" dirty="0" err="1"/>
              <a:t>a,int</a:t>
            </a:r>
            <a:r>
              <a:rPr lang="en-US" sz="2800" i="1" dirty="0"/>
              <a:t> b);</a:t>
            </a:r>
          </a:p>
          <a:p>
            <a:pPr marL="0" indent="0" algn="just">
              <a:buNone/>
            </a:pPr>
            <a:r>
              <a:rPr lang="en-US" sz="2800" i="1" dirty="0"/>
              <a:t>void main()</a:t>
            </a:r>
          </a:p>
          <a:p>
            <a:pPr marL="0" indent="0" algn="just">
              <a:buNone/>
            </a:pPr>
            <a:r>
              <a:rPr lang="en-US" sz="2800" i="1" dirty="0"/>
              <a:t>{</a:t>
            </a:r>
          </a:p>
          <a:p>
            <a:pPr marL="0" indent="0" algn="just">
              <a:buNone/>
            </a:pPr>
            <a:r>
              <a:rPr lang="en-US" sz="2800" i="1" dirty="0" err="1"/>
              <a:t>int</a:t>
            </a:r>
            <a:r>
              <a:rPr lang="en-US" sz="2800" i="1" dirty="0"/>
              <a:t> </a:t>
            </a:r>
            <a:r>
              <a:rPr lang="en-US" sz="2800" i="1" dirty="0" err="1"/>
              <a:t>m,n</a:t>
            </a:r>
            <a:r>
              <a:rPr lang="en-US" sz="2800" i="1" dirty="0"/>
              <a:t>;</a:t>
            </a:r>
          </a:p>
          <a:p>
            <a:pPr marL="0" indent="0" algn="just">
              <a:buNone/>
            </a:pPr>
            <a:r>
              <a:rPr lang="en-US" sz="2800" i="1" dirty="0" err="1" smtClean="0"/>
              <a:t>printf</a:t>
            </a:r>
            <a:r>
              <a:rPr lang="en-US" sz="2800" i="1" dirty="0"/>
              <a:t>("Enter m and n values:");</a:t>
            </a:r>
          </a:p>
          <a:p>
            <a:pPr marL="0" indent="0" algn="just">
              <a:buNone/>
            </a:pPr>
            <a:r>
              <a:rPr lang="en-US" sz="2800" i="1" dirty="0" err="1"/>
              <a:t>scanf</a:t>
            </a:r>
            <a:r>
              <a:rPr lang="en-US" sz="2800" i="1" dirty="0"/>
              <a:t>("%</a:t>
            </a:r>
            <a:r>
              <a:rPr lang="en-US" sz="2800" i="1" dirty="0" err="1"/>
              <a:t>d%d</a:t>
            </a:r>
            <a:r>
              <a:rPr lang="en-US" sz="2800" i="1" dirty="0"/>
              <a:t>",&amp;</a:t>
            </a:r>
            <a:r>
              <a:rPr lang="en-US" sz="2800" i="1" dirty="0" err="1"/>
              <a:t>m,&amp;n</a:t>
            </a:r>
            <a:r>
              <a:rPr lang="en-US" sz="2800" i="1" dirty="0"/>
              <a:t>);</a:t>
            </a:r>
          </a:p>
          <a:p>
            <a:pPr marL="0" indent="0" algn="just">
              <a:buNone/>
            </a:pPr>
            <a:r>
              <a:rPr lang="en-US" sz="2800" i="1" dirty="0"/>
              <a:t>sum(</a:t>
            </a:r>
            <a:r>
              <a:rPr lang="en-US" sz="2800" i="1" dirty="0" err="1"/>
              <a:t>m,n</a:t>
            </a:r>
            <a:r>
              <a:rPr lang="en-US" sz="2800" i="1" dirty="0"/>
              <a:t>);</a:t>
            </a:r>
          </a:p>
          <a:p>
            <a:pPr marL="0" indent="0" algn="just">
              <a:buNone/>
            </a:pPr>
            <a:r>
              <a:rPr lang="en-US" sz="2800" i="1" dirty="0" err="1"/>
              <a:t>getch</a:t>
            </a:r>
            <a:r>
              <a:rPr lang="en-US" sz="2800" i="1" dirty="0"/>
              <a:t>();</a:t>
            </a:r>
          </a:p>
          <a:p>
            <a:pPr marL="0" indent="0" algn="just">
              <a:buNone/>
            </a:pPr>
            <a:r>
              <a:rPr lang="en-US" sz="2800" i="1" dirty="0" smtClean="0"/>
              <a:t>}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39531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3: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with Parameters and no Return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Values_Example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i="1" dirty="0"/>
              <a:t>void sum(</a:t>
            </a:r>
            <a:r>
              <a:rPr lang="en-US" sz="2800" i="1" dirty="0" err="1"/>
              <a:t>int</a:t>
            </a:r>
            <a:r>
              <a:rPr lang="en-US" sz="2800" i="1" dirty="0"/>
              <a:t> </a:t>
            </a:r>
            <a:r>
              <a:rPr lang="en-US" sz="2800" i="1" dirty="0" err="1"/>
              <a:t>a,int</a:t>
            </a:r>
            <a:r>
              <a:rPr lang="en-US" sz="2800" i="1" dirty="0"/>
              <a:t> b)</a:t>
            </a:r>
          </a:p>
          <a:p>
            <a:pPr marL="0" indent="0" algn="just">
              <a:buNone/>
            </a:pPr>
            <a:r>
              <a:rPr lang="en-US" sz="2800" i="1" dirty="0"/>
              <a:t>{</a:t>
            </a:r>
          </a:p>
          <a:p>
            <a:pPr marL="0" indent="0" algn="just">
              <a:buNone/>
            </a:pPr>
            <a:r>
              <a:rPr lang="en-US" sz="2800" i="1" dirty="0" err="1"/>
              <a:t>int</a:t>
            </a:r>
            <a:r>
              <a:rPr lang="en-US" sz="2800" i="1" dirty="0"/>
              <a:t> c;</a:t>
            </a:r>
          </a:p>
          <a:p>
            <a:pPr marL="0" indent="0" algn="just">
              <a:buNone/>
            </a:pPr>
            <a:r>
              <a:rPr lang="en-US" sz="2800" i="1" dirty="0"/>
              <a:t>c=</a:t>
            </a:r>
            <a:r>
              <a:rPr lang="en-US" sz="2800" i="1" dirty="0" err="1"/>
              <a:t>a+b</a:t>
            </a:r>
            <a:r>
              <a:rPr lang="en-US" sz="2800" i="1" dirty="0"/>
              <a:t>;</a:t>
            </a:r>
          </a:p>
          <a:p>
            <a:pPr marL="0" indent="0" algn="just">
              <a:buNone/>
            </a:pPr>
            <a:r>
              <a:rPr lang="en-US" sz="2800" i="1" dirty="0" err="1"/>
              <a:t>printf</a:t>
            </a:r>
            <a:r>
              <a:rPr lang="en-US" sz="2800" i="1" dirty="0"/>
              <a:t>("sum=%</a:t>
            </a:r>
            <a:r>
              <a:rPr lang="en-US" sz="2800" i="1" dirty="0" err="1"/>
              <a:t>d",c</a:t>
            </a:r>
            <a:r>
              <a:rPr lang="en-US" sz="2800" i="1" dirty="0"/>
              <a:t>);</a:t>
            </a:r>
          </a:p>
          <a:p>
            <a:pPr marL="0" indent="0" algn="just">
              <a:buNone/>
            </a:pPr>
            <a:r>
              <a:rPr lang="en-US" sz="2800" i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284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with Parameters and Return Values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800" dirty="0" smtClean="0"/>
              <a:t>In </a:t>
            </a:r>
            <a:r>
              <a:rPr lang="en-US" sz="2800" dirty="0"/>
              <a:t>this category, there is data transfer from the calling function to the called function </a:t>
            </a:r>
            <a:r>
              <a:rPr lang="en-US" sz="2800" dirty="0" smtClean="0"/>
              <a:t>using parameters</a:t>
            </a:r>
            <a:r>
              <a:rPr lang="en-US" sz="2800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/>
              <a:t>But </a:t>
            </a:r>
            <a:r>
              <a:rPr lang="en-US" sz="2800" dirty="0"/>
              <a:t>there is no data transfer from called function to the calling function.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/>
              <a:t>When </a:t>
            </a:r>
            <a:r>
              <a:rPr lang="en-US" sz="2800" dirty="0"/>
              <a:t>parameters are there , the function can receive any values from the calling function.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/>
              <a:t>When </a:t>
            </a:r>
            <a:r>
              <a:rPr lang="en-US" sz="2800" dirty="0"/>
              <a:t>the function returns a value, the calling function receive a value from the </a:t>
            </a:r>
            <a:r>
              <a:rPr lang="en-US" sz="2800" dirty="0" smtClean="0"/>
              <a:t>called function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127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with Parameters and Return 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Values-Example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800" i="1" dirty="0"/>
              <a:t>#include&lt;</a:t>
            </a:r>
            <a:r>
              <a:rPr lang="en-US" sz="2800" i="1" dirty="0" err="1"/>
              <a:t>stdio.h</a:t>
            </a:r>
            <a:r>
              <a:rPr lang="en-US" sz="2800" i="1" dirty="0"/>
              <a:t>&gt;</a:t>
            </a:r>
          </a:p>
          <a:p>
            <a:pPr marL="0" indent="0" algn="just">
              <a:buNone/>
            </a:pPr>
            <a:r>
              <a:rPr lang="en-US" sz="2800" i="1" dirty="0" err="1" smtClean="0"/>
              <a:t>int</a:t>
            </a:r>
            <a:r>
              <a:rPr lang="en-US" sz="2800" i="1" dirty="0" smtClean="0"/>
              <a:t> </a:t>
            </a:r>
            <a:r>
              <a:rPr lang="en-US" sz="2800" i="1" dirty="0"/>
              <a:t>sum(</a:t>
            </a:r>
            <a:r>
              <a:rPr lang="en-US" sz="2800" i="1" dirty="0" err="1"/>
              <a:t>int</a:t>
            </a:r>
            <a:r>
              <a:rPr lang="en-US" sz="2800" i="1" dirty="0"/>
              <a:t> </a:t>
            </a:r>
            <a:r>
              <a:rPr lang="en-US" sz="2800" i="1" dirty="0" err="1"/>
              <a:t>a,int</a:t>
            </a:r>
            <a:r>
              <a:rPr lang="en-US" sz="2800" i="1" dirty="0"/>
              <a:t> b</a:t>
            </a:r>
            <a:r>
              <a:rPr lang="en-US" sz="2800" i="1" dirty="0" smtClean="0"/>
              <a:t>);</a:t>
            </a:r>
          </a:p>
          <a:p>
            <a:pPr marL="0" indent="0" algn="just">
              <a:buNone/>
            </a:pPr>
            <a:r>
              <a:rPr lang="en-US" sz="2800" i="1" dirty="0"/>
              <a:t>void main()</a:t>
            </a:r>
          </a:p>
          <a:p>
            <a:pPr marL="0" indent="0" algn="just">
              <a:buNone/>
            </a:pPr>
            <a:r>
              <a:rPr lang="en-US" sz="2800" i="1" dirty="0"/>
              <a:t>{</a:t>
            </a:r>
          </a:p>
          <a:p>
            <a:pPr marL="0" indent="0" algn="just">
              <a:buNone/>
            </a:pPr>
            <a:r>
              <a:rPr lang="en-US" sz="2800" i="1" dirty="0" err="1"/>
              <a:t>int</a:t>
            </a:r>
            <a:r>
              <a:rPr lang="en-US" sz="2800" i="1" dirty="0"/>
              <a:t> </a:t>
            </a:r>
            <a:r>
              <a:rPr lang="en-US" sz="2800" i="1" dirty="0" err="1"/>
              <a:t>m,n,c</a:t>
            </a:r>
            <a:r>
              <a:rPr lang="en-US" sz="2800" i="1" dirty="0"/>
              <a:t>;</a:t>
            </a:r>
          </a:p>
          <a:p>
            <a:pPr marL="0" indent="0" algn="just">
              <a:buNone/>
            </a:pPr>
            <a:r>
              <a:rPr lang="en-US" sz="2800" i="1" dirty="0" err="1" smtClean="0"/>
              <a:t>printf</a:t>
            </a:r>
            <a:r>
              <a:rPr lang="en-US" sz="2800" i="1" dirty="0"/>
              <a:t>("Enter m and n values");</a:t>
            </a:r>
          </a:p>
          <a:p>
            <a:pPr marL="0" indent="0" algn="just">
              <a:buNone/>
            </a:pPr>
            <a:r>
              <a:rPr lang="en-US" sz="2800" i="1" dirty="0" err="1"/>
              <a:t>scanf</a:t>
            </a:r>
            <a:r>
              <a:rPr lang="en-US" sz="2800" i="1" dirty="0"/>
              <a:t>("%</a:t>
            </a:r>
            <a:r>
              <a:rPr lang="en-US" sz="2800" i="1" dirty="0" err="1"/>
              <a:t>d%d</a:t>
            </a:r>
            <a:r>
              <a:rPr lang="en-US" sz="2800" i="1" dirty="0"/>
              <a:t>",&amp;</a:t>
            </a:r>
            <a:r>
              <a:rPr lang="en-US" sz="2800" i="1" dirty="0" err="1"/>
              <a:t>m,&amp;n</a:t>
            </a:r>
            <a:r>
              <a:rPr lang="en-US" sz="2800" i="1" dirty="0"/>
              <a:t>);</a:t>
            </a:r>
          </a:p>
          <a:p>
            <a:pPr marL="0" indent="0" algn="just">
              <a:buNone/>
            </a:pPr>
            <a:r>
              <a:rPr lang="en-US" sz="2800" i="1" dirty="0"/>
              <a:t>c=sum(</a:t>
            </a:r>
            <a:r>
              <a:rPr lang="en-US" sz="2800" i="1" dirty="0" err="1"/>
              <a:t>m,n</a:t>
            </a:r>
            <a:r>
              <a:rPr lang="en-US" sz="2800" i="1" dirty="0"/>
              <a:t>);</a:t>
            </a:r>
          </a:p>
          <a:p>
            <a:pPr marL="0" indent="0" algn="just">
              <a:buNone/>
            </a:pPr>
            <a:r>
              <a:rPr lang="en-US" sz="2800" i="1" dirty="0" err="1"/>
              <a:t>printf</a:t>
            </a:r>
            <a:r>
              <a:rPr lang="en-US" sz="2800" i="1" dirty="0"/>
              <a:t>("sum=%</a:t>
            </a:r>
            <a:r>
              <a:rPr lang="en-US" sz="2800" i="1" dirty="0" err="1"/>
              <a:t>d",c</a:t>
            </a:r>
            <a:r>
              <a:rPr lang="en-US" sz="2800" i="1" dirty="0"/>
              <a:t>);</a:t>
            </a:r>
          </a:p>
          <a:p>
            <a:pPr marL="0" indent="0" algn="just">
              <a:buNone/>
            </a:pPr>
            <a:r>
              <a:rPr lang="en-US" sz="2800" i="1" dirty="0" err="1"/>
              <a:t>getch</a:t>
            </a:r>
            <a:r>
              <a:rPr lang="en-US" sz="2800" i="1" dirty="0"/>
              <a:t>();</a:t>
            </a:r>
          </a:p>
          <a:p>
            <a:pPr marL="0" indent="0" algn="just">
              <a:buNone/>
            </a:pPr>
            <a:r>
              <a:rPr lang="en-US" sz="2800" i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260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with Parameters and Return 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Values-Example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i="1" dirty="0" err="1"/>
              <a:t>int</a:t>
            </a:r>
            <a:r>
              <a:rPr lang="en-US" sz="2800" i="1" dirty="0"/>
              <a:t> sum(</a:t>
            </a:r>
            <a:r>
              <a:rPr lang="en-US" sz="2800" i="1" dirty="0" err="1"/>
              <a:t>int</a:t>
            </a:r>
            <a:r>
              <a:rPr lang="en-US" sz="2800" i="1" dirty="0"/>
              <a:t> </a:t>
            </a:r>
            <a:r>
              <a:rPr lang="en-US" sz="2800" i="1" dirty="0" err="1"/>
              <a:t>a,int</a:t>
            </a:r>
            <a:r>
              <a:rPr lang="en-US" sz="2800" i="1" dirty="0"/>
              <a:t> b)</a:t>
            </a:r>
          </a:p>
          <a:p>
            <a:pPr marL="0" indent="0" algn="just">
              <a:buNone/>
            </a:pPr>
            <a:r>
              <a:rPr lang="en-US" sz="2800" i="1" dirty="0"/>
              <a:t>{</a:t>
            </a:r>
          </a:p>
          <a:p>
            <a:pPr marL="0" indent="0" algn="just">
              <a:buNone/>
            </a:pPr>
            <a:r>
              <a:rPr lang="en-US" sz="2800" i="1" dirty="0" err="1"/>
              <a:t>int</a:t>
            </a:r>
            <a:r>
              <a:rPr lang="en-US" sz="2800" i="1" dirty="0"/>
              <a:t> c;</a:t>
            </a:r>
          </a:p>
          <a:p>
            <a:pPr marL="0" indent="0" algn="just">
              <a:buNone/>
            </a:pPr>
            <a:r>
              <a:rPr lang="en-US" sz="2800" i="1" dirty="0"/>
              <a:t>c=</a:t>
            </a:r>
            <a:r>
              <a:rPr lang="en-US" sz="2800" i="1" dirty="0" err="1"/>
              <a:t>a+b</a:t>
            </a:r>
            <a:r>
              <a:rPr lang="en-US" sz="2800" i="1" dirty="0"/>
              <a:t>;</a:t>
            </a:r>
          </a:p>
          <a:p>
            <a:pPr marL="0" indent="0" algn="just">
              <a:buNone/>
            </a:pPr>
            <a:r>
              <a:rPr lang="en-US" sz="2800" i="1" dirty="0"/>
              <a:t>return c;</a:t>
            </a:r>
          </a:p>
          <a:p>
            <a:pPr marL="0" indent="0" algn="just">
              <a:buNone/>
            </a:pPr>
            <a:r>
              <a:rPr lang="en-US" sz="2800" i="1"/>
              <a:t>}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44168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4426</TotalTime>
  <Words>1805</Words>
  <Application>Microsoft Office PowerPoint</Application>
  <PresentationFormat>On-screen Show (4:3)</PresentationFormat>
  <Paragraphs>313</Paragraphs>
  <Slides>33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Office Theme</vt:lpstr>
      <vt:lpstr>1_Slipstream</vt:lpstr>
      <vt:lpstr>1_Office Theme</vt:lpstr>
      <vt:lpstr>Structure Programming  ICT-1105  Information and Communication Technology</vt:lpstr>
      <vt:lpstr>PowerPoint Presentation</vt:lpstr>
      <vt:lpstr>Functions</vt:lpstr>
      <vt:lpstr>Parameters</vt:lpstr>
      <vt:lpstr>Parameters</vt:lpstr>
      <vt:lpstr>Parameters</vt:lpstr>
      <vt:lpstr>Difference between Actual Parameters and Formal Parameters</vt:lpstr>
      <vt:lpstr>Difference between Actual Parameters and Formal Parameters</vt:lpstr>
      <vt:lpstr>Passing parameters to functions</vt:lpstr>
      <vt:lpstr>Passing parameters to functions</vt:lpstr>
      <vt:lpstr>Pass by value (OR) Call by value </vt:lpstr>
      <vt:lpstr>Pass by value (OR) Call by value </vt:lpstr>
      <vt:lpstr>Call by value -Example</vt:lpstr>
      <vt:lpstr>Call by value -Example</vt:lpstr>
      <vt:lpstr>Pass by reference (OR) Call by Reference</vt:lpstr>
      <vt:lpstr>Call by Reference-Example</vt:lpstr>
      <vt:lpstr>Call by Reference-Example</vt:lpstr>
      <vt:lpstr>Differnce between Call by value and Call by reference</vt:lpstr>
      <vt:lpstr>Functions Categories</vt:lpstr>
      <vt:lpstr>1 : Functions with no parameters/arguments and no return values</vt:lpstr>
      <vt:lpstr>1 : Functions with no parameters/arguments and no return values</vt:lpstr>
      <vt:lpstr>1 : Functions with no parameters/arguments and no return values - Example</vt:lpstr>
      <vt:lpstr> 2: Functions with no Parameters and Return Values</vt:lpstr>
      <vt:lpstr> 2: Functions with no Parameters and Return Values</vt:lpstr>
      <vt:lpstr> 2: Functions with no Parameters and Return Values</vt:lpstr>
      <vt:lpstr> 2: Functions with no Parameters and Return Values</vt:lpstr>
      <vt:lpstr> 3: Functions with Parameters and no Return Values</vt:lpstr>
      <vt:lpstr> 3: Functions with Parameters and no Return Values_Example</vt:lpstr>
      <vt:lpstr> 3: Functions with Parameters and no Return Values_Example</vt:lpstr>
      <vt:lpstr> 4: Functions with Parameters and Return Values</vt:lpstr>
      <vt:lpstr> 4: Functions with Parameters and Return Values-Example</vt:lpstr>
      <vt:lpstr> 4: Functions with Parameters and Return Values-Example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Dulal Sir</cp:lastModifiedBy>
  <cp:revision>464</cp:revision>
  <dcterms:created xsi:type="dcterms:W3CDTF">2019-09-20T11:10:00Z</dcterms:created>
  <dcterms:modified xsi:type="dcterms:W3CDTF">2025-02-16T06:25:24Z</dcterms:modified>
</cp:coreProperties>
</file>