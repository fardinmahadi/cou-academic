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8" r:id="rId2"/>
  </p:sldMasterIdLst>
  <p:notesMasterIdLst>
    <p:notesMasterId r:id="rId111"/>
  </p:notesMasterIdLst>
  <p:sldIdLst>
    <p:sldId id="463" r:id="rId3"/>
    <p:sldId id="467" r:id="rId4"/>
    <p:sldId id="499" r:id="rId5"/>
    <p:sldId id="541" r:id="rId6"/>
    <p:sldId id="542" r:id="rId7"/>
    <p:sldId id="543" r:id="rId8"/>
    <p:sldId id="544" r:id="rId9"/>
    <p:sldId id="545" r:id="rId10"/>
    <p:sldId id="546" r:id="rId11"/>
    <p:sldId id="547" r:id="rId12"/>
    <p:sldId id="548" r:id="rId13"/>
    <p:sldId id="549" r:id="rId14"/>
    <p:sldId id="550" r:id="rId15"/>
    <p:sldId id="551" r:id="rId16"/>
    <p:sldId id="552" r:id="rId17"/>
    <p:sldId id="553" r:id="rId18"/>
    <p:sldId id="554" r:id="rId19"/>
    <p:sldId id="555" r:id="rId20"/>
    <p:sldId id="557" r:id="rId21"/>
    <p:sldId id="571" r:id="rId22"/>
    <p:sldId id="572" r:id="rId23"/>
    <p:sldId id="573" r:id="rId24"/>
    <p:sldId id="574" r:id="rId25"/>
    <p:sldId id="556" r:id="rId26"/>
    <p:sldId id="575" r:id="rId27"/>
    <p:sldId id="576" r:id="rId28"/>
    <p:sldId id="577" r:id="rId29"/>
    <p:sldId id="578" r:id="rId30"/>
    <p:sldId id="579" r:id="rId31"/>
    <p:sldId id="580" r:id="rId32"/>
    <p:sldId id="581" r:id="rId33"/>
    <p:sldId id="582" r:id="rId34"/>
    <p:sldId id="583" r:id="rId35"/>
    <p:sldId id="584" r:id="rId36"/>
    <p:sldId id="585" r:id="rId37"/>
    <p:sldId id="588" r:id="rId38"/>
    <p:sldId id="586" r:id="rId39"/>
    <p:sldId id="587" r:id="rId40"/>
    <p:sldId id="558" r:id="rId41"/>
    <p:sldId id="559" r:id="rId42"/>
    <p:sldId id="560" r:id="rId43"/>
    <p:sldId id="561" r:id="rId44"/>
    <p:sldId id="562" r:id="rId45"/>
    <p:sldId id="563" r:id="rId46"/>
    <p:sldId id="589" r:id="rId47"/>
    <p:sldId id="564" r:id="rId48"/>
    <p:sldId id="565" r:id="rId49"/>
    <p:sldId id="566" r:id="rId50"/>
    <p:sldId id="590" r:id="rId51"/>
    <p:sldId id="567" r:id="rId52"/>
    <p:sldId id="568" r:id="rId53"/>
    <p:sldId id="569" r:id="rId54"/>
    <p:sldId id="570" r:id="rId55"/>
    <p:sldId id="591" r:id="rId56"/>
    <p:sldId id="593" r:id="rId57"/>
    <p:sldId id="594" r:id="rId58"/>
    <p:sldId id="595" r:id="rId59"/>
    <p:sldId id="592" r:id="rId60"/>
    <p:sldId id="596" r:id="rId61"/>
    <p:sldId id="597" r:id="rId62"/>
    <p:sldId id="640" r:id="rId63"/>
    <p:sldId id="641" r:id="rId64"/>
    <p:sldId id="598" r:id="rId65"/>
    <p:sldId id="599" r:id="rId66"/>
    <p:sldId id="600" r:id="rId67"/>
    <p:sldId id="601" r:id="rId68"/>
    <p:sldId id="602" r:id="rId69"/>
    <p:sldId id="603" r:id="rId70"/>
    <p:sldId id="604" r:id="rId71"/>
    <p:sldId id="605" r:id="rId72"/>
    <p:sldId id="606" r:id="rId73"/>
    <p:sldId id="607" r:id="rId74"/>
    <p:sldId id="608" r:id="rId75"/>
    <p:sldId id="615" r:id="rId76"/>
    <p:sldId id="614" r:id="rId77"/>
    <p:sldId id="609" r:id="rId78"/>
    <p:sldId id="610" r:id="rId79"/>
    <p:sldId id="611" r:id="rId80"/>
    <p:sldId id="612" r:id="rId81"/>
    <p:sldId id="613" r:id="rId82"/>
    <p:sldId id="616" r:id="rId83"/>
    <p:sldId id="617" r:id="rId84"/>
    <p:sldId id="618" r:id="rId85"/>
    <p:sldId id="619" r:id="rId86"/>
    <p:sldId id="620" r:id="rId87"/>
    <p:sldId id="621" r:id="rId88"/>
    <p:sldId id="622" r:id="rId89"/>
    <p:sldId id="623" r:id="rId90"/>
    <p:sldId id="624" r:id="rId91"/>
    <p:sldId id="625" r:id="rId92"/>
    <p:sldId id="626" r:id="rId93"/>
    <p:sldId id="627" r:id="rId94"/>
    <p:sldId id="628" r:id="rId95"/>
    <p:sldId id="629" r:id="rId96"/>
    <p:sldId id="630" r:id="rId97"/>
    <p:sldId id="631" r:id="rId98"/>
    <p:sldId id="632" r:id="rId99"/>
    <p:sldId id="633" r:id="rId100"/>
    <p:sldId id="634" r:id="rId101"/>
    <p:sldId id="635" r:id="rId102"/>
    <p:sldId id="636" r:id="rId103"/>
    <p:sldId id="637" r:id="rId104"/>
    <p:sldId id="638" r:id="rId105"/>
    <p:sldId id="639" r:id="rId106"/>
    <p:sldId id="642" r:id="rId107"/>
    <p:sldId id="643" r:id="rId108"/>
    <p:sldId id="644" r:id="rId109"/>
    <p:sldId id="461" r:id="rId1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B606BA"/>
    <a:srgbClr val="06661F"/>
    <a:srgbClr val="03BD57"/>
    <a:srgbClr val="1DA37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81317" autoAdjust="0"/>
  </p:normalViewPr>
  <p:slideViewPr>
    <p:cSldViewPr>
      <p:cViewPr varScale="1">
        <p:scale>
          <a:sx n="59" d="100"/>
          <a:sy n="59" d="100"/>
        </p:scale>
        <p:origin x="-168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presProps" Target="presProps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slide" Target="slides/slide85.xml"/><Relationship Id="rId102" Type="http://schemas.openxmlformats.org/officeDocument/2006/relationships/slide" Target="slides/slide100.xml"/><Relationship Id="rId110" Type="http://schemas.openxmlformats.org/officeDocument/2006/relationships/slide" Target="slides/slide108.xml"/><Relationship Id="rId115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13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DCD7-0DB4-4E0B-B99D-38F426DFA1ED}" type="datetimeFigureOut">
              <a:rPr lang="en-US" smtClean="0"/>
              <a:t>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4FB36-99AC-4CD3-8A8F-04DE1EFF5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159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49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59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69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79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89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99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4FB36-99AC-4CD3-8A8F-04DE1EFF5B68}" type="slidenum">
              <a:rPr lang="en-US" smtClean="0">
                <a:solidFill>
                  <a:prstClr val="black"/>
                </a:solidFill>
              </a:rPr>
              <a:pPr/>
              <a:t>107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581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708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59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106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133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844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33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70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933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64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685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18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6423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4952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037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01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3680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96874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025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83645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543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53485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120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603B96-19A4-4ABF-B819-5478AC45EB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183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160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998720"/>
            <a:ext cx="6400800" cy="140208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Lecture-08</a:t>
            </a: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50210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Structure Programming</a:t>
            </a:r>
            <a: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8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ICT-1105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701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>
            <a:normAutofit/>
          </a:bodyPr>
          <a:lstStyle/>
          <a:p>
            <a:pPr marL="0" indent="0" algn="just">
              <a:buFont typeface="Wingdings" pitchFamily="2" charset="2"/>
              <a:buNone/>
              <a:defRPr/>
            </a:pPr>
            <a:r>
              <a:rPr 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contents has given in  Google Classroom with code </a:t>
            </a: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just">
              <a:buFont typeface="Wingdings" pitchFamily="2" charset="2"/>
              <a:buNone/>
              <a:defRPr/>
            </a:pPr>
            <a:endParaRPr lang="en-US" sz="3600" b="1" dirty="0">
              <a:solidFill>
                <a:srgbClr val="FF0000"/>
              </a:solidFill>
            </a:endParaRPr>
          </a:p>
          <a:p>
            <a:pPr marL="0" indent="0" algn="ctr">
              <a:buFont typeface="Wingdings" pitchFamily="2" charset="2"/>
              <a:buNone/>
              <a:defRPr/>
            </a:pPr>
            <a:r>
              <a:rPr lang="en-US" sz="8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nhauiw4</a:t>
            </a:r>
            <a:endParaRPr lang="en-US" sz="8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556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A variable is a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 of memory location</a:t>
            </a:r>
            <a:r>
              <a:rPr lang="en-US" sz="3600" dirty="0"/>
              <a:t>. It is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used to store data</a:t>
            </a:r>
            <a:r>
              <a:rPr lang="en-US" sz="3600" dirty="0"/>
              <a:t>. Variables are </a:t>
            </a:r>
            <a:r>
              <a:rPr lang="en-US" sz="3600" dirty="0" smtClean="0"/>
              <a:t>changeable, we </a:t>
            </a:r>
            <a:r>
              <a:rPr lang="en-US" sz="3600" dirty="0"/>
              <a:t>can change value of a variable during execution of a program. . It can be reused </a:t>
            </a:r>
            <a:r>
              <a:rPr lang="en-US" sz="3600" dirty="0" smtClean="0"/>
              <a:t>many times.</a:t>
            </a:r>
          </a:p>
          <a:p>
            <a:pPr algn="just"/>
            <a:r>
              <a:rPr lang="en-US" sz="3600" dirty="0" smtClean="0"/>
              <a:t>A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</a:t>
            </a:r>
            <a:r>
              <a:rPr lang="en-US" sz="3600" dirty="0"/>
              <a:t> is associated with each variable &amp; it decides what values the variable can take.</a:t>
            </a:r>
            <a:endParaRPr lang="en-US" sz="36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092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algn="just"/>
            <a:r>
              <a:rPr lang="en-US" sz="3600" dirty="0" smtClean="0"/>
              <a:t>When you </a:t>
            </a:r>
            <a:r>
              <a:rPr lang="en-US" sz="3600" dirty="0"/>
              <a:t>decide your program needs another variable, you simply declare (or define) a new </a:t>
            </a:r>
            <a:r>
              <a:rPr lang="en-US" sz="3600" dirty="0" smtClean="0"/>
              <a:t>variable and </a:t>
            </a:r>
            <a:r>
              <a:rPr lang="en-US" sz="3600" dirty="0"/>
              <a:t>C makes sure you get it. </a:t>
            </a:r>
            <a:endParaRPr lang="en-US" sz="3600" dirty="0" smtClean="0"/>
          </a:p>
          <a:p>
            <a:pPr algn="just"/>
            <a:r>
              <a:rPr lang="en-US" sz="3600" dirty="0" smtClean="0"/>
              <a:t>You </a:t>
            </a:r>
            <a:r>
              <a:rPr lang="en-US" sz="3600" dirty="0">
                <a:solidFill>
                  <a:srgbClr val="0000CC"/>
                </a:solidFill>
              </a:rPr>
              <a:t>declare all C variables at the top of whatever blocks of </a:t>
            </a:r>
            <a:r>
              <a:rPr lang="en-US" sz="3600" dirty="0" smtClean="0">
                <a:solidFill>
                  <a:srgbClr val="0000CC"/>
                </a:solidFill>
              </a:rPr>
              <a:t>code</a:t>
            </a:r>
            <a:r>
              <a:rPr lang="en-US" sz="3600" dirty="0" smtClean="0"/>
              <a:t> need them.</a:t>
            </a:r>
          </a:p>
          <a:p>
            <a:pPr algn="just"/>
            <a:endParaRPr lang="en-US" sz="3600" dirty="0"/>
          </a:p>
          <a:p>
            <a:pPr algn="just"/>
            <a:r>
              <a:rPr lang="en-US" sz="3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are nothing but identifiers.</a:t>
            </a:r>
            <a:endParaRPr lang="en-US" sz="3600" b="1" i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52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Rules to write variable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fontScale="92500"/>
          </a:bodyPr>
          <a:lstStyle/>
          <a:p>
            <a:pPr marL="742950" indent="-742950" algn="just">
              <a:buAutoNum type="arabicPeriod"/>
            </a:pPr>
            <a:r>
              <a:rPr lang="en-US" sz="3600" dirty="0" smtClean="0"/>
              <a:t>A </a:t>
            </a:r>
            <a:r>
              <a:rPr lang="en-US" sz="3600" dirty="0"/>
              <a:t>variable name contains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maximum</a:t>
            </a:r>
            <a:r>
              <a:rPr lang="en-US" sz="3600" dirty="0"/>
              <a:t> of 30 characters/ </a:t>
            </a:r>
            <a:r>
              <a:rPr lang="en-US" sz="3600" dirty="0" smtClean="0"/>
              <a:t>Variable name </a:t>
            </a:r>
            <a:r>
              <a:rPr lang="en-US" sz="3600" dirty="0"/>
              <a:t>must be </a:t>
            </a:r>
            <a:r>
              <a:rPr lang="en-US" sz="3600" dirty="0" smtClean="0"/>
              <a:t>up to </a:t>
            </a:r>
            <a:r>
              <a:rPr lang="en-US" sz="3600" dirty="0"/>
              <a:t>8 characters</a:t>
            </a:r>
            <a:r>
              <a:rPr lang="en-US" sz="3600" dirty="0" smtClean="0"/>
              <a:t>.</a:t>
            </a:r>
          </a:p>
          <a:p>
            <a:pPr marL="742950" indent="-742950" algn="just">
              <a:buAutoNum type="arabicPeriod"/>
            </a:pPr>
            <a:r>
              <a:rPr lang="en-US" sz="3600" dirty="0" smtClean="0"/>
              <a:t>A </a:t>
            </a:r>
            <a:r>
              <a:rPr lang="en-US" sz="3600" dirty="0"/>
              <a:t>variable name includes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alphabets</a:t>
            </a:r>
            <a:r>
              <a:rPr lang="en-US" sz="3600" dirty="0"/>
              <a:t> and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numbers</a:t>
            </a:r>
            <a:r>
              <a:rPr lang="en-US" sz="3600" dirty="0"/>
              <a:t>, but it </a:t>
            </a:r>
            <a:r>
              <a:rPr lang="en-US" sz="3600" dirty="0">
                <a:solidFill>
                  <a:srgbClr val="FF0000"/>
                </a:solidFill>
              </a:rPr>
              <a:t>must </a:t>
            </a:r>
            <a:r>
              <a:rPr lang="en-US" sz="3600" dirty="0" smtClean="0">
                <a:solidFill>
                  <a:srgbClr val="FF0000"/>
                </a:solidFill>
              </a:rPr>
              <a:t>start with </a:t>
            </a:r>
            <a:r>
              <a:rPr lang="en-US" sz="3600" dirty="0">
                <a:solidFill>
                  <a:srgbClr val="FF0000"/>
                </a:solidFill>
              </a:rPr>
              <a:t>an alphabet.</a:t>
            </a:r>
          </a:p>
          <a:p>
            <a:pPr marL="742950" indent="-742950" algn="just">
              <a:buAutoNum type="arabicPeriod"/>
            </a:pPr>
            <a:r>
              <a:rPr lang="en-US" sz="3600" dirty="0" smtClean="0"/>
              <a:t>It </a:t>
            </a:r>
            <a:r>
              <a:rPr lang="en-US" sz="3600" b="1" dirty="0">
                <a:solidFill>
                  <a:srgbClr val="0000CC"/>
                </a:solidFill>
              </a:rPr>
              <a:t>cannot accept any special characters, blank spaces 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underscore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_ ).</a:t>
            </a:r>
          </a:p>
          <a:p>
            <a:pPr marL="742950" indent="-742950" algn="just">
              <a:buAutoNum type="arabicPeriod"/>
            </a:pPr>
            <a:r>
              <a:rPr lang="en-US" sz="3600" dirty="0" smtClean="0"/>
              <a:t>It </a:t>
            </a:r>
            <a:r>
              <a:rPr lang="en-US" sz="3600" dirty="0"/>
              <a:t>should not be a 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reserved word.</a:t>
            </a:r>
            <a:endParaRPr lang="en-US" sz="3600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6976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Rules to write variable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lnSpcReduction="10000"/>
          </a:bodyPr>
          <a:lstStyle/>
          <a:p>
            <a:pPr marL="742950" indent="-742950" algn="just">
              <a:buAutoNum type="arabicPeriod"/>
            </a:pPr>
            <a:r>
              <a:rPr lang="en-US" sz="2800" dirty="0" smtClean="0"/>
              <a:t>A </a:t>
            </a:r>
            <a:r>
              <a:rPr lang="en-US" sz="2800" dirty="0"/>
              <a:t>variable name contains 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maximum</a:t>
            </a:r>
            <a:r>
              <a:rPr lang="en-US" sz="2800" dirty="0"/>
              <a:t> of 30 characters/ </a:t>
            </a:r>
            <a:r>
              <a:rPr lang="en-US" sz="2800" dirty="0" smtClean="0"/>
              <a:t>Variable name </a:t>
            </a:r>
            <a:r>
              <a:rPr lang="en-US" sz="2800" dirty="0"/>
              <a:t>must be </a:t>
            </a:r>
            <a:r>
              <a:rPr lang="en-US" sz="2800" dirty="0" smtClean="0"/>
              <a:t>up to </a:t>
            </a:r>
            <a:r>
              <a:rPr lang="en-US" sz="2800" dirty="0"/>
              <a:t>8 characters</a:t>
            </a:r>
            <a:r>
              <a:rPr lang="en-US" sz="2800" dirty="0" smtClean="0"/>
              <a:t>.</a:t>
            </a:r>
          </a:p>
          <a:p>
            <a:pPr marL="742950" indent="-742950" algn="just">
              <a:buAutoNum type="arabicPeriod"/>
            </a:pPr>
            <a:r>
              <a:rPr lang="en-US" sz="2800" dirty="0" smtClean="0"/>
              <a:t>A </a:t>
            </a:r>
            <a:r>
              <a:rPr lang="en-US" sz="2800" dirty="0"/>
              <a:t>variable name includes 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alphabets</a:t>
            </a:r>
            <a:r>
              <a:rPr lang="en-US" sz="2800" dirty="0"/>
              <a:t> and 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numbers</a:t>
            </a:r>
            <a:r>
              <a:rPr lang="en-US" sz="2800" dirty="0"/>
              <a:t>, but it </a:t>
            </a:r>
            <a:r>
              <a:rPr lang="en-US" sz="2800" dirty="0">
                <a:solidFill>
                  <a:srgbClr val="FF0000"/>
                </a:solidFill>
              </a:rPr>
              <a:t>must </a:t>
            </a:r>
            <a:r>
              <a:rPr lang="en-US" sz="2800" dirty="0" smtClean="0">
                <a:solidFill>
                  <a:srgbClr val="FF0000"/>
                </a:solidFill>
              </a:rPr>
              <a:t>start with </a:t>
            </a:r>
            <a:r>
              <a:rPr lang="en-US" sz="2800" dirty="0">
                <a:solidFill>
                  <a:srgbClr val="FF0000"/>
                </a:solidFill>
              </a:rPr>
              <a:t>an alphabet.</a:t>
            </a:r>
          </a:p>
          <a:p>
            <a:pPr marL="742950" indent="-742950" algn="just">
              <a:buAutoNum type="arabicPeriod"/>
            </a:pPr>
            <a:r>
              <a:rPr lang="en-US" sz="2800" dirty="0" smtClean="0"/>
              <a:t>It </a:t>
            </a:r>
            <a:r>
              <a:rPr lang="en-US" sz="2800" b="1" dirty="0">
                <a:solidFill>
                  <a:srgbClr val="0000CC"/>
                </a:solidFill>
              </a:rPr>
              <a:t>cannot accept any special characters, blank spaces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except </a:t>
            </a:r>
            <a:r>
              <a:rPr 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underscore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_ ).</a:t>
            </a:r>
          </a:p>
          <a:p>
            <a:pPr marL="742950" indent="-742950" algn="just">
              <a:buAutoNum type="arabicPeriod"/>
            </a:pPr>
            <a:r>
              <a:rPr lang="en-US" sz="2800" dirty="0" smtClean="0"/>
              <a:t>It </a:t>
            </a:r>
            <a:r>
              <a:rPr lang="en-US" sz="2800" dirty="0"/>
              <a:t>should not be a </a:t>
            </a: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reserved word</a:t>
            </a:r>
            <a:r>
              <a:rPr lang="en-US" sz="2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 algn="just">
              <a:buNone/>
            </a:pPr>
            <a:endParaRPr lang="en-US" sz="28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28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 : </a:t>
            </a:r>
            <a:r>
              <a:rPr lang="en-US" sz="2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i       rank1           MAX        min      </a:t>
            </a:r>
            <a:r>
              <a:rPr lang="en-US" sz="2800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Student_name</a:t>
            </a:r>
            <a:endParaRPr lang="en-US" sz="28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sz="2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</a:t>
            </a:r>
            <a:r>
              <a:rPr lang="en-US" sz="2800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StudentName</a:t>
            </a:r>
            <a:r>
              <a:rPr lang="en-US" sz="28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</a:t>
            </a:r>
            <a:r>
              <a:rPr lang="en-US" sz="2800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class_mark</a:t>
            </a:r>
            <a:endParaRPr lang="en-US" sz="2800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29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Declaration of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 variable can be used to store a value of any data type. </a:t>
            </a:r>
            <a:r>
              <a:rPr lang="en-US" dirty="0" smtClean="0"/>
              <a:t>The declaration </a:t>
            </a:r>
            <a:r>
              <a:rPr lang="en-US" dirty="0"/>
              <a:t>of variables must be done before they are used in the program.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There are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places </a:t>
            </a:r>
            <a:r>
              <a:rPr lang="en-US" dirty="0"/>
              <a:t>where you can declare a variable</a:t>
            </a:r>
            <a:r>
              <a:rPr lang="en-US" dirty="0" smtClean="0"/>
              <a:t>:</a:t>
            </a:r>
          </a:p>
          <a:p>
            <a:pPr marL="0" indent="0" algn="just">
              <a:buNone/>
            </a:pPr>
            <a:r>
              <a:rPr lang="en-US" dirty="0" smtClean="0"/>
              <a:t>1. After </a:t>
            </a:r>
            <a:r>
              <a:rPr lang="en-US" dirty="0"/>
              <a:t>the opening brace of a block of code (</a:t>
            </a:r>
            <a:r>
              <a:rPr lang="en-US" b="1" dirty="0">
                <a:solidFill>
                  <a:srgbClr val="0000CC"/>
                </a:solidFill>
              </a:rPr>
              <a:t>usually at the top of a function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 smtClean="0"/>
              <a:t>2. Before </a:t>
            </a:r>
            <a:r>
              <a:rPr lang="en-US" dirty="0"/>
              <a:t>a function name (such as before main() in the program</a:t>
            </a:r>
            <a:r>
              <a:rPr lang="en-US" dirty="0" smtClean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080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Declaration of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Suppose you had to keep track of a person's first, middle, and last initials. Because </a:t>
            </a:r>
            <a:r>
              <a:rPr lang="en-US" dirty="0" smtClean="0"/>
              <a:t>an initial </a:t>
            </a:r>
            <a:r>
              <a:rPr lang="en-US" dirty="0"/>
              <a:t>is obviously a character, it would be prudent to declare three character </a:t>
            </a:r>
            <a:r>
              <a:rPr lang="en-US" dirty="0" smtClean="0"/>
              <a:t>variables to </a:t>
            </a:r>
            <a:r>
              <a:rPr lang="en-US" dirty="0"/>
              <a:t>hold the three initials. In C, you could do that with the following statement: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191000"/>
            <a:ext cx="3429000" cy="24492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3916028"/>
            <a:ext cx="3733800" cy="2871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7159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Declaration of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general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 for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declaring a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variable: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:</a:t>
            </a:r>
            <a:r>
              <a:rPr lang="en-US" dirty="0"/>
              <a:t> </a:t>
            </a:r>
            <a:r>
              <a:rPr lang="en-US" dirty="0" err="1"/>
              <a:t>data_type</a:t>
            </a:r>
            <a:r>
              <a:rPr lang="en-US" dirty="0"/>
              <a:t> variable-1,variable-2,------, variable-n;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B606BA"/>
                </a:solidFill>
              </a:rPr>
              <a:t>Variables are separated by commas and declaration statement ends with a semicolon.</a:t>
            </a:r>
          </a:p>
          <a:p>
            <a:pPr marL="0" indent="0" algn="just">
              <a:buNone/>
            </a:pPr>
            <a:r>
              <a:rPr lang="en-US" dirty="0"/>
              <a:t>Ex :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x,y,z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float </a:t>
            </a:r>
            <a:r>
              <a:rPr lang="en-US" dirty="0" err="1"/>
              <a:t>a,b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char </a:t>
            </a:r>
            <a:r>
              <a:rPr lang="en-US" dirty="0" err="1" smtClean="0"/>
              <a:t>m,n</a:t>
            </a:r>
            <a:r>
              <a:rPr lang="en-US" dirty="0" smtClean="0"/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32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Assigning values to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values can be assigned to variables using the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 operator (=). </a:t>
            </a:r>
            <a:r>
              <a:rPr lang="en-US" dirty="0" smtClean="0"/>
              <a:t>The </a:t>
            </a:r>
            <a:r>
              <a:rPr lang="en-US" dirty="0"/>
              <a:t>general format statement is :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:</a:t>
            </a:r>
            <a:r>
              <a:rPr lang="en-US" dirty="0"/>
              <a:t> variable = constant;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endParaRPr lang="en-US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 smtClean="0"/>
              <a:t>x=100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a= 12.25;</a:t>
            </a:r>
          </a:p>
          <a:p>
            <a:pPr marL="0" indent="0" algn="just">
              <a:buNone/>
            </a:pPr>
            <a:r>
              <a:rPr lang="en-US" dirty="0" smtClean="0"/>
              <a:t>m=‘f’;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420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Initialization of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When a variable is declared,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contains undefined value</a:t>
            </a:r>
            <a:r>
              <a:rPr lang="en-US" dirty="0"/>
              <a:t> commonly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known as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garbage value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dirty="0"/>
              <a:t> If we want we can assign some initial value to the variables during the </a:t>
            </a:r>
            <a:r>
              <a:rPr lang="en-US" dirty="0" smtClean="0"/>
              <a:t>declaration itself</a:t>
            </a:r>
            <a:r>
              <a:rPr lang="en-US" dirty="0"/>
              <a:t>. This is called </a:t>
            </a:r>
            <a:r>
              <a:rPr lang="en-US" b="1" dirty="0">
                <a:solidFill>
                  <a:srgbClr val="0000CC"/>
                </a:solidFill>
              </a:rPr>
              <a:t>initialization</a:t>
            </a:r>
            <a:r>
              <a:rPr lang="en-US" dirty="0"/>
              <a:t> of the variable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Ex:</a:t>
            </a:r>
          </a:p>
          <a:p>
            <a:pPr marL="0" indent="0" algn="just">
              <a:buNone/>
            </a:pPr>
            <a:r>
              <a:rPr lang="en-US" dirty="0" smtClean="0"/>
              <a:t>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dirty="0" err="1"/>
              <a:t>pageno</a:t>
            </a:r>
            <a:r>
              <a:rPr lang="en-US" dirty="0"/>
              <a:t>=10;</a:t>
            </a:r>
          </a:p>
          <a:p>
            <a:pPr marL="0" indent="0" algn="just">
              <a:buNone/>
            </a:pPr>
            <a:r>
              <a:rPr lang="en-US" dirty="0"/>
              <a:t>char grade=’A’;</a:t>
            </a:r>
          </a:p>
          <a:p>
            <a:pPr marL="0" indent="0" algn="just">
              <a:buNone/>
            </a:pPr>
            <a:r>
              <a:rPr lang="en-US" dirty="0"/>
              <a:t>float salary= 20000.50;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4958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Variables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There are many types of variables in c:</a:t>
            </a:r>
          </a:p>
          <a:p>
            <a:pPr marL="0" indent="0" algn="just">
              <a:buNone/>
            </a:pPr>
            <a:r>
              <a:rPr lang="en-US" dirty="0"/>
              <a:t>1. local variable</a:t>
            </a:r>
          </a:p>
          <a:p>
            <a:pPr marL="0" indent="0" algn="just">
              <a:buNone/>
            </a:pPr>
            <a:r>
              <a:rPr lang="en-US" dirty="0"/>
              <a:t>2. global variable</a:t>
            </a:r>
          </a:p>
          <a:p>
            <a:pPr marL="0" indent="0" algn="just">
              <a:buNone/>
            </a:pPr>
            <a:r>
              <a:rPr lang="en-US" dirty="0"/>
              <a:t>3. static variable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499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/ Output (I/O) Functions : </a:t>
            </a:r>
            <a:endParaRPr lang="en-US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 smtClean="0"/>
              <a:t>In ‘C’ </a:t>
            </a:r>
            <a:r>
              <a:rPr lang="en-US" dirty="0"/>
              <a:t>language,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types</a:t>
            </a:r>
            <a:r>
              <a:rPr lang="en-US" dirty="0"/>
              <a:t> of </a:t>
            </a:r>
            <a:r>
              <a:rPr lang="en-US" dirty="0" err="1"/>
              <a:t>Input/Output</a:t>
            </a:r>
            <a:r>
              <a:rPr lang="en-US" dirty="0"/>
              <a:t> functions </a:t>
            </a:r>
            <a:r>
              <a:rPr lang="en-US" dirty="0" smtClean="0"/>
              <a:t>are available</a:t>
            </a:r>
            <a:r>
              <a:rPr lang="en-US" dirty="0"/>
              <a:t>, and all input and output operations are carried out through </a:t>
            </a:r>
            <a:r>
              <a:rPr lang="en-US" b="1" dirty="0">
                <a:solidFill>
                  <a:srgbClr val="FF0000"/>
                </a:solidFill>
              </a:rPr>
              <a:t>function calls</a:t>
            </a:r>
            <a:r>
              <a:rPr lang="en-US" dirty="0"/>
              <a:t>. </a:t>
            </a:r>
            <a:r>
              <a:rPr lang="en-US" dirty="0" smtClean="0"/>
              <a:t>Several functions </a:t>
            </a:r>
            <a:r>
              <a:rPr lang="en-US" dirty="0"/>
              <a:t>are available for input / output operations in </a:t>
            </a:r>
            <a:r>
              <a:rPr lang="en-US" dirty="0" smtClean="0"/>
              <a:t>‘C’. </a:t>
            </a:r>
            <a:r>
              <a:rPr lang="en-US" b="1" dirty="0">
                <a:solidFill>
                  <a:srgbClr val="0000CC"/>
                </a:solidFill>
              </a:rPr>
              <a:t>These functions are </a:t>
            </a:r>
            <a:r>
              <a:rPr lang="en-US" b="1" dirty="0" smtClean="0">
                <a:solidFill>
                  <a:srgbClr val="0000CC"/>
                </a:solidFill>
              </a:rPr>
              <a:t>collectively known </a:t>
            </a:r>
            <a:r>
              <a:rPr lang="en-US" b="1" dirty="0">
                <a:solidFill>
                  <a:srgbClr val="0000CC"/>
                </a:solidFill>
              </a:rPr>
              <a:t>as the standard i/o library</a:t>
            </a:r>
            <a:r>
              <a:rPr lang="en-US" b="1" dirty="0" smtClean="0">
                <a:solidFill>
                  <a:srgbClr val="0000CC"/>
                </a:solidFill>
              </a:rPr>
              <a:t>.</a:t>
            </a:r>
            <a:endParaRPr lang="en-US" b="1" dirty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865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dirty="0"/>
              <a:t> In any programming language input means to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feed some data into program</a:t>
            </a:r>
            <a:r>
              <a:rPr lang="en-US" dirty="0"/>
              <a:t>. This can </a:t>
            </a:r>
            <a:r>
              <a:rPr lang="en-US" dirty="0" smtClean="0"/>
              <a:t>be given </a:t>
            </a:r>
            <a:r>
              <a:rPr lang="en-US" dirty="0"/>
              <a:t>in the form of file or from command line.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Output:</a:t>
            </a:r>
            <a:r>
              <a:rPr lang="en-US" dirty="0"/>
              <a:t> In any programming language output means to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display some data on screen, printer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 in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 file</a:t>
            </a:r>
            <a:r>
              <a:rPr lang="en-US" dirty="0"/>
              <a:t>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502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Standard Files: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/>
              <a:t>C programming treats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all the devices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files</a:t>
            </a:r>
            <a:r>
              <a:rPr lang="en-US" dirty="0"/>
              <a:t>. So devices such as the display are addressed in </a:t>
            </a:r>
            <a:r>
              <a:rPr lang="en-US" dirty="0" smtClean="0"/>
              <a:t>the same </a:t>
            </a:r>
            <a:r>
              <a:rPr lang="en-US" dirty="0"/>
              <a:t>way as files and the following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three files </a:t>
            </a:r>
            <a:r>
              <a:rPr lang="en-US" dirty="0"/>
              <a:t>are automatically opened when a </a:t>
            </a:r>
            <a:r>
              <a:rPr lang="en-US" dirty="0" smtClean="0"/>
              <a:t>program executes </a:t>
            </a:r>
            <a:r>
              <a:rPr lang="en-US" dirty="0"/>
              <a:t>to provide access to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keyboard and screen.</a:t>
            </a:r>
            <a:endParaRPr lang="en-US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22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Standard Files:</a:t>
            </a:r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1952626"/>
            <a:ext cx="8443748" cy="169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3505199"/>
            <a:ext cx="8471822" cy="1668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4921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>
                <a:solidFill>
                  <a:srgbClr val="0000CC"/>
                </a:solidFill>
              </a:rPr>
              <a:t>Input / Output functions are classified into two </a:t>
            </a:r>
            <a:r>
              <a:rPr lang="en-US" dirty="0" smtClean="0">
                <a:solidFill>
                  <a:srgbClr val="0000CC"/>
                </a:solidFill>
              </a:rPr>
              <a:t>types</a:t>
            </a:r>
          </a:p>
          <a:p>
            <a:pPr marL="0" indent="0" algn="just">
              <a:buNone/>
            </a:pP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24525"/>
            <a:ext cx="7467600" cy="49209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244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Formated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Functions : </a:t>
            </a:r>
            <a:endParaRPr lang="en-US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/>
              <a:t>F</a:t>
            </a:r>
            <a:r>
              <a:rPr lang="en-US" dirty="0" smtClean="0"/>
              <a:t>ormatted </a:t>
            </a:r>
            <a:r>
              <a:rPr lang="en-US" dirty="0"/>
              <a:t>I/O functions operates on various types of data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: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: </a:t>
            </a:r>
            <a:r>
              <a:rPr lang="en-US" dirty="0"/>
              <a:t>output data or result of an operation can be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displayed from the computer to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standard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 device using the library function </a:t>
            </a:r>
            <a:r>
              <a:rPr lang="en-US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dirty="0"/>
              <a:t>. This function is used to print </a:t>
            </a:r>
            <a:r>
              <a:rPr lang="en-US" dirty="0" smtClean="0"/>
              <a:t>any combination </a:t>
            </a:r>
            <a:r>
              <a:rPr lang="en-US" dirty="0"/>
              <a:t>of data.</a:t>
            </a:r>
          </a:p>
          <a:p>
            <a:pPr marL="0" indent="0" algn="just">
              <a:buNone/>
            </a:pPr>
            <a:r>
              <a:rPr lang="en-US" dirty="0"/>
              <a:t>Syntax : </a:t>
            </a:r>
            <a:r>
              <a:rPr lang="en-US" dirty="0" err="1"/>
              <a:t>printf</a:t>
            </a:r>
            <a:r>
              <a:rPr lang="en-US" dirty="0"/>
              <a:t>(“control string “, variable1, variable2, -----------, </a:t>
            </a:r>
            <a:r>
              <a:rPr lang="en-US" dirty="0" err="1"/>
              <a:t>variablen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smtClean="0"/>
              <a:t>Ex </a:t>
            </a:r>
            <a:r>
              <a:rPr lang="en-US" dirty="0"/>
              <a:t>: </a:t>
            </a:r>
            <a:r>
              <a:rPr lang="en-US" dirty="0" err="1"/>
              <a:t>printf</a:t>
            </a:r>
            <a:r>
              <a:rPr lang="en-US" dirty="0"/>
              <a:t>(“%d”,3977); // Output: 3977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18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Formated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Functions : </a:t>
            </a:r>
            <a:endParaRPr lang="en-US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() statement another syntax :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: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(“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fomating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string”);</a:t>
            </a:r>
          </a:p>
          <a:p>
            <a:pPr marL="0" indent="0" algn="just">
              <a:buNone/>
            </a:pPr>
            <a:r>
              <a:rPr lang="en-US" dirty="0" err="1"/>
              <a:t>Formating</a:t>
            </a:r>
            <a:r>
              <a:rPr lang="en-US" dirty="0"/>
              <a:t> string : it prints all the character given in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double quotes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(“ “)</a:t>
            </a:r>
            <a:r>
              <a:rPr lang="en-US" dirty="0"/>
              <a:t> except </a:t>
            </a:r>
            <a:r>
              <a:rPr lang="en-US" dirty="0" smtClean="0"/>
              <a:t>formatting </a:t>
            </a:r>
            <a:r>
              <a:rPr lang="en-US" dirty="0" err="1" smtClean="0"/>
              <a:t>specifier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/>
              <a:t>Ex : </a:t>
            </a:r>
            <a:r>
              <a:rPr lang="en-US" dirty="0" err="1"/>
              <a:t>printf</a:t>
            </a:r>
            <a:r>
              <a:rPr lang="en-US" dirty="0"/>
              <a:t>(“ hello “);-&gt; hello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(“a”); -&gt; a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(“%d”, a); -&gt; a value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(“%d”); -&gt; no display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2985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 //</a:t>
            </a:r>
            <a:r>
              <a:rPr lang="en-US" sz="2000" dirty="0"/>
              <a:t>This is needed to run </a:t>
            </a:r>
            <a:r>
              <a:rPr lang="en-US" sz="2000" dirty="0" err="1"/>
              <a:t>printf</a:t>
            </a:r>
            <a:r>
              <a:rPr lang="en-US" sz="2000" dirty="0"/>
              <a:t>() function.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("C Programming"); </a:t>
            </a:r>
            <a:r>
              <a:rPr lang="en-US" sz="1800" dirty="0"/>
              <a:t>//displays the content inside quotation</a:t>
            </a:r>
          </a:p>
          <a:p>
            <a:pPr marL="0" indent="0">
              <a:buNone/>
            </a:pPr>
            <a:r>
              <a:rPr lang="en-US" dirty="0"/>
              <a:t>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Output:</a:t>
            </a:r>
          </a:p>
          <a:p>
            <a:pPr marL="0" indent="0">
              <a:buNone/>
            </a:pPr>
            <a:r>
              <a:rPr lang="en-US" dirty="0"/>
              <a:t>C Programming</a:t>
            </a:r>
          </a:p>
        </p:txBody>
      </p:sp>
    </p:spTree>
    <p:extLst>
      <p:ext uri="{BB962C8B-B14F-4D97-AF65-F5344CB8AC3E}">
        <p14:creationId xmlns:p14="http://schemas.microsoft.com/office/powerpoint/2010/main" val="2899789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Explanation: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/>
              <a:t>Every </a:t>
            </a:r>
            <a:r>
              <a:rPr lang="en-US" dirty="0"/>
              <a:t>program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starts</a:t>
            </a:r>
            <a:r>
              <a:rPr lang="en-US" dirty="0"/>
              <a:t> from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main() function</a:t>
            </a:r>
            <a:r>
              <a:rPr lang="en-US" dirty="0" smtClean="0"/>
              <a:t>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err="1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is a library fun</a:t>
            </a:r>
            <a:r>
              <a:rPr lang="en-US" dirty="0"/>
              <a:t>ction to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display output </a:t>
            </a:r>
            <a:r>
              <a:rPr lang="en-US" dirty="0"/>
              <a:t>which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 works if #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include&lt;</a:t>
            </a:r>
            <a:r>
              <a:rPr lang="en-US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stdio.h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&gt;is included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 the beginning.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/>
              <a:t>Here</a:t>
            </a:r>
            <a:r>
              <a:rPr lang="en-US" dirty="0"/>
              <a:t>, </a:t>
            </a:r>
            <a:r>
              <a:rPr lang="en-US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stdio.h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is a header file </a:t>
            </a:r>
            <a:r>
              <a:rPr lang="en-US" dirty="0"/>
              <a:t>(standard input output header file) and </a:t>
            </a:r>
            <a:r>
              <a:rPr lang="en-US" b="1" dirty="0"/>
              <a:t>#include is </a:t>
            </a:r>
            <a:r>
              <a:rPr lang="en-US" b="1" dirty="0" smtClean="0"/>
              <a:t>command to </a:t>
            </a:r>
            <a:r>
              <a:rPr lang="en-US" b="1" dirty="0"/>
              <a:t>paste the code from the header file </a:t>
            </a:r>
            <a:r>
              <a:rPr lang="en-US" dirty="0"/>
              <a:t>when necessary.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When compiler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encounters </a:t>
            </a:r>
            <a:r>
              <a:rPr lang="en-US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()function and doesn't find </a:t>
            </a:r>
            <a:r>
              <a:rPr lang="en-US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stdio.h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header file, compiler shows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error.</a:t>
            </a:r>
          </a:p>
          <a:p>
            <a:pPr algn="just">
              <a:buFont typeface="Wingdings" pitchFamily="2" charset="2"/>
              <a:buChar char="§"/>
            </a:pPr>
            <a:r>
              <a:rPr lang="en-US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0; indicates the successful execution </a:t>
            </a:r>
            <a:r>
              <a:rPr lang="en-US" dirty="0"/>
              <a:t>of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7170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</a:rPr>
              <a:t>Input- Output of integers </a:t>
            </a:r>
            <a:r>
              <a:rPr lang="en-US" b="1" dirty="0" smtClean="0">
                <a:solidFill>
                  <a:srgbClr val="0000CC"/>
                </a:solidFill>
              </a:rPr>
              <a:t>in C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c=5;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("Number=%</a:t>
            </a:r>
            <a:r>
              <a:rPr lang="en-US" dirty="0" err="1"/>
              <a:t>d",c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Number=5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493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</a:rPr>
              <a:t>Input- Output of integers </a:t>
            </a:r>
            <a:r>
              <a:rPr lang="en-US" b="1" dirty="0" smtClean="0">
                <a:solidFill>
                  <a:srgbClr val="0000CC"/>
                </a:solidFill>
              </a:rPr>
              <a:t>in C</a:t>
            </a:r>
          </a:p>
          <a:p>
            <a:pPr marL="0" indent="0" algn="just">
              <a:buNone/>
            </a:pPr>
            <a:r>
              <a:rPr lang="en-US" dirty="0"/>
              <a:t>Inside quotation of </a:t>
            </a:r>
            <a:r>
              <a:rPr lang="en-US" dirty="0" err="1"/>
              <a:t>printf</a:t>
            </a:r>
            <a:r>
              <a:rPr lang="en-US" dirty="0"/>
              <a:t>() there, is a </a:t>
            </a:r>
            <a:r>
              <a:rPr lang="en-US" b="1" dirty="0">
                <a:solidFill>
                  <a:srgbClr val="0000CC"/>
                </a:solidFill>
              </a:rPr>
              <a:t>conversion format string</a:t>
            </a:r>
            <a:r>
              <a:rPr lang="en-US" dirty="0"/>
              <a:t> "%d" (for integer). If </a:t>
            </a:r>
            <a:r>
              <a:rPr lang="en-US" dirty="0" smtClean="0"/>
              <a:t>this conversion </a:t>
            </a:r>
            <a:r>
              <a:rPr lang="en-US" dirty="0"/>
              <a:t>format string matches with remaining argument, </a:t>
            </a:r>
            <a:r>
              <a:rPr lang="en-US" dirty="0" err="1"/>
              <a:t>i.e</a:t>
            </a:r>
            <a:r>
              <a:rPr lang="en-US" dirty="0"/>
              <a:t>, c in this case, value of c </a:t>
            </a:r>
            <a:r>
              <a:rPr lang="en-US" dirty="0" smtClean="0"/>
              <a:t>is displayed</a:t>
            </a:r>
            <a:r>
              <a:rPr lang="en-US" dirty="0"/>
              <a:t>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98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: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data can be entered into the computer 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the standard input </a:t>
            </a:r>
            <a:r>
              <a:rPr lang="en-US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‘C’ library function 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called </a:t>
            </a:r>
            <a:r>
              <a:rPr lang="en-US" dirty="0" err="1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dirty="0"/>
              <a:t>). This function is used to enter any combination of input.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Syntax </a:t>
            </a:r>
            <a:r>
              <a:rPr lang="en-US" dirty="0"/>
              <a:t>: </a:t>
            </a:r>
            <a:r>
              <a:rPr lang="en-US" dirty="0" err="1"/>
              <a:t>scanf</a:t>
            </a:r>
            <a:r>
              <a:rPr lang="en-US" dirty="0"/>
              <a:t>(“control string “,&amp;var1, &amp;var2,----, &amp;</a:t>
            </a:r>
            <a:r>
              <a:rPr lang="en-US" dirty="0" err="1"/>
              <a:t>varn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function is used 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read information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the standard input device (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keyboard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Ex </a:t>
            </a:r>
            <a:r>
              <a:rPr lang="en-US" dirty="0"/>
              <a:t>: </a:t>
            </a:r>
            <a:r>
              <a:rPr lang="en-US" dirty="0" err="1"/>
              <a:t>scanf</a:t>
            </a:r>
            <a:r>
              <a:rPr lang="en-US" dirty="0"/>
              <a:t>(“ %d “,&amp;a);-&gt; hello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Each </a:t>
            </a:r>
            <a:r>
              <a:rPr lang="en-US" dirty="0"/>
              <a:t>variable name (argument) must be </a:t>
            </a:r>
            <a:r>
              <a:rPr lang="en-US" dirty="0" err="1">
                <a:solidFill>
                  <a:srgbClr val="FF0000"/>
                </a:solidFill>
              </a:rPr>
              <a:t>preceeded</a:t>
            </a:r>
            <a:r>
              <a:rPr lang="en-US" dirty="0">
                <a:solidFill>
                  <a:srgbClr val="FF0000"/>
                </a:solidFill>
              </a:rPr>
              <a:t> by an ampersand (&amp;). </a:t>
            </a:r>
            <a:r>
              <a:rPr lang="en-US" dirty="0"/>
              <a:t>The (&amp;) symbol </a:t>
            </a:r>
            <a:r>
              <a:rPr lang="en-US" dirty="0" smtClean="0"/>
              <a:t>gives the </a:t>
            </a:r>
            <a:r>
              <a:rPr lang="en-US" dirty="0"/>
              <a:t>meaning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“address of “ the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82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 </a:t>
            </a:r>
            <a:r>
              <a:rPr lang="en-US" dirty="0" err="1"/>
              <a:t>int</a:t>
            </a:r>
            <a:r>
              <a:rPr lang="en-US" dirty="0"/>
              <a:t> c;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a number\n");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d",&amp;c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("Number=%</a:t>
            </a:r>
            <a:r>
              <a:rPr lang="en-US" dirty="0" err="1"/>
              <a:t>d",c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Enter a number</a:t>
            </a:r>
          </a:p>
          <a:p>
            <a:pPr marL="0" indent="0" algn="just">
              <a:buNone/>
            </a:pPr>
            <a:r>
              <a:rPr lang="en-US" dirty="0"/>
              <a:t>4</a:t>
            </a:r>
          </a:p>
          <a:p>
            <a:pPr marL="0" indent="0" algn="just">
              <a:buNone/>
            </a:pPr>
            <a:r>
              <a:rPr lang="en-US" dirty="0"/>
              <a:t>Number=4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93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dirty="0"/>
              <a:t> function is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used to take input from use</a:t>
            </a:r>
            <a:r>
              <a:rPr lang="en-US" dirty="0"/>
              <a:t>r. In this program, the user is asked an input</a:t>
            </a:r>
          </a:p>
          <a:p>
            <a:pPr marL="0" indent="0" algn="just">
              <a:buNone/>
            </a:pPr>
            <a:r>
              <a:rPr lang="en-US" dirty="0"/>
              <a:t>and value is stored in variable c. Note the '&amp;' sign before c.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&amp;c denotes the address of c and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 is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stored in that address.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912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Input- Output of floats in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float a;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value: 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f",&amp;a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("Value=%</a:t>
            </a:r>
            <a:r>
              <a:rPr lang="en-US" dirty="0" err="1"/>
              <a:t>f",a</a:t>
            </a:r>
            <a:r>
              <a:rPr lang="en-US" dirty="0"/>
              <a:t>); </a:t>
            </a:r>
            <a:r>
              <a:rPr lang="en-US" sz="2600" dirty="0"/>
              <a:t>//%f is used for floats instead of %d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 smtClean="0"/>
              <a:t>}</a:t>
            </a:r>
          </a:p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Enter value: 23.45</a:t>
            </a:r>
          </a:p>
          <a:p>
            <a:pPr marL="0" indent="0" algn="just">
              <a:buNone/>
            </a:pPr>
            <a:r>
              <a:rPr lang="en-US" dirty="0"/>
              <a:t>Value=23.450000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143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Input- Output of floats in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</a:p>
          <a:p>
            <a:pPr marL="0" indent="0" algn="just">
              <a:buNone/>
            </a:pPr>
            <a:r>
              <a:rPr lang="en-US" dirty="0"/>
              <a:t>Conversion format string "%f" is used for floats to take input and to display floating value of </a:t>
            </a:r>
            <a:r>
              <a:rPr lang="en-US" dirty="0" smtClean="0"/>
              <a:t>a variable</a:t>
            </a:r>
            <a:r>
              <a:rPr lang="en-US" dirty="0">
                <a:solidFill>
                  <a:srgbClr val="FF0000"/>
                </a:solidFill>
              </a:rPr>
              <a:t>.</a:t>
            </a:r>
            <a:endParaRPr lang="en-US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324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- Output of characters </a:t>
            </a:r>
            <a:endParaRPr lang="en-US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 smtClean="0"/>
              <a:t>#</a:t>
            </a:r>
            <a:r>
              <a:rPr lang="en-US" dirty="0"/>
              <a:t>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char var1;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character: 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("%c",&amp;var1);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("You entered %c.",var1);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Enter character: g</a:t>
            </a:r>
          </a:p>
          <a:p>
            <a:pPr marL="0" indent="0" algn="just">
              <a:buNone/>
            </a:pPr>
            <a:r>
              <a:rPr lang="en-US" dirty="0"/>
              <a:t>You entered g.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sz="4000" dirty="0" smtClean="0"/>
              <a:t>Conversion </a:t>
            </a:r>
            <a:r>
              <a:rPr lang="en-US" sz="4000" dirty="0"/>
              <a:t>format string "</a:t>
            </a:r>
            <a:r>
              <a:rPr lang="en-US" sz="40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%c</a:t>
            </a:r>
            <a:r>
              <a:rPr lang="en-US" sz="4000" dirty="0"/>
              <a:t>" is used </a:t>
            </a:r>
            <a:r>
              <a:rPr lang="en-US" sz="4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case of characters.</a:t>
            </a:r>
            <a:endParaRPr lang="en-US" sz="4000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414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- Output of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ASCII code</a:t>
            </a:r>
          </a:p>
          <a:p>
            <a:pPr marL="0" indent="0" algn="just">
              <a:buNone/>
            </a:pPr>
            <a:r>
              <a:rPr lang="en-US" dirty="0"/>
              <a:t>When character is typed in the </a:t>
            </a:r>
            <a:r>
              <a:rPr lang="en-US" dirty="0" smtClean="0"/>
              <a:t>previous </a:t>
            </a:r>
            <a:r>
              <a:rPr lang="en-US" dirty="0"/>
              <a:t>program, the character itself is not </a:t>
            </a:r>
            <a:r>
              <a:rPr lang="en-US" dirty="0" smtClean="0"/>
              <a:t>recorded. A </a:t>
            </a:r>
            <a:r>
              <a:rPr lang="en-US" dirty="0"/>
              <a:t>numeric </a:t>
            </a:r>
            <a:r>
              <a:rPr lang="en-US" dirty="0" smtClean="0"/>
              <a:t>value (ASCII </a:t>
            </a:r>
            <a:r>
              <a:rPr lang="en-US" dirty="0"/>
              <a:t>value) is stored. And when we displayed that value by using "%c", that character </a:t>
            </a:r>
            <a:r>
              <a:rPr lang="en-US" dirty="0" smtClean="0"/>
              <a:t>is displayed</a:t>
            </a:r>
            <a:r>
              <a:rPr lang="en-US" dirty="0"/>
              <a:t>.</a:t>
            </a:r>
            <a:endParaRPr lang="en-US" sz="4000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79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- Output of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ASCII code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/>
              <a:t>char var1;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("Enter character: ");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("%c",&amp;var1);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("You entered %c.\n",var1);</a:t>
            </a:r>
          </a:p>
          <a:p>
            <a:pPr marL="0" indent="0" algn="just">
              <a:buNone/>
            </a:pPr>
            <a:r>
              <a:rPr lang="en-US" sz="3000" dirty="0"/>
              <a:t>/* \n prints the next line(performs work of enter). */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("ASCII value of %d",var1</a:t>
            </a:r>
            <a:r>
              <a:rPr lang="en-US" dirty="0" smtClean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Output:</a:t>
            </a:r>
          </a:p>
          <a:p>
            <a:pPr marL="0" indent="0" algn="just">
              <a:buNone/>
            </a:pPr>
            <a:r>
              <a:rPr lang="en-US" dirty="0"/>
              <a:t>Enter character:</a:t>
            </a:r>
          </a:p>
          <a:p>
            <a:pPr marL="0" indent="0" algn="just">
              <a:buNone/>
            </a:pPr>
            <a:r>
              <a:rPr lang="en-US" dirty="0" smtClean="0"/>
              <a:t>g</a:t>
            </a:r>
          </a:p>
          <a:p>
            <a:pPr marL="0" indent="0" algn="just">
              <a:buNone/>
            </a:pPr>
            <a:r>
              <a:rPr lang="en-US" dirty="0" smtClean="0"/>
              <a:t>You entered g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ASCII value of 103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When, 'g' is entered, ASCII value 103 is stored instead of g.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327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- Output of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ASCII code</a:t>
            </a:r>
          </a:p>
          <a:p>
            <a:pPr marL="0" indent="0" algn="just">
              <a:buNone/>
            </a:pPr>
            <a:r>
              <a:rPr lang="en-US" dirty="0" smtClean="0"/>
              <a:t>You </a:t>
            </a:r>
            <a:r>
              <a:rPr lang="en-US" dirty="0"/>
              <a:t>can display character if you know ASCII code only. This is shown by following example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var1=69;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("Character of ASCII value 69: %c",var1);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Character of ASCII value 69: E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13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 - Output of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ASCII code</a:t>
            </a:r>
          </a:p>
          <a:p>
            <a:pPr marL="0" indent="0" algn="just">
              <a:buNone/>
            </a:pPr>
            <a:r>
              <a:rPr lang="en-US" dirty="0"/>
              <a:t>he ASCII value of </a:t>
            </a:r>
            <a:r>
              <a:rPr lang="en-US" dirty="0">
                <a:solidFill>
                  <a:srgbClr val="0000CC"/>
                </a:solidFill>
              </a:rPr>
              <a:t>'A' is 65</a:t>
            </a:r>
            <a:r>
              <a:rPr lang="en-US" dirty="0"/>
              <a:t>, 'B' is 66 and so on to </a:t>
            </a:r>
            <a:r>
              <a:rPr lang="en-US" dirty="0">
                <a:solidFill>
                  <a:srgbClr val="0000CC"/>
                </a:solidFill>
              </a:rPr>
              <a:t>'Z' is 90</a:t>
            </a:r>
            <a:r>
              <a:rPr lang="en-US" dirty="0"/>
              <a:t>. Similarly ASCII value of </a:t>
            </a:r>
            <a:r>
              <a:rPr lang="en-US" dirty="0">
                <a:solidFill>
                  <a:srgbClr val="FF0000"/>
                </a:solidFill>
              </a:rPr>
              <a:t>'a' is 97</a:t>
            </a:r>
            <a:r>
              <a:rPr lang="en-US" dirty="0"/>
              <a:t>, </a:t>
            </a:r>
            <a:r>
              <a:rPr lang="en-US" dirty="0" smtClean="0"/>
              <a:t>'b‘ is </a:t>
            </a:r>
            <a:r>
              <a:rPr lang="en-US" dirty="0"/>
              <a:t>98 and so on to </a:t>
            </a:r>
            <a:r>
              <a:rPr lang="en-US" dirty="0">
                <a:solidFill>
                  <a:srgbClr val="FF0000"/>
                </a:solidFill>
              </a:rPr>
              <a:t>'z' is 122</a:t>
            </a:r>
            <a:r>
              <a:rPr lang="en-US" dirty="0"/>
              <a:t>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423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INPUT-OUTPUT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Data can be entered &amp; displayed in a particular format. Through format specifications, </a:t>
            </a:r>
            <a:r>
              <a:rPr lang="en-US" dirty="0" smtClean="0"/>
              <a:t>better presentation </a:t>
            </a:r>
            <a:r>
              <a:rPr lang="en-US" dirty="0"/>
              <a:t>of results can be obtained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Variations in Output for integer &amp; </a:t>
            </a:r>
            <a:r>
              <a:rPr lang="en-US" dirty="0" smtClean="0"/>
              <a:t>floats given to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372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INPUT-OUTPUT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/>
              <a:t>#include&lt;</a:t>
            </a:r>
            <a:r>
              <a:rPr lang="en-US" sz="2000" dirty="0" err="1"/>
              <a:t>stdio.h</a:t>
            </a:r>
            <a:r>
              <a:rPr lang="en-US" sz="2000" dirty="0"/>
              <a:t>&gt;</a:t>
            </a:r>
          </a:p>
          <a:p>
            <a:pPr marL="0" indent="0" algn="just">
              <a:buNone/>
            </a:pPr>
            <a:r>
              <a:rPr lang="en-US" sz="2000" dirty="0" err="1"/>
              <a:t>int</a:t>
            </a:r>
            <a:r>
              <a:rPr lang="en-US" sz="2000" dirty="0"/>
              <a:t> main()</a:t>
            </a:r>
          </a:p>
          <a:p>
            <a:pPr marL="0" indent="0" algn="just">
              <a:buNone/>
            </a:pPr>
            <a:r>
              <a:rPr lang="en-US" sz="2000" dirty="0"/>
              <a:t>{</a:t>
            </a: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("Case 1:%6d\n",9876);</a:t>
            </a:r>
          </a:p>
          <a:p>
            <a:pPr marL="0" indent="0" algn="just">
              <a:buNone/>
            </a:pPr>
            <a:r>
              <a:rPr lang="en-US" sz="2000" dirty="0"/>
              <a:t>/* Prints the number right justified within 6 columns */</a:t>
            </a: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("Case 2:%3d\n",9876);</a:t>
            </a:r>
          </a:p>
          <a:p>
            <a:pPr marL="0" indent="0" algn="just">
              <a:buNone/>
            </a:pPr>
            <a:r>
              <a:rPr lang="en-US" sz="2000" dirty="0"/>
              <a:t>/* Prints the number to be right justified to 3 columns but, there are 4 digits so number is </a:t>
            </a:r>
            <a:r>
              <a:rPr lang="en-US" sz="2000" dirty="0" smtClean="0"/>
              <a:t>not right </a:t>
            </a:r>
            <a:r>
              <a:rPr lang="en-US" sz="2000" dirty="0"/>
              <a:t>justified */</a:t>
            </a: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("Case 3:%.2f\n",987.6543);</a:t>
            </a:r>
          </a:p>
          <a:p>
            <a:pPr marL="0" indent="0" algn="just">
              <a:buNone/>
            </a:pPr>
            <a:r>
              <a:rPr lang="en-US" sz="2000" dirty="0"/>
              <a:t>/* Prints the number rounded to two decimal places */</a:t>
            </a: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("Case 4:%.f\n",987.6543);</a:t>
            </a:r>
          </a:p>
          <a:p>
            <a:pPr marL="0" indent="0" algn="just">
              <a:buNone/>
            </a:pPr>
            <a:r>
              <a:rPr lang="en-US" sz="2000" dirty="0"/>
              <a:t>/* Prints the number rounded to 0 decimal place, </a:t>
            </a:r>
            <a:r>
              <a:rPr lang="en-US" sz="2000" dirty="0" err="1"/>
              <a:t>i.e</a:t>
            </a:r>
            <a:r>
              <a:rPr lang="en-US" sz="2000" dirty="0"/>
              <a:t>, rounded to integer */</a:t>
            </a:r>
          </a:p>
          <a:p>
            <a:pPr marL="0" indent="0" algn="just">
              <a:buNone/>
            </a:pPr>
            <a:r>
              <a:rPr lang="en-US" sz="2000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sz="2000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("Case 5:%e\n",987.6543);</a:t>
            </a:r>
          </a:p>
          <a:p>
            <a:pPr marL="0" indent="0" algn="just">
              <a:buNone/>
            </a:pPr>
            <a:r>
              <a:rPr lang="en-US" sz="2000" dirty="0"/>
              <a:t>/* Prints the number in exponential notation (scientific notation) */</a:t>
            </a:r>
          </a:p>
          <a:p>
            <a:pPr marL="0" indent="0" algn="just">
              <a:buNone/>
            </a:pPr>
            <a:r>
              <a:rPr lang="en-US" sz="2000" dirty="0"/>
              <a:t>return 0;</a:t>
            </a:r>
          </a:p>
          <a:p>
            <a:pPr marL="0" indent="0" algn="just">
              <a:buNone/>
            </a:pPr>
            <a:r>
              <a:rPr lang="en-US" sz="2000" dirty="0"/>
              <a:t>}</a:t>
            </a:r>
            <a:endParaRPr lang="en-US" sz="20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583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INPUT-OUTPUT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Case 1: 9876</a:t>
            </a:r>
          </a:p>
          <a:p>
            <a:pPr marL="0" indent="0" algn="just">
              <a:buNone/>
            </a:pPr>
            <a:r>
              <a:rPr lang="en-US" dirty="0"/>
              <a:t>Case 2:9876</a:t>
            </a:r>
          </a:p>
          <a:p>
            <a:pPr marL="0" indent="0" algn="just">
              <a:buNone/>
            </a:pPr>
            <a:r>
              <a:rPr lang="en-US" dirty="0"/>
              <a:t>Case 3:987.65</a:t>
            </a:r>
          </a:p>
          <a:p>
            <a:pPr marL="0" indent="0" algn="just">
              <a:buNone/>
            </a:pPr>
            <a:r>
              <a:rPr lang="en-US" dirty="0"/>
              <a:t>Case 4:988</a:t>
            </a:r>
          </a:p>
          <a:p>
            <a:pPr marL="0" indent="0" algn="just">
              <a:buNone/>
            </a:pPr>
            <a:r>
              <a:rPr lang="en-US" dirty="0"/>
              <a:t>Case 5:9.876543e+002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680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INPUT-OUTPUT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Data can be entered &amp; displayed in a particular format. Through format specifications, </a:t>
            </a:r>
            <a:r>
              <a:rPr lang="en-US" dirty="0" smtClean="0"/>
              <a:t>better presentation </a:t>
            </a:r>
            <a:r>
              <a:rPr lang="en-US" dirty="0"/>
              <a:t>of results can be obtained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Variations in Output for integer &amp; </a:t>
            </a:r>
            <a:r>
              <a:rPr lang="en-US" dirty="0" smtClean="0"/>
              <a:t>floats given to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04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INPUT-OUTPUT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Data can be entered &amp; displayed in a particular format. Through format specifications, </a:t>
            </a:r>
            <a:r>
              <a:rPr lang="en-US" dirty="0" smtClean="0"/>
              <a:t>better presentation </a:t>
            </a:r>
            <a:r>
              <a:rPr lang="en-US" dirty="0"/>
              <a:t>of results can be obtained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Variations in Output for integer &amp; </a:t>
            </a:r>
            <a:r>
              <a:rPr lang="en-US" dirty="0" smtClean="0"/>
              <a:t>floats given to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021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Unformatted I/O functions:</a:t>
            </a:r>
          </a:p>
          <a:p>
            <a:pPr marL="0" indent="0" algn="just">
              <a:buNone/>
            </a:pPr>
            <a:r>
              <a:rPr lang="pt-BR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a) Character I/O</a:t>
            </a:r>
          </a:p>
          <a:p>
            <a:pPr marL="0" indent="0" algn="just">
              <a:buNone/>
            </a:pPr>
            <a:r>
              <a:rPr lang="pt-B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b) </a:t>
            </a:r>
            <a:r>
              <a:rPr lang="pt-B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I/O</a:t>
            </a:r>
          </a:p>
          <a:p>
            <a:pPr marL="0" indent="0" algn="just">
              <a:buNone/>
            </a:pPr>
            <a:endParaRPr lang="pt-BR" dirty="0"/>
          </a:p>
          <a:p>
            <a:pPr marL="0" indent="0" algn="just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1685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a) character I/O: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getchar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dirty="0"/>
              <a:t>Used to read a character from the standard input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putchar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dirty="0"/>
              <a:t>Used to display a character to standard output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3.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getch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getche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dirty="0"/>
              <a:t>these are used to take the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any alpha numeric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characters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smtClean="0"/>
              <a:t>from </a:t>
            </a:r>
            <a:r>
              <a:rPr lang="en-US" dirty="0"/>
              <a:t>the standard input</a:t>
            </a:r>
          </a:p>
          <a:p>
            <a:pPr marL="0" indent="0" algn="just">
              <a:buNone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getche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en-US" dirty="0"/>
              <a:t>read and display the character</a:t>
            </a:r>
          </a:p>
          <a:p>
            <a:pPr marL="0" indent="0" algn="just">
              <a:buNone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 </a:t>
            </a:r>
            <a:r>
              <a:rPr lang="en-US" dirty="0"/>
              <a:t>only read the single character but not display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4.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putch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r>
              <a:rPr lang="en-US" dirty="0"/>
              <a:t>Used to display any alpha numeric characters to standard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49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Formatted and Unformatted Console I/O Functions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b)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 I/O:</a:t>
            </a:r>
          </a:p>
          <a:p>
            <a:pPr marL="0" indent="0" algn="just">
              <a:buNone/>
            </a:pPr>
            <a:r>
              <a:rPr lang="en-US" dirty="0"/>
              <a:t>1.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gets()</a:t>
            </a:r>
            <a:r>
              <a:rPr lang="en-US" dirty="0"/>
              <a:t>: Used for accepting any string from the standard input(</a:t>
            </a:r>
            <a:r>
              <a:rPr lang="en-US" dirty="0" err="1"/>
              <a:t>stdin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 err="1"/>
              <a:t>eg:gets</a:t>
            </a:r>
            <a:r>
              <a:rPr lang="en-US" dirty="0"/>
              <a:t>()</a:t>
            </a:r>
          </a:p>
          <a:p>
            <a:pPr marL="0" indent="0" algn="just">
              <a:buNone/>
            </a:pPr>
            <a:r>
              <a:rPr lang="en-US" dirty="0"/>
              <a:t>2.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puts()</a:t>
            </a:r>
            <a:r>
              <a:rPr lang="en-US" dirty="0"/>
              <a:t>: Used to display a string or character array </a:t>
            </a:r>
            <a:r>
              <a:rPr lang="en-US" dirty="0" err="1"/>
              <a:t>Eg:puts</a:t>
            </a:r>
            <a:r>
              <a:rPr lang="en-US" dirty="0"/>
              <a:t>()</a:t>
            </a:r>
          </a:p>
          <a:p>
            <a:pPr marL="0" indent="0" algn="just">
              <a:buNone/>
            </a:pPr>
            <a:r>
              <a:rPr lang="en-US" dirty="0"/>
              <a:t>3.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Cgets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dirty="0"/>
              <a:t>:read a string from the console </a:t>
            </a:r>
            <a:r>
              <a:rPr lang="en-US" dirty="0" err="1"/>
              <a:t>eg</a:t>
            </a:r>
            <a:r>
              <a:rPr lang="en-US" dirty="0"/>
              <a:t>; </a:t>
            </a:r>
            <a:r>
              <a:rPr lang="en-US" dirty="0" err="1"/>
              <a:t>cgets</a:t>
            </a:r>
            <a:r>
              <a:rPr lang="en-US" dirty="0"/>
              <a:t>(char *</a:t>
            </a:r>
            <a:r>
              <a:rPr lang="en-US" dirty="0" err="1"/>
              <a:t>st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/>
              <a:t>4. </a:t>
            </a:r>
            <a:r>
              <a:rPr lang="en-US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Cputs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()</a:t>
            </a:r>
            <a:r>
              <a:rPr lang="en-US" dirty="0"/>
              <a:t>:display the string to the console </a:t>
            </a:r>
            <a:r>
              <a:rPr lang="en-US" dirty="0" err="1"/>
              <a:t>eg</a:t>
            </a:r>
            <a:r>
              <a:rPr lang="en-US" dirty="0"/>
              <a:t>; </a:t>
            </a:r>
            <a:r>
              <a:rPr lang="en-US" dirty="0" err="1"/>
              <a:t>cputs</a:t>
            </a:r>
            <a:r>
              <a:rPr lang="en-US" dirty="0"/>
              <a:t>(char *</a:t>
            </a:r>
            <a:r>
              <a:rPr lang="en-US" dirty="0" err="1"/>
              <a:t>st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1317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An operator is a </a:t>
            </a:r>
            <a:r>
              <a:rPr lang="en-US" b="1" dirty="0">
                <a:solidFill>
                  <a:srgbClr val="0000CC"/>
                </a:solidFill>
              </a:rPr>
              <a:t>Symbol</a:t>
            </a:r>
            <a:r>
              <a:rPr lang="en-US" dirty="0"/>
              <a:t> that ells the compiler </a:t>
            </a:r>
            <a:r>
              <a:rPr lang="en-US" dirty="0" smtClean="0"/>
              <a:t>to </a:t>
            </a:r>
            <a:r>
              <a:rPr lang="en-US" dirty="0"/>
              <a:t> </a:t>
            </a:r>
            <a:r>
              <a:rPr lang="en-US" dirty="0" smtClean="0"/>
              <a:t>perform specific mathematical </a:t>
            </a:r>
            <a:r>
              <a:rPr lang="en-US" dirty="0"/>
              <a:t>or </a:t>
            </a:r>
            <a:r>
              <a:rPr lang="en-US" dirty="0" smtClean="0"/>
              <a:t>logical manipulation. An </a:t>
            </a:r>
            <a:r>
              <a:rPr lang="en-US" dirty="0">
                <a:solidFill>
                  <a:srgbClr val="FF0000"/>
                </a:solidFill>
              </a:rPr>
              <a:t>operators acts </a:t>
            </a:r>
            <a:r>
              <a:rPr lang="en-US" dirty="0" smtClean="0">
                <a:solidFill>
                  <a:srgbClr val="FF0000"/>
                </a:solidFill>
              </a:rPr>
              <a:t>some variables </a:t>
            </a:r>
            <a:r>
              <a:rPr lang="en-US" dirty="0"/>
              <a:t>are </a:t>
            </a:r>
            <a:r>
              <a:rPr lang="en-US" dirty="0">
                <a:solidFill>
                  <a:srgbClr val="FF0000"/>
                </a:solidFill>
              </a:rPr>
              <a:t>called operands </a:t>
            </a:r>
            <a:r>
              <a:rPr lang="en-US" dirty="0"/>
              <a:t>to get the desired result.</a:t>
            </a:r>
          </a:p>
          <a:p>
            <a:pPr marL="0" indent="0" algn="just">
              <a:buNone/>
            </a:pPr>
            <a:r>
              <a:rPr lang="en-US" dirty="0" smtClean="0"/>
              <a:t>                               Ex </a:t>
            </a:r>
            <a:r>
              <a:rPr lang="en-US" dirty="0"/>
              <a:t>: </a:t>
            </a:r>
            <a:r>
              <a:rPr lang="en-US" dirty="0" err="1"/>
              <a:t>a+b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Where </a:t>
            </a:r>
            <a:r>
              <a:rPr lang="en-US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a,b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are operands </a:t>
            </a:r>
            <a:r>
              <a:rPr lang="en-US" dirty="0"/>
              <a:t>and </a:t>
            </a:r>
            <a:r>
              <a:rPr lang="en-US" b="1" dirty="0">
                <a:solidFill>
                  <a:srgbClr val="0000CC"/>
                </a:solidFill>
              </a:rPr>
              <a:t>+ is the operator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11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Operators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6388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 C language is rich in </a:t>
            </a:r>
            <a:r>
              <a:rPr lang="en-US" dirty="0">
                <a:solidFill>
                  <a:srgbClr val="0000CC"/>
                </a:solidFill>
              </a:rPr>
              <a:t>built-in operators </a:t>
            </a:r>
            <a:r>
              <a:rPr lang="en-US" dirty="0"/>
              <a:t>and provides the following types </a:t>
            </a:r>
            <a:r>
              <a:rPr lang="en-US" dirty="0" smtClean="0"/>
              <a:t>of operators</a:t>
            </a:r>
            <a:r>
              <a:rPr lang="en-US" dirty="0"/>
              <a:t>:</a:t>
            </a:r>
          </a:p>
          <a:p>
            <a:pPr marL="0" indent="0" algn="just">
              <a:buNone/>
            </a:pPr>
            <a:r>
              <a:rPr lang="en-US" dirty="0" smtClean="0"/>
              <a:t>1</a:t>
            </a:r>
            <a:r>
              <a:rPr lang="en-US" dirty="0"/>
              <a:t>) Arithmetic Operators.</a:t>
            </a:r>
          </a:p>
          <a:p>
            <a:pPr marL="0" indent="0" algn="just">
              <a:buNone/>
            </a:pPr>
            <a:r>
              <a:rPr lang="en-US" dirty="0"/>
              <a:t>2) Relational Operators.</a:t>
            </a:r>
          </a:p>
          <a:p>
            <a:pPr marL="0" indent="0" algn="just">
              <a:buNone/>
            </a:pPr>
            <a:r>
              <a:rPr lang="en-US" dirty="0"/>
              <a:t>3) Logical Operators.</a:t>
            </a:r>
          </a:p>
          <a:p>
            <a:pPr marL="0" indent="0" algn="just">
              <a:buNone/>
            </a:pPr>
            <a:r>
              <a:rPr lang="en-US" dirty="0"/>
              <a:t>4) Assignment Operators.</a:t>
            </a:r>
          </a:p>
          <a:p>
            <a:pPr marL="0" indent="0" algn="just">
              <a:buNone/>
            </a:pPr>
            <a:r>
              <a:rPr lang="en-US" dirty="0"/>
              <a:t>5). Unary Operators.</a:t>
            </a:r>
          </a:p>
          <a:p>
            <a:pPr marL="0" indent="0" algn="just">
              <a:buNone/>
            </a:pPr>
            <a:r>
              <a:rPr lang="en-US" dirty="0"/>
              <a:t>6) Conditional Operators.</a:t>
            </a:r>
          </a:p>
          <a:p>
            <a:pPr marL="0" indent="0" algn="just">
              <a:buNone/>
            </a:pPr>
            <a:r>
              <a:rPr lang="en-US" dirty="0"/>
              <a:t>7) Special Operators.</a:t>
            </a:r>
          </a:p>
          <a:p>
            <a:pPr marL="0" indent="0" algn="just">
              <a:buNone/>
            </a:pPr>
            <a:r>
              <a:rPr lang="en-US" dirty="0"/>
              <a:t>8) Bitwise Operators.</a:t>
            </a:r>
          </a:p>
          <a:p>
            <a:pPr marL="0" indent="0" algn="just">
              <a:buNone/>
            </a:pPr>
            <a:r>
              <a:rPr lang="en-US" dirty="0"/>
              <a:t>9) Shift Operators.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997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An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arithmetic operator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performs mathematical operations</a:t>
            </a:r>
            <a:r>
              <a:rPr lang="en-US" dirty="0"/>
              <a:t> such as addition, subtraction </a:t>
            </a:r>
            <a:r>
              <a:rPr lang="en-US" dirty="0" smtClean="0"/>
              <a:t>and multiplication </a:t>
            </a:r>
            <a:r>
              <a:rPr lang="en-US" dirty="0"/>
              <a:t>on </a:t>
            </a:r>
            <a:r>
              <a:rPr lang="en-US" dirty="0">
                <a:solidFill>
                  <a:srgbClr val="0000CC"/>
                </a:solidFill>
              </a:rPr>
              <a:t>numerical values (constants and variables</a:t>
            </a:r>
            <a:r>
              <a:rPr lang="en-US" dirty="0"/>
              <a:t>).</a:t>
            </a:r>
          </a:p>
          <a:p>
            <a:pPr marL="0" indent="0" algn="just">
              <a:buNone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22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Following table shows all the arithmetic operators supported by C language. Assume variable </a:t>
            </a:r>
            <a:r>
              <a:rPr lang="en-US" sz="2400" dirty="0" smtClean="0"/>
              <a:t>A holds </a:t>
            </a:r>
            <a:r>
              <a:rPr lang="en-US" sz="2400" dirty="0"/>
              <a:t>10 and variable B holds 20 then: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61674"/>
            <a:ext cx="8610600" cy="269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558" y="4680285"/>
            <a:ext cx="8574505" cy="1741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885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Arithmetic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295400"/>
            <a:ext cx="5029200" cy="538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362200"/>
            <a:ext cx="316230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40432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Relational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257800"/>
          </a:xfrm>
        </p:spPr>
        <p:txBody>
          <a:bodyPr>
            <a:normAutofit/>
          </a:bodyPr>
          <a:lstStyle/>
          <a:p>
            <a:pPr algn="just">
              <a:buFont typeface="Wingdings" pitchFamily="2" charset="2"/>
              <a:buChar char="q"/>
            </a:pPr>
            <a:r>
              <a:rPr lang="en-US" dirty="0"/>
              <a:t> </a:t>
            </a:r>
            <a:r>
              <a:rPr lang="en-US" dirty="0" smtClean="0"/>
              <a:t>Relational </a:t>
            </a:r>
            <a:r>
              <a:rPr lang="en-US" dirty="0"/>
              <a:t>operator </a:t>
            </a:r>
            <a:r>
              <a:rPr lang="en-US" b="1" dirty="0">
                <a:solidFill>
                  <a:srgbClr val="0000CC"/>
                </a:solidFill>
              </a:rPr>
              <a:t>checks the relationship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between two operands.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If the relation is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true</a:t>
            </a:r>
            <a:r>
              <a:rPr lang="en-US" dirty="0"/>
              <a:t>, it </a:t>
            </a:r>
            <a:r>
              <a:rPr lang="en-US" dirty="0">
                <a:solidFill>
                  <a:srgbClr val="FF0000"/>
                </a:solidFill>
              </a:rPr>
              <a:t>returns </a:t>
            </a:r>
            <a:r>
              <a:rPr lang="en-US" dirty="0"/>
              <a:t>1; if the relation is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false</a:t>
            </a:r>
            <a:r>
              <a:rPr lang="en-US" dirty="0"/>
              <a:t>, it </a:t>
            </a:r>
            <a:r>
              <a:rPr lang="en-US" dirty="0">
                <a:solidFill>
                  <a:srgbClr val="0000CC"/>
                </a:solidFill>
              </a:rPr>
              <a:t>returns value 0</a:t>
            </a:r>
            <a:r>
              <a:rPr lang="en-US" dirty="0"/>
              <a:t>.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Operands may be variables, constants or expressions.</a:t>
            </a:r>
          </a:p>
          <a:p>
            <a:pPr algn="just">
              <a:buFont typeface="Wingdings" pitchFamily="2" charset="2"/>
              <a:buChar char="q"/>
            </a:pPr>
            <a:r>
              <a:rPr lang="en-US" dirty="0"/>
              <a:t>Relational operators are used in decision making and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582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153400" cy="5635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Relational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43913"/>
            <a:ext cx="8305800" cy="601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6485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Relational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49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80" y="1676400"/>
            <a:ext cx="887162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6222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Relational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// C Program to demonstrate the working of relational operators</a:t>
            </a:r>
          </a:p>
          <a:p>
            <a:pPr marL="0" indent="0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 err="1"/>
              <a:t>int</a:t>
            </a:r>
            <a:r>
              <a:rPr lang="en-US" dirty="0"/>
              <a:t> a = 5, b = 5, c = 10;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("%d == %d = %d \n", a, b, a == b); // true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("%d == %d = %d \n", a, c, a == c); // false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("%d &gt; %d = %d \n", a, b, a &gt; b); //false</a:t>
            </a:r>
          </a:p>
          <a:p>
            <a:pPr marL="0" indent="0">
              <a:buNone/>
            </a:pPr>
            <a:r>
              <a:rPr lang="en-US" dirty="0" err="1"/>
              <a:t>printf</a:t>
            </a:r>
            <a:r>
              <a:rPr lang="en-US" dirty="0"/>
              <a:t>("%d &gt; %d = %d \n", a, c, a &gt; c); //false</a:t>
            </a:r>
          </a:p>
        </p:txBody>
      </p:sp>
    </p:spTree>
    <p:extLst>
      <p:ext uri="{BB962C8B-B14F-4D97-AF65-F5344CB8AC3E}">
        <p14:creationId xmlns:p14="http://schemas.microsoft.com/office/powerpoint/2010/main" val="73054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Relational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printf("%d &lt; %d = %d \n", a, b, a &lt; b); //false</a:t>
            </a:r>
          </a:p>
          <a:p>
            <a:pPr marL="0" indent="0">
              <a:buNone/>
            </a:pPr>
            <a:r>
              <a:rPr lang="pt-BR" dirty="0"/>
              <a:t>printf("%d &lt; %d = %d \n", a, c, a &lt; c); //true</a:t>
            </a:r>
          </a:p>
          <a:p>
            <a:pPr marL="0" indent="0">
              <a:buNone/>
            </a:pPr>
            <a:r>
              <a:rPr lang="pt-BR" dirty="0"/>
              <a:t>printf("%d != %d = %d \n", a, b, a != b); //false</a:t>
            </a:r>
          </a:p>
          <a:p>
            <a:pPr marL="0" indent="0">
              <a:buNone/>
            </a:pPr>
            <a:r>
              <a:rPr lang="pt-BR" dirty="0"/>
              <a:t>printf("%d != %d = %d \n", a, c, a != c); //true</a:t>
            </a:r>
          </a:p>
          <a:p>
            <a:pPr marL="0" indent="0">
              <a:buNone/>
            </a:pPr>
            <a:r>
              <a:rPr lang="pt-BR" dirty="0"/>
              <a:t>printf("%d &gt;= %d = %d \n", a, b, a &gt;= b); //true</a:t>
            </a:r>
          </a:p>
          <a:p>
            <a:pPr marL="0" indent="0">
              <a:buNone/>
            </a:pPr>
            <a:r>
              <a:rPr lang="pt-BR" dirty="0"/>
              <a:t>printf("%d &gt;= %d = %d \n", a, c, a &gt;= c); //false</a:t>
            </a:r>
          </a:p>
          <a:p>
            <a:pPr marL="0" indent="0">
              <a:buNone/>
            </a:pPr>
            <a:r>
              <a:rPr lang="pt-BR" dirty="0"/>
              <a:t>printf("%d &lt;= %d = %d \n", a, b, a &lt;= b); //true</a:t>
            </a:r>
          </a:p>
          <a:p>
            <a:pPr marL="0" indent="0">
              <a:buNone/>
            </a:pPr>
            <a:r>
              <a:rPr lang="pt-BR" dirty="0"/>
              <a:t>printf("%d &lt;= %d = %d \n", a, c, a &lt;= c); //true</a:t>
            </a:r>
          </a:p>
          <a:p>
            <a:pPr marL="0" indent="0">
              <a:buNone/>
            </a:pPr>
            <a:r>
              <a:rPr lang="pt-BR" dirty="0"/>
              <a:t>return 0;</a:t>
            </a:r>
          </a:p>
          <a:p>
            <a:pPr marL="0" indent="0">
              <a:buNone/>
            </a:pPr>
            <a:r>
              <a:rPr lang="pt-BR" dirty="0"/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27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Relational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Output</a:t>
            </a:r>
          </a:p>
          <a:p>
            <a:pPr marL="0" indent="0">
              <a:buNone/>
            </a:pPr>
            <a:r>
              <a:rPr lang="en-US" dirty="0"/>
              <a:t>5 == 5 = 1</a:t>
            </a:r>
          </a:p>
          <a:p>
            <a:pPr marL="0" indent="0">
              <a:buNone/>
            </a:pPr>
            <a:r>
              <a:rPr lang="en-US" dirty="0"/>
              <a:t>5 == 10 = 0</a:t>
            </a:r>
          </a:p>
          <a:p>
            <a:pPr marL="0" indent="0">
              <a:buNone/>
            </a:pPr>
            <a:r>
              <a:rPr lang="en-US" dirty="0"/>
              <a:t>5 &gt; 5 = 0</a:t>
            </a:r>
          </a:p>
          <a:p>
            <a:pPr marL="0" indent="0">
              <a:buNone/>
            </a:pPr>
            <a:r>
              <a:rPr lang="en-US" dirty="0"/>
              <a:t>5 &gt; 10 = 0</a:t>
            </a:r>
          </a:p>
          <a:p>
            <a:pPr marL="0" indent="0">
              <a:buNone/>
            </a:pPr>
            <a:r>
              <a:rPr lang="en-US" dirty="0"/>
              <a:t>5 &lt; 5 = 0</a:t>
            </a:r>
          </a:p>
          <a:p>
            <a:pPr marL="0" indent="0">
              <a:buNone/>
            </a:pPr>
            <a:r>
              <a:rPr lang="en-US" dirty="0"/>
              <a:t>5 &lt; 10 = 1</a:t>
            </a:r>
          </a:p>
          <a:p>
            <a:pPr marL="0" indent="0">
              <a:buNone/>
            </a:pPr>
            <a:r>
              <a:rPr lang="en-US" dirty="0"/>
              <a:t>5 != 5 = 0</a:t>
            </a:r>
          </a:p>
          <a:p>
            <a:pPr marL="0" indent="0">
              <a:buNone/>
            </a:pPr>
            <a:r>
              <a:rPr lang="en-US" dirty="0"/>
              <a:t>5 != 10 = 1</a:t>
            </a:r>
          </a:p>
          <a:p>
            <a:pPr marL="0" indent="0">
              <a:buNone/>
            </a:pPr>
            <a:r>
              <a:rPr lang="en-US" dirty="0"/>
              <a:t>5 &gt;= 5 = 1</a:t>
            </a:r>
          </a:p>
          <a:p>
            <a:pPr marL="0" indent="0">
              <a:buNone/>
            </a:pPr>
            <a:r>
              <a:rPr lang="en-US" dirty="0"/>
              <a:t>5 &gt;= 10 = </a:t>
            </a:r>
            <a:r>
              <a:rPr lang="en-US" dirty="0" smtClean="0"/>
              <a:t>0</a:t>
            </a:r>
          </a:p>
          <a:p>
            <a:pPr marL="0" indent="0">
              <a:buNone/>
            </a:pPr>
            <a:r>
              <a:rPr lang="en-US" dirty="0"/>
              <a:t>5 &lt;= 5 = 1</a:t>
            </a:r>
          </a:p>
          <a:p>
            <a:pPr marL="0" indent="0">
              <a:buNone/>
            </a:pPr>
            <a:r>
              <a:rPr lang="en-US" dirty="0"/>
              <a:t>5 &lt;= 10 = 1</a:t>
            </a:r>
          </a:p>
        </p:txBody>
      </p:sp>
    </p:spTree>
    <p:extLst>
      <p:ext uri="{BB962C8B-B14F-4D97-AF65-F5344CB8AC3E}">
        <p14:creationId xmlns:p14="http://schemas.microsoft.com/office/powerpoint/2010/main" val="4083162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These operators are used to combine the </a:t>
            </a:r>
            <a:r>
              <a:rPr lang="en-US" dirty="0" smtClean="0"/>
              <a:t>results of </a:t>
            </a:r>
            <a:r>
              <a:rPr lang="en-US" dirty="0"/>
              <a:t>two or more conditions.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expression containing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operator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returns either 0 or 1 depending upon whether expression results 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true or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false.</a:t>
            </a:r>
            <a:r>
              <a:rPr lang="en-US" dirty="0"/>
              <a:t> Logical operators are commonly used in decision making in C programming.</a:t>
            </a:r>
          </a:p>
        </p:txBody>
      </p:sp>
    </p:spTree>
    <p:extLst>
      <p:ext uri="{BB962C8B-B14F-4D97-AF65-F5344CB8AC3E}">
        <p14:creationId xmlns:p14="http://schemas.microsoft.com/office/powerpoint/2010/main" val="2250023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95399"/>
            <a:ext cx="8458200" cy="284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483767"/>
            <a:ext cx="8534400" cy="1538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3998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Logical AND :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any one condition fals</a:t>
            </a:r>
            <a:r>
              <a:rPr lang="en-US" b="1" dirty="0">
                <a:solidFill>
                  <a:srgbClr val="0000CC"/>
                </a:solidFill>
              </a:rPr>
              <a:t>e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complete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 becomes false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 algn="just">
              <a:buNone/>
            </a:pPr>
            <a:endParaRPr lang="en-US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374232"/>
            <a:ext cx="7390228" cy="2959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3319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Logical OR :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any one condition true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complete condition becomes true.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2350168"/>
            <a:ext cx="7956083" cy="3060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9599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Logical Not : This operator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reverses</a:t>
            </a:r>
            <a:r>
              <a:rPr lang="en-US" dirty="0"/>
              <a:t> the value of the expression it operates on </a:t>
            </a:r>
            <a:r>
              <a:rPr lang="en-US" dirty="0" err="1"/>
              <a:t>i.e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makes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true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expression false</a:t>
            </a:r>
            <a:r>
              <a:rPr lang="en-US" dirty="0"/>
              <a:t> and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false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expression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true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 algn="just">
              <a:buNone/>
            </a:pP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901950"/>
            <a:ext cx="4724400" cy="248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2535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11162"/>
          </a:xfrm>
        </p:spPr>
        <p:txBody>
          <a:bodyPr>
            <a:no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6096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/>
              <a:t>// C Program to demonstrate the working of logical operators</a:t>
            </a:r>
          </a:p>
          <a:p>
            <a:pPr marL="0" indent="0" algn="just">
              <a:buNone/>
            </a:pPr>
            <a:r>
              <a:rPr lang="en-US" sz="1800" dirty="0"/>
              <a:t>#include &lt;</a:t>
            </a:r>
            <a:r>
              <a:rPr lang="en-US" sz="1800" dirty="0" err="1"/>
              <a:t>stdio.h</a:t>
            </a:r>
            <a:r>
              <a:rPr lang="en-US" sz="1800" dirty="0" smtClean="0"/>
              <a:t>&gt;</a:t>
            </a:r>
          </a:p>
          <a:p>
            <a:pPr marL="0" indent="0" algn="just">
              <a:buNone/>
            </a:pPr>
            <a:r>
              <a:rPr lang="en-US" sz="1800" dirty="0" err="1"/>
              <a:t>int</a:t>
            </a:r>
            <a:r>
              <a:rPr lang="en-US" sz="1800" dirty="0"/>
              <a:t> main()</a:t>
            </a:r>
          </a:p>
          <a:p>
            <a:pPr marL="0" indent="0" algn="just">
              <a:buNone/>
            </a:pPr>
            <a:r>
              <a:rPr lang="en-US" sz="1800" dirty="0"/>
              <a:t>{</a:t>
            </a:r>
          </a:p>
          <a:p>
            <a:pPr marL="0" indent="0" algn="just">
              <a:buNone/>
            </a:pPr>
            <a:r>
              <a:rPr lang="en-US" sz="1800" dirty="0" err="1"/>
              <a:t>int</a:t>
            </a:r>
            <a:r>
              <a:rPr lang="en-US" sz="1800" dirty="0"/>
              <a:t> a = 5, b = 5, c = 10, result;</a:t>
            </a:r>
          </a:p>
          <a:p>
            <a:pPr marL="0" indent="0" algn="just">
              <a:buNone/>
            </a:pPr>
            <a:r>
              <a:rPr lang="en-US" sz="1800" dirty="0"/>
              <a:t>result = (a = b) &amp;&amp; (c &gt; b);</a:t>
            </a:r>
          </a:p>
          <a:p>
            <a:pPr marL="0" indent="0" algn="just">
              <a:buNone/>
            </a:pPr>
            <a:r>
              <a:rPr lang="en-US" sz="1800" dirty="0" err="1"/>
              <a:t>printf</a:t>
            </a:r>
            <a:r>
              <a:rPr lang="en-US" sz="1800" dirty="0"/>
              <a:t>("(a = b) &amp;&amp; (c &gt; b) equals to %d \n", result);</a:t>
            </a:r>
          </a:p>
          <a:p>
            <a:pPr marL="0" indent="0" algn="just">
              <a:buNone/>
            </a:pPr>
            <a:r>
              <a:rPr lang="en-US" sz="1800" dirty="0"/>
              <a:t>result = (a = b) &amp;&amp; (c &lt; b);</a:t>
            </a:r>
          </a:p>
          <a:p>
            <a:pPr marL="0" indent="0" algn="just">
              <a:buNone/>
            </a:pPr>
            <a:r>
              <a:rPr lang="en-US" sz="1800" dirty="0" err="1"/>
              <a:t>printf</a:t>
            </a:r>
            <a:r>
              <a:rPr lang="en-US" sz="1800" dirty="0"/>
              <a:t>("(a = b) &amp;&amp; (c &lt; b) equals to %d \n", result);</a:t>
            </a:r>
          </a:p>
          <a:p>
            <a:pPr marL="0" indent="0" algn="just">
              <a:buNone/>
            </a:pPr>
            <a:r>
              <a:rPr lang="en-US" sz="1800" dirty="0"/>
              <a:t>result = (a = b) || (c &lt; b);</a:t>
            </a:r>
          </a:p>
          <a:p>
            <a:pPr marL="0" indent="0" algn="just">
              <a:buNone/>
            </a:pPr>
            <a:r>
              <a:rPr lang="en-US" sz="1800" dirty="0" err="1"/>
              <a:t>printf</a:t>
            </a:r>
            <a:r>
              <a:rPr lang="en-US" sz="1800" dirty="0"/>
              <a:t>("(a = b) || (c &lt; b) equals to %d \n", result</a:t>
            </a:r>
            <a:r>
              <a:rPr lang="en-US" sz="1800" dirty="0" smtClean="0"/>
              <a:t>);</a:t>
            </a:r>
          </a:p>
          <a:p>
            <a:pPr marL="0" indent="0" algn="just">
              <a:buNone/>
            </a:pPr>
            <a:r>
              <a:rPr lang="en-US" sz="1800" dirty="0"/>
              <a:t>result = (a != b) || (c &lt; b);</a:t>
            </a:r>
          </a:p>
          <a:p>
            <a:pPr marL="0" indent="0" algn="just">
              <a:buNone/>
            </a:pPr>
            <a:r>
              <a:rPr lang="en-US" sz="1800" dirty="0" err="1"/>
              <a:t>printf</a:t>
            </a:r>
            <a:r>
              <a:rPr lang="en-US" sz="1800" dirty="0"/>
              <a:t>("(a != b) || (c &lt; b) equals to %d \n", result);</a:t>
            </a:r>
          </a:p>
          <a:p>
            <a:pPr marL="0" indent="0" algn="just">
              <a:buNone/>
            </a:pPr>
            <a:r>
              <a:rPr lang="en-US" sz="1800" dirty="0"/>
              <a:t>result = !(a != b);</a:t>
            </a:r>
          </a:p>
          <a:p>
            <a:pPr marL="0" indent="0" algn="just">
              <a:buNone/>
            </a:pPr>
            <a:r>
              <a:rPr lang="en-US" sz="1800" dirty="0" err="1"/>
              <a:t>printf</a:t>
            </a:r>
            <a:r>
              <a:rPr lang="en-US" sz="1800" dirty="0"/>
              <a:t>("!(a == b) equals to %d \n", result);</a:t>
            </a:r>
          </a:p>
          <a:p>
            <a:pPr marL="0" indent="0" algn="just">
              <a:buNone/>
            </a:pPr>
            <a:r>
              <a:rPr lang="en-US" sz="1800" dirty="0"/>
              <a:t>result = !(a == b);</a:t>
            </a:r>
          </a:p>
          <a:p>
            <a:pPr marL="0" indent="0" algn="just">
              <a:buNone/>
            </a:pPr>
            <a:r>
              <a:rPr lang="en-US" sz="1800" dirty="0" err="1"/>
              <a:t>printf</a:t>
            </a:r>
            <a:r>
              <a:rPr lang="en-US" sz="1800" dirty="0"/>
              <a:t>("!(a == b) equals to %d \n", result);</a:t>
            </a:r>
          </a:p>
          <a:p>
            <a:pPr marL="0" indent="0" algn="just">
              <a:buNone/>
            </a:pPr>
            <a:r>
              <a:rPr lang="en-US" sz="1800" dirty="0"/>
              <a:t>return 0;</a:t>
            </a:r>
          </a:p>
          <a:p>
            <a:pPr marL="0" indent="0" algn="just">
              <a:buNone/>
            </a:pPr>
            <a:r>
              <a:rPr lang="en-US" sz="1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71744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59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Output: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 = b) &amp;&amp; (c &gt; b) equals to 1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 = b) &amp;&amp; (c &lt; b) equals to 0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 = b) || (c &lt; b) equals to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 != b) || (c &lt; b) equals to 0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!(a != b) equals to 1</a:t>
            </a:r>
          </a:p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!(a == b) equals to 0</a:t>
            </a:r>
          </a:p>
        </p:txBody>
      </p:sp>
    </p:spTree>
    <p:extLst>
      <p:ext uri="{BB962C8B-B14F-4D97-AF65-F5344CB8AC3E}">
        <p14:creationId xmlns:p14="http://schemas.microsoft.com/office/powerpoint/2010/main" val="2264409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Assignment operators are used to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 a value </a:t>
            </a:r>
            <a:r>
              <a:rPr lang="en-US" dirty="0"/>
              <a:t>(or)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expression </a:t>
            </a:r>
            <a:r>
              <a:rPr lang="en-US" dirty="0" smtClean="0"/>
              <a:t>(or</a:t>
            </a:r>
            <a:r>
              <a:rPr lang="en-US" dirty="0"/>
              <a:t>)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value of a variable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another variable.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Syntax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  <a:endPara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 smtClean="0"/>
              <a:t>variable </a:t>
            </a:r>
            <a:r>
              <a:rPr lang="en-US" dirty="0"/>
              <a:t>name=expression (or) value (or) variable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Ex </a:t>
            </a:r>
            <a:r>
              <a:rPr lang="en-US" dirty="0"/>
              <a:t>: x=10;</a:t>
            </a:r>
          </a:p>
          <a:p>
            <a:pPr marL="0" indent="0" algn="just">
              <a:buNone/>
            </a:pPr>
            <a:r>
              <a:rPr lang="en-US" dirty="0"/>
              <a:t>y=</a:t>
            </a:r>
            <a:r>
              <a:rPr lang="en-US" dirty="0" err="1"/>
              <a:t>a+b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/>
              <a:t>z=p;</a:t>
            </a:r>
          </a:p>
        </p:txBody>
      </p:sp>
    </p:spTree>
    <p:extLst>
      <p:ext uri="{BB962C8B-B14F-4D97-AF65-F5344CB8AC3E}">
        <p14:creationId xmlns:p14="http://schemas.microsoft.com/office/powerpoint/2010/main" val="294169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99" y="1219200"/>
            <a:ext cx="8707783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819524"/>
            <a:ext cx="8534400" cy="1151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3960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90600"/>
            <a:ext cx="6858000" cy="5798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14175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Compound assignment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smtClean="0"/>
              <a:t>‘C’ </a:t>
            </a:r>
            <a:r>
              <a:rPr lang="en-US" dirty="0"/>
              <a:t>provides compound assignment operators to assign a value to variable in order to assign </a:t>
            </a:r>
            <a:r>
              <a:rPr lang="en-US" dirty="0" smtClean="0"/>
              <a:t>a new </a:t>
            </a:r>
            <a:r>
              <a:rPr lang="en-US" dirty="0"/>
              <a:t>value to a variable after performing a specified operation.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276600"/>
            <a:ext cx="7620000" cy="2920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2539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334962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867400"/>
          </a:xfrm>
        </p:spPr>
        <p:txBody>
          <a:bodyPr>
            <a:normAutofit fontScale="62500" lnSpcReduction="20000"/>
          </a:bodyPr>
          <a:lstStyle/>
          <a:p>
            <a:pPr marL="0" indent="0" algn="just">
              <a:buNone/>
            </a:pPr>
            <a:r>
              <a:rPr lang="en-US" dirty="0"/>
              <a:t>// C Program to demonstrate the working of assignment operators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a = 5, c;</a:t>
            </a:r>
          </a:p>
          <a:p>
            <a:pPr marL="0" indent="0" algn="just">
              <a:buNone/>
            </a:pPr>
            <a:r>
              <a:rPr lang="en-US" dirty="0"/>
              <a:t>c = a</a:t>
            </a:r>
            <a:r>
              <a:rPr lang="en-US" dirty="0" smtClean="0"/>
              <a:t>;</a:t>
            </a:r>
          </a:p>
          <a:p>
            <a:pPr marL="0" indent="0" algn="just">
              <a:buNone/>
            </a:pPr>
            <a:r>
              <a:rPr lang="pt-BR" dirty="0"/>
              <a:t>printf("c = %d \n", c);</a:t>
            </a:r>
          </a:p>
          <a:p>
            <a:pPr marL="0" indent="0" algn="just">
              <a:buNone/>
            </a:pPr>
            <a:r>
              <a:rPr lang="pt-BR" dirty="0"/>
              <a:t>c += a; // c = c+a</a:t>
            </a:r>
          </a:p>
          <a:p>
            <a:pPr marL="0" indent="0" algn="just">
              <a:buNone/>
            </a:pPr>
            <a:r>
              <a:rPr lang="pt-BR" dirty="0"/>
              <a:t>printf("c = %d \n", c);</a:t>
            </a:r>
          </a:p>
          <a:p>
            <a:pPr marL="0" indent="0" algn="just">
              <a:buNone/>
            </a:pPr>
            <a:r>
              <a:rPr lang="pt-BR" dirty="0"/>
              <a:t>c -= a; // c = c-a</a:t>
            </a:r>
          </a:p>
          <a:p>
            <a:pPr marL="0" indent="0" algn="just">
              <a:buNone/>
            </a:pPr>
            <a:r>
              <a:rPr lang="pt-BR" dirty="0"/>
              <a:t>printf("c = %d \n", c);</a:t>
            </a:r>
          </a:p>
          <a:p>
            <a:pPr marL="0" indent="0" algn="just">
              <a:buNone/>
            </a:pPr>
            <a:r>
              <a:rPr lang="pt-BR" dirty="0"/>
              <a:t>c *= a; // c = c*a</a:t>
            </a:r>
          </a:p>
          <a:p>
            <a:pPr marL="0" indent="0" algn="just">
              <a:buNone/>
            </a:pPr>
            <a:r>
              <a:rPr lang="pt-BR" dirty="0"/>
              <a:t>printf("c = %d \n", c);</a:t>
            </a:r>
          </a:p>
          <a:p>
            <a:pPr marL="0" indent="0" algn="just">
              <a:buNone/>
            </a:pPr>
            <a:r>
              <a:rPr lang="pt-BR" dirty="0"/>
              <a:t>c /= a; // c = c/a</a:t>
            </a:r>
          </a:p>
          <a:p>
            <a:pPr marL="0" indent="0" algn="just">
              <a:buNone/>
            </a:pPr>
            <a:r>
              <a:rPr lang="pt-BR" dirty="0"/>
              <a:t>printf("c = %d \n", c);</a:t>
            </a:r>
          </a:p>
          <a:p>
            <a:pPr marL="0" indent="0" algn="just">
              <a:buNone/>
            </a:pPr>
            <a:r>
              <a:rPr lang="pt-BR" dirty="0"/>
              <a:t>c %= a; // c = c%a</a:t>
            </a:r>
          </a:p>
          <a:p>
            <a:pPr marL="0" indent="0" algn="just">
              <a:buNone/>
            </a:pPr>
            <a:r>
              <a:rPr lang="pt-BR" dirty="0"/>
              <a:t>printf("c = %d \n", c</a:t>
            </a:r>
            <a:r>
              <a:rPr lang="pt-BR" dirty="0" smtClean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60697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c = 5</a:t>
            </a:r>
          </a:p>
          <a:p>
            <a:pPr marL="0" indent="0" algn="just">
              <a:buNone/>
            </a:pPr>
            <a:r>
              <a:rPr lang="en-US" dirty="0"/>
              <a:t>c = 10</a:t>
            </a:r>
          </a:p>
          <a:p>
            <a:pPr marL="0" indent="0" algn="just">
              <a:buNone/>
            </a:pPr>
            <a:r>
              <a:rPr lang="en-US" dirty="0"/>
              <a:t>c = 5</a:t>
            </a:r>
          </a:p>
          <a:p>
            <a:pPr marL="0" indent="0" algn="just">
              <a:buNone/>
            </a:pPr>
            <a:r>
              <a:rPr lang="en-US" dirty="0"/>
              <a:t>c = 25</a:t>
            </a:r>
          </a:p>
          <a:p>
            <a:pPr marL="0" indent="0" algn="just">
              <a:buNone/>
            </a:pPr>
            <a:r>
              <a:rPr lang="en-US" dirty="0"/>
              <a:t>c = 5</a:t>
            </a:r>
          </a:p>
          <a:p>
            <a:pPr marL="0" indent="0" algn="just">
              <a:buNone/>
            </a:pPr>
            <a:r>
              <a:rPr lang="en-US" dirty="0"/>
              <a:t>c = 0</a:t>
            </a:r>
          </a:p>
        </p:txBody>
      </p:sp>
    </p:spTree>
    <p:extLst>
      <p:ext uri="{BB962C8B-B14F-4D97-AF65-F5344CB8AC3E}">
        <p14:creationId xmlns:p14="http://schemas.microsoft.com/office/powerpoint/2010/main" val="1726626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Decrement Operators /Unary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Unary operators are having higher priority than the other operators.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Unary operators, </a:t>
            </a:r>
            <a:r>
              <a:rPr lang="en-US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meaning they 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only operate on a single operan</a:t>
            </a:r>
            <a:r>
              <a:rPr lang="en-US" dirty="0"/>
              <a:t>d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Operator in C Programming</a:t>
            </a:r>
          </a:p>
          <a:p>
            <a:pPr marL="0" indent="0" algn="just">
              <a:buNone/>
            </a:pPr>
            <a:r>
              <a:rPr lang="en-US" dirty="0"/>
              <a:t>1. Increment operator is used to </a:t>
            </a:r>
            <a:r>
              <a:rPr lang="en-US" b="1" dirty="0">
                <a:solidFill>
                  <a:srgbClr val="0000CC"/>
                </a:solidFill>
              </a:rPr>
              <a:t>increment the current value</a:t>
            </a:r>
            <a:r>
              <a:rPr lang="en-US" dirty="0"/>
              <a:t> of variable by </a:t>
            </a:r>
            <a:r>
              <a:rPr lang="en-US" b="1" dirty="0">
                <a:solidFill>
                  <a:srgbClr val="0000CC"/>
                </a:solidFill>
              </a:rPr>
              <a:t>adding integer 1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2. Increment operator </a:t>
            </a:r>
            <a:r>
              <a:rPr lang="en-US" b="1" dirty="0">
                <a:solidFill>
                  <a:srgbClr val="0000CC"/>
                </a:solidFill>
              </a:rPr>
              <a:t>can be applied to only variables.</a:t>
            </a:r>
          </a:p>
          <a:p>
            <a:pPr marL="0" indent="0" algn="just">
              <a:buNone/>
            </a:pPr>
            <a:r>
              <a:rPr lang="en-US" dirty="0"/>
              <a:t>3. Increment operator is </a:t>
            </a:r>
            <a:r>
              <a:rPr lang="en-US" b="1" dirty="0">
                <a:solidFill>
                  <a:srgbClr val="0000CC"/>
                </a:solidFill>
              </a:rPr>
              <a:t>denoted by ++.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425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Decrement Operators /Unary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We have two types of increment operator </a:t>
            </a:r>
            <a:r>
              <a:rPr lang="en-US" dirty="0" err="1"/>
              <a:t>i.e</a:t>
            </a:r>
            <a:r>
              <a:rPr lang="en-US" dirty="0"/>
              <a:t>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-Increment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-Increment</a:t>
            </a:r>
            <a:r>
              <a:rPr lang="en-US" dirty="0"/>
              <a:t> Operator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Pre-Increment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/>
              <a:t>Pre-increment operator is used to </a:t>
            </a:r>
            <a:r>
              <a:rPr lang="en-US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the value of variable</a:t>
            </a:r>
            <a:r>
              <a:rPr lang="en-US" dirty="0"/>
              <a:t>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before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using in the expression</a:t>
            </a:r>
            <a:r>
              <a:rPr lang="en-US" dirty="0"/>
              <a:t>. </a:t>
            </a:r>
            <a:r>
              <a:rPr lang="en-US" dirty="0" smtClean="0"/>
              <a:t>In the </a:t>
            </a:r>
            <a:r>
              <a:rPr lang="en-US" dirty="0"/>
              <a:t>Pre-Increment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 is first incremented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then used inside the expression</a:t>
            </a:r>
            <a:r>
              <a:rPr lang="en-US" dirty="0"/>
              <a:t>.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 = ++y;</a:t>
            </a:r>
          </a:p>
        </p:txBody>
      </p:sp>
    </p:spTree>
    <p:extLst>
      <p:ext uri="{BB962C8B-B14F-4D97-AF65-F5344CB8AC3E}">
        <p14:creationId xmlns:p14="http://schemas.microsoft.com/office/powerpoint/2010/main" val="735797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Decrement Operators /Unary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Pre-Increment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ctr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++y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pPr marL="0" indent="0" algn="just">
              <a:buNone/>
            </a:pPr>
            <a:r>
              <a:rPr lang="en-US" dirty="0"/>
              <a:t>In this example suppose the value of variable </a:t>
            </a:r>
            <a:r>
              <a:rPr lang="en-US" dirty="0" smtClean="0"/>
              <a:t>‘y’ </a:t>
            </a:r>
            <a:r>
              <a:rPr lang="en-US" dirty="0"/>
              <a:t>is 5 then value of variable </a:t>
            </a:r>
            <a:r>
              <a:rPr lang="en-US" dirty="0" smtClean="0"/>
              <a:t>‘b’ </a:t>
            </a:r>
            <a:r>
              <a:rPr lang="en-US" dirty="0"/>
              <a:t>will be 6 </a:t>
            </a:r>
            <a:r>
              <a:rPr lang="en-US" dirty="0" smtClean="0"/>
              <a:t>because the </a:t>
            </a:r>
            <a:r>
              <a:rPr lang="en-US" dirty="0"/>
              <a:t>value of </a:t>
            </a:r>
            <a:r>
              <a:rPr lang="en-US" dirty="0" smtClean="0"/>
              <a:t>‘y’ </a:t>
            </a:r>
            <a:r>
              <a:rPr lang="en-US" dirty="0"/>
              <a:t>gets modified before using it in a expression.</a:t>
            </a:r>
          </a:p>
        </p:txBody>
      </p:sp>
    </p:spTree>
    <p:extLst>
      <p:ext uri="{BB962C8B-B14F-4D97-AF65-F5344CB8AC3E}">
        <p14:creationId xmlns:p14="http://schemas.microsoft.com/office/powerpoint/2010/main" val="241549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Decrement Operators /Unary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69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Post-Increment</a:t>
            </a:r>
          </a:p>
          <a:p>
            <a:pPr marL="0" indent="0" algn="just">
              <a:buNone/>
            </a:pPr>
            <a:r>
              <a:rPr lang="en-US" dirty="0"/>
              <a:t>Post-increment operator is used to increment the value of variable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soon as after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executing expression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completely in which post increment is used</a:t>
            </a:r>
            <a:r>
              <a:rPr lang="en-US" dirty="0"/>
              <a:t>. In the Post-Increment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value is first </a:t>
            </a:r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used in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expression</a:t>
            </a:r>
            <a:r>
              <a:rPr lang="en-US" dirty="0"/>
              <a:t>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then incremented</a:t>
            </a:r>
            <a:r>
              <a:rPr lang="en-US" dirty="0"/>
              <a:t>.</a:t>
            </a:r>
          </a:p>
          <a:p>
            <a:pPr marL="0" indent="0" algn="ctr">
              <a:buNone/>
            </a:pP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 = x++;</a:t>
            </a:r>
          </a:p>
          <a:p>
            <a:pPr marL="0" indent="0" algn="just">
              <a:buNone/>
            </a:pPr>
            <a:r>
              <a:rPr lang="en-US" dirty="0"/>
              <a:t>In this example suppose the value of variable </a:t>
            </a:r>
            <a:r>
              <a:rPr lang="en-US" dirty="0" smtClean="0"/>
              <a:t>‘x’ </a:t>
            </a:r>
            <a:r>
              <a:rPr lang="en-US" dirty="0"/>
              <a:t>is 5 then value of variable </a:t>
            </a:r>
            <a:r>
              <a:rPr lang="en-US" dirty="0" smtClean="0"/>
              <a:t>‘b’ </a:t>
            </a:r>
            <a:r>
              <a:rPr lang="en-US" dirty="0"/>
              <a:t>will be 5 because</a:t>
            </a:r>
          </a:p>
          <a:p>
            <a:pPr marL="0" indent="0" algn="just">
              <a:buNone/>
            </a:pPr>
            <a:r>
              <a:rPr lang="en-US" dirty="0"/>
              <a:t>old value of </a:t>
            </a:r>
            <a:r>
              <a:rPr lang="en-US" dirty="0" smtClean="0"/>
              <a:t>‘x’ </a:t>
            </a:r>
            <a:r>
              <a:rPr lang="en-US" dirty="0"/>
              <a:t>is used.</a:t>
            </a:r>
          </a:p>
        </p:txBody>
      </p:sp>
    </p:spTree>
    <p:extLst>
      <p:ext uri="{BB962C8B-B14F-4D97-AF65-F5344CB8AC3E}">
        <p14:creationId xmlns:p14="http://schemas.microsoft.com/office/powerpoint/2010/main" val="3132085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Decrement Operators /Unary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86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 :</a:t>
            </a:r>
          </a:p>
          <a:p>
            <a:pPr marL="0" indent="0" algn="just">
              <a:buNone/>
            </a:pPr>
            <a:r>
              <a:rPr lang="en-US" dirty="0"/>
              <a:t>We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cannot use increment operator on the constant values</a:t>
            </a:r>
            <a:r>
              <a:rPr lang="en-US" dirty="0"/>
              <a:t> because </a:t>
            </a:r>
            <a:r>
              <a:rPr lang="en-US" b="1" dirty="0">
                <a:solidFill>
                  <a:srgbClr val="0000CC"/>
                </a:solidFill>
              </a:rPr>
              <a:t>increment operator operates </a:t>
            </a:r>
            <a:r>
              <a:rPr lang="en-US" b="1" dirty="0" smtClean="0">
                <a:solidFill>
                  <a:srgbClr val="0000CC"/>
                </a:solidFill>
              </a:rPr>
              <a:t>on only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variables</a:t>
            </a:r>
            <a:r>
              <a:rPr lang="en-US" dirty="0"/>
              <a:t>. It increments the value of the variable by 1 and stores the incremented value </a:t>
            </a:r>
            <a:r>
              <a:rPr lang="en-US" dirty="0" smtClean="0"/>
              <a:t>back to </a:t>
            </a:r>
            <a:r>
              <a:rPr lang="en-US" dirty="0"/>
              <a:t>the </a:t>
            </a:r>
            <a:r>
              <a:rPr lang="en-US" dirty="0" smtClean="0"/>
              <a:t>variable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b = ++5;</a:t>
            </a:r>
          </a:p>
          <a:p>
            <a:pPr marL="0" indent="0" algn="just">
              <a:buNone/>
            </a:pPr>
            <a:r>
              <a:rPr lang="en-US" dirty="0"/>
              <a:t>or</a:t>
            </a:r>
          </a:p>
          <a:p>
            <a:pPr marL="0" indent="0" algn="just">
              <a:buNone/>
            </a:pPr>
            <a:r>
              <a:rPr lang="en-US" dirty="0"/>
              <a:t>b = 5++;</a:t>
            </a:r>
          </a:p>
        </p:txBody>
      </p:sp>
    </p:spTree>
    <p:extLst>
      <p:ext uri="{BB962C8B-B14F-4D97-AF65-F5344CB8AC3E}">
        <p14:creationId xmlns:p14="http://schemas.microsoft.com/office/powerpoint/2010/main" val="3315583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Decrement Operators /Unary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257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syntax of the operators is given </a:t>
            </a:r>
            <a:r>
              <a:rPr lang="en-US" dirty="0" smtClean="0"/>
              <a:t>below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++&lt;variable name&gt;</a:t>
            </a:r>
            <a:r>
              <a:rPr lang="en-US" sz="3600" dirty="0"/>
              <a:t> </a:t>
            </a:r>
            <a:r>
              <a:rPr lang="en-US" sz="3600" dirty="0" smtClean="0"/>
              <a:t>        </a:t>
            </a:r>
            <a:r>
              <a:rPr lang="en-US" sz="3600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--&lt;</a:t>
            </a: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name</a:t>
            </a:r>
            <a:r>
              <a:rPr lang="en-US" sz="3600" dirty="0"/>
              <a:t>&gt;</a:t>
            </a:r>
          </a:p>
          <a:p>
            <a:pPr marL="0" indent="0" algn="just">
              <a:buNone/>
            </a:pPr>
            <a:r>
              <a:rPr lang="en-US" sz="3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&lt;variable name&gt;++</a:t>
            </a:r>
            <a:r>
              <a:rPr lang="en-US" sz="3600" dirty="0"/>
              <a:t> </a:t>
            </a:r>
            <a:r>
              <a:rPr lang="en-US" sz="3600" dirty="0" smtClean="0"/>
              <a:t>        </a:t>
            </a:r>
            <a:r>
              <a:rPr 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&lt;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 name&gt;--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The </a:t>
            </a:r>
            <a:r>
              <a:rPr lang="en-US" dirty="0"/>
              <a:t>operator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</a:t>
            </a:r>
            <a:r>
              <a:rPr lang="en-US" dirty="0"/>
              <a:t> adds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dirty="0"/>
              <a:t> to the operand and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--</a:t>
            </a:r>
            <a:r>
              <a:rPr lang="en-US" dirty="0" smtClean="0"/>
              <a:t> </a:t>
            </a:r>
            <a:r>
              <a:rPr lang="en-US" dirty="0"/>
              <a:t>subtracts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dirty="0"/>
              <a:t> from the operand. These operators </a:t>
            </a:r>
            <a:r>
              <a:rPr lang="en-US" dirty="0" smtClean="0"/>
              <a:t>in two </a:t>
            </a:r>
            <a:r>
              <a:rPr lang="en-US" dirty="0"/>
              <a:t>forms : </a:t>
            </a:r>
            <a:r>
              <a:rPr lang="en-US" dirty="0">
                <a:solidFill>
                  <a:srgbClr val="FF0000"/>
                </a:solidFill>
              </a:rPr>
              <a:t>prefix</a:t>
            </a:r>
            <a:r>
              <a:rPr lang="en-US" dirty="0"/>
              <a:t> (++x) and </a:t>
            </a:r>
            <a:r>
              <a:rPr lang="en-US" b="1" dirty="0">
                <a:solidFill>
                  <a:srgbClr val="0000CC"/>
                </a:solidFill>
              </a:rPr>
              <a:t>postfix</a:t>
            </a:r>
            <a:r>
              <a:rPr lang="en-US" dirty="0"/>
              <a:t>(x++).</a:t>
            </a:r>
            <a:endParaRPr lang="en-US" dirty="0" smtClean="0"/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93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Decrement Operators /Unary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dirty="0"/>
              <a:t>The syntax of the operators is given </a:t>
            </a:r>
            <a:r>
              <a:rPr lang="en-US" dirty="0" smtClean="0"/>
              <a:t>below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Where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1 : ++x : Pre increment, first increment and then do the operation.</a:t>
            </a:r>
          </a:p>
          <a:p>
            <a:pPr marL="0" indent="0" algn="just">
              <a:buNone/>
            </a:pPr>
            <a:r>
              <a:rPr lang="en-US" dirty="0"/>
              <a:t>2 : - -x : Pre decrement, first decrements and then do the operation.</a:t>
            </a:r>
          </a:p>
          <a:p>
            <a:pPr marL="0" indent="0" algn="just">
              <a:buNone/>
            </a:pPr>
            <a:r>
              <a:rPr lang="en-US" dirty="0"/>
              <a:t>3 : x++ : Post increment, first do the operation and then increment.</a:t>
            </a:r>
          </a:p>
          <a:p>
            <a:pPr marL="0" indent="0" algn="just">
              <a:buNone/>
            </a:pPr>
            <a:r>
              <a:rPr lang="en-US" dirty="0"/>
              <a:t>4 : x- - : Post decrement, first do the operation and then decrement.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579144"/>
            <a:ext cx="4191000" cy="17342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15715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Decrement Operators /Unary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Let a=5 and b=10</a:t>
            </a:r>
          </a:p>
          <a:p>
            <a:pPr marL="0" indent="0" algn="just">
              <a:buNone/>
            </a:pPr>
            <a:r>
              <a:rPr lang="en-US" dirty="0"/>
              <a:t>a++; //a becomes 6</a:t>
            </a:r>
          </a:p>
          <a:p>
            <a:pPr marL="0" indent="0" algn="just">
              <a:buNone/>
            </a:pPr>
            <a:r>
              <a:rPr lang="en-US" dirty="0"/>
              <a:t>a--; //a becomes 5</a:t>
            </a:r>
          </a:p>
          <a:p>
            <a:pPr marL="0" indent="0" algn="just">
              <a:buNone/>
            </a:pPr>
            <a:r>
              <a:rPr lang="en-US" dirty="0"/>
              <a:t>++a; //a becomes 6</a:t>
            </a:r>
          </a:p>
          <a:p>
            <a:pPr marL="0" indent="0" algn="just">
              <a:buNone/>
            </a:pPr>
            <a:r>
              <a:rPr lang="en-US" dirty="0"/>
              <a:t>--a; //a becomes </a:t>
            </a:r>
            <a:r>
              <a:rPr lang="en-US" dirty="0" smtClean="0"/>
              <a:t>5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When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</a:t>
            </a:r>
            <a:r>
              <a:rPr lang="en-US" dirty="0" smtClean="0"/>
              <a:t> </a:t>
            </a:r>
            <a:r>
              <a:rPr lang="en-US" dirty="0"/>
              <a:t>is used as prefix(like: ++</a:t>
            </a:r>
            <a:r>
              <a:rPr lang="en-US" dirty="0" err="1"/>
              <a:t>var</a:t>
            </a:r>
            <a:r>
              <a:rPr lang="en-US" dirty="0"/>
              <a:t>), </a:t>
            </a:r>
            <a:r>
              <a:rPr lang="en-US" dirty="0">
                <a:solidFill>
                  <a:srgbClr val="0000CC"/>
                </a:solidFill>
              </a:rPr>
              <a:t>++</a:t>
            </a:r>
            <a:r>
              <a:rPr lang="en-US" dirty="0" err="1">
                <a:solidFill>
                  <a:srgbClr val="0000CC"/>
                </a:solidFill>
              </a:rPr>
              <a:t>var</a:t>
            </a:r>
            <a:r>
              <a:rPr lang="en-US" dirty="0">
                <a:solidFill>
                  <a:srgbClr val="0000CC"/>
                </a:solidFill>
              </a:rPr>
              <a:t> will increment the value of </a:t>
            </a:r>
            <a:r>
              <a:rPr lang="en-US" dirty="0" err="1">
                <a:solidFill>
                  <a:srgbClr val="0000CC"/>
                </a:solidFill>
              </a:rPr>
              <a:t>var</a:t>
            </a:r>
            <a:r>
              <a:rPr lang="en-US" dirty="0">
                <a:solidFill>
                  <a:srgbClr val="0000CC"/>
                </a:solidFill>
              </a:rPr>
              <a:t> and then return </a:t>
            </a:r>
            <a:r>
              <a:rPr lang="en-US" dirty="0" smtClean="0">
                <a:solidFill>
                  <a:srgbClr val="0000CC"/>
                </a:solidFill>
              </a:rPr>
              <a:t>it </a:t>
            </a:r>
            <a:r>
              <a:rPr lang="en-US" dirty="0" smtClean="0"/>
              <a:t>but</a:t>
            </a:r>
            <a:r>
              <a:rPr lang="en-US" dirty="0"/>
              <a:t>, if </a:t>
            </a:r>
            <a:r>
              <a:rPr lang="en-US" dirty="0">
                <a:solidFill>
                  <a:srgbClr val="FF0000"/>
                </a:solidFill>
              </a:rPr>
              <a:t>++ is used as postfix(like</a:t>
            </a:r>
            <a:r>
              <a:rPr lang="en-US" dirty="0"/>
              <a:t>: </a:t>
            </a:r>
            <a:r>
              <a:rPr lang="en-US" dirty="0" err="1"/>
              <a:t>var</a:t>
            </a:r>
            <a:r>
              <a:rPr lang="en-US" dirty="0"/>
              <a:t>++), </a:t>
            </a:r>
            <a:r>
              <a:rPr lang="en-US" dirty="0">
                <a:solidFill>
                  <a:srgbClr val="FF0000"/>
                </a:solidFill>
              </a:rPr>
              <a:t>operator will return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the value of operand first</a:t>
            </a:r>
            <a:r>
              <a:rPr lang="en-US" dirty="0"/>
              <a:t> and </a:t>
            </a:r>
            <a:r>
              <a:rPr lang="en-US" dirty="0" smtClean="0">
                <a:solidFill>
                  <a:srgbClr val="0000CC"/>
                </a:solidFill>
              </a:rPr>
              <a:t>then only </a:t>
            </a:r>
            <a:r>
              <a:rPr lang="en-US" dirty="0">
                <a:solidFill>
                  <a:srgbClr val="0000CC"/>
                </a:solidFill>
              </a:rPr>
              <a:t>increment it</a:t>
            </a:r>
            <a:r>
              <a:rPr lang="en-US" dirty="0"/>
              <a:t>. This can be demonstrated by an example:</a:t>
            </a:r>
          </a:p>
        </p:txBody>
      </p:sp>
    </p:spTree>
    <p:extLst>
      <p:ext uri="{BB962C8B-B14F-4D97-AF65-F5344CB8AC3E}">
        <p14:creationId xmlns:p14="http://schemas.microsoft.com/office/powerpoint/2010/main" val="259291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Decrement Operators /Unary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c=2,d=2;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(“%d\</a:t>
            </a:r>
            <a:r>
              <a:rPr lang="en-US" dirty="0" err="1"/>
              <a:t>n”,c</a:t>
            </a:r>
            <a:r>
              <a:rPr lang="en-US" dirty="0"/>
              <a:t>++); //</a:t>
            </a:r>
            <a:r>
              <a:rPr lang="en-US" sz="1900" dirty="0"/>
              <a:t>this statement displays 2 then, only c incremented by 1 to 3.</a:t>
            </a:r>
          </a:p>
          <a:p>
            <a:pPr marL="0" indent="0" algn="just">
              <a:buNone/>
            </a:pPr>
            <a:r>
              <a:rPr lang="en-US" dirty="0" err="1" smtClean="0"/>
              <a:t>printf</a:t>
            </a:r>
            <a:r>
              <a:rPr lang="en-US" dirty="0"/>
              <a:t>(“%d”,++c); //</a:t>
            </a:r>
            <a:r>
              <a:rPr lang="en-US" sz="1900" dirty="0"/>
              <a:t>this statement increments 1 to c then, only c is displayed.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Output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2</a:t>
            </a:r>
          </a:p>
          <a:p>
            <a:pPr marL="0" indent="0" algn="just">
              <a:buNone/>
            </a:pPr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23467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Decrement Operators /Unary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// C Program to demonstrate the working of increment and decrement operators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a = 10, b = 100;</a:t>
            </a:r>
          </a:p>
          <a:p>
            <a:pPr marL="0" indent="0" algn="just">
              <a:buNone/>
            </a:pPr>
            <a:r>
              <a:rPr lang="en-US" dirty="0"/>
              <a:t>float c = 10.5, d = 100.5;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("++a = %d \n", ++a);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("--b = %d \n", --b);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("++c = %f \n", ++c);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("--d = %f \n", --d);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07606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Decrement Operators /Unary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++a = 11</a:t>
            </a:r>
          </a:p>
          <a:p>
            <a:pPr marL="0" indent="0" algn="just">
              <a:buNone/>
            </a:pPr>
            <a:r>
              <a:rPr lang="en-US" dirty="0"/>
              <a:t>--b = 99</a:t>
            </a:r>
          </a:p>
          <a:p>
            <a:pPr marL="0" indent="0" algn="just">
              <a:buNone/>
            </a:pPr>
            <a:r>
              <a:rPr lang="en-US" dirty="0"/>
              <a:t>++c = 11.500000</a:t>
            </a:r>
          </a:p>
          <a:p>
            <a:pPr marL="0" indent="0" algn="just">
              <a:buNone/>
            </a:pPr>
            <a:r>
              <a:rPr lang="en-US" dirty="0" smtClean="0"/>
              <a:t>--d </a:t>
            </a:r>
            <a:r>
              <a:rPr lang="en-US" dirty="0"/>
              <a:t>= 99.500000</a:t>
            </a:r>
          </a:p>
        </p:txBody>
      </p:sp>
    </p:spTree>
    <p:extLst>
      <p:ext uri="{BB962C8B-B14F-4D97-AF65-F5344CB8AC3E}">
        <p14:creationId xmlns:p14="http://schemas.microsoft.com/office/powerpoint/2010/main" val="3984780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Decrement Operators /Unary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Multiple increment operators inside </a:t>
            </a:r>
            <a:r>
              <a:rPr lang="en-US" dirty="0" err="1"/>
              <a:t>printf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{</a:t>
            </a:r>
            <a:endParaRPr lang="en-US" dirty="0"/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i = 1;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("%d %d %d", i, ++i, i++);</a:t>
            </a:r>
          </a:p>
          <a:p>
            <a:pPr marL="0" indent="0" algn="just">
              <a:buNone/>
            </a:pPr>
            <a:r>
              <a:rPr lang="en-US" dirty="0" smtClean="0"/>
              <a:t>}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Output: ???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16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Decrement Operators /Unary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Output : 3 3 </a:t>
            </a:r>
            <a:r>
              <a:rPr lang="en-US" dirty="0" smtClean="0"/>
              <a:t>1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Pictorial </a:t>
            </a:r>
            <a:r>
              <a:rPr lang="en-US" dirty="0" smtClean="0"/>
              <a:t>representation</a:t>
            </a:r>
          </a:p>
          <a:p>
            <a:pPr marL="0" indent="0" algn="just">
              <a:buNone/>
            </a:pPr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481136"/>
            <a:ext cx="8534400" cy="1088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11" y="4589292"/>
            <a:ext cx="8402490" cy="89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1033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Decrement Operators /Unary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Explanation of program</a:t>
            </a:r>
          </a:p>
          <a:p>
            <a:pPr marL="0" indent="0" algn="just">
              <a:buNone/>
            </a:pPr>
            <a:r>
              <a:rPr lang="en-US" dirty="0" smtClean="0"/>
              <a:t>1</a:t>
            </a:r>
            <a:r>
              <a:rPr lang="en-US" dirty="0"/>
              <a:t>. Whenever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more than one format 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specifiers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(</a:t>
            </a:r>
            <a:r>
              <a:rPr lang="en-US" dirty="0" err="1"/>
              <a:t>i.e</a:t>
            </a:r>
            <a:r>
              <a:rPr lang="en-US" dirty="0"/>
              <a:t>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%d</a:t>
            </a:r>
            <a:r>
              <a:rPr lang="en-US" dirty="0"/>
              <a:t>) are directly or indirectly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related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same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variable</a:t>
            </a:r>
            <a:r>
              <a:rPr lang="en-US" dirty="0"/>
              <a:t> (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i,i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++,++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dirty="0"/>
              <a:t>) then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 need to evaluate each individual expression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right to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left.</a:t>
            </a:r>
          </a:p>
          <a:p>
            <a:pPr marL="0" indent="0" algn="just">
              <a:buNone/>
            </a:pPr>
            <a:r>
              <a:rPr lang="en-US" dirty="0"/>
              <a:t>2. As shown in the </a:t>
            </a:r>
            <a:r>
              <a:rPr lang="en-US" dirty="0" smtClean="0"/>
              <a:t>previous </a:t>
            </a:r>
            <a:r>
              <a:rPr lang="en-US" dirty="0"/>
              <a:t>image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sequence of expressions</a:t>
            </a:r>
            <a:r>
              <a:rPr lang="en-US" dirty="0"/>
              <a:t> written inside </a:t>
            </a:r>
            <a:r>
              <a:rPr lang="en-US" dirty="0" err="1" smtClean="0"/>
              <a:t>printf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will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 – i++,++</a:t>
            </a:r>
            <a:r>
              <a:rPr lang="en-US" b="1" dirty="0" err="1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i,i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/>
              <a:t>3. After execution we need to replace the output of expression at appropriate place</a:t>
            </a:r>
          </a:p>
        </p:txBody>
      </p:sp>
    </p:spTree>
    <p:extLst>
      <p:ext uri="{BB962C8B-B14F-4D97-AF65-F5344CB8AC3E}">
        <p14:creationId xmlns:p14="http://schemas.microsoft.com/office/powerpoint/2010/main" val="1447756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Decrement Operators /Unary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Explanation of </a:t>
            </a:r>
            <a:r>
              <a:rPr lang="en-US" dirty="0" smtClean="0"/>
              <a:t>program</a:t>
            </a:r>
            <a:endParaRPr lang="en-US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25" y="2157413"/>
            <a:ext cx="8795105" cy="2795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2935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Decrement Operators /Unary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Postfix and Prefix Expression in Same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 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i = 0, j = 0;</a:t>
            </a:r>
          </a:p>
          <a:p>
            <a:pPr marL="0" indent="0" algn="just">
              <a:buNone/>
            </a:pPr>
            <a:r>
              <a:rPr lang="en-US" dirty="0"/>
              <a:t>j = i++ + ++i;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("%d\n", i);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("%d\n", j);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 :</a:t>
            </a:r>
          </a:p>
          <a:p>
            <a:pPr marL="0" indent="0" algn="just">
              <a:buNone/>
            </a:pPr>
            <a:r>
              <a:rPr lang="en-US" dirty="0"/>
              <a:t>2</a:t>
            </a:r>
          </a:p>
          <a:p>
            <a:pPr marL="0" indent="0" algn="just">
              <a:buNone/>
            </a:pPr>
            <a:r>
              <a:rPr lang="en-US" dirty="0"/>
              <a:t>2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29601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Increment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Decrement Operators /Unary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Postfix and Prefix Expression in Same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Statement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#include&lt;</a:t>
            </a:r>
            <a:r>
              <a:rPr lang="en-US" dirty="0" err="1"/>
              <a:t>conio.h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/>
              <a:t>void main() 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i = 0, j = 0;</a:t>
            </a:r>
          </a:p>
          <a:p>
            <a:pPr marL="0" indent="0" algn="just">
              <a:buNone/>
            </a:pPr>
            <a:r>
              <a:rPr lang="en-US" dirty="0"/>
              <a:t>j = i++ + ++i;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("%d\n", i);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("%d\n", j);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 :</a:t>
            </a:r>
          </a:p>
          <a:p>
            <a:pPr marL="0" indent="0" algn="just">
              <a:buNone/>
            </a:pPr>
            <a:r>
              <a:rPr lang="en-US" dirty="0"/>
              <a:t>2</a:t>
            </a:r>
          </a:p>
          <a:p>
            <a:pPr marL="0" indent="0" algn="just">
              <a:buNone/>
            </a:pPr>
            <a:r>
              <a:rPr lang="en-US" dirty="0"/>
              <a:t>2</a:t>
            </a:r>
            <a:endParaRPr lang="en-US" dirty="0" smtClean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588168"/>
            <a:ext cx="4800600" cy="520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325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Conditional Operator/ Ternary operator (? :)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conditional operator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checks the condition </a:t>
            </a:r>
            <a:r>
              <a:rPr lang="en-US" dirty="0"/>
              <a:t>and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executes the statement depending of the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</a:t>
            </a:r>
            <a:r>
              <a:rPr lang="en-US" dirty="0" smtClean="0"/>
              <a:t>. A </a:t>
            </a:r>
            <a:r>
              <a:rPr lang="en-US" dirty="0"/>
              <a:t>conditional operator is a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ternary operator</a:t>
            </a:r>
            <a:r>
              <a:rPr lang="en-US" dirty="0"/>
              <a:t>, that is,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works on 3 operands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Conditional operator </a:t>
            </a:r>
            <a:r>
              <a:rPr lang="en-US" dirty="0" smtClean="0"/>
              <a:t>consist </a:t>
            </a:r>
            <a:r>
              <a:rPr lang="en-US" dirty="0"/>
              <a:t>of two symbols</a:t>
            </a:r>
            <a:r>
              <a:rPr lang="en-US" dirty="0" smtClean="0"/>
              <a:t>.</a:t>
            </a:r>
          </a:p>
          <a:p>
            <a:pPr marL="0" indent="0" algn="just">
              <a:buNone/>
            </a:pPr>
            <a:endParaRPr lang="fr-FR" dirty="0" smtClean="0"/>
          </a:p>
          <a:p>
            <a:pPr marL="0" indent="0" algn="just">
              <a:buNone/>
            </a:pPr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question mark </a:t>
            </a:r>
            <a:r>
              <a:rPr lang="fr-FR" dirty="0"/>
              <a:t>(?).</a:t>
            </a:r>
          </a:p>
          <a:p>
            <a:pPr marL="0" indent="0" algn="just">
              <a:buNone/>
            </a:pP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: colon </a:t>
            </a:r>
            <a:r>
              <a:rPr lang="fr-FR" dirty="0"/>
              <a:t>( : ).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7162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Conditional Operator/ Ternary operator (? :)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Syntax :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</a:t>
            </a:r>
            <a:r>
              <a:rPr lang="en-US" dirty="0"/>
              <a:t> ?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exp1</a:t>
            </a:r>
            <a:r>
              <a:rPr lang="en-US" dirty="0"/>
              <a:t> :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exp2</a:t>
            </a:r>
            <a:r>
              <a:rPr lang="en-US" dirty="0" smtClean="0"/>
              <a:t>;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It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first evaluate the condition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it is true</a:t>
            </a:r>
            <a:r>
              <a:rPr lang="en-US" dirty="0"/>
              <a:t> (non-zero) </a:t>
            </a:r>
            <a:r>
              <a:rPr lang="en-US" b="1" dirty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then the “exp1” </a:t>
            </a:r>
            <a:r>
              <a:rPr lang="en-US" b="1" dirty="0" smtClean="0">
                <a:solidFill>
                  <a:srgbClr val="B606B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evaluated</a:t>
            </a:r>
            <a:r>
              <a:rPr lang="en-US" dirty="0"/>
              <a:t>,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the condition is false</a:t>
            </a:r>
            <a:r>
              <a:rPr lang="en-US" dirty="0"/>
              <a:t> (zero)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then the “exp2” is evaluated.</a:t>
            </a:r>
            <a:endParaRPr lang="en-US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0306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Conditional Operator/ Ternary operator (? :)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main(){</a:t>
            </a:r>
          </a:p>
          <a:p>
            <a:pPr marL="0" indent="0" algn="just">
              <a:buNone/>
            </a:pPr>
            <a:r>
              <a:rPr lang="en-US" dirty="0"/>
              <a:t>char February;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days;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sz="2800" dirty="0"/>
              <a:t>("If this year is leap year, enter 1. If not enter any integer: ")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c",&amp;February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// If test condition (February == 'l') is true, days equal to 29.</a:t>
            </a:r>
          </a:p>
          <a:p>
            <a:pPr marL="0" indent="0" algn="just">
              <a:buNone/>
            </a:pPr>
            <a:r>
              <a:rPr lang="en-US" dirty="0"/>
              <a:t>// If test condition (February =='l') is false, days equal to 28.</a:t>
            </a:r>
          </a:p>
          <a:p>
            <a:pPr marL="0" indent="0" algn="just">
              <a:buNone/>
            </a:pPr>
            <a:r>
              <a:rPr lang="en-US" dirty="0"/>
              <a:t>days = (February == '1') ? 29 : 28;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("Number of days in February = %</a:t>
            </a:r>
            <a:r>
              <a:rPr lang="en-US" dirty="0" err="1"/>
              <a:t>d",days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77199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Conditional Operator/ Ternary operator (? :)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3340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main(){</a:t>
            </a:r>
          </a:p>
          <a:p>
            <a:pPr marL="0" indent="0" algn="just">
              <a:buNone/>
            </a:pPr>
            <a:r>
              <a:rPr lang="en-US" dirty="0"/>
              <a:t>char February;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days;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sz="2800" dirty="0"/>
              <a:t>("If this year is leap year, enter 1. If not enter any integer: ")</a:t>
            </a:r>
            <a:r>
              <a:rPr lang="en-US" dirty="0"/>
              <a:t>;</a:t>
            </a:r>
          </a:p>
          <a:p>
            <a:pPr marL="0" indent="0" algn="just">
              <a:buNone/>
            </a:pPr>
            <a:r>
              <a:rPr lang="en-US" dirty="0" err="1"/>
              <a:t>scanf</a:t>
            </a:r>
            <a:r>
              <a:rPr lang="en-US" dirty="0"/>
              <a:t>("%</a:t>
            </a:r>
            <a:r>
              <a:rPr lang="en-US" dirty="0" err="1"/>
              <a:t>c",&amp;February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// If test condition (February == 'l') is true, days equal to 29.</a:t>
            </a:r>
          </a:p>
          <a:p>
            <a:pPr marL="0" indent="0" algn="just">
              <a:buNone/>
            </a:pPr>
            <a:r>
              <a:rPr lang="en-US" dirty="0"/>
              <a:t>// If test condition (February =='l') is false, days equal to 28.</a:t>
            </a:r>
          </a:p>
          <a:p>
            <a:pPr marL="0" indent="0" algn="just">
              <a:buNone/>
            </a:pPr>
            <a:r>
              <a:rPr lang="en-US" dirty="0"/>
              <a:t>days = (February == '1') ? 29 : 28;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("Number of days in February = %</a:t>
            </a:r>
            <a:r>
              <a:rPr lang="en-US" dirty="0" err="1"/>
              <a:t>d",days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 </a:t>
            </a:r>
            <a:endParaRPr lang="en-US" dirty="0" smtClean="0"/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this year is leap year, enter 1. If not enter any integer:</a:t>
            </a:r>
            <a:r>
              <a:rPr lang="en-US" dirty="0"/>
              <a:t> </a:t>
            </a:r>
            <a:r>
              <a:rPr lang="en-US" dirty="0">
                <a:solidFill>
                  <a:srgbClr val="0000CC"/>
                </a:solidFill>
              </a:rPr>
              <a:t>1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 of days in February = 29</a:t>
            </a:r>
            <a:endParaRPr lang="en-US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56952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Bitwise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Bitwise operators are used to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manipulate the data at bit level</a:t>
            </a:r>
            <a:r>
              <a:rPr lang="en-US" dirty="0"/>
              <a:t>.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operates on integers only</a:t>
            </a:r>
            <a:r>
              <a:rPr lang="en-US" dirty="0"/>
              <a:t>. </a:t>
            </a:r>
            <a:r>
              <a:rPr lang="en-US" dirty="0" smtClean="0"/>
              <a:t>It may </a:t>
            </a:r>
            <a:r>
              <a:rPr lang="en-US" dirty="0"/>
              <a:t>not be applied to float</a:t>
            </a:r>
            <a:r>
              <a:rPr lang="en-US" dirty="0" smtClean="0"/>
              <a:t>. In </a:t>
            </a:r>
            <a:r>
              <a:rPr lang="en-US" dirty="0"/>
              <a:t>arithmetic-logic unit (which is within the CPU), </a:t>
            </a:r>
            <a:r>
              <a:rPr lang="en-US" dirty="0" smtClean="0"/>
              <a:t>mathematical operations </a:t>
            </a:r>
            <a:r>
              <a:rPr lang="en-US" dirty="0"/>
              <a:t>like: addition, subtraction, multiplication and division are done in bit-level </a:t>
            </a:r>
            <a:r>
              <a:rPr lang="en-US" dirty="0" smtClean="0"/>
              <a:t>which makes </a:t>
            </a:r>
            <a:r>
              <a:rPr lang="en-US" dirty="0"/>
              <a:t>processing faster and saves power.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perform bit-level operations in C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programming, bitwise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 are used.</a:t>
            </a:r>
            <a:endParaRPr lang="en-US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028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Bitwise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Bitwise operators are used to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manipulate the data at bit level</a:t>
            </a:r>
            <a:r>
              <a:rPr lang="en-US" dirty="0"/>
              <a:t>.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It operates on </a:t>
            </a:r>
            <a:r>
              <a:rPr lang="en-US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char  only</a:t>
            </a:r>
            <a:r>
              <a:rPr lang="en-US" dirty="0"/>
              <a:t>. </a:t>
            </a:r>
            <a:r>
              <a:rPr lang="en-US" dirty="0" smtClean="0"/>
              <a:t>It may </a:t>
            </a:r>
            <a:r>
              <a:rPr lang="en-US" dirty="0"/>
              <a:t>not be applied to </a:t>
            </a:r>
            <a:r>
              <a:rPr lang="en-US" dirty="0" smtClean="0"/>
              <a:t>float and double. In </a:t>
            </a:r>
            <a:r>
              <a:rPr lang="en-US" dirty="0"/>
              <a:t>arithmetic-logic unit (which is within the CPU), </a:t>
            </a:r>
            <a:r>
              <a:rPr lang="en-US" dirty="0" smtClean="0"/>
              <a:t>mathematical operations </a:t>
            </a:r>
            <a:r>
              <a:rPr lang="en-US" dirty="0"/>
              <a:t>like: addition, subtraction, multiplication and division are done in bit-level </a:t>
            </a:r>
            <a:r>
              <a:rPr lang="en-US" dirty="0" smtClean="0"/>
              <a:t>which makes </a:t>
            </a:r>
            <a:r>
              <a:rPr lang="en-US" dirty="0"/>
              <a:t>processing faster and saves power.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 perform bit-level operations in C 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programming, bitwise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 are used</a:t>
            </a: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 algn="just">
              <a:buNone/>
            </a:pPr>
            <a:endParaRPr lang="en-US" b="1" dirty="0" smtClean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b="1" dirty="0" err="1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Showbits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) </a:t>
            </a:r>
            <a:r>
              <a:rPr lang="en-US" dirty="0"/>
              <a:t>function can be used to display the binary representation of any integer or </a:t>
            </a:r>
            <a:r>
              <a:rPr lang="en-US" dirty="0" smtClean="0"/>
              <a:t>character value</a:t>
            </a:r>
            <a:r>
              <a:rPr lang="en-US" dirty="0"/>
              <a:t>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59407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Bitwise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89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19200"/>
            <a:ext cx="8305800" cy="4383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8427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Bitwise AND operator &amp;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output of bitwise AND is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US" dirty="0"/>
              <a:t>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the corresponding bits of two operands is 1</a:t>
            </a:r>
            <a:r>
              <a:rPr lang="en-US" dirty="0"/>
              <a:t>. </a:t>
            </a:r>
            <a:r>
              <a:rPr lang="en-US" b="1" dirty="0">
                <a:solidFill>
                  <a:srgbClr val="FF0000"/>
                </a:solidFill>
              </a:rPr>
              <a:t>If either bit of </a:t>
            </a:r>
            <a:r>
              <a:rPr lang="en-US" b="1" dirty="0" smtClean="0">
                <a:solidFill>
                  <a:srgbClr val="FF0000"/>
                </a:solidFill>
              </a:rPr>
              <a:t>an operand </a:t>
            </a:r>
            <a:r>
              <a:rPr lang="en-US" b="1" dirty="0">
                <a:solidFill>
                  <a:srgbClr val="FF0000"/>
                </a:solidFill>
              </a:rPr>
              <a:t>is 0, the result of corresponding bit is evaluated to 0.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Let </a:t>
            </a:r>
            <a:r>
              <a:rPr lang="en-US" dirty="0"/>
              <a:t>us suppose the bitwise AND operation of two integers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12 </a:t>
            </a:r>
            <a:r>
              <a:rPr lang="en-US" dirty="0"/>
              <a:t>and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25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r>
              <a:rPr lang="en-US" dirty="0"/>
              <a:t>12 = 00001100 (In Binary)</a:t>
            </a:r>
          </a:p>
          <a:p>
            <a:pPr marL="0" indent="0" algn="just">
              <a:buNone/>
            </a:pPr>
            <a:r>
              <a:rPr lang="en-US" dirty="0"/>
              <a:t>25 = 00011001 (In Binary)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377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Bitwise AND operator &amp;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Bit Operation of 12 and 25</a:t>
            </a:r>
          </a:p>
          <a:p>
            <a:pPr marL="0" indent="0" algn="just">
              <a:buNone/>
            </a:pPr>
            <a:r>
              <a:rPr lang="en-US" dirty="0" smtClean="0"/>
              <a:t>    00001100</a:t>
            </a:r>
            <a:endParaRPr lang="en-US" dirty="0"/>
          </a:p>
          <a:p>
            <a:pPr marL="0" indent="0" algn="just">
              <a:buNone/>
            </a:pPr>
            <a:r>
              <a:rPr lang="en-US" dirty="0"/>
              <a:t>&amp; 00011001</a:t>
            </a:r>
          </a:p>
          <a:p>
            <a:pPr marL="0" indent="0" algn="just">
              <a:buNone/>
            </a:pPr>
            <a:r>
              <a:rPr lang="en-US" dirty="0" smtClean="0"/>
              <a:t>    ________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     00001000 </a:t>
            </a:r>
            <a:r>
              <a:rPr lang="en-US" dirty="0"/>
              <a:t>= 8 (In decimal</a:t>
            </a:r>
            <a:r>
              <a:rPr lang="en-US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26375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Bitwise AND operator &amp;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#1: Bitwise AND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a = 12, b = 25;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("Output = %d", </a:t>
            </a:r>
            <a:r>
              <a:rPr lang="en-US" dirty="0" err="1"/>
              <a:t>a&amp;b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Output =8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27626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Bitwise OR operator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The output of bitwise OR is 1 if at least one corresponding bit of two operands is 1. In </a:t>
            </a:r>
            <a:r>
              <a:rPr lang="en-US" dirty="0" smtClean="0"/>
              <a:t>C Programming</a:t>
            </a:r>
            <a:r>
              <a:rPr lang="en-US" dirty="0"/>
              <a:t>, bitwise OR operator is denoted by |.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12 </a:t>
            </a:r>
            <a:r>
              <a:rPr lang="en-US" dirty="0"/>
              <a:t>= 00001100 (In Binary)</a:t>
            </a:r>
          </a:p>
          <a:p>
            <a:pPr marL="0" indent="0" algn="just">
              <a:buNone/>
            </a:pPr>
            <a:r>
              <a:rPr lang="en-US" dirty="0"/>
              <a:t>25 = 00011001 (In Binary)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Bitwise </a:t>
            </a:r>
            <a:r>
              <a:rPr lang="en-US" dirty="0"/>
              <a:t>OR Operation of 12 and 25</a:t>
            </a:r>
          </a:p>
          <a:p>
            <a:pPr marL="0" indent="0" algn="just">
              <a:buNone/>
            </a:pPr>
            <a:r>
              <a:rPr lang="en-US" dirty="0" smtClean="0"/>
              <a:t>             00001100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          | </a:t>
            </a:r>
            <a:r>
              <a:rPr lang="en-US" dirty="0"/>
              <a:t>00011001</a:t>
            </a:r>
          </a:p>
          <a:p>
            <a:pPr marL="0" indent="0" algn="just">
              <a:buNone/>
            </a:pPr>
            <a:r>
              <a:rPr lang="en-US" dirty="0" smtClean="0"/>
              <a:t>             ________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             00011101 </a:t>
            </a:r>
            <a:r>
              <a:rPr lang="en-US" dirty="0"/>
              <a:t>= 29 (In decimal)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11364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Bitwise OR operator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Example #2: Bitwise OR</a:t>
            </a:r>
          </a:p>
          <a:p>
            <a:pPr marL="0" indent="0" algn="just">
              <a:buNone/>
            </a:pPr>
            <a:r>
              <a:rPr lang="en-US" dirty="0"/>
              <a:t>#include &lt;</a:t>
            </a:r>
            <a:r>
              <a:rPr lang="en-US" dirty="0" err="1"/>
              <a:t>stdio.h</a:t>
            </a:r>
            <a:r>
              <a:rPr lang="en-US" dirty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a = 12, b = 25;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("Output = %d", </a:t>
            </a:r>
            <a:r>
              <a:rPr lang="en-US" dirty="0" err="1"/>
              <a:t>a|b</a:t>
            </a:r>
            <a:r>
              <a:rPr lang="en-US" dirty="0"/>
              <a:t>);</a:t>
            </a:r>
          </a:p>
          <a:p>
            <a:pPr marL="0" indent="0" algn="just">
              <a:buNone/>
            </a:pPr>
            <a:r>
              <a:rPr lang="en-US" dirty="0"/>
              <a:t>return 0</a:t>
            </a:r>
            <a:r>
              <a:rPr lang="en-US" dirty="0" smtClean="0"/>
              <a:t>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Output:</a:t>
            </a:r>
            <a:endParaRPr lang="en-US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">
              <a:buNone/>
            </a:pPr>
            <a:r>
              <a:rPr lang="en-US" dirty="0"/>
              <a:t>Output =29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8592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Bitwise XOR (exclusive OR) operator ^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/>
              <a:t>The result of bitwise XOR operator is 1 if </a:t>
            </a:r>
            <a:r>
              <a:rPr lang="en-US" dirty="0" smtClean="0"/>
              <a:t>the corresponding </a:t>
            </a:r>
            <a:r>
              <a:rPr lang="en-US" dirty="0"/>
              <a:t>bits of two operands are opposite. </a:t>
            </a:r>
            <a:r>
              <a:rPr lang="en-US" dirty="0" smtClean="0"/>
              <a:t>It is </a:t>
            </a:r>
            <a:r>
              <a:rPr lang="en-US" dirty="0"/>
              <a:t>denoted by ^.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12 </a:t>
            </a:r>
            <a:r>
              <a:rPr lang="en-US" dirty="0"/>
              <a:t>= 00001100 (In Binary)</a:t>
            </a:r>
          </a:p>
          <a:p>
            <a:pPr marL="0" indent="0" algn="just">
              <a:buNone/>
            </a:pPr>
            <a:r>
              <a:rPr lang="en-US" dirty="0"/>
              <a:t>25 = 00011001 (In Binary)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Bitwise </a:t>
            </a:r>
            <a:r>
              <a:rPr lang="en-US" dirty="0"/>
              <a:t>XOR Operation of 12 and 25</a:t>
            </a:r>
          </a:p>
          <a:p>
            <a:pPr marL="0" indent="0" algn="just">
              <a:buNone/>
            </a:pPr>
            <a:r>
              <a:rPr lang="en-US" dirty="0" smtClean="0"/>
              <a:t>       00001100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    ^ 00011001</a:t>
            </a:r>
          </a:p>
          <a:p>
            <a:pPr marL="0" indent="0" algn="just">
              <a:buNone/>
            </a:pPr>
            <a:r>
              <a:rPr lang="en-US" dirty="0" smtClean="0"/>
              <a:t>       ________</a:t>
            </a:r>
          </a:p>
          <a:p>
            <a:pPr marL="0" indent="0" algn="just">
              <a:buNone/>
            </a:pPr>
            <a:r>
              <a:rPr lang="en-US" dirty="0" smtClean="0"/>
              <a:t>       00010101 </a:t>
            </a:r>
            <a:r>
              <a:rPr lang="en-US" dirty="0"/>
              <a:t>= 21 (In decimal)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8499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Bitwise complement operator ~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Bitwise compliment operator is an </a:t>
            </a:r>
            <a:r>
              <a:rPr lang="en-US" dirty="0" smtClean="0"/>
              <a:t>unary operator </a:t>
            </a:r>
            <a:r>
              <a:rPr lang="en-US" dirty="0"/>
              <a:t>(</a:t>
            </a:r>
            <a:r>
              <a:rPr lang="en-US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works on only one operand</a:t>
            </a:r>
            <a:r>
              <a:rPr lang="en-US" dirty="0"/>
              <a:t>). It changes 1 to </a:t>
            </a:r>
            <a:r>
              <a:rPr lang="en-US" dirty="0" smtClean="0"/>
              <a:t>0 and </a:t>
            </a:r>
            <a:r>
              <a:rPr lang="en-US" dirty="0"/>
              <a:t>0 to 1. It is denoted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by ~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35 </a:t>
            </a:r>
            <a:r>
              <a:rPr lang="en-US" dirty="0"/>
              <a:t>= 00100011 (In Binary)</a:t>
            </a:r>
          </a:p>
          <a:p>
            <a:pPr marL="0" indent="0" algn="just">
              <a:buNone/>
            </a:pPr>
            <a:r>
              <a:rPr lang="en-US" dirty="0"/>
              <a:t>Bitwise complement Operation of 35 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~00100011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                            ________</a:t>
            </a:r>
            <a:endParaRPr lang="en-US" dirty="0"/>
          </a:p>
          <a:p>
            <a:pPr marL="0" indent="0" algn="just">
              <a:buNone/>
            </a:pPr>
            <a:r>
              <a:rPr lang="en-US" dirty="0" smtClean="0"/>
              <a:t>                            11011100 </a:t>
            </a:r>
            <a:r>
              <a:rPr lang="en-US" dirty="0"/>
              <a:t>= 220 (In decimal)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6466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Twist in bitwise complement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bitwise complement of 35 (~35) is -36 instead of 220, but why</a:t>
            </a:r>
            <a:r>
              <a:rPr lang="en-US" dirty="0" smtClean="0"/>
              <a:t>?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For any integer n, bitwise complement of n </a:t>
            </a:r>
            <a:r>
              <a:rPr lang="en-US" dirty="0" smtClean="0"/>
              <a:t>will be </a:t>
            </a:r>
            <a:r>
              <a:rPr lang="en-US" dirty="0"/>
              <a:t>-(n+1). To understand this, you should </a:t>
            </a:r>
            <a:r>
              <a:rPr lang="en-US" dirty="0" smtClean="0"/>
              <a:t>have the </a:t>
            </a:r>
            <a:r>
              <a:rPr lang="en-US" dirty="0"/>
              <a:t>knowledge of 2's </a:t>
            </a:r>
            <a:r>
              <a:rPr lang="en-US" dirty="0" smtClean="0"/>
              <a:t>complement.</a:t>
            </a:r>
          </a:p>
        </p:txBody>
      </p:sp>
    </p:spTree>
    <p:extLst>
      <p:ext uri="{BB962C8B-B14F-4D97-AF65-F5344CB8AC3E}">
        <p14:creationId xmlns:p14="http://schemas.microsoft.com/office/powerpoint/2010/main" val="185323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Twist in bitwise complement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98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2's Complement: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00CC"/>
                </a:solidFill>
              </a:rPr>
              <a:t>Two's complement is an operation on binary numbers. The 2's complement of a number is </a:t>
            </a:r>
            <a:r>
              <a:rPr lang="en-US" dirty="0" smtClean="0">
                <a:solidFill>
                  <a:srgbClr val="0000CC"/>
                </a:solidFill>
              </a:rPr>
              <a:t>equal to </a:t>
            </a:r>
            <a:r>
              <a:rPr lang="en-US" dirty="0">
                <a:solidFill>
                  <a:srgbClr val="0000CC"/>
                </a:solidFill>
              </a:rPr>
              <a:t>the complement of that number plus 1. For example:</a:t>
            </a:r>
            <a:endParaRPr lang="en-US" dirty="0" smtClean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82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Twist in bitwise complement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99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2's Complement: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37347"/>
            <a:ext cx="8686800" cy="414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8540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Twist in bitwise complement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100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2's Complement:</a:t>
            </a:r>
          </a:p>
          <a:p>
            <a:pPr marL="0" indent="0" algn="just">
              <a:buNone/>
            </a:pPr>
            <a:r>
              <a:rPr lang="en-US" dirty="0"/>
              <a:t>The bitwise complement of 35 is 220 (in decimal). The 2's complement of 220 is -36. Hence, the</a:t>
            </a:r>
          </a:p>
          <a:p>
            <a:pPr marL="0" indent="0" algn="just">
              <a:buNone/>
            </a:pPr>
            <a:r>
              <a:rPr lang="en-US" dirty="0"/>
              <a:t>output is -36 instead of 220.</a:t>
            </a:r>
          </a:p>
          <a:p>
            <a:pPr marL="0" indent="0" algn="just">
              <a:buNone/>
            </a:pPr>
            <a:r>
              <a:rPr lang="en-US" dirty="0"/>
              <a:t>Bitwise complement of any number N is -(N+1). Here's how:</a:t>
            </a:r>
          </a:p>
          <a:p>
            <a:pPr marL="0" indent="0" algn="just">
              <a:buNone/>
            </a:pPr>
            <a:r>
              <a:rPr lang="en-US" dirty="0"/>
              <a:t>bitwise complement of N = ~N (represented in 2's complement form)</a:t>
            </a:r>
          </a:p>
          <a:p>
            <a:pPr marL="0" indent="0" algn="just">
              <a:buNone/>
            </a:pPr>
            <a:r>
              <a:rPr lang="en-US" dirty="0"/>
              <a:t>2'complement of ~N= -(~(~N)+1) = -(N+1)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58935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Twist in bitwise complement </a:t>
            </a:r>
            <a:r>
              <a:rPr 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#4: Bitwise complement</a:t>
            </a:r>
          </a:p>
          <a:p>
            <a:pPr marL="0" indent="0" algn="just">
              <a:buNone/>
            </a:pPr>
            <a:r>
              <a:rPr lang="en-US" dirty="0"/>
              <a:t>#include </a:t>
            </a:r>
            <a:r>
              <a:rPr lang="en-US" dirty="0" smtClean="0"/>
              <a:t>&lt;</a:t>
            </a:r>
            <a:r>
              <a:rPr lang="en-US" dirty="0" err="1"/>
              <a:t>stdio.h</a:t>
            </a:r>
            <a:r>
              <a:rPr lang="en-US" dirty="0" smtClean="0"/>
              <a:t>&gt;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main()</a:t>
            </a:r>
          </a:p>
          <a:p>
            <a:pPr marL="0" indent="0" algn="just">
              <a:buNone/>
            </a:pPr>
            <a:r>
              <a:rPr lang="en-US" dirty="0"/>
              <a:t>{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("complement = %d\n",~35);</a:t>
            </a:r>
          </a:p>
          <a:p>
            <a:pPr marL="0" indent="0" algn="just">
              <a:buNone/>
            </a:pPr>
            <a:r>
              <a:rPr lang="en-US" dirty="0" err="1"/>
              <a:t>printf</a:t>
            </a:r>
            <a:r>
              <a:rPr lang="en-US" dirty="0"/>
              <a:t>("complement = %d\n",~-12);</a:t>
            </a:r>
          </a:p>
          <a:p>
            <a:pPr marL="0" indent="0" algn="just">
              <a:buNone/>
            </a:pPr>
            <a:r>
              <a:rPr lang="en-US" dirty="0"/>
              <a:t>return 0;</a:t>
            </a:r>
          </a:p>
          <a:p>
            <a:pPr marL="0" indent="0" algn="just">
              <a:buNone/>
            </a:pPr>
            <a:r>
              <a:rPr lang="en-US" dirty="0"/>
              <a:t>}</a:t>
            </a:r>
          </a:p>
          <a:p>
            <a:pPr marL="0" indent="0" algn="just">
              <a:buNone/>
            </a:pPr>
            <a:r>
              <a:rPr lang="en-US" dirty="0"/>
              <a:t>Output</a:t>
            </a:r>
          </a:p>
          <a:p>
            <a:pPr marL="0" indent="0" algn="just">
              <a:buNone/>
            </a:pPr>
            <a:r>
              <a:rPr lang="en-US" dirty="0"/>
              <a:t>Complement = -36</a:t>
            </a:r>
          </a:p>
          <a:p>
            <a:pPr marL="0" indent="0" algn="just">
              <a:buNone/>
            </a:pPr>
            <a:r>
              <a:rPr lang="en-US" dirty="0"/>
              <a:t>Complement = 11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54874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Bitwise shift 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102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buNone/>
            </a:pPr>
            <a:r>
              <a:rPr lang="en-US" dirty="0"/>
              <a:t>There are two Bitwise shift operators in C programming:</a:t>
            </a:r>
          </a:p>
          <a:p>
            <a:pPr algn="just"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Right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shift operator</a:t>
            </a:r>
          </a:p>
          <a:p>
            <a:pPr algn="just">
              <a:buFont typeface="Wingdings" pitchFamily="2" charset="2"/>
              <a:buChar char="Ø"/>
            </a:pP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Left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shift </a:t>
            </a:r>
            <a:r>
              <a:rPr lang="en-US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Right Shift Operator</a:t>
            </a:r>
          </a:p>
          <a:p>
            <a:pPr marL="0" indent="0" algn="just">
              <a:buNone/>
            </a:pPr>
            <a:r>
              <a:rPr lang="en-US" dirty="0"/>
              <a:t>Right shift operator shifts all bits towards right by certain number of specified bits. It is </a:t>
            </a:r>
            <a:r>
              <a:rPr lang="en-US" dirty="0" smtClean="0"/>
              <a:t>denoted by </a:t>
            </a:r>
            <a:r>
              <a:rPr lang="en-US" dirty="0"/>
              <a:t>&gt;&gt;.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b="1" u="sng" dirty="0" smtClean="0">
                <a:solidFill>
                  <a:srgbClr val="0000CC"/>
                </a:solidFill>
              </a:rPr>
              <a:t>Left </a:t>
            </a:r>
            <a:r>
              <a:rPr lang="en-US" b="1" u="sng" dirty="0">
                <a:solidFill>
                  <a:srgbClr val="0000CC"/>
                </a:solidFill>
              </a:rPr>
              <a:t>Shift Operator</a:t>
            </a:r>
          </a:p>
          <a:p>
            <a:pPr marL="0" indent="0" algn="just">
              <a:buNone/>
            </a:pPr>
            <a:r>
              <a:rPr lang="en-US" dirty="0"/>
              <a:t>Left shift operator shifts all bits towards left by certain number of specified bits. It is denoted </a:t>
            </a:r>
            <a:r>
              <a:rPr lang="en-US" dirty="0" smtClean="0"/>
              <a:t>by&lt;&lt;.</a:t>
            </a:r>
          </a:p>
        </p:txBody>
      </p:sp>
    </p:spTree>
    <p:extLst>
      <p:ext uri="{BB962C8B-B14F-4D97-AF65-F5344CB8AC3E}">
        <p14:creationId xmlns:p14="http://schemas.microsoft.com/office/powerpoint/2010/main" val="350582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perators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103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The Bitwise operators supported by C </a:t>
            </a:r>
            <a:r>
              <a:rPr lang="en-US" dirty="0" smtClean="0"/>
              <a:t>language are </a:t>
            </a:r>
            <a:r>
              <a:rPr lang="en-US" dirty="0"/>
              <a:t>explained in the following table. </a:t>
            </a:r>
            <a:r>
              <a:rPr lang="en-US" dirty="0" smtClean="0"/>
              <a:t>Assume variable </a:t>
            </a:r>
            <a:r>
              <a:rPr lang="en-US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holds 60 </a:t>
            </a:r>
            <a:r>
              <a:rPr lang="en-US" dirty="0"/>
              <a:t>(00111100) and </a:t>
            </a:r>
            <a:r>
              <a:rPr lang="en-US" b="1" dirty="0">
                <a:solidFill>
                  <a:srgbClr val="0000CC"/>
                </a:solidFill>
              </a:rPr>
              <a:t>variable B holds 13</a:t>
            </a:r>
            <a:r>
              <a:rPr lang="en-US" dirty="0"/>
              <a:t> (00001101), then: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1910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perators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104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066800"/>
            <a:ext cx="7924800" cy="5652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9138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Special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US" dirty="0"/>
              <a:t>1 ) Comma Operator :The comma operator is </a:t>
            </a:r>
            <a:r>
              <a:rPr lang="en-US" dirty="0" smtClean="0"/>
              <a:t>used to </a:t>
            </a:r>
            <a:r>
              <a:rPr lang="en-US" dirty="0"/>
              <a:t>separate the statement elements such </a:t>
            </a:r>
            <a:r>
              <a:rPr lang="en-US" dirty="0" smtClean="0"/>
              <a:t>as variables</a:t>
            </a:r>
            <a:r>
              <a:rPr lang="en-US" dirty="0"/>
              <a:t>, constants or expressions, and </a:t>
            </a:r>
            <a:r>
              <a:rPr lang="en-US" dirty="0" smtClean="0"/>
              <a:t>this operator </a:t>
            </a:r>
            <a:r>
              <a:rPr lang="en-US" dirty="0"/>
              <a:t>is used to link the related </a:t>
            </a:r>
            <a:r>
              <a:rPr lang="en-US" dirty="0" smtClean="0"/>
              <a:t>expressions together</a:t>
            </a:r>
            <a:r>
              <a:rPr lang="en-US" dirty="0"/>
              <a:t>, such expressions can be evaluated from left to right and the value of right </a:t>
            </a:r>
            <a:r>
              <a:rPr lang="en-US" dirty="0" smtClean="0"/>
              <a:t>most expressions </a:t>
            </a:r>
            <a:r>
              <a:rPr lang="en-US" dirty="0"/>
              <a:t>is the value of combined expressions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Ex </a:t>
            </a:r>
            <a:r>
              <a:rPr lang="en-US" dirty="0"/>
              <a:t>: </a:t>
            </a:r>
            <a:r>
              <a:rPr lang="en-US" dirty="0" err="1"/>
              <a:t>val</a:t>
            </a:r>
            <a:r>
              <a:rPr lang="en-US" dirty="0"/>
              <a:t>(a=3, b=9, c=77, </a:t>
            </a:r>
            <a:r>
              <a:rPr lang="en-US" dirty="0" err="1"/>
              <a:t>a+c</a:t>
            </a:r>
            <a:r>
              <a:rPr lang="en-US" dirty="0"/>
              <a:t>)</a:t>
            </a:r>
          </a:p>
          <a:p>
            <a:pPr marL="0" indent="0" algn="just">
              <a:buNone/>
            </a:pPr>
            <a:r>
              <a:rPr lang="en-US" dirty="0"/>
              <a:t>First </a:t>
            </a:r>
            <a:r>
              <a:rPr lang="en-US" dirty="0" smtClean="0"/>
              <a:t>assigns </a:t>
            </a:r>
            <a:r>
              <a:rPr lang="en-US" dirty="0"/>
              <a:t>the value 3 to a, then assigns 9 to b, then assigns 77 to c, and finaly80(3+77) </a:t>
            </a:r>
            <a:r>
              <a:rPr lang="en-US" dirty="0" smtClean="0"/>
              <a:t>to value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373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Special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2 ) </a:t>
            </a:r>
            <a:r>
              <a:rPr lang="en-US" dirty="0" err="1"/>
              <a:t>Sizeof</a:t>
            </a:r>
            <a:r>
              <a:rPr lang="en-US" dirty="0"/>
              <a:t> Operator : The </a:t>
            </a:r>
            <a:r>
              <a:rPr lang="en-US" dirty="0" err="1"/>
              <a:t>sizeof</a:t>
            </a:r>
            <a:r>
              <a:rPr lang="en-US" dirty="0"/>
              <a:t>() is a unary operator, that returns the length in bytes o </a:t>
            </a:r>
            <a:r>
              <a:rPr lang="en-US" dirty="0" smtClean="0"/>
              <a:t>the specified </a:t>
            </a:r>
            <a:r>
              <a:rPr lang="en-US" dirty="0"/>
              <a:t>variable, and it is very useful to find the bytes occupied by the specified variable in </a:t>
            </a:r>
            <a:r>
              <a:rPr lang="en-US" dirty="0" smtClean="0"/>
              <a:t>the memory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 smtClean="0"/>
          </a:p>
          <a:p>
            <a:pPr marL="0" indent="0" algn="just">
              <a:buNone/>
            </a:pPr>
            <a:r>
              <a:rPr lang="en-US" dirty="0" smtClean="0"/>
              <a:t>Syntax </a:t>
            </a:r>
            <a:r>
              <a:rPr lang="en-US" dirty="0"/>
              <a:t>: </a:t>
            </a:r>
            <a:r>
              <a:rPr lang="en-US" dirty="0" err="1"/>
              <a:t>sizeof</a:t>
            </a:r>
            <a:r>
              <a:rPr lang="en-US" dirty="0"/>
              <a:t>(variable-name);</a:t>
            </a:r>
          </a:p>
          <a:p>
            <a:pPr marL="0" indent="0" algn="just">
              <a:buNone/>
            </a:pPr>
            <a:r>
              <a:rPr lang="en-US" dirty="0" err="1"/>
              <a:t>int</a:t>
            </a:r>
            <a:r>
              <a:rPr lang="en-US" dirty="0"/>
              <a:t> a;</a:t>
            </a:r>
          </a:p>
          <a:p>
            <a:pPr marL="0" indent="0" algn="just">
              <a:buNone/>
            </a:pPr>
            <a:r>
              <a:rPr lang="en-US" dirty="0"/>
              <a:t>Ex : </a:t>
            </a:r>
            <a:r>
              <a:rPr lang="en-US" dirty="0" err="1"/>
              <a:t>sizeof</a:t>
            </a:r>
            <a:r>
              <a:rPr lang="en-US" dirty="0"/>
              <a:t>(a); //OUTPUT-----</a:t>
            </a:r>
            <a:r>
              <a:rPr lang="en-US" dirty="0" smtClean="0"/>
              <a:t>2bytes</a:t>
            </a:r>
          </a:p>
        </p:txBody>
      </p:sp>
    </p:spTree>
    <p:extLst>
      <p:ext uri="{BB962C8B-B14F-4D97-AF65-F5344CB8AC3E}">
        <p14:creationId xmlns:p14="http://schemas.microsoft.com/office/powerpoint/2010/main" val="175526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Special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107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32500" lnSpcReduction="20000"/>
          </a:bodyPr>
          <a:lstStyle/>
          <a:p>
            <a:pPr marL="0" indent="0" algn="just">
              <a:buNone/>
            </a:pPr>
            <a:r>
              <a:rPr lang="en-US" dirty="0"/>
              <a:t>Example #6: </a:t>
            </a:r>
            <a:r>
              <a:rPr lang="en-US" dirty="0" err="1"/>
              <a:t>sizeof</a:t>
            </a:r>
            <a:r>
              <a:rPr lang="en-US" dirty="0"/>
              <a:t> </a:t>
            </a:r>
            <a:r>
              <a:rPr lang="en-US" dirty="0" smtClean="0"/>
              <a:t>Operator</a:t>
            </a:r>
          </a:p>
          <a:p>
            <a:pPr marL="0" indent="0" algn="just">
              <a:buNone/>
            </a:pPr>
            <a:r>
              <a:rPr lang="en-US" sz="4500" dirty="0"/>
              <a:t>#include &lt;</a:t>
            </a:r>
            <a:r>
              <a:rPr lang="en-US" sz="4500" dirty="0" err="1"/>
              <a:t>stdio.h</a:t>
            </a:r>
            <a:r>
              <a:rPr lang="en-US" sz="4500" dirty="0"/>
              <a:t>&gt;</a:t>
            </a:r>
          </a:p>
          <a:p>
            <a:pPr marL="0" indent="0" algn="just">
              <a:buNone/>
            </a:pPr>
            <a:r>
              <a:rPr lang="en-US" sz="4500" dirty="0" err="1"/>
              <a:t>int</a:t>
            </a:r>
            <a:r>
              <a:rPr lang="en-US" sz="4500" dirty="0"/>
              <a:t> main()</a:t>
            </a:r>
          </a:p>
          <a:p>
            <a:pPr marL="0" indent="0" algn="just">
              <a:buNone/>
            </a:pPr>
            <a:r>
              <a:rPr lang="en-US" sz="4500" dirty="0"/>
              <a:t>{</a:t>
            </a:r>
          </a:p>
          <a:p>
            <a:pPr marL="0" indent="0" algn="just">
              <a:buNone/>
            </a:pPr>
            <a:r>
              <a:rPr lang="en-US" sz="4500" dirty="0" err="1"/>
              <a:t>int</a:t>
            </a:r>
            <a:r>
              <a:rPr lang="en-US" sz="4500" dirty="0"/>
              <a:t> a, e[10];</a:t>
            </a:r>
          </a:p>
          <a:p>
            <a:pPr marL="0" indent="0" algn="just">
              <a:buNone/>
            </a:pPr>
            <a:r>
              <a:rPr lang="en-US" sz="4500" dirty="0"/>
              <a:t>float b;</a:t>
            </a:r>
          </a:p>
          <a:p>
            <a:pPr marL="0" indent="0" algn="just">
              <a:buNone/>
            </a:pPr>
            <a:r>
              <a:rPr lang="en-US" sz="4500" dirty="0"/>
              <a:t>double c;</a:t>
            </a:r>
          </a:p>
          <a:p>
            <a:pPr marL="0" indent="0" algn="just">
              <a:buNone/>
            </a:pPr>
            <a:r>
              <a:rPr lang="en-US" sz="4500" dirty="0"/>
              <a:t>char d;</a:t>
            </a:r>
          </a:p>
          <a:p>
            <a:pPr marL="0" indent="0" algn="just">
              <a:buNone/>
            </a:pPr>
            <a:r>
              <a:rPr lang="en-US" sz="4500" dirty="0" err="1"/>
              <a:t>printf</a:t>
            </a:r>
            <a:r>
              <a:rPr lang="en-US" sz="4500" dirty="0"/>
              <a:t>("Size of </a:t>
            </a:r>
            <a:r>
              <a:rPr lang="en-US" sz="4500" dirty="0" err="1"/>
              <a:t>int</a:t>
            </a:r>
            <a:r>
              <a:rPr lang="en-US" sz="4500" dirty="0"/>
              <a:t>=%</a:t>
            </a:r>
            <a:r>
              <a:rPr lang="en-US" sz="4500" dirty="0" err="1"/>
              <a:t>lu</a:t>
            </a:r>
            <a:r>
              <a:rPr lang="en-US" sz="4500" dirty="0"/>
              <a:t> bytes\n",</a:t>
            </a:r>
            <a:r>
              <a:rPr lang="en-US" sz="4500" dirty="0" err="1"/>
              <a:t>sizeof</a:t>
            </a:r>
            <a:r>
              <a:rPr lang="en-US" sz="4500" dirty="0"/>
              <a:t>(a));</a:t>
            </a:r>
          </a:p>
          <a:p>
            <a:pPr marL="0" indent="0" algn="just">
              <a:buNone/>
            </a:pPr>
            <a:r>
              <a:rPr lang="en-US" sz="4500" dirty="0" err="1"/>
              <a:t>printf</a:t>
            </a:r>
            <a:r>
              <a:rPr lang="en-US" sz="4500" dirty="0"/>
              <a:t>("Size of float=%</a:t>
            </a:r>
            <a:r>
              <a:rPr lang="en-US" sz="4500" dirty="0" err="1"/>
              <a:t>lu</a:t>
            </a:r>
            <a:r>
              <a:rPr lang="en-US" sz="4500" dirty="0"/>
              <a:t> bytes\n",</a:t>
            </a:r>
            <a:r>
              <a:rPr lang="en-US" sz="4500" dirty="0" err="1"/>
              <a:t>sizeof</a:t>
            </a:r>
            <a:r>
              <a:rPr lang="en-US" sz="4500" dirty="0"/>
              <a:t>(b));</a:t>
            </a:r>
          </a:p>
          <a:p>
            <a:pPr marL="0" indent="0" algn="just">
              <a:buNone/>
            </a:pPr>
            <a:r>
              <a:rPr lang="en-US" sz="4500" dirty="0" err="1"/>
              <a:t>printf</a:t>
            </a:r>
            <a:r>
              <a:rPr lang="en-US" sz="4500" dirty="0"/>
              <a:t>("Size of double=%</a:t>
            </a:r>
            <a:r>
              <a:rPr lang="en-US" sz="4500" dirty="0" err="1"/>
              <a:t>lu</a:t>
            </a:r>
            <a:r>
              <a:rPr lang="en-US" sz="4500" dirty="0"/>
              <a:t> bytes\n",</a:t>
            </a:r>
            <a:r>
              <a:rPr lang="en-US" sz="4500" dirty="0" err="1"/>
              <a:t>sizeof</a:t>
            </a:r>
            <a:r>
              <a:rPr lang="en-US" sz="4500" dirty="0"/>
              <a:t>(c));</a:t>
            </a:r>
          </a:p>
          <a:p>
            <a:pPr marL="0" indent="0" algn="just">
              <a:buNone/>
            </a:pPr>
            <a:r>
              <a:rPr lang="en-US" sz="4500" dirty="0" err="1"/>
              <a:t>printf</a:t>
            </a:r>
            <a:r>
              <a:rPr lang="en-US" sz="4500" dirty="0"/>
              <a:t>("Size of char=%</a:t>
            </a:r>
            <a:r>
              <a:rPr lang="en-US" sz="4500" dirty="0" err="1"/>
              <a:t>lu</a:t>
            </a:r>
            <a:r>
              <a:rPr lang="en-US" sz="4500" dirty="0"/>
              <a:t> byte\n",</a:t>
            </a:r>
            <a:r>
              <a:rPr lang="en-US" sz="4500" dirty="0" err="1"/>
              <a:t>sizeof</a:t>
            </a:r>
            <a:r>
              <a:rPr lang="en-US" sz="4500" dirty="0"/>
              <a:t>(d));</a:t>
            </a:r>
          </a:p>
          <a:p>
            <a:pPr marL="0" indent="0" algn="just">
              <a:buNone/>
            </a:pPr>
            <a:r>
              <a:rPr lang="en-US" sz="4500" dirty="0" err="1"/>
              <a:t>printf</a:t>
            </a:r>
            <a:r>
              <a:rPr lang="en-US" sz="4500" dirty="0"/>
              <a:t>("Size of integer type array having 10 elements = %</a:t>
            </a:r>
            <a:r>
              <a:rPr lang="en-US" sz="4500" dirty="0" err="1"/>
              <a:t>lu</a:t>
            </a:r>
            <a:r>
              <a:rPr lang="en-US" sz="4500" dirty="0"/>
              <a:t> bytes\n", </a:t>
            </a:r>
            <a:r>
              <a:rPr lang="en-US" sz="4500" dirty="0" err="1"/>
              <a:t>sizeof</a:t>
            </a:r>
            <a:r>
              <a:rPr lang="en-US" sz="4500" dirty="0"/>
              <a:t>(e));</a:t>
            </a:r>
          </a:p>
          <a:p>
            <a:pPr marL="0" indent="0" algn="just">
              <a:buNone/>
            </a:pPr>
            <a:r>
              <a:rPr lang="en-US" sz="4500" dirty="0"/>
              <a:t>return 0;</a:t>
            </a:r>
          </a:p>
          <a:p>
            <a:pPr marL="0" indent="0" algn="just">
              <a:buNone/>
            </a:pPr>
            <a:r>
              <a:rPr lang="en-US" sz="4500" dirty="0"/>
              <a:t>}</a:t>
            </a:r>
          </a:p>
          <a:p>
            <a:pPr marL="0" indent="0" algn="just">
              <a:buNone/>
            </a:pPr>
            <a:r>
              <a:rPr lang="en-US" sz="4500" dirty="0"/>
              <a:t>Output</a:t>
            </a:r>
          </a:p>
          <a:p>
            <a:pPr marL="0" indent="0" algn="just">
              <a:buNone/>
            </a:pPr>
            <a:r>
              <a:rPr lang="en-US" sz="4500" dirty="0"/>
              <a:t>Size of </a:t>
            </a:r>
            <a:r>
              <a:rPr lang="en-US" sz="4500" dirty="0" err="1"/>
              <a:t>int</a:t>
            </a:r>
            <a:r>
              <a:rPr lang="en-US" sz="4500" dirty="0"/>
              <a:t> = 4 bytes</a:t>
            </a:r>
          </a:p>
          <a:p>
            <a:pPr marL="0" indent="0" algn="just">
              <a:buNone/>
            </a:pPr>
            <a:r>
              <a:rPr lang="en-US" sz="4500" dirty="0"/>
              <a:t>Size of float = 4 bytes</a:t>
            </a:r>
          </a:p>
          <a:p>
            <a:pPr marL="0" indent="0" algn="just">
              <a:buNone/>
            </a:pPr>
            <a:r>
              <a:rPr lang="en-US" sz="4500" dirty="0"/>
              <a:t>Size of double = 8 bytes</a:t>
            </a:r>
          </a:p>
          <a:p>
            <a:pPr marL="0" indent="0" algn="just">
              <a:buNone/>
            </a:pPr>
            <a:r>
              <a:rPr lang="en-US" sz="4500" dirty="0"/>
              <a:t>Size of char = 1 byte</a:t>
            </a:r>
          </a:p>
          <a:p>
            <a:pPr marL="0" indent="0" algn="just">
              <a:buNone/>
            </a:pPr>
            <a:r>
              <a:rPr lang="en-US" sz="4500" dirty="0"/>
              <a:t>Size of integer type array having 10 elements = 40 bytes</a:t>
            </a:r>
            <a:endParaRPr lang="en-US" sz="4500" dirty="0" smtClean="0"/>
          </a:p>
        </p:txBody>
      </p:sp>
    </p:spTree>
    <p:extLst>
      <p:ext uri="{BB962C8B-B14F-4D97-AF65-F5344CB8AC3E}">
        <p14:creationId xmlns:p14="http://schemas.microsoft.com/office/powerpoint/2010/main" val="3592985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57200" y="2667000"/>
            <a:ext cx="8229600" cy="1143000"/>
          </a:xfrm>
        </p:spPr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603B96-19A4-4ABF-B819-5478AC45EB21}" type="slidenum">
              <a:rPr lang="en-US" smtClean="0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05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3247</TotalTime>
  <Words>6210</Words>
  <Application>Microsoft Office PowerPoint</Application>
  <PresentationFormat>On-screen Show (4:3)</PresentationFormat>
  <Paragraphs>943</Paragraphs>
  <Slides>108</Slides>
  <Notes>106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108</vt:i4>
      </vt:variant>
    </vt:vector>
  </HeadingPairs>
  <TitlesOfParts>
    <vt:vector size="110" baseType="lpstr">
      <vt:lpstr>Office Theme</vt:lpstr>
      <vt:lpstr>1_Slipstream</vt:lpstr>
      <vt:lpstr>Structure Programming  ICT-1105  Information and Communication Technology</vt:lpstr>
      <vt:lpstr>PowerPoint Presentation</vt:lpstr>
      <vt:lpstr>VARIABLES</vt:lpstr>
      <vt:lpstr>VARIABLES</vt:lpstr>
      <vt:lpstr>Rules to write variable names</vt:lpstr>
      <vt:lpstr>Rules to write variable names</vt:lpstr>
      <vt:lpstr>Declaration of Variables</vt:lpstr>
      <vt:lpstr>Declaration of Variables</vt:lpstr>
      <vt:lpstr>Declaration of Variables</vt:lpstr>
      <vt:lpstr>Assigning values to variables</vt:lpstr>
      <vt:lpstr>Initialization of Variables</vt:lpstr>
      <vt:lpstr>Types of Variables 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and Unformatted Console I/O Functions</vt:lpstr>
      <vt:lpstr>FORMATTED INPUT-OUTPUT</vt:lpstr>
      <vt:lpstr>FORMATTED INPUT-OUTPUT</vt:lpstr>
      <vt:lpstr>FORMATTED INPUT-OUTPUT</vt:lpstr>
      <vt:lpstr>FORMATTED INPUT-OUTPUT</vt:lpstr>
      <vt:lpstr>FORMATTED INPUT-OUTPUT</vt:lpstr>
      <vt:lpstr>Formatted and Unformatted Console I/O Functions</vt:lpstr>
      <vt:lpstr>Formatted and Unformatted Console I/O Functions</vt:lpstr>
      <vt:lpstr>Formatted and Unformatted Console I/O Functions</vt:lpstr>
      <vt:lpstr>OPERATORS</vt:lpstr>
      <vt:lpstr>Types of Operators</vt:lpstr>
      <vt:lpstr>Arithmetic Operators</vt:lpstr>
      <vt:lpstr>Arithmetic Operators</vt:lpstr>
      <vt:lpstr>Arithmetic Operators</vt:lpstr>
      <vt:lpstr>Relational Operators</vt:lpstr>
      <vt:lpstr>Relational Operators</vt:lpstr>
      <vt:lpstr>Relational Operators</vt:lpstr>
      <vt:lpstr>Relational Operators</vt:lpstr>
      <vt:lpstr>Relational Operators</vt:lpstr>
      <vt:lpstr>Relational Operators</vt:lpstr>
      <vt:lpstr>Logical Operators</vt:lpstr>
      <vt:lpstr>Logical Operators</vt:lpstr>
      <vt:lpstr>Logical Operators</vt:lpstr>
      <vt:lpstr>Logical Operators</vt:lpstr>
      <vt:lpstr>Logical Operators</vt:lpstr>
      <vt:lpstr>Logical Operators</vt:lpstr>
      <vt:lpstr>Logical Operators</vt:lpstr>
      <vt:lpstr>Assignment Operators</vt:lpstr>
      <vt:lpstr>Assignment Operators</vt:lpstr>
      <vt:lpstr>Assignment Operators</vt:lpstr>
      <vt:lpstr>Compound assignment operator</vt:lpstr>
      <vt:lpstr>Assignment Operators</vt:lpstr>
      <vt:lpstr>Assignment Operators</vt:lpstr>
      <vt:lpstr>Increment and Decrement Operators /Unary Operators</vt:lpstr>
      <vt:lpstr>Increment and Decrement Operators /Unary Operators</vt:lpstr>
      <vt:lpstr>Increment and Decrement Operators /Unary Operators</vt:lpstr>
      <vt:lpstr>Increment and Decrement Operators /Unary Operators</vt:lpstr>
      <vt:lpstr>Increment and Decrement Operators /Unary Operators</vt:lpstr>
      <vt:lpstr>Increment and Decrement Operators /Unary Operators</vt:lpstr>
      <vt:lpstr>Increment and Decrement Operators /Unary Operators</vt:lpstr>
      <vt:lpstr>Increment and Decrement Operators /Unary Operators</vt:lpstr>
      <vt:lpstr>Increment and Decrement Operators /Unary Operators</vt:lpstr>
      <vt:lpstr>Increment and Decrement Operators /Unary Operators</vt:lpstr>
      <vt:lpstr>Increment and Decrement Operators /Unary Operators</vt:lpstr>
      <vt:lpstr>Increment and Decrement Operators /Unary Operators</vt:lpstr>
      <vt:lpstr>Increment and Decrement Operators /Unary Operators</vt:lpstr>
      <vt:lpstr>Increment and Decrement Operators /Unary Operators</vt:lpstr>
      <vt:lpstr>Increment and Decrement Operators /Unary Operators</vt:lpstr>
      <vt:lpstr>Increment and Decrement Operators /Unary Operators</vt:lpstr>
      <vt:lpstr>Increment and Decrement Operators /Unary Operators</vt:lpstr>
      <vt:lpstr>Conditional Operator/ Ternary operator (? :)</vt:lpstr>
      <vt:lpstr>Conditional Operator/ Ternary operator (? :)</vt:lpstr>
      <vt:lpstr>Conditional Operator/ Ternary operator (? :)</vt:lpstr>
      <vt:lpstr>Conditional Operator/ Ternary operator (? :)</vt:lpstr>
      <vt:lpstr>Bitwise Operators</vt:lpstr>
      <vt:lpstr>Bitwise Operators</vt:lpstr>
      <vt:lpstr>Bitwise Operators</vt:lpstr>
      <vt:lpstr>Bitwise AND operator &amp;</vt:lpstr>
      <vt:lpstr>Bitwise AND operator &amp;</vt:lpstr>
      <vt:lpstr>Bitwise AND operator &amp;</vt:lpstr>
      <vt:lpstr>Bitwise OR operator |</vt:lpstr>
      <vt:lpstr>Bitwise OR operator |</vt:lpstr>
      <vt:lpstr>Bitwise XOR (exclusive OR) operator ^</vt:lpstr>
      <vt:lpstr>Bitwise complement operator ~</vt:lpstr>
      <vt:lpstr>Twist in bitwise complement operator</vt:lpstr>
      <vt:lpstr>Twist in bitwise complement operator</vt:lpstr>
      <vt:lpstr>Twist in bitwise complement operator</vt:lpstr>
      <vt:lpstr>Twist in bitwise complement operator</vt:lpstr>
      <vt:lpstr>Twist in bitwise complement operator</vt:lpstr>
      <vt:lpstr>Bitwise shift operators</vt:lpstr>
      <vt:lpstr>Operators</vt:lpstr>
      <vt:lpstr>Operators</vt:lpstr>
      <vt:lpstr>Special Operators</vt:lpstr>
      <vt:lpstr>Special Operators</vt:lpstr>
      <vt:lpstr>Special Operators</vt:lpstr>
      <vt:lpstr>Thank you….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Output devices</dc:title>
  <dc:creator>AION</dc:creator>
  <cp:lastModifiedBy>Dulal Sir</cp:lastModifiedBy>
  <cp:revision>306</cp:revision>
  <dcterms:created xsi:type="dcterms:W3CDTF">2019-09-20T11:10:00Z</dcterms:created>
  <dcterms:modified xsi:type="dcterms:W3CDTF">2025-01-01T03:16:57Z</dcterms:modified>
</cp:coreProperties>
</file>