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78" r:id="rId2"/>
    <p:sldMasterId id="2147483890" r:id="rId3"/>
  </p:sldMasterIdLst>
  <p:notesMasterIdLst>
    <p:notesMasterId r:id="rId33"/>
  </p:notesMasterIdLst>
  <p:sldIdLst>
    <p:sldId id="463" r:id="rId4"/>
    <p:sldId id="467" r:id="rId5"/>
    <p:sldId id="534" r:id="rId6"/>
    <p:sldId id="535" r:id="rId7"/>
    <p:sldId id="536" r:id="rId8"/>
    <p:sldId id="537" r:id="rId9"/>
    <p:sldId id="538" r:id="rId10"/>
    <p:sldId id="539" r:id="rId11"/>
    <p:sldId id="540" r:id="rId12"/>
    <p:sldId id="541" r:id="rId13"/>
    <p:sldId id="542" r:id="rId14"/>
    <p:sldId id="543" r:id="rId15"/>
    <p:sldId id="544" r:id="rId16"/>
    <p:sldId id="545" r:id="rId17"/>
    <p:sldId id="546" r:id="rId18"/>
    <p:sldId id="547" r:id="rId19"/>
    <p:sldId id="548" r:id="rId20"/>
    <p:sldId id="549" r:id="rId21"/>
    <p:sldId id="550" r:id="rId22"/>
    <p:sldId id="551" r:id="rId23"/>
    <p:sldId id="552" r:id="rId24"/>
    <p:sldId id="559" r:id="rId25"/>
    <p:sldId id="558" r:id="rId26"/>
    <p:sldId id="553" r:id="rId27"/>
    <p:sldId id="554" r:id="rId28"/>
    <p:sldId id="555" r:id="rId29"/>
    <p:sldId id="556" r:id="rId30"/>
    <p:sldId id="557" r:id="rId31"/>
    <p:sldId id="461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06BA"/>
    <a:srgbClr val="0000CC"/>
    <a:srgbClr val="03BD57"/>
    <a:srgbClr val="06661F"/>
    <a:srgbClr val="1DA37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81317" autoAdjust="0"/>
  </p:normalViewPr>
  <p:slideViewPr>
    <p:cSldViewPr>
      <p:cViewPr varScale="1">
        <p:scale>
          <a:sx n="59" d="100"/>
          <a:sy n="59" d="100"/>
        </p:scale>
        <p:origin x="-1686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5DCD7-0DB4-4E0B-B99D-38F426DFA1ED}" type="datetimeFigureOut">
              <a:rPr lang="en-US" smtClean="0"/>
              <a:t>2/6/2025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4FB36-99AC-4CD3-8A8F-04DE1EFF5B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159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Output</a:t>
            </a:r>
          </a:p>
          <a:p>
            <a:r>
              <a:rPr lang="en-US" dirty="0" smtClean="0"/>
              <a:t>12345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output of the above program would be...</a:t>
            </a:r>
          </a:p>
          <a:p>
            <a:r>
              <a:rPr lang="en-US" dirty="0" smtClean="0"/>
              <a:t>1 2</a:t>
            </a:r>
          </a:p>
          <a:p>
            <a:r>
              <a:rPr lang="en-US" dirty="0" smtClean="0"/>
              <a:t>2 1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1234678910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Here, if the if conditions satisfies the program jumps to block </a:t>
            </a:r>
            <a:r>
              <a:rPr lang="en-US" dirty="0" err="1" smtClean="0"/>
              <a:t>labelled</a:t>
            </a:r>
            <a:r>
              <a:rPr lang="en-US" dirty="0" smtClean="0"/>
              <a:t> as a: if not then it</a:t>
            </a:r>
            <a:r>
              <a:rPr lang="en-US" baseline="0" dirty="0" smtClean="0"/>
              <a:t> </a:t>
            </a:r>
            <a:r>
              <a:rPr lang="en-US" dirty="0" smtClean="0"/>
              <a:t>jumps to block </a:t>
            </a:r>
            <a:r>
              <a:rPr lang="en-US" dirty="0" err="1" smtClean="0"/>
              <a:t>labelled</a:t>
            </a:r>
            <a:r>
              <a:rPr lang="en-US" dirty="0" smtClean="0"/>
              <a:t> as b: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Here, if the if conditions satisfies the program jumps to block </a:t>
            </a:r>
            <a:r>
              <a:rPr lang="en-US" dirty="0" err="1" smtClean="0"/>
              <a:t>labelled</a:t>
            </a:r>
            <a:r>
              <a:rPr lang="en-US" dirty="0" smtClean="0"/>
              <a:t> as a: if not then it</a:t>
            </a:r>
            <a:r>
              <a:rPr lang="en-US" baseline="0" dirty="0" smtClean="0"/>
              <a:t> </a:t>
            </a:r>
            <a:r>
              <a:rPr lang="en-US" dirty="0" smtClean="0"/>
              <a:t>jumps to block </a:t>
            </a:r>
            <a:r>
              <a:rPr lang="en-US" dirty="0" err="1" smtClean="0"/>
              <a:t>labelled</a:t>
            </a:r>
            <a:r>
              <a:rPr lang="en-US" dirty="0" smtClean="0"/>
              <a:t> as b: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708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859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106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133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84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93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700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933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964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685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183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93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605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642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952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43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037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0156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6806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6874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0258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48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22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3645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5431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3485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65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7" y="731567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1200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8397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5910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60685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481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48570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8698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5147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2697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903468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8278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229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183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99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86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48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48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48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 charset="0"/>
                <a:cs typeface="Arial" charset="0"/>
              </a:rPr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160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8934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2" r:id="rId2"/>
    <p:sldLayoutId id="2147483893" r:id="rId3"/>
    <p:sldLayoutId id="2147483894" r:id="rId4"/>
    <p:sldLayoutId id="2147483895" r:id="rId5"/>
    <p:sldLayoutId id="2147483896" r:id="rId6"/>
    <p:sldLayoutId id="2147483897" r:id="rId7"/>
    <p:sldLayoutId id="2147483898" r:id="rId8"/>
    <p:sldLayoutId id="2147483899" r:id="rId9"/>
    <p:sldLayoutId id="2147483900" r:id="rId10"/>
    <p:sldLayoutId id="214748390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ubtitle 3"/>
          <p:cNvSpPr>
            <a:spLocks noGrp="1"/>
          </p:cNvSpPr>
          <p:nvPr>
            <p:ph type="subTitle" idx="1"/>
          </p:nvPr>
        </p:nvSpPr>
        <p:spPr>
          <a:xfrm>
            <a:off x="1600200" y="4998720"/>
            <a:ext cx="6400800" cy="1402080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Lecture-12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</a:t>
            </a: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74" name="Title 2"/>
          <p:cNvSpPr>
            <a:spLocks noGrp="1"/>
          </p:cNvSpPr>
          <p:nvPr>
            <p:ph type="ctrTitle"/>
          </p:nvPr>
        </p:nvSpPr>
        <p:spPr>
          <a:xfrm>
            <a:off x="533400" y="725213"/>
            <a:ext cx="8077200" cy="4502107"/>
          </a:xfrm>
        </p:spPr>
        <p:txBody>
          <a:bodyPr/>
          <a:lstStyle/>
          <a:p>
            <a:pPr marL="18288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itchFamily="18" charset="0"/>
              <a:buNone/>
              <a:defRPr/>
            </a:pP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Structure Programming</a:t>
            </a:r>
            <a: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ICT-1105</a:t>
            </a: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Information and Communication Technology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D62340-A1EA-4CE0-A397-B868A3BF73D1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1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701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562600"/>
          </a:xfrm>
        </p:spPr>
        <p:txBody>
          <a:bodyPr>
            <a:normAutofit/>
          </a:bodyPr>
          <a:lstStyle/>
          <a:p>
            <a:pPr marL="0" indent="0" algn="just">
              <a:buFont typeface="Wingdings" pitchFamily="2" charset="2"/>
              <a:buNone/>
              <a:defRPr/>
            </a:pPr>
            <a:r>
              <a:rPr 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 contents has given in  Google Classroom with code </a:t>
            </a:r>
          </a:p>
          <a:p>
            <a:pPr marL="0" indent="0" algn="just">
              <a:buFont typeface="Wingdings" pitchFamily="2" charset="2"/>
              <a:buNone/>
              <a:defRPr/>
            </a:pPr>
            <a:endParaRPr lang="en-US" sz="3600" b="1" dirty="0">
              <a:solidFill>
                <a:srgbClr val="FF0000"/>
              </a:solidFill>
            </a:endParaRPr>
          </a:p>
          <a:p>
            <a:pPr marL="0" indent="0" algn="just">
              <a:buFont typeface="Wingdings" pitchFamily="2" charset="2"/>
              <a:buNone/>
              <a:defRPr/>
            </a:pPr>
            <a:endParaRPr lang="en-US" sz="3600" b="1" dirty="0">
              <a:solidFill>
                <a:srgbClr val="FF0000"/>
              </a:solidFill>
            </a:endParaRPr>
          </a:p>
          <a:p>
            <a:pPr marL="0" indent="0" algn="ctr">
              <a:buFont typeface="Wingdings" pitchFamily="2" charset="2"/>
              <a:buNone/>
              <a:defRPr/>
            </a:pPr>
            <a:r>
              <a:rPr lang="en-US" sz="8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nhauiw4</a:t>
            </a:r>
            <a:endParaRPr lang="en-US" sz="8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55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3200"/>
            <a:ext cx="6511925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Jump Statements</a:t>
            </a:r>
            <a:endParaRPr lang="en-US" sz="4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315956A-8026-4861-99E0-6ECDFB0AE949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3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020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Jump Statements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Jumping statements are used to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transfer</a:t>
            </a:r>
            <a:r>
              <a:rPr lang="en-US" sz="3600" dirty="0"/>
              <a:t> the </a:t>
            </a:r>
            <a:r>
              <a:rPr lang="en-US" sz="36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program’s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</a:t>
            </a:r>
            <a:r>
              <a:rPr lang="en-US" sz="3600" dirty="0"/>
              <a:t> </a:t>
            </a:r>
            <a:r>
              <a:rPr lang="en-US" sz="3600" b="1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from one location to another</a:t>
            </a:r>
            <a:r>
              <a:rPr lang="en-US" sz="3600" dirty="0"/>
              <a:t>, </a:t>
            </a:r>
            <a:r>
              <a:rPr lang="en-US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these are </a:t>
            </a:r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set of keywords </a:t>
            </a:r>
            <a:r>
              <a:rPr lang="en-US" sz="3600" dirty="0"/>
              <a:t>which are responsible to transfer </a:t>
            </a:r>
            <a:r>
              <a:rPr lang="en-US" sz="3600" dirty="0" smtClean="0"/>
              <a:t>program’s </a:t>
            </a:r>
            <a:r>
              <a:rPr lang="en-US" sz="3600" dirty="0"/>
              <a:t>control </a:t>
            </a:r>
            <a:r>
              <a:rPr lang="en-US" sz="3600" b="1" dirty="0">
                <a:solidFill>
                  <a:srgbClr val="03BD57"/>
                </a:solidFill>
              </a:rPr>
              <a:t>within the same block </a:t>
            </a:r>
            <a:r>
              <a:rPr lang="en-US" sz="3600" b="1" dirty="0" smtClean="0">
                <a:solidFill>
                  <a:srgbClr val="03BD57"/>
                </a:solidFill>
              </a:rPr>
              <a:t>or from </a:t>
            </a:r>
            <a:r>
              <a:rPr lang="en-US" sz="3600" b="1" dirty="0">
                <a:solidFill>
                  <a:srgbClr val="03BD57"/>
                </a:solidFill>
              </a:rPr>
              <a:t>one function to another</a:t>
            </a:r>
            <a:r>
              <a:rPr lang="en-US" sz="3600" dirty="0"/>
              <a:t>.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530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Jump Statements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There are four jumping statements in C language: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break</a:t>
            </a:r>
            <a:r>
              <a:rPr lang="en-US" sz="3600" dirty="0" smtClean="0"/>
              <a:t> statement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continue</a:t>
            </a:r>
            <a:r>
              <a:rPr lang="en-US" sz="3600" dirty="0"/>
              <a:t> statement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b="1" dirty="0" err="1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goto</a:t>
            </a:r>
            <a:r>
              <a:rPr lang="en-US" sz="3600" dirty="0" smtClean="0"/>
              <a:t> </a:t>
            </a:r>
            <a:r>
              <a:rPr lang="en-US" sz="3600" dirty="0"/>
              <a:t>statement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</a:t>
            </a:r>
            <a:r>
              <a:rPr lang="en-US" sz="3600" dirty="0" smtClean="0"/>
              <a:t> statement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2090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Break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Break is a keyword. The break statement provides an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early exit</a:t>
            </a:r>
            <a:r>
              <a:rPr lang="en-US" sz="3600" dirty="0"/>
              <a:t> from for, while, and do, just as from switch. A </a:t>
            </a:r>
            <a:r>
              <a:rPr lang="en-US" sz="3600" dirty="0" smtClean="0"/>
              <a:t>break causes </a:t>
            </a:r>
            <a:r>
              <a:rPr lang="en-US" sz="3600" dirty="0"/>
              <a:t>the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innermost enclosing loop</a:t>
            </a:r>
            <a:r>
              <a:rPr lang="en-US" sz="3600" dirty="0"/>
              <a:t> or switch to be exited immediately. When break </a:t>
            </a:r>
            <a:r>
              <a:rPr lang="en-US" sz="3600" dirty="0" smtClean="0"/>
              <a:t>is encountered </a:t>
            </a:r>
            <a:r>
              <a:rPr lang="en-US" sz="3600" dirty="0"/>
              <a:t>inside any loop, </a:t>
            </a:r>
            <a:r>
              <a:rPr lang="en-US" sz="3600" dirty="0" smtClean="0"/>
              <a:t>control automatically </a:t>
            </a:r>
            <a:r>
              <a:rPr lang="en-US" sz="3600" dirty="0"/>
              <a:t>passes to the first </a:t>
            </a:r>
            <a:r>
              <a:rPr lang="en-US" sz="3600" dirty="0" smtClean="0"/>
              <a:t>statement after </a:t>
            </a:r>
            <a:r>
              <a:rPr lang="en-US" sz="3600" dirty="0"/>
              <a:t>the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040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Break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Consider the following example;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3105" y="1752600"/>
            <a:ext cx="5638800" cy="477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1606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Break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In this program when </a:t>
            </a:r>
            <a:r>
              <a:rPr lang="en-US" sz="3600" b="1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 equals 150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break takes the control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outside the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inner while 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only</a:t>
            </a:r>
            <a:r>
              <a:rPr lang="en-US" sz="3600" dirty="0" smtClean="0"/>
              <a:t>, since </a:t>
            </a:r>
            <a:r>
              <a:rPr lang="en-US" sz="3600" dirty="0"/>
              <a:t>it is placed inside the inner while.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2743200"/>
            <a:ext cx="4572000" cy="3871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2415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 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 Flowchart of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break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break</a:t>
            </a:r>
            <a:r>
              <a:rPr lang="en-US" sz="3600" dirty="0" smtClean="0"/>
              <a:t>;</a:t>
            </a:r>
          </a:p>
          <a:p>
            <a:pPr marL="0" indent="0" algn="just">
              <a:buNone/>
            </a:pPr>
            <a:r>
              <a:rPr lang="en-US" sz="3600" u="sng" dirty="0" smtClean="0"/>
              <a:t>Flowchart:</a:t>
            </a:r>
            <a:endParaRPr lang="en-US" sz="3600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598" y="1219200"/>
            <a:ext cx="6366147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8495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break statement works?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371600"/>
            <a:ext cx="6477000" cy="4576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0665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break statement works?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71600"/>
            <a:ext cx="7086600" cy="4457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8572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break statement works?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334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#include &lt;</a:t>
            </a:r>
            <a:r>
              <a:rPr lang="en-US" sz="1600" dirty="0" err="1"/>
              <a:t>stdio.h</a:t>
            </a:r>
            <a:r>
              <a:rPr lang="en-US" sz="1600" dirty="0"/>
              <a:t>&gt;</a:t>
            </a:r>
          </a:p>
          <a:p>
            <a:pPr marL="0" indent="0">
              <a:buNone/>
            </a:pPr>
            <a:r>
              <a:rPr lang="en-US" sz="1600" dirty="0"/>
              <a:t>#include &lt;</a:t>
            </a:r>
            <a:r>
              <a:rPr lang="en-US" sz="1600" dirty="0" err="1"/>
              <a:t>conio.h</a:t>
            </a:r>
            <a:r>
              <a:rPr lang="en-US" sz="1600" dirty="0"/>
              <a:t>&gt;</a:t>
            </a:r>
          </a:p>
          <a:p>
            <a:pPr marL="0" indent="0">
              <a:buNone/>
            </a:pPr>
            <a:r>
              <a:rPr lang="en-US" sz="1600" dirty="0"/>
              <a:t>void main</a:t>
            </a:r>
            <a:r>
              <a:rPr lang="en-US" sz="1600" dirty="0" smtClean="0"/>
              <a:t>()</a:t>
            </a:r>
          </a:p>
          <a:p>
            <a:pPr marL="0" indent="0">
              <a:buNone/>
            </a:pPr>
            <a:r>
              <a:rPr lang="en-US" sz="1600" dirty="0" smtClean="0"/>
              <a:t>{</a:t>
            </a:r>
            <a:endParaRPr lang="en-US" sz="1600" dirty="0"/>
          </a:p>
          <a:p>
            <a:pPr marL="0" indent="0">
              <a:buNone/>
            </a:pPr>
            <a:r>
              <a:rPr lang="en-US" sz="1600" dirty="0" smtClean="0"/>
              <a:t>	</a:t>
            </a:r>
            <a:r>
              <a:rPr lang="en-US" sz="1600" dirty="0" err="1" smtClean="0"/>
              <a:t>int</a:t>
            </a:r>
            <a:r>
              <a:rPr lang="en-US" sz="1600" dirty="0" smtClean="0"/>
              <a:t> </a:t>
            </a:r>
            <a:r>
              <a:rPr lang="en-US" sz="1600" dirty="0"/>
              <a:t>i=1;//initializing a local variable</a:t>
            </a:r>
          </a:p>
          <a:p>
            <a:pPr marL="0" indent="0">
              <a:buNone/>
            </a:pPr>
            <a:r>
              <a:rPr lang="en-US" sz="1600" dirty="0" smtClean="0"/>
              <a:t>	</a:t>
            </a:r>
            <a:r>
              <a:rPr lang="en-US" sz="1600" dirty="0" err="1" smtClean="0"/>
              <a:t>clrscr</a:t>
            </a:r>
            <a:r>
              <a:rPr lang="en-US" sz="1600" dirty="0"/>
              <a:t>();</a:t>
            </a:r>
          </a:p>
          <a:p>
            <a:pPr marL="0" indent="0">
              <a:buNone/>
            </a:pPr>
            <a:r>
              <a:rPr lang="en-US" sz="1600" dirty="0" smtClean="0"/>
              <a:t>	//</a:t>
            </a:r>
            <a:r>
              <a:rPr lang="en-US" sz="1600" dirty="0"/>
              <a:t>starting a loop from 1 to 10</a:t>
            </a:r>
          </a:p>
          <a:p>
            <a:pPr marL="0" indent="0">
              <a:buNone/>
            </a:pPr>
            <a:r>
              <a:rPr lang="en-US" sz="1600" dirty="0" smtClean="0"/>
              <a:t>	for(i=1;i</a:t>
            </a:r>
            <a:r>
              <a:rPr lang="en-US" sz="1600" dirty="0"/>
              <a:t>&lt;=10;i</a:t>
            </a:r>
            <a:r>
              <a:rPr lang="en-US" sz="1600" dirty="0" smtClean="0"/>
              <a:t>++)</a:t>
            </a:r>
          </a:p>
          <a:p>
            <a:pPr marL="0" indent="0">
              <a:buNone/>
            </a:pPr>
            <a:r>
              <a:rPr lang="en-US" sz="1600" dirty="0"/>
              <a:t>	</a:t>
            </a:r>
            <a:r>
              <a:rPr lang="en-US" sz="1600" dirty="0" smtClean="0"/>
              <a:t>{</a:t>
            </a:r>
          </a:p>
          <a:p>
            <a:pPr marL="0" indent="0">
              <a:buNone/>
            </a:pPr>
            <a:r>
              <a:rPr lang="en-US" sz="1600" dirty="0"/>
              <a:t>	</a:t>
            </a:r>
            <a:r>
              <a:rPr lang="en-US" sz="1600" dirty="0" smtClean="0"/>
              <a:t>	</a:t>
            </a:r>
            <a:r>
              <a:rPr lang="en-US" sz="1600" dirty="0" err="1" smtClean="0"/>
              <a:t>printf</a:t>
            </a:r>
            <a:r>
              <a:rPr lang="en-US" sz="1600" dirty="0"/>
              <a:t>("%d \</a:t>
            </a:r>
            <a:r>
              <a:rPr lang="en-US" sz="1600" dirty="0" err="1"/>
              <a:t>n",i</a:t>
            </a:r>
            <a:r>
              <a:rPr lang="en-US" sz="1600" dirty="0"/>
              <a:t>);</a:t>
            </a:r>
          </a:p>
          <a:p>
            <a:pPr marL="0" indent="0">
              <a:buNone/>
            </a:pPr>
            <a:r>
              <a:rPr lang="en-US" sz="1600" dirty="0" smtClean="0"/>
              <a:t>		if(i</a:t>
            </a:r>
            <a:r>
              <a:rPr lang="en-US" sz="1600" dirty="0"/>
              <a:t>==</a:t>
            </a:r>
            <a:r>
              <a:rPr lang="en-US" sz="1600" dirty="0" smtClean="0"/>
              <a:t>5)</a:t>
            </a:r>
          </a:p>
          <a:p>
            <a:pPr marL="0" indent="0">
              <a:buNone/>
            </a:pPr>
            <a:r>
              <a:rPr lang="en-US" sz="1600" dirty="0"/>
              <a:t>	</a:t>
            </a:r>
            <a:r>
              <a:rPr lang="en-US" sz="1600" dirty="0" smtClean="0"/>
              <a:t>	{ </a:t>
            </a:r>
          </a:p>
          <a:p>
            <a:pPr marL="0" indent="0">
              <a:buNone/>
            </a:pPr>
            <a:r>
              <a:rPr lang="en-US" sz="1600" dirty="0"/>
              <a:t>	</a:t>
            </a:r>
            <a:r>
              <a:rPr lang="en-US" sz="1600" dirty="0" smtClean="0"/>
              <a:t>		//</a:t>
            </a:r>
            <a:r>
              <a:rPr lang="en-US" sz="1600" dirty="0"/>
              <a:t>if value of i is equal to 5, it will break the loop</a:t>
            </a:r>
          </a:p>
          <a:p>
            <a:pPr marL="0" indent="0">
              <a:buNone/>
            </a:pPr>
            <a:r>
              <a:rPr lang="en-US" sz="1600" dirty="0" smtClean="0"/>
              <a:t>			break</a:t>
            </a:r>
            <a:r>
              <a:rPr lang="en-US" sz="1600" dirty="0"/>
              <a:t>;</a:t>
            </a:r>
          </a:p>
          <a:p>
            <a:pPr marL="0" indent="0">
              <a:buNone/>
            </a:pPr>
            <a:r>
              <a:rPr lang="en-US" sz="1600" dirty="0" smtClean="0"/>
              <a:t>		}</a:t>
            </a:r>
            <a:endParaRPr lang="en-US" sz="1600" dirty="0"/>
          </a:p>
          <a:p>
            <a:pPr marL="0" indent="0">
              <a:buNone/>
            </a:pPr>
            <a:r>
              <a:rPr lang="en-US" sz="1600" dirty="0" smtClean="0"/>
              <a:t>	} //</a:t>
            </a:r>
            <a:r>
              <a:rPr lang="en-US" sz="1600" dirty="0"/>
              <a:t>end of for loop</a:t>
            </a:r>
          </a:p>
          <a:p>
            <a:pPr marL="0" indent="0">
              <a:buNone/>
            </a:pPr>
            <a:r>
              <a:rPr lang="en-US" sz="1600" dirty="0" smtClean="0"/>
              <a:t>	</a:t>
            </a:r>
            <a:r>
              <a:rPr lang="en-US" sz="1600" dirty="0" err="1" smtClean="0"/>
              <a:t>getch</a:t>
            </a:r>
            <a:r>
              <a:rPr lang="en-US" sz="1600" dirty="0"/>
              <a:t>();</a:t>
            </a:r>
          </a:p>
          <a:p>
            <a:pPr marL="0" indent="0">
              <a:buNone/>
            </a:pPr>
            <a:r>
              <a:rPr lang="en-US" sz="1600" dirty="0"/>
              <a:t>}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38060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continue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81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600" b="1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Continue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is keyword exactly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opposite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break</a:t>
            </a:r>
            <a:r>
              <a:rPr lang="en-US" sz="3600" dirty="0"/>
              <a:t>. The continue statement is used for </a:t>
            </a:r>
            <a:r>
              <a:rPr lang="en-US" sz="3600" dirty="0" smtClean="0">
                <a:solidFill>
                  <a:srgbClr val="0000CC"/>
                </a:solidFill>
              </a:rPr>
              <a:t>continuing next </a:t>
            </a:r>
            <a:r>
              <a:rPr lang="en-US" sz="3600" dirty="0">
                <a:solidFill>
                  <a:srgbClr val="0000CC"/>
                </a:solidFill>
              </a:rPr>
              <a:t>iteration of loop statements</a:t>
            </a:r>
            <a:r>
              <a:rPr lang="en-US" sz="3600" dirty="0"/>
              <a:t>. it causes the next </a:t>
            </a:r>
            <a:r>
              <a:rPr lang="en-US" sz="3600" dirty="0" smtClean="0"/>
              <a:t>iteration of </a:t>
            </a:r>
            <a:r>
              <a:rPr lang="en-US" sz="3600" dirty="0"/>
              <a:t>the enclosing for, while, or do loop to begin. When it occurs in the loop </a:t>
            </a:r>
            <a:r>
              <a:rPr lang="en-US" sz="3600" dirty="0">
                <a:solidFill>
                  <a:srgbClr val="FF0000"/>
                </a:solidFill>
              </a:rPr>
              <a:t>it does not terminate</a:t>
            </a:r>
            <a:r>
              <a:rPr lang="en-US" sz="3600" dirty="0"/>
              <a:t>, but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skips some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statements inside the loop</a:t>
            </a:r>
            <a:r>
              <a:rPr lang="en-US" sz="3600" dirty="0"/>
              <a:t> / the statements after this statement. </a:t>
            </a:r>
          </a:p>
        </p:txBody>
      </p:sp>
    </p:spTree>
    <p:extLst>
      <p:ext uri="{BB962C8B-B14F-4D97-AF65-F5344CB8AC3E}">
        <p14:creationId xmlns:p14="http://schemas.microsoft.com/office/powerpoint/2010/main" val="2175980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continue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81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600" dirty="0"/>
              <a:t>In the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 and do</a:t>
            </a:r>
            <a:r>
              <a:rPr lang="en-US" sz="3600" dirty="0"/>
              <a:t>, this means that 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test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 is executed immediately</a:t>
            </a:r>
            <a:r>
              <a:rPr lang="en-US" sz="3600" dirty="0"/>
              <a:t>; in the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US" sz="3600" dirty="0"/>
              <a:t>,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 passes to the increment step</a:t>
            </a:r>
            <a:r>
              <a:rPr lang="en-US" sz="3600" dirty="0"/>
              <a:t>. </a:t>
            </a:r>
            <a:r>
              <a:rPr lang="en-US" sz="3600" dirty="0" smtClean="0"/>
              <a:t>The continue </a:t>
            </a:r>
            <a:r>
              <a:rPr lang="en-US" sz="3600" dirty="0"/>
              <a:t>statement applies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only to loops</a:t>
            </a:r>
            <a:r>
              <a:rPr lang="en-US" sz="3600" dirty="0"/>
              <a:t>,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to switch</a:t>
            </a:r>
            <a:r>
              <a:rPr lang="en-US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7599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continue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81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600" dirty="0"/>
              <a:t>Consider the following program:</a:t>
            </a:r>
          </a:p>
          <a:p>
            <a:pPr marL="0" indent="0" algn="just">
              <a:buNone/>
            </a:pPr>
            <a:r>
              <a:rPr lang="en-US" sz="1800" dirty="0"/>
              <a:t>main( )</a:t>
            </a:r>
          </a:p>
          <a:p>
            <a:pPr marL="0" indent="0" algn="just">
              <a:buNone/>
            </a:pPr>
            <a:r>
              <a:rPr lang="en-US" sz="1800" dirty="0" smtClean="0"/>
              <a:t>{</a:t>
            </a:r>
          </a:p>
          <a:p>
            <a:pPr marL="0" indent="0" algn="just">
              <a:buNone/>
            </a:pPr>
            <a:r>
              <a:rPr lang="en-US" sz="1800" dirty="0"/>
              <a:t>	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/>
              <a:t>i, j ;</a:t>
            </a:r>
          </a:p>
          <a:p>
            <a:pPr marL="0" indent="0" algn="just">
              <a:buNone/>
            </a:pPr>
            <a:r>
              <a:rPr lang="en-US" sz="1800" dirty="0" smtClean="0"/>
              <a:t>	for </a:t>
            </a:r>
            <a:r>
              <a:rPr lang="en-US" sz="1800" dirty="0"/>
              <a:t>( i = 1 ; i &lt;= 2 ; i++ )</a:t>
            </a:r>
          </a:p>
          <a:p>
            <a:pPr marL="0" indent="0" algn="just">
              <a:buNone/>
            </a:pPr>
            <a:r>
              <a:rPr lang="en-US" sz="1800" dirty="0" smtClean="0"/>
              <a:t>	{</a:t>
            </a:r>
            <a:endParaRPr lang="en-US" sz="1800" dirty="0"/>
          </a:p>
          <a:p>
            <a:pPr marL="0" indent="0" algn="just">
              <a:buNone/>
            </a:pPr>
            <a:r>
              <a:rPr lang="en-US" sz="1800" dirty="0" smtClean="0"/>
              <a:t>		for </a:t>
            </a:r>
            <a:r>
              <a:rPr lang="en-US" sz="1800" dirty="0"/>
              <a:t>( j = 1 ; j &lt;= 2 ; j++ )</a:t>
            </a:r>
          </a:p>
          <a:p>
            <a:pPr marL="0" indent="0" algn="just">
              <a:buNone/>
            </a:pPr>
            <a:r>
              <a:rPr lang="en-US" sz="1800" dirty="0" smtClean="0"/>
              <a:t>		{ </a:t>
            </a:r>
          </a:p>
          <a:p>
            <a:pPr marL="0" indent="0" algn="just">
              <a:buNone/>
            </a:pPr>
            <a:r>
              <a:rPr lang="en-US" sz="1800" dirty="0"/>
              <a:t>	</a:t>
            </a:r>
            <a:r>
              <a:rPr lang="en-US" sz="1800" dirty="0" smtClean="0"/>
              <a:t>		if </a:t>
            </a:r>
            <a:r>
              <a:rPr lang="en-US" sz="1800" dirty="0"/>
              <a:t>( i == j)</a:t>
            </a:r>
          </a:p>
          <a:p>
            <a:pPr marL="0" indent="0" algn="just">
              <a:buNone/>
            </a:pPr>
            <a:r>
              <a:rPr lang="en-US" sz="1800" dirty="0" smtClean="0"/>
              <a:t>			continue </a:t>
            </a:r>
            <a:r>
              <a:rPr lang="en-US" sz="1800" dirty="0"/>
              <a:t>;</a:t>
            </a:r>
          </a:p>
          <a:p>
            <a:pPr marL="0" indent="0" algn="just">
              <a:buNone/>
            </a:pPr>
            <a:r>
              <a:rPr lang="en-US" sz="1800" dirty="0" smtClean="0"/>
              <a:t>			</a:t>
            </a:r>
            <a:r>
              <a:rPr lang="en-US" sz="1800" dirty="0" err="1" smtClean="0"/>
              <a:t>printf</a:t>
            </a:r>
            <a:r>
              <a:rPr lang="en-US" sz="1800" dirty="0" smtClean="0"/>
              <a:t> </a:t>
            </a:r>
            <a:r>
              <a:rPr lang="en-US" sz="1800" dirty="0"/>
              <a:t>( "\</a:t>
            </a:r>
            <a:r>
              <a:rPr lang="en-US" sz="1800" dirty="0" err="1"/>
              <a:t>n%d</a:t>
            </a:r>
            <a:r>
              <a:rPr lang="en-US" sz="1800" dirty="0"/>
              <a:t> %d\n", i, j ) ;</a:t>
            </a:r>
          </a:p>
          <a:p>
            <a:pPr marL="0" indent="0" algn="just">
              <a:buNone/>
            </a:pPr>
            <a:r>
              <a:rPr lang="en-US" sz="1800" dirty="0" smtClean="0"/>
              <a:t>		}</a:t>
            </a:r>
            <a:endParaRPr lang="en-US" sz="1800" dirty="0"/>
          </a:p>
          <a:p>
            <a:pPr marL="0" indent="0" algn="just">
              <a:buNone/>
            </a:pPr>
            <a:r>
              <a:rPr lang="en-US" sz="1800" dirty="0" smtClean="0"/>
              <a:t>	}</a:t>
            </a:r>
            <a:endParaRPr lang="en-US" sz="1800" dirty="0"/>
          </a:p>
          <a:p>
            <a:pPr marL="0" indent="0" algn="just">
              <a:buNone/>
            </a:pPr>
            <a:r>
              <a:rPr lang="en-US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73814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 </a:t>
            </a: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&amp; Flowchart of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continue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81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600" dirty="0"/>
              <a:t>Syntax of continue Statement</a:t>
            </a:r>
          </a:p>
          <a:p>
            <a:pPr marL="0" indent="0" algn="just">
              <a:buNone/>
            </a:pPr>
            <a:r>
              <a:rPr lang="en-US" sz="3600" dirty="0"/>
              <a:t>continue</a:t>
            </a:r>
            <a:r>
              <a:rPr lang="en-US" sz="3600" dirty="0" smtClean="0"/>
              <a:t>;</a:t>
            </a:r>
          </a:p>
          <a:p>
            <a:pPr marL="0" indent="0" algn="just">
              <a:buNone/>
            </a:pPr>
            <a:r>
              <a:rPr lang="en-US" sz="3600" u="sng" dirty="0" smtClean="0"/>
              <a:t>Flowchart:</a:t>
            </a:r>
            <a:endParaRPr lang="en-US" sz="3600" u="sng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049378"/>
            <a:ext cx="5410200" cy="4676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71725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continue statement works?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371600"/>
            <a:ext cx="7580518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810000"/>
            <a:ext cx="788670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9656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continue statement works?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 smtClean="0"/>
              <a:t>#include </a:t>
            </a:r>
            <a:r>
              <a:rPr lang="en-US" dirty="0"/>
              <a:t>&lt;</a:t>
            </a:r>
            <a:r>
              <a:rPr lang="en-US" dirty="0" err="1"/>
              <a:t>conio.h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 smtClean="0"/>
              <a:t>void </a:t>
            </a:r>
            <a:r>
              <a:rPr lang="en-US" dirty="0"/>
              <a:t>main</a:t>
            </a:r>
            <a:r>
              <a:rPr lang="en-US" dirty="0" smtClean="0"/>
              <a:t>()</a:t>
            </a:r>
          </a:p>
          <a:p>
            <a:pPr marL="0" indent="0">
              <a:buNone/>
            </a:pPr>
            <a:r>
              <a:rPr lang="en-US" dirty="0" smtClean="0"/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i=1;//initializing a local variable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 smtClean="0"/>
              <a:t>clrscr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//</a:t>
            </a:r>
            <a:r>
              <a:rPr lang="en-US" dirty="0"/>
              <a:t>starting a loop from 1 to 10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for(i=1;i</a:t>
            </a:r>
            <a:r>
              <a:rPr lang="en-US" dirty="0"/>
              <a:t>&lt;=10;i</a:t>
            </a:r>
            <a:r>
              <a:rPr lang="en-US" dirty="0" smtClean="0"/>
              <a:t>++)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if(i</a:t>
            </a:r>
            <a:r>
              <a:rPr lang="en-US" dirty="0"/>
              <a:t>==5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{	//</a:t>
            </a:r>
            <a:r>
              <a:rPr lang="en-US" dirty="0"/>
              <a:t>if value of i is equal to 5, it will continue the loop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continue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dirty="0" err="1" smtClean="0"/>
              <a:t>printf</a:t>
            </a:r>
            <a:r>
              <a:rPr lang="en-US" dirty="0"/>
              <a:t>("%d \</a:t>
            </a:r>
            <a:r>
              <a:rPr lang="en-US" dirty="0" err="1"/>
              <a:t>n",i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 </a:t>
            </a:r>
            <a:r>
              <a:rPr lang="en-US" dirty="0"/>
              <a:t>}//end of for loop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 </a:t>
            </a:r>
            <a:r>
              <a:rPr lang="en-US" dirty="0" err="1"/>
              <a:t>getch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96776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Comparision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between break and continue statements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95400"/>
            <a:ext cx="8610600" cy="31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0387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goto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81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600" dirty="0"/>
              <a:t>The 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goto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statement </a:t>
            </a:r>
            <a:r>
              <a:rPr lang="en-US" sz="3600" dirty="0"/>
              <a:t>causes your program to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jump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 a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different location</a:t>
            </a:r>
            <a:r>
              <a:rPr lang="en-US" sz="3600" dirty="0"/>
              <a:t>, rather </a:t>
            </a:r>
            <a:r>
              <a:rPr lang="en-US" sz="3600" dirty="0" smtClean="0"/>
              <a:t>than execute </a:t>
            </a:r>
            <a:r>
              <a:rPr lang="en-US" sz="3600" dirty="0"/>
              <a:t>the next statement in sequence. </a:t>
            </a:r>
            <a:endParaRPr lang="en-US" sz="3600" dirty="0" smtClean="0"/>
          </a:p>
          <a:p>
            <a:pPr marL="0" indent="0" algn="just">
              <a:buNone/>
            </a:pPr>
            <a:r>
              <a:rPr lang="en-US" sz="3600" dirty="0" smtClean="0"/>
              <a:t>The </a:t>
            </a:r>
            <a:r>
              <a:rPr lang="en-US" sz="3600" dirty="0"/>
              <a:t>format of the </a:t>
            </a:r>
            <a:r>
              <a:rPr lang="en-US" sz="3600" dirty="0" err="1"/>
              <a:t>goto</a:t>
            </a:r>
            <a:r>
              <a:rPr lang="en-US" sz="3600" dirty="0"/>
              <a:t> statement is;</a:t>
            </a:r>
          </a:p>
          <a:p>
            <a:pPr marL="0" indent="0" algn="just">
              <a:buNone/>
            </a:pPr>
            <a:r>
              <a:rPr lang="en-US" sz="3600" b="1" i="1" dirty="0" err="1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goto</a:t>
            </a:r>
            <a:r>
              <a:rPr lang="en-US" sz="3600" b="1" i="1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statement label;</a:t>
            </a:r>
          </a:p>
        </p:txBody>
      </p:sp>
    </p:spTree>
    <p:extLst>
      <p:ext uri="{BB962C8B-B14F-4D97-AF65-F5344CB8AC3E}">
        <p14:creationId xmlns:p14="http://schemas.microsoft.com/office/powerpoint/2010/main" val="3059938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goto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81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600" dirty="0"/>
              <a:t>Consider the following program </a:t>
            </a:r>
            <a:r>
              <a:rPr lang="en-US" sz="3600" dirty="0" smtClean="0"/>
              <a:t>fragment</a:t>
            </a:r>
            <a:endParaRPr lang="en-US" sz="3600" b="1" i="1" dirty="0">
              <a:solidFill>
                <a:srgbClr val="B606B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sz="3600" b="1" i="1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(size &gt; 12)</a:t>
            </a:r>
          </a:p>
          <a:p>
            <a:pPr marL="0" indent="0" algn="just">
              <a:buNone/>
            </a:pPr>
            <a:r>
              <a:rPr lang="en-US" sz="3600" b="1" i="1" dirty="0" smtClean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3600" b="1" i="1" dirty="0" err="1" smtClean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goto</a:t>
            </a:r>
            <a:r>
              <a:rPr lang="en-US" sz="3600" b="1" i="1" dirty="0" smtClean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i="1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a;</a:t>
            </a:r>
          </a:p>
          <a:p>
            <a:pPr marL="0" indent="0" algn="just">
              <a:buNone/>
            </a:pPr>
            <a:r>
              <a:rPr lang="en-US" sz="3600" b="1" i="1" dirty="0" err="1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goto</a:t>
            </a:r>
            <a:r>
              <a:rPr lang="en-US" sz="3600" b="1" i="1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b;</a:t>
            </a:r>
          </a:p>
          <a:p>
            <a:pPr marL="0" indent="0" algn="just">
              <a:buNone/>
            </a:pPr>
            <a:endParaRPr lang="en-US" sz="3600" b="1" i="1" dirty="0" smtClean="0">
              <a:solidFill>
                <a:srgbClr val="B606B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sz="3600" b="1" i="1" dirty="0" smtClean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sz="3600" b="1" i="1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cost = cost * 1.05;</a:t>
            </a:r>
          </a:p>
          <a:p>
            <a:pPr marL="0" indent="0" algn="just">
              <a:buNone/>
            </a:pPr>
            <a:r>
              <a:rPr lang="en-US" sz="3600" b="1" i="1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flag = 2; </a:t>
            </a:r>
            <a:endParaRPr lang="en-US" sz="3600" b="1" i="1" dirty="0" smtClean="0">
              <a:solidFill>
                <a:srgbClr val="B606B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sz="3600" b="1" i="1" dirty="0" smtClean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r>
              <a:rPr lang="en-US" sz="3600" b="1" i="1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bill = cost * flag;</a:t>
            </a:r>
          </a:p>
        </p:txBody>
      </p:sp>
    </p:spTree>
    <p:extLst>
      <p:ext uri="{BB962C8B-B14F-4D97-AF65-F5344CB8AC3E}">
        <p14:creationId xmlns:p14="http://schemas.microsoft.com/office/powerpoint/2010/main" val="689822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goto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295400"/>
            <a:ext cx="5715000" cy="5356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5697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goto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81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600" dirty="0"/>
              <a:t>Consider the following program </a:t>
            </a:r>
            <a:r>
              <a:rPr lang="en-US" sz="3600" dirty="0" smtClean="0"/>
              <a:t>fragment</a:t>
            </a:r>
            <a:endParaRPr lang="en-US" sz="3600" b="1" i="1" dirty="0">
              <a:solidFill>
                <a:srgbClr val="B606B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sz="3600" b="1" i="1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(size &gt; 12)</a:t>
            </a:r>
          </a:p>
          <a:p>
            <a:pPr marL="0" indent="0" algn="just">
              <a:buNone/>
            </a:pPr>
            <a:r>
              <a:rPr lang="en-US" sz="3600" b="1" i="1" dirty="0" smtClean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3600" b="1" i="1" dirty="0" err="1" smtClean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goto</a:t>
            </a:r>
            <a:r>
              <a:rPr lang="en-US" sz="3600" b="1" i="1" dirty="0" smtClean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i="1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a;</a:t>
            </a:r>
          </a:p>
          <a:p>
            <a:pPr marL="0" indent="0" algn="just">
              <a:buNone/>
            </a:pPr>
            <a:r>
              <a:rPr lang="en-US" sz="3600" b="1" i="1" dirty="0" err="1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goto</a:t>
            </a:r>
            <a:r>
              <a:rPr lang="en-US" sz="3600" b="1" i="1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b;</a:t>
            </a:r>
          </a:p>
          <a:p>
            <a:pPr marL="0" indent="0" algn="just">
              <a:buNone/>
            </a:pPr>
            <a:endParaRPr lang="en-US" sz="3600" b="1" i="1" dirty="0" smtClean="0">
              <a:solidFill>
                <a:srgbClr val="B606B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sz="3600" b="1" i="1" dirty="0" smtClean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sz="3600" b="1" i="1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cost = cost * 1.05;</a:t>
            </a:r>
          </a:p>
          <a:p>
            <a:pPr marL="0" indent="0" algn="just">
              <a:buNone/>
            </a:pPr>
            <a:r>
              <a:rPr lang="en-US" sz="3600" b="1" i="1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flag = 2; </a:t>
            </a:r>
            <a:endParaRPr lang="en-US" sz="3600" b="1" i="1" dirty="0" smtClean="0">
              <a:solidFill>
                <a:srgbClr val="B606B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sz="3600" b="1" i="1" dirty="0" smtClean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r>
              <a:rPr lang="en-US" sz="3600" b="1" i="1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bill = cost * flag;</a:t>
            </a:r>
          </a:p>
        </p:txBody>
      </p:sp>
    </p:spTree>
    <p:extLst>
      <p:ext uri="{BB962C8B-B14F-4D97-AF65-F5344CB8AC3E}">
        <p14:creationId xmlns:p14="http://schemas.microsoft.com/office/powerpoint/2010/main" val="1019162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Assignment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9" y="1219200"/>
            <a:ext cx="8416051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0840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Assignment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0"/>
            <a:ext cx="8785412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581400"/>
            <a:ext cx="8229600" cy="3092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5648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Assignment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95400"/>
            <a:ext cx="8305800" cy="4274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2573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Assignment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26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9" y="1295400"/>
            <a:ext cx="8804737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7631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Assignment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19199"/>
            <a:ext cx="8382000" cy="2928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726" y="3944854"/>
            <a:ext cx="8534400" cy="2006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3402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you….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405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3729</TotalTime>
  <Words>571</Words>
  <Application>Microsoft Office PowerPoint</Application>
  <PresentationFormat>On-screen Show (4:3)</PresentationFormat>
  <Paragraphs>182</Paragraphs>
  <Slides>29</Slides>
  <Notes>26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Office Theme</vt:lpstr>
      <vt:lpstr>1_Slipstream</vt:lpstr>
      <vt:lpstr>1_Office Theme</vt:lpstr>
      <vt:lpstr>Structure Programming  ICT-1105  Information and Communication Technology</vt:lpstr>
      <vt:lpstr>PowerPoint Presentation</vt:lpstr>
      <vt:lpstr>Jump Statements</vt:lpstr>
      <vt:lpstr>Jump Statements</vt:lpstr>
      <vt:lpstr>Jump Statements</vt:lpstr>
      <vt:lpstr>Break Statement</vt:lpstr>
      <vt:lpstr>Break Statement</vt:lpstr>
      <vt:lpstr>Break Statement</vt:lpstr>
      <vt:lpstr>Syntax &amp; Flowchart of break statement</vt:lpstr>
      <vt:lpstr>How break statement works?</vt:lpstr>
      <vt:lpstr>How break statement works?</vt:lpstr>
      <vt:lpstr>How break statement works?</vt:lpstr>
      <vt:lpstr>continue Statement</vt:lpstr>
      <vt:lpstr>continue Statement</vt:lpstr>
      <vt:lpstr>continue Statement</vt:lpstr>
      <vt:lpstr>Syntax  &amp; Flowchart of continue Statement</vt:lpstr>
      <vt:lpstr>How continue statement works?</vt:lpstr>
      <vt:lpstr>How continue statement works?</vt:lpstr>
      <vt:lpstr>Comparision between break and continue statements</vt:lpstr>
      <vt:lpstr>goto Statement</vt:lpstr>
      <vt:lpstr>goto Statement</vt:lpstr>
      <vt:lpstr>goto Statement</vt:lpstr>
      <vt:lpstr>goto Statement</vt:lpstr>
      <vt:lpstr>Assignment</vt:lpstr>
      <vt:lpstr>Assignment</vt:lpstr>
      <vt:lpstr>Assignment</vt:lpstr>
      <vt:lpstr>Assignment</vt:lpstr>
      <vt:lpstr>Assignment</vt:lpstr>
      <vt:lpstr>Thank you….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Output devices</dc:title>
  <dc:creator>AION</dc:creator>
  <cp:lastModifiedBy>Dulal Sir</cp:lastModifiedBy>
  <cp:revision>412</cp:revision>
  <dcterms:created xsi:type="dcterms:W3CDTF">2019-09-20T11:10:00Z</dcterms:created>
  <dcterms:modified xsi:type="dcterms:W3CDTF">2025-02-06T08:40:15Z</dcterms:modified>
</cp:coreProperties>
</file>