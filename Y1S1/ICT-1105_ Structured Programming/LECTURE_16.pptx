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8" r:id="rId2"/>
    <p:sldMasterId id="2147483890" r:id="rId3"/>
  </p:sldMasterIdLst>
  <p:notesMasterIdLst>
    <p:notesMasterId r:id="rId44"/>
  </p:notesMasterIdLst>
  <p:sldIdLst>
    <p:sldId id="463" r:id="rId4"/>
    <p:sldId id="467" r:id="rId5"/>
    <p:sldId id="534" r:id="rId6"/>
    <p:sldId id="623" r:id="rId7"/>
    <p:sldId id="652" r:id="rId8"/>
    <p:sldId id="653" r:id="rId9"/>
    <p:sldId id="654" r:id="rId10"/>
    <p:sldId id="660" r:id="rId11"/>
    <p:sldId id="655" r:id="rId12"/>
    <p:sldId id="656" r:id="rId13"/>
    <p:sldId id="657" r:id="rId14"/>
    <p:sldId id="658" r:id="rId15"/>
    <p:sldId id="661" r:id="rId16"/>
    <p:sldId id="662" r:id="rId17"/>
    <p:sldId id="663" r:id="rId18"/>
    <p:sldId id="664" r:id="rId19"/>
    <p:sldId id="665" r:id="rId20"/>
    <p:sldId id="666" r:id="rId21"/>
    <p:sldId id="667" r:id="rId22"/>
    <p:sldId id="668" r:id="rId23"/>
    <p:sldId id="669" r:id="rId24"/>
    <p:sldId id="670" r:id="rId25"/>
    <p:sldId id="671" r:id="rId26"/>
    <p:sldId id="672" r:id="rId27"/>
    <p:sldId id="673" r:id="rId28"/>
    <p:sldId id="674" r:id="rId29"/>
    <p:sldId id="659" r:id="rId30"/>
    <p:sldId id="678" r:id="rId31"/>
    <p:sldId id="675" r:id="rId32"/>
    <p:sldId id="676" r:id="rId33"/>
    <p:sldId id="677" r:id="rId34"/>
    <p:sldId id="679" r:id="rId35"/>
    <p:sldId id="680" r:id="rId36"/>
    <p:sldId id="681" r:id="rId37"/>
    <p:sldId id="682" r:id="rId38"/>
    <p:sldId id="683" r:id="rId39"/>
    <p:sldId id="684" r:id="rId40"/>
    <p:sldId id="685" r:id="rId41"/>
    <p:sldId id="686" r:id="rId42"/>
    <p:sldId id="461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B606BA"/>
    <a:srgbClr val="03BD57"/>
    <a:srgbClr val="06661F"/>
    <a:srgbClr val="1DA37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1317" autoAdjust="0"/>
  </p:normalViewPr>
  <p:slideViewPr>
    <p:cSldViewPr>
      <p:cViewPr varScale="1">
        <p:scale>
          <a:sx n="71" d="100"/>
          <a:sy n="71" d="100"/>
        </p:scale>
        <p:origin x="179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CD7-0DB4-4E0B-B99D-38F426DFA1ED}" type="datetimeFigureOut">
              <a:rPr lang="en-US" smtClean="0"/>
              <a:t>2/28/2025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FB36-99AC-4CD3-8A8F-04DE1EFF5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15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1596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8739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116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7647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1999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3964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1638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2611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61942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5806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41015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86190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2171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20862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48588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7960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40976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5512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62091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83536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5482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11002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70314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16632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9039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35981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1921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92820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74456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0608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66414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59586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69190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9787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0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10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13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9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7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3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96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1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42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5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37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1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8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25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64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4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1200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8397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5910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0685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48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8570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869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5147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26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0346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8278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22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1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93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998720"/>
            <a:ext cx="6400800" cy="140208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Lecture-16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50210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 Programming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ICT-1105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>
            <a:normAutofit/>
          </a:bodyPr>
          <a:lstStyle/>
          <a:p>
            <a:pPr marL="0" indent="0" algn="just">
              <a:buFont typeface="Wingdings" pitchFamily="2" charset="2"/>
              <a:buNone/>
              <a:defRPr/>
            </a:pPr>
            <a:r>
              <a:rPr 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contents has given in  Google Classroom with code </a:t>
            </a: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en-US" sz="8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nhauiw4</a:t>
            </a:r>
            <a:endParaRPr lang="en-US" sz="8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5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3200"/>
            <a:ext cx="6511925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Storage Classes</a:t>
            </a:r>
            <a:endParaRPr lang="en-US" sz="4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020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Storage Classes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In </a:t>
            </a:r>
            <a:r>
              <a:rPr lang="en-US" dirty="0"/>
              <a:t>C language, each variable has a storage class which is used to define scope and life time of a</a:t>
            </a:r>
          </a:p>
          <a:p>
            <a:pPr marL="0" indent="0" algn="just">
              <a:buNone/>
            </a:pPr>
            <a:r>
              <a:rPr lang="en-US" dirty="0"/>
              <a:t>variable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Storage: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Any variable declared in a program can be stored either in memory or registers.</a:t>
            </a:r>
          </a:p>
          <a:p>
            <a:pPr marL="0" indent="0" algn="just">
              <a:buNone/>
            </a:pPr>
            <a:r>
              <a:rPr lang="en-US" dirty="0"/>
              <a:t>Registers are small amount of storage in CPU. The data stored in registers has fast </a:t>
            </a:r>
            <a:r>
              <a:rPr lang="en-US" dirty="0" smtClean="0"/>
              <a:t>access compared </a:t>
            </a:r>
            <a:r>
              <a:rPr lang="en-US" dirty="0"/>
              <a:t>to data stored in memory.</a:t>
            </a:r>
          </a:p>
        </p:txBody>
      </p:sp>
    </p:spTree>
    <p:extLst>
      <p:ext uri="{BB962C8B-B14F-4D97-AF65-F5344CB8AC3E}">
        <p14:creationId xmlns:p14="http://schemas.microsoft.com/office/powerpoint/2010/main" val="391355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Storage Classes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dirty="0" smtClean="0"/>
              <a:t>There </a:t>
            </a:r>
            <a:r>
              <a:rPr lang="en-US" dirty="0"/>
              <a:t>are four properties by which storage class of a variable can be recognized</a:t>
            </a:r>
            <a:r>
              <a:rPr lang="en-US" dirty="0" smtClean="0"/>
              <a:t>. These </a:t>
            </a:r>
            <a:r>
              <a:rPr lang="en-US" dirty="0"/>
              <a:t>are </a:t>
            </a:r>
            <a:r>
              <a:rPr lang="en-US" dirty="0" smtClean="0"/>
              <a:t>scope, default </a:t>
            </a:r>
            <a:r>
              <a:rPr lang="en-US" dirty="0"/>
              <a:t>initial value, scope and life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A variable’s storage class reveals the following things about a </a:t>
            </a:r>
            <a:r>
              <a:rPr lang="en-US" dirty="0" smtClean="0"/>
              <a:t>variable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Where</a:t>
            </a:r>
            <a:r>
              <a:rPr lang="en-US" dirty="0"/>
              <a:t> the variable is stored.</a:t>
            </a:r>
          </a:p>
          <a:p>
            <a:pPr marL="0" indent="0" algn="just">
              <a:buNone/>
            </a:pPr>
            <a:r>
              <a:rPr lang="en-US" dirty="0"/>
              <a:t>(ii)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the initial value</a:t>
            </a:r>
            <a:r>
              <a:rPr lang="en-US" dirty="0"/>
              <a:t> of the variable if the value of the variable is not specified?</a:t>
            </a:r>
          </a:p>
          <a:p>
            <a:pPr marL="0" indent="0" algn="just">
              <a:buNone/>
            </a:pPr>
            <a:r>
              <a:rPr lang="en-US" dirty="0"/>
              <a:t>(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iii)What is the scope</a:t>
            </a:r>
            <a:r>
              <a:rPr lang="en-US" dirty="0"/>
              <a:t> of the variable (To which function or block the variable is available).</a:t>
            </a:r>
          </a:p>
          <a:p>
            <a:pPr marL="0" indent="0" algn="just">
              <a:buNone/>
            </a:pPr>
            <a:r>
              <a:rPr lang="en-US" dirty="0"/>
              <a:t>(iv)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the life</a:t>
            </a:r>
            <a:r>
              <a:rPr lang="en-US" dirty="0"/>
              <a:t> of particular variable (Up to what extent the variable exists in a program)</a:t>
            </a:r>
          </a:p>
        </p:txBody>
      </p:sp>
    </p:spTree>
    <p:extLst>
      <p:ext uri="{BB962C8B-B14F-4D97-AF65-F5344CB8AC3E}">
        <p14:creationId xmlns:p14="http://schemas.microsoft.com/office/powerpoint/2010/main" val="307070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Storage Classes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There </a:t>
            </a:r>
            <a:r>
              <a:rPr lang="en-US" dirty="0"/>
              <a:t>are four storage classes in C programming.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: Automatic Storage class.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: Register Storage class.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: Static Storage class.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: External Storage class.</a:t>
            </a:r>
          </a:p>
        </p:txBody>
      </p:sp>
    </p:spTree>
    <p:extLst>
      <p:ext uri="{BB962C8B-B14F-4D97-AF65-F5344CB8AC3E}">
        <p14:creationId xmlns:p14="http://schemas.microsoft.com/office/powerpoint/2010/main" val="91729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Automatic Storage Class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dirty="0"/>
              <a:t>To define a variable as automatic storage class, the keyword </a:t>
            </a:r>
            <a:r>
              <a:rPr lang="en-US" dirty="0" smtClean="0"/>
              <a:t>“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</a:t>
            </a:r>
            <a:r>
              <a:rPr lang="en-US" dirty="0" smtClean="0"/>
              <a:t>” is </a:t>
            </a:r>
            <a:r>
              <a:rPr lang="en-US" dirty="0"/>
              <a:t>used. By defining a variable as automatic storage class, it is stored in the memory. </a:t>
            </a:r>
            <a:endParaRPr lang="en-US" dirty="0" smtClean="0"/>
          </a:p>
          <a:p>
            <a:pPr marL="0" indent="0" algn="just">
              <a:buNone/>
            </a:pPr>
            <a:r>
              <a:rPr lang="en-US" b="1" dirty="0" smtClean="0"/>
              <a:t>The default value </a:t>
            </a:r>
            <a:r>
              <a:rPr lang="en-US" b="1" dirty="0"/>
              <a:t>of the variable will be garbage value</a:t>
            </a:r>
            <a:r>
              <a:rPr lang="en-US" dirty="0"/>
              <a:t>.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</a:t>
            </a:r>
            <a:r>
              <a:rPr lang="en-US" dirty="0"/>
              <a:t> of the variable is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within the block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where it </a:t>
            </a:r>
            <a:r>
              <a:rPr lang="en-US" dirty="0" smtClean="0"/>
              <a:t>is defined </a:t>
            </a:r>
            <a:r>
              <a:rPr lang="en-US" dirty="0"/>
              <a:t>and the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life of the variable </a:t>
            </a:r>
            <a:r>
              <a:rPr lang="en-US" dirty="0"/>
              <a:t>is until the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remains within the block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Syntax : 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 </a:t>
            </a:r>
            <a:r>
              <a:rPr lang="en-US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data_type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variable_name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 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b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5102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Automatic Storage Class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Features of Automatic Storage Class are as </a:t>
            </a:r>
            <a:r>
              <a:rPr lang="en-US" dirty="0" smtClean="0"/>
              <a:t>follows:</a:t>
            </a:r>
          </a:p>
          <a:p>
            <a:pPr marL="0" indent="0" algn="just">
              <a:buNone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Storage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dirty="0"/>
              <a:t> </a:t>
            </a:r>
            <a:r>
              <a:rPr lang="en-US" dirty="0" smtClean="0"/>
              <a:t>Memory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Default Initial Value: </a:t>
            </a:r>
            <a:r>
              <a:rPr lang="en-US" dirty="0"/>
              <a:t>Garbage Value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Scope:</a:t>
            </a:r>
            <a:r>
              <a:rPr lang="en-US" dirty="0"/>
              <a:t> Local to the block in which the variable is defined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Life:</a:t>
            </a:r>
            <a:r>
              <a:rPr lang="en-US" dirty="0"/>
              <a:t> Till the control remains within the block in which the variable is defined</a:t>
            </a:r>
          </a:p>
        </p:txBody>
      </p:sp>
    </p:spTree>
    <p:extLst>
      <p:ext uri="{BB962C8B-B14F-4D97-AF65-F5344CB8AC3E}">
        <p14:creationId xmlns:p14="http://schemas.microsoft.com/office/powerpoint/2010/main" val="289941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Automatic Storage Class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Example:</a:t>
            </a:r>
          </a:p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detail;</a:t>
            </a:r>
          </a:p>
          <a:p>
            <a:pPr marL="0" indent="0" algn="just">
              <a:buNone/>
            </a:pPr>
            <a:r>
              <a:rPr lang="en-US" dirty="0" smtClean="0"/>
              <a:t>	or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	auto </a:t>
            </a:r>
            <a:r>
              <a:rPr lang="en-US" dirty="0" err="1"/>
              <a:t>int</a:t>
            </a:r>
            <a:r>
              <a:rPr lang="en-US" dirty="0"/>
              <a:t> detail; //Both are same</a:t>
            </a:r>
          </a:p>
          <a:p>
            <a:pPr marL="0" indent="0" algn="just">
              <a:buNone/>
            </a:pPr>
            <a:r>
              <a:rPr lang="en-US" dirty="0" smtClean="0"/>
              <a:t>}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keyword auto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not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mandatory. Because the default storage class in C is auto.</a:t>
            </a:r>
          </a:p>
          <a:p>
            <a:pPr marL="0" indent="0" algn="just">
              <a:buNone/>
            </a:pP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68222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Automatic Storage Class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Note: A variable declared inside a function without any storage class specification, is </a:t>
            </a:r>
            <a:r>
              <a:rPr lang="en-US" b="1" dirty="0"/>
              <a:t>by </a:t>
            </a:r>
            <a:r>
              <a:rPr lang="en-US" b="1" dirty="0" smtClean="0"/>
              <a:t>default an </a:t>
            </a:r>
            <a:r>
              <a:rPr lang="en-US" b="1" dirty="0"/>
              <a:t>automatic variable</a:t>
            </a:r>
            <a:r>
              <a:rPr lang="en-US" dirty="0"/>
              <a:t>. </a:t>
            </a:r>
            <a:r>
              <a:rPr lang="en-US" b="1" dirty="0">
                <a:solidFill>
                  <a:srgbClr val="0000CC"/>
                </a:solidFill>
              </a:rPr>
              <a:t>Automatic variables can also be called local variables because </a:t>
            </a:r>
            <a:r>
              <a:rPr lang="en-US" b="1" dirty="0" smtClean="0">
                <a:solidFill>
                  <a:srgbClr val="0000CC"/>
                </a:solidFill>
              </a:rPr>
              <a:t>they are </a:t>
            </a:r>
            <a:r>
              <a:rPr lang="en-US" b="1" dirty="0">
                <a:solidFill>
                  <a:srgbClr val="0000CC"/>
                </a:solidFill>
              </a:rPr>
              <a:t>local to a function</a:t>
            </a:r>
            <a:r>
              <a:rPr lang="en-US" dirty="0"/>
              <a:t>.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1421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Automatic Storage Class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2400" y="1004944"/>
            <a:ext cx="2571750" cy="4095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970878"/>
            <a:ext cx="2857500" cy="569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58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 Storage Class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To define a variable as register storage class, the </a:t>
            </a:r>
            <a:r>
              <a:rPr lang="en-US" dirty="0" smtClean="0"/>
              <a:t>keyword “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</a:t>
            </a:r>
            <a:r>
              <a:rPr lang="en-US" dirty="0" smtClean="0"/>
              <a:t>”  </a:t>
            </a:r>
            <a:r>
              <a:rPr lang="en-US" dirty="0"/>
              <a:t>is used. If CPU cannot store the variables in CPU registers, then the variables are assumed as auto and stored in the memory. </a:t>
            </a:r>
            <a:r>
              <a:rPr lang="en-US" b="1" dirty="0"/>
              <a:t>When a variable is declared as register, it is </a:t>
            </a:r>
            <a:r>
              <a:rPr lang="en-US" b="1" dirty="0" smtClean="0"/>
              <a:t>stored in </a:t>
            </a:r>
            <a:r>
              <a:rPr lang="en-US" b="1" dirty="0"/>
              <a:t>the CPU registers</a:t>
            </a:r>
            <a:r>
              <a:rPr lang="en-US" dirty="0"/>
              <a:t>. The </a:t>
            </a:r>
            <a:r>
              <a:rPr lang="en-US" b="1" dirty="0">
                <a:solidFill>
                  <a:srgbClr val="FF0000"/>
                </a:solidFill>
              </a:rPr>
              <a:t>default value </a:t>
            </a:r>
            <a:r>
              <a:rPr lang="en-US" dirty="0"/>
              <a:t>of the variable will be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garbage value</a:t>
            </a:r>
            <a:r>
              <a:rPr lang="en-US" dirty="0"/>
              <a:t>.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 of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variable</a:t>
            </a:r>
            <a:r>
              <a:rPr lang="en-US" dirty="0" smtClean="0"/>
              <a:t>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within the block </a:t>
            </a:r>
            <a:r>
              <a:rPr lang="en-US" dirty="0"/>
              <a:t>where it is defined and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life of the variables </a:t>
            </a:r>
            <a:r>
              <a:rPr lang="en-US" dirty="0"/>
              <a:t>is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until the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remains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within the block</a:t>
            </a:r>
            <a:r>
              <a:rPr lang="en-US" dirty="0"/>
              <a:t>.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013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 Storage Class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 variable has faster access than normal variable</a:t>
            </a:r>
            <a:r>
              <a:rPr lang="en-US" dirty="0"/>
              <a:t>.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Frequently used variables </a:t>
            </a:r>
            <a:r>
              <a:rPr lang="en-US" dirty="0"/>
              <a:t>are kept </a:t>
            </a:r>
            <a:r>
              <a:rPr lang="en-US" dirty="0" smtClean="0"/>
              <a:t>in register</a:t>
            </a:r>
            <a:r>
              <a:rPr lang="en-US" dirty="0"/>
              <a:t>. Only few variables can be placed inside register.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NOTE </a:t>
            </a:r>
            <a:r>
              <a:rPr lang="en-US" dirty="0"/>
              <a:t>: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 can't get the address of register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</a:t>
            </a:r>
          </a:p>
          <a:p>
            <a:pPr marL="0" indent="0" algn="just">
              <a:buNone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register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data_type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variable_name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 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049849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 Storage Class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Features of Register Storage Class are as follows: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Storage:</a:t>
            </a:r>
            <a:r>
              <a:rPr lang="en-US" dirty="0"/>
              <a:t> CPU Registers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Default Initial Value:</a:t>
            </a:r>
            <a:r>
              <a:rPr lang="en-US" dirty="0"/>
              <a:t> Garbage Value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Scope: </a:t>
            </a:r>
            <a:r>
              <a:rPr lang="en-US" dirty="0"/>
              <a:t>Local to the block in which the variable is defined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Life:</a:t>
            </a:r>
            <a:r>
              <a:rPr lang="en-US" dirty="0"/>
              <a:t> Till the control remains within the block in which the variable is defined</a:t>
            </a:r>
          </a:p>
        </p:txBody>
      </p:sp>
    </p:spTree>
    <p:extLst>
      <p:ext uri="{BB962C8B-B14F-4D97-AF65-F5344CB8AC3E}">
        <p14:creationId xmlns:p14="http://schemas.microsoft.com/office/powerpoint/2010/main" val="883457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 Storage Class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76600" y="1246887"/>
            <a:ext cx="2057400" cy="527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84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 Storage Class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register </a:t>
            </a:r>
            <a:r>
              <a:rPr lang="en-US" dirty="0" err="1"/>
              <a:t>int</a:t>
            </a:r>
            <a:r>
              <a:rPr lang="en-US" dirty="0"/>
              <a:t> a;</a:t>
            </a:r>
          </a:p>
          <a:p>
            <a:pPr marL="0" indent="0">
              <a:buNone/>
            </a:pPr>
            <a:r>
              <a:rPr lang="en-US" dirty="0"/>
              <a:t>for(a=0;i&lt;50000;i++)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(“%d\</a:t>
            </a:r>
            <a:r>
              <a:rPr lang="en-US" dirty="0" err="1"/>
              <a:t>t”,a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 algn="just">
              <a:buNone/>
            </a:pPr>
            <a:r>
              <a:rPr lang="en-US" sz="3400" dirty="0"/>
              <a:t>In the above program, variable a was used frequently as a loop counter so the variable a </a:t>
            </a:r>
            <a:r>
              <a:rPr lang="en-US" sz="3400" dirty="0" smtClean="0"/>
              <a:t>is defined </a:t>
            </a:r>
            <a:r>
              <a:rPr lang="en-US" sz="3400" dirty="0"/>
              <a:t>as a register variable. Register is a not a command but just a request to the compiler </a:t>
            </a:r>
            <a:r>
              <a:rPr lang="en-US" sz="3400" dirty="0" smtClean="0"/>
              <a:t>to allocate </a:t>
            </a:r>
            <a:r>
              <a:rPr lang="en-US" sz="3400" dirty="0"/>
              <a:t>the memory for the variable into the register. If free registers are available than </a:t>
            </a:r>
            <a:r>
              <a:rPr lang="en-US" sz="3400" dirty="0" smtClean="0"/>
              <a:t>memory will </a:t>
            </a:r>
            <a:r>
              <a:rPr lang="en-US" sz="3400" dirty="0"/>
              <a:t>be allocated in to the registers. And if there are no free registers then memory will </a:t>
            </a:r>
            <a:r>
              <a:rPr lang="en-US" sz="3400" dirty="0" smtClean="0"/>
              <a:t>be allocated </a:t>
            </a:r>
            <a:r>
              <a:rPr lang="en-US" sz="3400" dirty="0"/>
              <a:t>in the RAM only (Storage is in memory i.e. it will act as automatic variable).</a:t>
            </a:r>
          </a:p>
        </p:txBody>
      </p:sp>
    </p:spTree>
    <p:extLst>
      <p:ext uri="{BB962C8B-B14F-4D97-AF65-F5344CB8AC3E}">
        <p14:creationId xmlns:p14="http://schemas.microsoft.com/office/powerpoint/2010/main" val="1833986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 Storage Class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3400" dirty="0"/>
              <a:t>When a variable is declared as static, it is stored in the memory. </a:t>
            </a:r>
            <a:r>
              <a:rPr lang="en-US" sz="3400" dirty="0" smtClean="0"/>
              <a:t>The </a:t>
            </a:r>
            <a:r>
              <a:rPr lang="en-US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default 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 of the variable will be zero</a:t>
            </a:r>
            <a:r>
              <a:rPr lang="en-US" sz="3400" dirty="0"/>
              <a:t>. 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 of the </a:t>
            </a:r>
            <a:r>
              <a:rPr lang="en-US" sz="3400" dirty="0"/>
              <a:t>variable is </a:t>
            </a:r>
            <a:r>
              <a:rPr lang="en-US" sz="3400" b="1" dirty="0"/>
              <a:t>within the block </a:t>
            </a:r>
            <a:r>
              <a:rPr lang="en-US" sz="3400" dirty="0"/>
              <a:t>where it </a:t>
            </a:r>
            <a:r>
              <a:rPr lang="en-US" sz="3400" dirty="0" smtClean="0"/>
              <a:t>is defined </a:t>
            </a:r>
            <a:r>
              <a:rPr lang="en-US" sz="3400" dirty="0"/>
              <a:t>and the 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life of the variable persists between different function calls</a:t>
            </a:r>
            <a:r>
              <a:rPr lang="en-US" sz="3400" dirty="0"/>
              <a:t>. </a:t>
            </a:r>
            <a:endParaRPr lang="en-US" sz="3400" dirty="0" smtClean="0"/>
          </a:p>
          <a:p>
            <a:pPr marL="0" indent="0">
              <a:buNone/>
            </a:pPr>
            <a:endParaRPr lang="en-US" sz="3400" dirty="0" smtClean="0"/>
          </a:p>
          <a:p>
            <a:pPr marL="0" indent="0" algn="just">
              <a:buNone/>
            </a:pPr>
            <a:r>
              <a:rPr lang="en-US" sz="3400" dirty="0" smtClean="0"/>
              <a:t>To </a:t>
            </a:r>
            <a:r>
              <a:rPr lang="en-US" sz="3400" dirty="0"/>
              <a:t>define a </a:t>
            </a:r>
            <a:r>
              <a:rPr lang="en-US" sz="3400" dirty="0" smtClean="0"/>
              <a:t>variable as </a:t>
            </a:r>
            <a:r>
              <a:rPr lang="en-US" sz="3400" dirty="0"/>
              <a:t>static storage class, </a:t>
            </a:r>
            <a:r>
              <a:rPr lang="en-US" sz="3400" dirty="0" smtClean="0"/>
              <a:t>the keyword “</a:t>
            </a:r>
            <a:r>
              <a:rPr lang="en-US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</a:t>
            </a:r>
            <a:r>
              <a:rPr lang="en-US" sz="3400" dirty="0" smtClean="0"/>
              <a:t>”  </a:t>
            </a:r>
            <a:r>
              <a:rPr lang="en-US" sz="3400" dirty="0"/>
              <a:t>is used. </a:t>
            </a:r>
            <a:r>
              <a:rPr lang="en-US" sz="34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static variable can be initialized </a:t>
            </a:r>
            <a:r>
              <a:rPr lang="en-US" sz="34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only once</a:t>
            </a:r>
            <a:r>
              <a:rPr lang="en-US" sz="34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it cannot be reinitialized</a:t>
            </a:r>
            <a:r>
              <a:rPr lang="en-US" sz="3400" dirty="0"/>
              <a:t>.</a:t>
            </a:r>
          </a:p>
          <a:p>
            <a:pPr marL="0" indent="0">
              <a:buNone/>
            </a:pPr>
            <a:endParaRPr lang="en-US" sz="3400" dirty="0" smtClean="0"/>
          </a:p>
          <a:p>
            <a:pPr marL="0" indent="0">
              <a:buNone/>
            </a:pPr>
            <a:r>
              <a:rPr lang="en-US" sz="3400" dirty="0" smtClean="0"/>
              <a:t>Syntax </a:t>
            </a:r>
            <a:r>
              <a:rPr lang="en-US" sz="3400" dirty="0"/>
              <a:t>: static </a:t>
            </a:r>
            <a:r>
              <a:rPr lang="en-US" sz="3400" dirty="0" err="1"/>
              <a:t>data_type</a:t>
            </a:r>
            <a:r>
              <a:rPr lang="en-US" sz="3400" dirty="0"/>
              <a:t> </a:t>
            </a:r>
            <a:r>
              <a:rPr lang="en-US" sz="3400" dirty="0" err="1" smtClean="0"/>
              <a:t>variable_name</a:t>
            </a:r>
            <a:r>
              <a:rPr lang="en-US" sz="3400" dirty="0" smtClean="0"/>
              <a:t>;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i="1" dirty="0">
                <a:solidFill>
                  <a:srgbClr val="0000CC"/>
                </a:solidFill>
              </a:rPr>
              <a:t>static </a:t>
            </a:r>
            <a:r>
              <a:rPr lang="en-US" sz="3400" b="1" i="1" dirty="0" err="1">
                <a:solidFill>
                  <a:srgbClr val="0000CC"/>
                </a:solidFill>
              </a:rPr>
              <a:t>int</a:t>
            </a:r>
            <a:r>
              <a:rPr lang="en-US" sz="3400" b="1" i="1" dirty="0">
                <a:solidFill>
                  <a:srgbClr val="0000CC"/>
                </a:solidFill>
              </a:rPr>
              <a:t> </a:t>
            </a:r>
            <a:r>
              <a:rPr lang="en-US" sz="3400" b="1" i="1" dirty="0" err="1">
                <a:solidFill>
                  <a:srgbClr val="0000CC"/>
                </a:solidFill>
              </a:rPr>
              <a:t>i</a:t>
            </a:r>
            <a:r>
              <a:rPr lang="en-US" sz="3400" b="1" i="1" dirty="0">
                <a:solidFill>
                  <a:srgbClr val="0000CC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90366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 Storage Class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400" dirty="0"/>
              <a:t>Features of Static Storage Class are as follows</a:t>
            </a:r>
          </a:p>
          <a:p>
            <a:pPr marL="0" indent="0" algn="just">
              <a:buNone/>
            </a:pPr>
            <a:r>
              <a:rPr lang="en-US" sz="3400" b="1" dirty="0"/>
              <a:t>Storage:</a:t>
            </a:r>
            <a:r>
              <a:rPr lang="en-US" sz="3400" dirty="0"/>
              <a:t> Memory</a:t>
            </a:r>
          </a:p>
          <a:p>
            <a:pPr marL="0" indent="0" algn="just">
              <a:buNone/>
            </a:pPr>
            <a:r>
              <a:rPr lang="en-US" sz="3400" b="1" dirty="0"/>
              <a:t>Default Initial Value:</a:t>
            </a:r>
            <a:r>
              <a:rPr lang="en-US" sz="3400" dirty="0"/>
              <a:t> Zero</a:t>
            </a:r>
          </a:p>
          <a:p>
            <a:pPr marL="0" indent="0" algn="just">
              <a:buNone/>
            </a:pPr>
            <a:r>
              <a:rPr lang="en-US" sz="3400" b="1" dirty="0"/>
              <a:t>Scope:</a:t>
            </a:r>
            <a:r>
              <a:rPr lang="en-US" sz="3400" dirty="0"/>
              <a:t> Local to the block in which the variable is defined</a:t>
            </a:r>
          </a:p>
          <a:p>
            <a:pPr marL="0" indent="0" algn="just">
              <a:buNone/>
            </a:pPr>
            <a:r>
              <a:rPr lang="en-US" sz="3400" b="1" dirty="0"/>
              <a:t>Life:</a:t>
            </a:r>
            <a:r>
              <a:rPr lang="en-US" sz="3400" dirty="0"/>
              <a:t> Value of the variable continues to exist between different function calls</a:t>
            </a:r>
            <a:endParaRPr lang="en-US" sz="3400" b="1" i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477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 Storage Class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19423" y="1143000"/>
            <a:ext cx="1705153" cy="498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965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External Storage Class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/>
              <a:t>main difference between automatic and static variables is that static variables </a:t>
            </a:r>
            <a:r>
              <a:rPr lang="en-US" dirty="0" smtClean="0"/>
              <a:t>are initialized </a:t>
            </a:r>
            <a:r>
              <a:rPr lang="en-US" dirty="0"/>
              <a:t>to zero if not initialized but automatic variables contain an </a:t>
            </a:r>
            <a:r>
              <a:rPr lang="en-US" dirty="0" smtClean="0"/>
              <a:t>unpredictable value (Garbage </a:t>
            </a:r>
            <a:r>
              <a:rPr lang="en-US" dirty="0"/>
              <a:t>Value) if not initialized and static variables does </a:t>
            </a:r>
            <a:r>
              <a:rPr lang="en-US" dirty="0" smtClean="0"/>
              <a:t>not disappear </a:t>
            </a:r>
            <a:r>
              <a:rPr lang="en-US" dirty="0"/>
              <a:t>when the </a:t>
            </a:r>
            <a:r>
              <a:rPr lang="en-US" dirty="0" smtClean="0"/>
              <a:t>function is </a:t>
            </a:r>
            <a:r>
              <a:rPr lang="en-US" dirty="0"/>
              <a:t>no longer active , their value persists, i.e. if the control comes back to the same function </a:t>
            </a:r>
            <a:r>
              <a:rPr lang="en-US" dirty="0" smtClean="0"/>
              <a:t>again the </a:t>
            </a:r>
            <a:r>
              <a:rPr lang="en-US" dirty="0"/>
              <a:t>static variables have the same values they had last time.</a:t>
            </a:r>
          </a:p>
        </p:txBody>
      </p:sp>
    </p:spTree>
    <p:extLst>
      <p:ext uri="{BB962C8B-B14F-4D97-AF65-F5344CB8AC3E}">
        <p14:creationId xmlns:p14="http://schemas.microsoft.com/office/powerpoint/2010/main" val="2891093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External Storage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When a variable is declared as extern, it is stored in the </a:t>
            </a:r>
            <a:r>
              <a:rPr lang="en-US" dirty="0" smtClean="0"/>
              <a:t>memory. The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default value is initialized to zero</a:t>
            </a:r>
            <a:r>
              <a:rPr lang="en-US" dirty="0"/>
              <a:t>. The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 of the variable is global </a:t>
            </a:r>
            <a:r>
              <a:rPr lang="en-US" dirty="0"/>
              <a:t>and the </a:t>
            </a:r>
            <a:r>
              <a:rPr lang="en-US" b="1" dirty="0"/>
              <a:t>life of </a:t>
            </a:r>
            <a:r>
              <a:rPr lang="en-US" b="1" dirty="0" smtClean="0"/>
              <a:t>the variable </a:t>
            </a:r>
            <a:r>
              <a:rPr lang="en-US" b="1" dirty="0"/>
              <a:t>is until the program execution comes to an end</a:t>
            </a:r>
            <a:r>
              <a:rPr lang="en-US" dirty="0"/>
              <a:t>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To </a:t>
            </a:r>
            <a:r>
              <a:rPr lang="en-US" dirty="0"/>
              <a:t>define a variable as external </a:t>
            </a:r>
            <a:r>
              <a:rPr lang="en-US" dirty="0" smtClean="0"/>
              <a:t>storage class</a:t>
            </a:r>
            <a:r>
              <a:rPr lang="en-US" dirty="0"/>
              <a:t>, the keyword </a:t>
            </a:r>
            <a:r>
              <a:rPr lang="en-US" dirty="0" smtClean="0"/>
              <a:t>“extern” </a:t>
            </a:r>
            <a:r>
              <a:rPr lang="en-US" dirty="0"/>
              <a:t>is used.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extern variable is also called as a global variable.</a:t>
            </a:r>
          </a:p>
          <a:p>
            <a:pPr marL="0" indent="0" algn="just">
              <a:buNone/>
            </a:pPr>
            <a:r>
              <a:rPr lang="en-US" dirty="0"/>
              <a:t>Global variables remain available throughout the entire program. One important thing </a:t>
            </a:r>
            <a:r>
              <a:rPr lang="en-US" dirty="0" smtClean="0"/>
              <a:t>to remember </a:t>
            </a:r>
            <a:r>
              <a:rPr lang="en-US" dirty="0"/>
              <a:t>about global variable is that their values can be changed by any function in </a:t>
            </a:r>
            <a:r>
              <a:rPr lang="en-US" dirty="0" smtClean="0"/>
              <a:t>the program.</a:t>
            </a:r>
          </a:p>
          <a:p>
            <a:pPr marL="0" indent="0" algn="just">
              <a:buNone/>
            </a:pPr>
            <a:r>
              <a:rPr lang="en-US" b="1" i="1" dirty="0" err="1"/>
              <a:t>Systax</a:t>
            </a:r>
            <a:r>
              <a:rPr lang="en-US" b="1" i="1" dirty="0"/>
              <a:t> : extern </a:t>
            </a:r>
            <a:r>
              <a:rPr lang="en-US" b="1" i="1" dirty="0" err="1"/>
              <a:t>data_type</a:t>
            </a:r>
            <a:r>
              <a:rPr lang="en-US" b="1" i="1" dirty="0"/>
              <a:t> </a:t>
            </a:r>
            <a:r>
              <a:rPr lang="en-US" b="1" i="1" dirty="0" err="1"/>
              <a:t>variable_name</a:t>
            </a:r>
            <a:r>
              <a:rPr lang="en-US" b="1" i="1" dirty="0"/>
              <a:t>;</a:t>
            </a:r>
          </a:p>
          <a:p>
            <a:pPr marL="0" indent="0" algn="ctr">
              <a:buNone/>
            </a:pPr>
            <a:r>
              <a:rPr lang="en-US" dirty="0"/>
              <a:t>extern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2145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External Storage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Storage: </a:t>
            </a:r>
            <a:r>
              <a:rPr lang="en-US" dirty="0"/>
              <a:t>Memory</a:t>
            </a:r>
          </a:p>
          <a:p>
            <a:pPr marL="0" indent="0" algn="just">
              <a:buNone/>
            </a:pPr>
            <a:r>
              <a:rPr lang="en-US" b="1" dirty="0"/>
              <a:t>Default Initial Value:</a:t>
            </a:r>
            <a:r>
              <a:rPr lang="en-US" dirty="0"/>
              <a:t> Zero</a:t>
            </a:r>
          </a:p>
          <a:p>
            <a:pPr marL="0" indent="0" algn="just">
              <a:buNone/>
            </a:pPr>
            <a:r>
              <a:rPr lang="en-US" b="1" dirty="0"/>
              <a:t>Scope:</a:t>
            </a:r>
            <a:r>
              <a:rPr lang="en-US" dirty="0"/>
              <a:t> Global</a:t>
            </a:r>
          </a:p>
          <a:p>
            <a:pPr marL="0" indent="0" algn="just">
              <a:buNone/>
            </a:pPr>
            <a:r>
              <a:rPr lang="en-US" b="1" dirty="0"/>
              <a:t>Life:</a:t>
            </a:r>
            <a:r>
              <a:rPr lang="en-US" dirty="0"/>
              <a:t> Till the program’s execution doesn’t come to an end</a:t>
            </a:r>
          </a:p>
        </p:txBody>
      </p:sp>
    </p:spTree>
    <p:extLst>
      <p:ext uri="{BB962C8B-B14F-4D97-AF65-F5344CB8AC3E}">
        <p14:creationId xmlns:p14="http://schemas.microsoft.com/office/powerpoint/2010/main" val="120688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External Storage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External variables differ from automatic, register and static variables in the context of </a:t>
            </a:r>
            <a:r>
              <a:rPr lang="en-US" dirty="0" smtClean="0"/>
              <a:t>scope, external </a:t>
            </a:r>
            <a:r>
              <a:rPr lang="en-US" dirty="0"/>
              <a:t>variables are global on the contrary automatic, register and static variables are local.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External </a:t>
            </a:r>
            <a:r>
              <a:rPr lang="en-US" dirty="0"/>
              <a:t>variables are declared outside all functions, therefore are available to all functions </a:t>
            </a:r>
            <a:r>
              <a:rPr lang="en-US" dirty="0" smtClean="0"/>
              <a:t>that want </a:t>
            </a:r>
            <a:r>
              <a:rPr lang="en-US" dirty="0"/>
              <a:t>to use them.</a:t>
            </a:r>
          </a:p>
        </p:txBody>
      </p:sp>
    </p:spTree>
    <p:extLst>
      <p:ext uri="{BB962C8B-B14F-4D97-AF65-F5344CB8AC3E}">
        <p14:creationId xmlns:p14="http://schemas.microsoft.com/office/powerpoint/2010/main" val="1619964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External Storage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number;</a:t>
            </a:r>
          </a:p>
          <a:p>
            <a:pPr marL="0" indent="0" algn="just">
              <a:buNone/>
            </a:pPr>
            <a:r>
              <a:rPr lang="en-US" dirty="0"/>
              <a:t>void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number=10;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fun1()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number=20;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fun2()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number=30;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Here the global variable number is available to all three functions.</a:t>
            </a:r>
          </a:p>
        </p:txBody>
      </p:sp>
    </p:spTree>
    <p:extLst>
      <p:ext uri="{BB962C8B-B14F-4D97-AF65-F5344CB8AC3E}">
        <p14:creationId xmlns:p14="http://schemas.microsoft.com/office/powerpoint/2010/main" val="1624487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External Storage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9200" y="998668"/>
            <a:ext cx="6705600" cy="566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391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3200"/>
            <a:ext cx="6511925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Recursion</a:t>
            </a:r>
            <a:endParaRPr lang="en-US" sz="4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15956A-8026-4861-99E0-6ECDFB0AE949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3125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When function is called within the same function, it is known as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recursion</a:t>
            </a:r>
            <a:r>
              <a:rPr lang="en-US" dirty="0"/>
              <a:t> in C. The </a:t>
            </a:r>
            <a:r>
              <a:rPr lang="en-US" dirty="0" smtClean="0"/>
              <a:t>function which </a:t>
            </a:r>
            <a:r>
              <a:rPr lang="en-US" dirty="0"/>
              <a:t>calls the same function, is known as recursive function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/>
              <a:t>Recursion is often termed </a:t>
            </a:r>
            <a:r>
              <a:rPr lang="en-US" dirty="0" smtClean="0"/>
              <a:t>as ‘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Circular Definition</a:t>
            </a:r>
            <a:r>
              <a:rPr lang="en-US" dirty="0" smtClean="0"/>
              <a:t>’. </a:t>
            </a:r>
            <a:r>
              <a:rPr lang="en-US" dirty="0"/>
              <a:t>Thus recursion is the process of defining something in terms of itself. </a:t>
            </a:r>
            <a:r>
              <a:rPr lang="en-US" dirty="0" smtClean="0"/>
              <a:t>To implement </a:t>
            </a:r>
            <a:r>
              <a:rPr lang="en-US" dirty="0"/>
              <a:t>recursion technique in programming, a function should be capable of calling itself.</a:t>
            </a:r>
          </a:p>
        </p:txBody>
      </p:sp>
    </p:spTree>
    <p:extLst>
      <p:ext uri="{BB962C8B-B14F-4D97-AF65-F5344CB8AC3E}">
        <p14:creationId xmlns:p14="http://schemas.microsoft.com/office/powerpoint/2010/main" val="3738054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 function that calls itself, and doesn't perform any task after function call, is know as </a:t>
            </a:r>
            <a:r>
              <a:rPr lang="en-US" dirty="0" smtClean="0"/>
              <a:t>tail recursion</a:t>
            </a:r>
            <a:r>
              <a:rPr lang="en-US" dirty="0"/>
              <a:t>. In tail recursion, we generally call the same function with return statement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075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Features 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/>
              <a:t>There </a:t>
            </a:r>
            <a:r>
              <a:rPr lang="en-US" dirty="0"/>
              <a:t>should be at least one if statement used to terminate </a:t>
            </a:r>
            <a:r>
              <a:rPr lang="en-US" dirty="0" smtClean="0"/>
              <a:t>recursion</a:t>
            </a:r>
            <a:r>
              <a:rPr lang="en-US" dirty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/>
              <a:t>It </a:t>
            </a:r>
            <a:r>
              <a:rPr lang="en-US" dirty="0"/>
              <a:t>does not contain any looping statements.</a:t>
            </a:r>
          </a:p>
          <a:p>
            <a:pPr marL="0" indent="0" algn="just">
              <a:buNone/>
            </a:pPr>
            <a:r>
              <a:rPr lang="en-US" b="1" dirty="0"/>
              <a:t>Advantages 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/>
              <a:t>It </a:t>
            </a:r>
            <a:r>
              <a:rPr lang="en-US" dirty="0"/>
              <a:t>is easy to use.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/>
              <a:t>It </a:t>
            </a:r>
            <a:r>
              <a:rPr lang="en-US" dirty="0"/>
              <a:t>represents compact programming structures.</a:t>
            </a:r>
          </a:p>
          <a:p>
            <a:pPr marL="0" indent="0" algn="just">
              <a:buNone/>
            </a:pPr>
            <a:r>
              <a:rPr lang="en-US" b="1" dirty="0"/>
              <a:t>Disadvantages 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/>
              <a:t>It </a:t>
            </a:r>
            <a:r>
              <a:rPr lang="en-US" dirty="0"/>
              <a:t>is slower than that of looping statements because each time function is called.</a:t>
            </a:r>
          </a:p>
        </p:txBody>
      </p:sp>
    </p:spTree>
    <p:extLst>
      <p:ext uri="{BB962C8B-B14F-4D97-AF65-F5344CB8AC3E}">
        <p14:creationId xmlns:p14="http://schemas.microsoft.com/office/powerpoint/2010/main" val="3568441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Example of </a:t>
            </a:r>
            <a:r>
              <a:rPr lang="en-US" dirty="0" smtClean="0"/>
              <a:t>recursion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recursionfunction</a:t>
            </a:r>
            <a:r>
              <a:rPr lang="en-US" dirty="0" smtClean="0"/>
              <a:t>()</a:t>
            </a:r>
          </a:p>
          <a:p>
            <a:pPr marL="0" indent="0" algn="just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recursionfunction</a:t>
            </a:r>
            <a:r>
              <a:rPr lang="en-US" dirty="0" smtClean="0"/>
              <a:t>();  //</a:t>
            </a:r>
            <a:r>
              <a:rPr lang="en-US" dirty="0"/>
              <a:t>calling self function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33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47800" y="1219993"/>
            <a:ext cx="6248400" cy="507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15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of tail recursion in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8383" y="1211028"/>
            <a:ext cx="4323617" cy="49069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793" y="1524000"/>
            <a:ext cx="3286125" cy="3714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133600"/>
            <a:ext cx="4067175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811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of tail recursion in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2000" y="1600200"/>
            <a:ext cx="738187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866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of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Q1. Write a program using recursion to find the summation of numbers from 1 to 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void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n,s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(“Enter a number”);</a:t>
            </a:r>
          </a:p>
          <a:p>
            <a:pPr marL="0" indent="0">
              <a:buNone/>
            </a:pPr>
            <a:r>
              <a:rPr lang="en-US" dirty="0" err="1"/>
              <a:t>scanf</a:t>
            </a:r>
            <a:r>
              <a:rPr lang="en-US" dirty="0"/>
              <a:t>(“%</a:t>
            </a:r>
            <a:r>
              <a:rPr lang="en-US" dirty="0" err="1"/>
              <a:t>d”,&amp;n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s=sum(n);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(“Sum of numbers from 1 to %d is %d”,</a:t>
            </a:r>
            <a:r>
              <a:rPr lang="en-US" dirty="0" err="1"/>
              <a:t>n,s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49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of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sum(</a:t>
            </a:r>
            <a:r>
              <a:rPr lang="en-US" dirty="0" err="1"/>
              <a:t>int</a:t>
            </a:r>
            <a:r>
              <a:rPr lang="en-US" dirty="0"/>
              <a:t> m)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r;</a:t>
            </a:r>
          </a:p>
          <a:p>
            <a:pPr marL="0" indent="0">
              <a:buNone/>
            </a:pPr>
            <a:r>
              <a:rPr lang="en-US" dirty="0"/>
              <a:t>if(m==1)</a:t>
            </a:r>
          </a:p>
          <a:p>
            <a:pPr marL="0" indent="0">
              <a:buNone/>
            </a:pPr>
            <a:r>
              <a:rPr lang="en-US" dirty="0" smtClean="0"/>
              <a:t>	return 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/>
              <a:t>else</a:t>
            </a:r>
          </a:p>
          <a:p>
            <a:pPr marL="0" indent="0">
              <a:buNone/>
            </a:pPr>
            <a:r>
              <a:rPr lang="en-US" dirty="0" smtClean="0"/>
              <a:t>	r=</a:t>
            </a:r>
            <a:r>
              <a:rPr lang="en-US" dirty="0" err="1" smtClean="0"/>
              <a:t>m+sum</a:t>
            </a:r>
            <a:r>
              <a:rPr lang="en-US" dirty="0" smtClean="0"/>
              <a:t>(m-1</a:t>
            </a:r>
            <a:r>
              <a:rPr lang="en-US" dirty="0"/>
              <a:t>);/*Recursive Call*/</a:t>
            </a:r>
          </a:p>
          <a:p>
            <a:pPr marL="0" indent="0">
              <a:buNone/>
            </a:pPr>
            <a:r>
              <a:rPr lang="en-US" dirty="0" smtClean="0"/>
              <a:t>	return </a:t>
            </a:r>
            <a:r>
              <a:rPr lang="en-US" dirty="0"/>
              <a:t>r;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1639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of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>Q2. Write a program using recursion to find power </a:t>
                </a:r>
                <a:r>
                  <a:rPr lang="en-US" dirty="0"/>
                  <a:t>of a number 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#</a:t>
                </a:r>
                <a:r>
                  <a:rPr lang="en-US" dirty="0"/>
                  <a:t>include&lt;</a:t>
                </a:r>
                <a:r>
                  <a:rPr lang="en-US" dirty="0" err="1"/>
                  <a:t>stdio.h</a:t>
                </a:r>
                <a:r>
                  <a:rPr lang="en-US" dirty="0"/>
                  <a:t>&gt;</a:t>
                </a:r>
              </a:p>
              <a:p>
                <a:pPr marL="0" indent="0">
                  <a:buNone/>
                </a:pPr>
                <a:r>
                  <a:rPr lang="en-US" dirty="0" err="1"/>
                  <a:t>int</a:t>
                </a:r>
                <a:r>
                  <a:rPr lang="en-US" dirty="0"/>
                  <a:t> power(</a:t>
                </a:r>
                <a:r>
                  <a:rPr lang="en-US" dirty="0" err="1"/>
                  <a:t>int,int</a:t>
                </a:r>
                <a:r>
                  <a:rPr lang="en-US" dirty="0"/>
                  <a:t>);</a:t>
                </a:r>
              </a:p>
              <a:p>
                <a:pPr marL="0" indent="0">
                  <a:buNone/>
                </a:pPr>
                <a:r>
                  <a:rPr lang="en-US" dirty="0"/>
                  <a:t>void main()</a:t>
                </a:r>
              </a:p>
              <a:p>
                <a:pPr marL="0" indent="0">
                  <a:buNone/>
                </a:pPr>
                <a:r>
                  <a:rPr lang="en-US" dirty="0"/>
                  <a:t>{</a:t>
                </a:r>
              </a:p>
              <a:p>
                <a:pPr marL="0" indent="0">
                  <a:buNone/>
                </a:pPr>
                <a:r>
                  <a:rPr lang="en-US" dirty="0" err="1"/>
                  <a:t>int</a:t>
                </a:r>
                <a:r>
                  <a:rPr lang="en-US" dirty="0"/>
                  <a:t> </a:t>
                </a:r>
                <a:r>
                  <a:rPr lang="en-US" dirty="0" err="1"/>
                  <a:t>n,m,k</a:t>
                </a:r>
                <a:r>
                  <a:rPr lang="en-US" dirty="0"/>
                  <a:t>;</a:t>
                </a:r>
              </a:p>
              <a:p>
                <a:pPr marL="0" indent="0">
                  <a:buNone/>
                </a:pPr>
                <a:r>
                  <a:rPr lang="en-US" dirty="0" err="1"/>
                  <a:t>printf</a:t>
                </a:r>
                <a:r>
                  <a:rPr lang="en-US" dirty="0"/>
                  <a:t>(“Enter the value of n and m”);</a:t>
                </a:r>
              </a:p>
              <a:p>
                <a:pPr marL="0" indent="0">
                  <a:buNone/>
                </a:pPr>
                <a:r>
                  <a:rPr lang="en-US" dirty="0" err="1"/>
                  <a:t>scanf</a:t>
                </a:r>
                <a:r>
                  <a:rPr lang="en-US" dirty="0"/>
                  <a:t>(“%</a:t>
                </a:r>
                <a:r>
                  <a:rPr lang="en-US" dirty="0" err="1"/>
                  <a:t>d%d</a:t>
                </a:r>
                <a:r>
                  <a:rPr lang="en-US" dirty="0"/>
                  <a:t>”,&amp;</a:t>
                </a:r>
                <a:r>
                  <a:rPr lang="en-US" dirty="0" err="1"/>
                  <a:t>n,&amp;m</a:t>
                </a:r>
                <a:r>
                  <a:rPr lang="en-US" dirty="0"/>
                  <a:t>);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  <a:blipFill>
                <a:blip r:embed="rId3"/>
                <a:stretch>
                  <a:fillRect l="-1704" t="-2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830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of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>k=power(</a:t>
                </a:r>
                <a:r>
                  <a:rPr lang="en-US" dirty="0" err="1"/>
                  <a:t>n,m</a:t>
                </a:r>
                <a:r>
                  <a:rPr lang="en-US" dirty="0"/>
                  <a:t>);</a:t>
                </a:r>
              </a:p>
              <a:p>
                <a:pPr marL="0" indent="0">
                  <a:buNone/>
                </a:pPr>
                <a:r>
                  <a:rPr lang="en-US" dirty="0" err="1"/>
                  <a:t>printf</a:t>
                </a:r>
                <a:r>
                  <a:rPr lang="en-US" dirty="0"/>
                  <a:t>(“The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 smtClean="0"/>
                  <a:t>for </a:t>
                </a:r>
                <a:r>
                  <a:rPr lang="en-US" dirty="0"/>
                  <a:t>n=%d and m=%d is %d”,</a:t>
                </a:r>
                <a:r>
                  <a:rPr lang="en-US" dirty="0" err="1"/>
                  <a:t>n,m,k</a:t>
                </a:r>
                <a:r>
                  <a:rPr lang="en-US" dirty="0"/>
                  <a:t>);</a:t>
                </a:r>
              </a:p>
              <a:p>
                <a:pPr marL="0" indent="0">
                  <a:buNone/>
                </a:pPr>
                <a:r>
                  <a:rPr lang="en-US" dirty="0" smtClean="0"/>
                  <a:t>}</a:t>
                </a:r>
              </a:p>
              <a:p>
                <a:pPr marL="0" indent="0">
                  <a:buNone/>
                </a:pPr>
                <a:r>
                  <a:rPr lang="en-US" dirty="0" err="1"/>
                  <a:t>int</a:t>
                </a:r>
                <a:r>
                  <a:rPr lang="en-US" dirty="0"/>
                  <a:t> power(</a:t>
                </a:r>
                <a:r>
                  <a:rPr lang="en-US" dirty="0" err="1"/>
                  <a:t>int</a:t>
                </a:r>
                <a:r>
                  <a:rPr lang="en-US" dirty="0"/>
                  <a:t> x, </a:t>
                </a:r>
                <a:r>
                  <a:rPr lang="en-US" dirty="0" err="1"/>
                  <a:t>int</a:t>
                </a:r>
                <a:r>
                  <a:rPr lang="en-US" dirty="0"/>
                  <a:t> y)</a:t>
                </a:r>
              </a:p>
              <a:p>
                <a:pPr marL="0" indent="0">
                  <a:buNone/>
                </a:pPr>
                <a:r>
                  <a:rPr lang="en-US" dirty="0"/>
                  <a:t>{</a:t>
                </a:r>
              </a:p>
              <a:p>
                <a:pPr marL="0" indent="0">
                  <a:buNone/>
                </a:pPr>
                <a:r>
                  <a:rPr lang="en-US" dirty="0" smtClean="0"/>
                  <a:t>	if(y</a:t>
                </a:r>
                <a:r>
                  <a:rPr lang="en-US" dirty="0"/>
                  <a:t>==0)</a:t>
                </a:r>
              </a:p>
              <a:p>
                <a:pPr marL="0" indent="0">
                  <a:buNone/>
                </a:pPr>
                <a:r>
                  <a:rPr lang="en-US" dirty="0" smtClean="0"/>
                  <a:t>	{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		return </a:t>
                </a:r>
                <a:r>
                  <a:rPr lang="en-US" dirty="0"/>
                  <a:t>1;</a:t>
                </a:r>
              </a:p>
              <a:p>
                <a:pPr marL="0" indent="0">
                  <a:buNone/>
                </a:pPr>
                <a:r>
                  <a:rPr lang="en-US" dirty="0" smtClean="0"/>
                  <a:t>	}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	else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	{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		return(x*power(x,y-1</a:t>
                </a:r>
                <a:r>
                  <a:rPr lang="en-US" dirty="0"/>
                  <a:t>));</a:t>
                </a:r>
              </a:p>
              <a:p>
                <a:pPr marL="0" indent="0">
                  <a:buNone/>
                </a:pPr>
                <a:r>
                  <a:rPr lang="en-US" dirty="0" smtClean="0"/>
                  <a:t>}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  <a:blipFill>
                <a:blip r:embed="rId3"/>
                <a:stretch>
                  <a:fillRect l="-963" t="-2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7024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of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Q4:Write a program to print Fibonacci Series </a:t>
            </a:r>
            <a:r>
              <a:rPr lang="en-US" dirty="0" err="1"/>
              <a:t>upto</a:t>
            </a:r>
            <a:r>
              <a:rPr lang="en-US" dirty="0"/>
              <a:t> a given number of terms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Fibonacci series is a sequence of integers in which the first two integers are 1 and </a:t>
            </a:r>
            <a:r>
              <a:rPr lang="en-US" dirty="0" smtClean="0"/>
              <a:t>from third </a:t>
            </a:r>
            <a:r>
              <a:rPr lang="en-US" dirty="0"/>
              <a:t>integer onwards each integer is the sum of previous two integers of the sequence i.e.</a:t>
            </a:r>
          </a:p>
          <a:p>
            <a:pPr marL="0" indent="0" algn="just">
              <a:buNone/>
            </a:pPr>
            <a:r>
              <a:rPr lang="en-US" dirty="0"/>
              <a:t>1, 1, 2, 3, 5, 8, 13, 21, 34, 55, 89, </a:t>
            </a:r>
            <a:r>
              <a:rPr lang="en-US" dirty="0" smtClean="0"/>
              <a:t>……........................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The program which implements the above logic is as follows:</a:t>
            </a:r>
          </a:p>
        </p:txBody>
      </p:sp>
    </p:spTree>
    <p:extLst>
      <p:ext uri="{BB962C8B-B14F-4D97-AF65-F5344CB8AC3E}">
        <p14:creationId xmlns:p14="http://schemas.microsoft.com/office/powerpoint/2010/main" val="2045613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of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#include&lt;</a:t>
            </a:r>
            <a:r>
              <a:rPr lang="en-US" sz="1600" dirty="0" err="1"/>
              <a:t>stdio.h</a:t>
            </a:r>
            <a:r>
              <a:rPr lang="en-US" sz="1600" dirty="0"/>
              <a:t>&gt;</a:t>
            </a:r>
          </a:p>
          <a:p>
            <a:pPr marL="0" indent="0">
              <a:buNone/>
            </a:pPr>
            <a:r>
              <a:rPr lang="en-US" sz="1600" dirty="0" err="1"/>
              <a:t>int</a:t>
            </a:r>
            <a:r>
              <a:rPr lang="en-US" sz="1600" dirty="0"/>
              <a:t> Fibonacci(</a:t>
            </a:r>
            <a:r>
              <a:rPr lang="en-US" sz="1600" dirty="0" err="1"/>
              <a:t>int</a:t>
            </a:r>
            <a:r>
              <a:rPr lang="en-US" sz="1600" dirty="0"/>
              <a:t>);</a:t>
            </a:r>
          </a:p>
          <a:p>
            <a:pPr marL="0" indent="0">
              <a:buNone/>
            </a:pPr>
            <a:r>
              <a:rPr lang="en-US" sz="1600" dirty="0"/>
              <a:t>void main()</a:t>
            </a:r>
          </a:p>
          <a:p>
            <a:pPr marL="0" indent="0">
              <a:buNone/>
            </a:pPr>
            <a:r>
              <a:rPr lang="en-US" sz="1600" dirty="0"/>
              <a:t>{</a:t>
            </a:r>
          </a:p>
          <a:p>
            <a:pPr marL="0" indent="0">
              <a:buNone/>
            </a:pPr>
            <a:r>
              <a:rPr lang="en-US" sz="1600" dirty="0" smtClean="0"/>
              <a:t>	</a:t>
            </a:r>
            <a:r>
              <a:rPr lang="en-US" sz="1600" dirty="0" err="1" smtClean="0"/>
              <a:t>int</a:t>
            </a:r>
            <a:r>
              <a:rPr lang="en-US" sz="1600" dirty="0" smtClean="0"/>
              <a:t> </a:t>
            </a:r>
            <a:r>
              <a:rPr lang="en-US" sz="1600" dirty="0" err="1"/>
              <a:t>term,i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 smtClean="0"/>
              <a:t>	</a:t>
            </a:r>
            <a:r>
              <a:rPr lang="en-US" sz="1600" dirty="0" err="1" smtClean="0"/>
              <a:t>printf</a:t>
            </a:r>
            <a:r>
              <a:rPr lang="en-US" sz="1600" dirty="0"/>
              <a:t>(“Enter the number of terms of Fibonacci Series which is going to be printed”);</a:t>
            </a:r>
          </a:p>
          <a:p>
            <a:pPr marL="0" indent="0">
              <a:buNone/>
            </a:pPr>
            <a:r>
              <a:rPr lang="en-US" sz="1600" dirty="0" smtClean="0"/>
              <a:t>	</a:t>
            </a:r>
            <a:r>
              <a:rPr lang="en-US" sz="1600" dirty="0" err="1" smtClean="0"/>
              <a:t>scanf</a:t>
            </a:r>
            <a:r>
              <a:rPr lang="en-US" sz="1600" dirty="0"/>
              <a:t>(“%</a:t>
            </a:r>
            <a:r>
              <a:rPr lang="en-US" sz="1600" dirty="0" err="1"/>
              <a:t>d”,&amp;term</a:t>
            </a:r>
            <a:r>
              <a:rPr lang="en-US" sz="1600" dirty="0"/>
              <a:t>);</a:t>
            </a:r>
          </a:p>
          <a:p>
            <a:pPr marL="0" indent="0">
              <a:buNone/>
            </a:pPr>
            <a:r>
              <a:rPr lang="en-US" sz="1600" dirty="0" smtClean="0"/>
              <a:t>	for(</a:t>
            </a:r>
            <a:r>
              <a:rPr lang="en-US" sz="1600" dirty="0" err="1" smtClean="0"/>
              <a:t>i</a:t>
            </a:r>
            <a:r>
              <a:rPr lang="en-US" sz="1600" dirty="0" smtClean="0"/>
              <a:t>=0;i&lt;</a:t>
            </a:r>
            <a:r>
              <a:rPr lang="en-US" sz="1600" dirty="0" err="1" smtClean="0"/>
              <a:t>term;i</a:t>
            </a:r>
            <a:r>
              <a:rPr lang="en-US" sz="1600" dirty="0"/>
              <a:t>++)</a:t>
            </a:r>
          </a:p>
          <a:p>
            <a:pPr marL="0" indent="0">
              <a:buNone/>
            </a:pPr>
            <a:r>
              <a:rPr lang="en-US" sz="1600" dirty="0" smtClean="0"/>
              <a:t>	{</a:t>
            </a: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		</a:t>
            </a:r>
            <a:r>
              <a:rPr lang="en-US" sz="1600" dirty="0" err="1" smtClean="0"/>
              <a:t>printf</a:t>
            </a:r>
            <a:r>
              <a:rPr lang="en-US" sz="1600" dirty="0"/>
              <a:t>(“%</a:t>
            </a:r>
            <a:r>
              <a:rPr lang="en-US" sz="1600" dirty="0" err="1"/>
              <a:t>d”,Fibonacci</a:t>
            </a:r>
            <a:r>
              <a:rPr lang="en-US" sz="1600" dirty="0"/>
              <a:t>(</a:t>
            </a:r>
            <a:r>
              <a:rPr lang="en-US" sz="1600" dirty="0" err="1"/>
              <a:t>i</a:t>
            </a:r>
            <a:r>
              <a:rPr lang="en-US" sz="1600" dirty="0"/>
              <a:t>));</a:t>
            </a:r>
          </a:p>
          <a:p>
            <a:pPr marL="0" indent="0">
              <a:buNone/>
            </a:pPr>
            <a:r>
              <a:rPr lang="en-US" sz="1600" dirty="0" smtClean="0"/>
              <a:t>	}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dirty="0" err="1"/>
              <a:t>int</a:t>
            </a:r>
            <a:r>
              <a:rPr lang="en-US" sz="1600" dirty="0"/>
              <a:t> Fibonacci(</a:t>
            </a:r>
            <a:r>
              <a:rPr lang="en-US" sz="1600" dirty="0" err="1"/>
              <a:t>int</a:t>
            </a:r>
            <a:r>
              <a:rPr lang="en-US" sz="1600" dirty="0"/>
              <a:t> x)</a:t>
            </a:r>
          </a:p>
          <a:p>
            <a:pPr marL="0" indent="0">
              <a:buNone/>
            </a:pPr>
            <a:r>
              <a:rPr lang="en-US" sz="1600" dirty="0"/>
              <a:t>{</a:t>
            </a:r>
          </a:p>
          <a:p>
            <a:pPr marL="0" indent="0">
              <a:buNone/>
            </a:pPr>
            <a:r>
              <a:rPr lang="en-US" sz="1600" dirty="0" smtClean="0"/>
              <a:t>	if(x</a:t>
            </a:r>
            <a:r>
              <a:rPr lang="en-US" sz="1600" dirty="0"/>
              <a:t>==0 || x==1)</a:t>
            </a:r>
          </a:p>
          <a:p>
            <a:pPr marL="0" indent="0">
              <a:buNone/>
            </a:pPr>
            <a:r>
              <a:rPr lang="en-US" sz="1600" dirty="0" smtClean="0"/>
              <a:t>		return </a:t>
            </a:r>
            <a:r>
              <a:rPr lang="en-US" sz="1600" dirty="0"/>
              <a:t>1;</a:t>
            </a:r>
          </a:p>
          <a:p>
            <a:pPr marL="0" indent="0">
              <a:buNone/>
            </a:pPr>
            <a:r>
              <a:rPr lang="en-US" sz="1600" dirty="0" smtClean="0"/>
              <a:t>	else</a:t>
            </a: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		return </a:t>
            </a:r>
            <a:r>
              <a:rPr lang="en-US" sz="1600" dirty="0"/>
              <a:t>(Fibonacci(x-1) + Fibonacci(x-2));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3195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40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4555</TotalTime>
  <Words>1649</Words>
  <Application>Microsoft Office PowerPoint</Application>
  <PresentationFormat>On-screen Show (4:3)</PresentationFormat>
  <Paragraphs>300</Paragraphs>
  <Slides>40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Arial</vt:lpstr>
      <vt:lpstr>Calibri</vt:lpstr>
      <vt:lpstr>Cambria Math</vt:lpstr>
      <vt:lpstr>Georgia</vt:lpstr>
      <vt:lpstr>Times New Roman</vt:lpstr>
      <vt:lpstr>Trebuchet MS</vt:lpstr>
      <vt:lpstr>Wingdings</vt:lpstr>
      <vt:lpstr>Office Theme</vt:lpstr>
      <vt:lpstr>1_Slipstream</vt:lpstr>
      <vt:lpstr>1_Office Theme</vt:lpstr>
      <vt:lpstr>Structure Programming  ICT-1105  Information and Communication Technology</vt:lpstr>
      <vt:lpstr>PowerPoint Presentation</vt:lpstr>
      <vt:lpstr>Storage Classes</vt:lpstr>
      <vt:lpstr>Storage Classes</vt:lpstr>
      <vt:lpstr>Storage Classes</vt:lpstr>
      <vt:lpstr>Storage Classes</vt:lpstr>
      <vt:lpstr>Automatic Storage Class</vt:lpstr>
      <vt:lpstr>Automatic Storage Class</vt:lpstr>
      <vt:lpstr>Automatic Storage Class</vt:lpstr>
      <vt:lpstr>Automatic Storage Class</vt:lpstr>
      <vt:lpstr>Automatic Storage Class</vt:lpstr>
      <vt:lpstr>Register Storage Class</vt:lpstr>
      <vt:lpstr>Register Storage Class</vt:lpstr>
      <vt:lpstr>Register Storage Class</vt:lpstr>
      <vt:lpstr>Register Storage Class</vt:lpstr>
      <vt:lpstr>Register Storage Class</vt:lpstr>
      <vt:lpstr>Static Storage Class</vt:lpstr>
      <vt:lpstr>Static Storage Class</vt:lpstr>
      <vt:lpstr>Static Storage Class</vt:lpstr>
      <vt:lpstr>External Storage Class</vt:lpstr>
      <vt:lpstr>External Storage Class</vt:lpstr>
      <vt:lpstr>External Storage Class</vt:lpstr>
      <vt:lpstr>External Storage Class</vt:lpstr>
      <vt:lpstr>External Storage Class</vt:lpstr>
      <vt:lpstr>External Storage Class</vt:lpstr>
      <vt:lpstr>Recursion</vt:lpstr>
      <vt:lpstr>Recursion</vt:lpstr>
      <vt:lpstr>Recursion</vt:lpstr>
      <vt:lpstr>Recursion</vt:lpstr>
      <vt:lpstr>Recursion</vt:lpstr>
      <vt:lpstr>Recursion</vt:lpstr>
      <vt:lpstr>Example of tail recursion in C</vt:lpstr>
      <vt:lpstr>Example of tail recursion in C</vt:lpstr>
      <vt:lpstr>Example of recursion</vt:lpstr>
      <vt:lpstr>Example of recursion</vt:lpstr>
      <vt:lpstr>Example of recursion</vt:lpstr>
      <vt:lpstr>Example of recursion</vt:lpstr>
      <vt:lpstr>Example of recursion</vt:lpstr>
      <vt:lpstr>Example of recursion</vt:lpstr>
      <vt:lpstr>Thank you….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AION</dc:creator>
  <cp:lastModifiedBy>ICT CHAIRMAN</cp:lastModifiedBy>
  <cp:revision>479</cp:revision>
  <dcterms:created xsi:type="dcterms:W3CDTF">2019-09-20T11:10:00Z</dcterms:created>
  <dcterms:modified xsi:type="dcterms:W3CDTF">2025-02-28T04:26:59Z</dcterms:modified>
</cp:coreProperties>
</file>