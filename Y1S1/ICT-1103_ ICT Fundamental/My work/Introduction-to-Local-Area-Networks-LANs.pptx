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entury Gothic" panose="020B0502020202020204" pitchFamily="34" charset="0"/>
      <p:regular r:id="rId13"/>
      <p:bold r:id="rId14"/>
      <p:italic r:id="rId15"/>
      <p:boldItalic r:id="rId16"/>
    </p:embeddedFont>
    <p:embeddedFont>
      <p:font typeface="Segoe UI Historic" panose="020B0502040204020203" pitchFamily="34" charset="0"/>
      <p:regular r:id="rId17"/>
    </p:embeddedFont>
    <p:embeddedFont>
      <p:font typeface="Tomorrow" panose="020B0604020202020204" charset="0"/>
      <p:regular r:id="rId18"/>
    </p:embeddedFont>
    <p:embeddedFont>
      <p:font typeface="Tomorrow Semi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1D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5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721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2D94B-EB81-0368-60A2-2344219A1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A9123-5D49-DF0E-71A5-974541335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D497AE-9858-C9E6-CD12-457BDFF18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06BB5-429A-D103-774F-30FCC2734D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247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DEDE8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Introduction to Local Area Networks (LANs)</a:t>
            </a:r>
            <a:endParaRPr lang="en-US" sz="4450" b="1" dirty="0">
              <a:latin typeface="Tomorrow" panose="020B0604020202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LAN connects devices in a limited area. It enables resource sharing and communication. It also supports centralized administration. The global WLAN market is projected to reach $97.6 billion by 2027.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AA792-2C68-5D6D-A94D-75F6C66E5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77858A-0463-C591-57ED-3C7503AFF29C}"/>
              </a:ext>
            </a:extLst>
          </p:cNvPr>
          <p:cNvSpPr/>
          <p:nvPr/>
        </p:nvSpPr>
        <p:spPr>
          <a:xfrm>
            <a:off x="1245482" y="2616517"/>
            <a:ext cx="13042821" cy="966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DEDE8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Meet The Course Teacher</a:t>
            </a:r>
            <a:endParaRPr lang="en-US" sz="4450" b="1" dirty="0">
              <a:latin typeface="Tomorrow" panose="020B060402020202020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ACCBDF4-857F-DD3D-EC48-48E5784BA01D}"/>
              </a:ext>
            </a:extLst>
          </p:cNvPr>
          <p:cNvSpPr/>
          <p:nvPr/>
        </p:nvSpPr>
        <p:spPr>
          <a:xfrm>
            <a:off x="1245483" y="3652797"/>
            <a:ext cx="12316282" cy="2304931"/>
          </a:xfrm>
          <a:prstGeom prst="roundRect">
            <a:avLst>
              <a:gd name="adj" fmla="val 1476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30A3A3-F9A7-A762-13E9-1AA535E80F31}"/>
              </a:ext>
            </a:extLst>
          </p:cNvPr>
          <p:cNvSpPr/>
          <p:nvPr/>
        </p:nvSpPr>
        <p:spPr>
          <a:xfrm>
            <a:off x="1472295" y="4176992"/>
            <a:ext cx="4752235" cy="582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Dr. Md. Tofael Ahmed</a:t>
            </a:r>
            <a:endParaRPr lang="en-US" sz="3000" b="1" dirty="0">
              <a:solidFill>
                <a:schemeClr val="bg1">
                  <a:lumMod val="95000"/>
                </a:schemeClr>
              </a:solidFill>
              <a:latin typeface="Tomorrow" panose="020B060402020202020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011E73F-8875-05A4-4F3F-FDA098EB876C}"/>
              </a:ext>
            </a:extLst>
          </p:cNvPr>
          <p:cNvSpPr/>
          <p:nvPr/>
        </p:nvSpPr>
        <p:spPr>
          <a:xfrm>
            <a:off x="1472296" y="4666277"/>
            <a:ext cx="11912621" cy="117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Associate Professor</a:t>
            </a:r>
          </a:p>
          <a:p>
            <a:pPr>
              <a:lnSpc>
                <a:spcPts val="2850"/>
              </a:lnSpc>
            </a:pPr>
            <a:r>
              <a:rPr lang="en-US" sz="20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Department of ICT</a:t>
            </a:r>
          </a:p>
          <a:p>
            <a:pPr>
              <a:lnSpc>
                <a:spcPts val="2850"/>
              </a:lnSpc>
            </a:pPr>
            <a:r>
              <a:rPr lang="en-US" sz="20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Comilla University</a:t>
            </a:r>
            <a:endParaRPr lang="en-US" sz="2000" dirty="0"/>
          </a:p>
          <a:p>
            <a:pPr>
              <a:lnSpc>
                <a:spcPts val="2850"/>
              </a:lnSpc>
            </a:pP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DC022AE-51B1-EC3A-F97F-F9F743B5DFA0}"/>
              </a:ext>
            </a:extLst>
          </p:cNvPr>
          <p:cNvSpPr/>
          <p:nvPr/>
        </p:nvSpPr>
        <p:spPr>
          <a:xfrm>
            <a:off x="1031621" y="5114092"/>
            <a:ext cx="125891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CA520B3-27C2-945B-D63B-E853376431EC}"/>
              </a:ext>
            </a:extLst>
          </p:cNvPr>
          <p:cNvSpPr/>
          <p:nvPr/>
        </p:nvSpPr>
        <p:spPr>
          <a:xfrm>
            <a:off x="1031621" y="5613083"/>
            <a:ext cx="125891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ABE966-C7DC-DE05-22EB-5A7E6273EB0D}"/>
              </a:ext>
            </a:extLst>
          </p:cNvPr>
          <p:cNvSpPr/>
          <p:nvPr/>
        </p:nvSpPr>
        <p:spPr>
          <a:xfrm>
            <a:off x="12537195" y="7623672"/>
            <a:ext cx="2093205" cy="605928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9740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87579" y="2565341"/>
            <a:ext cx="13042821" cy="966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DEDE8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Meet The Team</a:t>
            </a:r>
            <a:endParaRPr lang="en-US" sz="4450" b="1" dirty="0">
              <a:latin typeface="Tomorrow" panose="020B060402020202020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853492-2E88-A8B4-20D4-B70EE4831DCB}"/>
              </a:ext>
            </a:extLst>
          </p:cNvPr>
          <p:cNvSpPr/>
          <p:nvPr/>
        </p:nvSpPr>
        <p:spPr>
          <a:xfrm>
            <a:off x="12537195" y="7623672"/>
            <a:ext cx="2093205" cy="605928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E801B77-08AD-313C-A55E-D66ACA690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537368"/>
              </p:ext>
            </p:extLst>
          </p:nvPr>
        </p:nvGraphicFramePr>
        <p:xfrm>
          <a:off x="1576563" y="3453788"/>
          <a:ext cx="11931492" cy="27432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982873">
                  <a:extLst>
                    <a:ext uri="{9D8B030D-6E8A-4147-A177-3AD203B41FA5}">
                      <a16:colId xmlns:a16="http://schemas.microsoft.com/office/drawing/2014/main" val="1467013173"/>
                    </a:ext>
                  </a:extLst>
                </a:gridCol>
                <a:gridCol w="2982873">
                  <a:extLst>
                    <a:ext uri="{9D8B030D-6E8A-4147-A177-3AD203B41FA5}">
                      <a16:colId xmlns:a16="http://schemas.microsoft.com/office/drawing/2014/main" val="1601703321"/>
                    </a:ext>
                  </a:extLst>
                </a:gridCol>
                <a:gridCol w="2982873">
                  <a:extLst>
                    <a:ext uri="{9D8B030D-6E8A-4147-A177-3AD203B41FA5}">
                      <a16:colId xmlns:a16="http://schemas.microsoft.com/office/drawing/2014/main" val="1202116775"/>
                    </a:ext>
                  </a:extLst>
                </a:gridCol>
                <a:gridCol w="2982873">
                  <a:extLst>
                    <a:ext uri="{9D8B030D-6E8A-4147-A177-3AD203B41FA5}">
                      <a16:colId xmlns:a16="http://schemas.microsoft.com/office/drawing/2014/main" val="3806860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n>
                            <a:noFill/>
                          </a:ln>
                          <a:solidFill>
                            <a:srgbClr val="EDEDE8"/>
                          </a:solidFill>
                          <a:latin typeface="Tomorrow" panose="020B0604020202020204" charset="0"/>
                          <a:ea typeface="Tomorrow Semi Bold" pitchFamily="34" charset="-122"/>
                          <a:cs typeface="Tomorrow Semi Bold" pitchFamily="34" charset="-120"/>
                        </a:rPr>
                        <a:t>Omma Habiba Nusrat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n>
                            <a:noFill/>
                          </a:ln>
                          <a:solidFill>
                            <a:srgbClr val="C9C9C0"/>
                          </a:solidFill>
                          <a:latin typeface="Tomorrow Semi Bold" panose="020B0604020202020204" charset="0"/>
                          <a:ea typeface="Tomorrow" pitchFamily="34" charset="-122"/>
                          <a:cs typeface="Tomorrow" pitchFamily="34" charset="-120"/>
                        </a:rPr>
                        <a:t>ID : 12409026</a:t>
                      </a:r>
                      <a:endParaRPr lang="en-US" sz="1800" dirty="0">
                        <a:ln>
                          <a:noFill/>
                        </a:ln>
                        <a:latin typeface="Tomorrow Semi Bold" panose="020B06040202020202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n>
                            <a:noFill/>
                          </a:ln>
                          <a:solidFill>
                            <a:srgbClr val="EDEDE8"/>
                          </a:solidFill>
                          <a:latin typeface="Tomorrow" panose="020B0604020202020204" charset="0"/>
                          <a:ea typeface="Tomorrow Semi Bold" pitchFamily="34" charset="-122"/>
                          <a:cs typeface="Tomorrow Semi Bold" pitchFamily="34" charset="-120"/>
                        </a:rPr>
                        <a:t>Mst. Urmi Begum</a:t>
                      </a:r>
                      <a:endParaRPr lang="en-US" sz="2000" b="1" dirty="0">
                        <a:ln>
                          <a:noFill/>
                        </a:ln>
                        <a:latin typeface="Tomorrow" panose="020B060402020202020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n>
                            <a:noFill/>
                          </a:ln>
                          <a:solidFill>
                            <a:srgbClr val="C9C9C0"/>
                          </a:solidFill>
                          <a:latin typeface="Tomorrow Semi Bold" panose="020B0604020202020204" charset="0"/>
                          <a:ea typeface="Tomorrow" pitchFamily="34" charset="-122"/>
                          <a:cs typeface="Tomorrow" pitchFamily="34" charset="-120"/>
                        </a:rPr>
                        <a:t>ID : 12409027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ln>
                          <a:noFill/>
                        </a:ln>
                        <a:solidFill>
                          <a:srgbClr val="C9C9C0"/>
                        </a:solidFill>
                        <a:latin typeface="Tomorrow Semi Bold" panose="020B060402020202020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ln>
                          <a:noFill/>
                        </a:ln>
                        <a:latin typeface="Tomorrow Semi Bold" panose="020B06040202020202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Md. Yasin Sarker</a:t>
                      </a:r>
                      <a:r>
                        <a:rPr lang="de-DE" sz="2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n>
                            <a:noFill/>
                          </a:ln>
                          <a:solidFill>
                            <a:srgbClr val="C9C9C0"/>
                          </a:solidFill>
                          <a:latin typeface="Tomorrow Semi Bold" panose="020B0604020202020204" charset="0"/>
                          <a:ea typeface="Tomorrow" pitchFamily="34" charset="-122"/>
                          <a:cs typeface="Tomorrow" pitchFamily="34" charset="-120"/>
                        </a:rPr>
                        <a:t>ID : 12409028</a:t>
                      </a:r>
                      <a:endParaRPr lang="en-US" sz="1800" dirty="0">
                        <a:ln>
                          <a:noFill/>
                        </a:ln>
                        <a:latin typeface="Tomorrow Semi Bold" panose="020B06040202020202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i="0" u="none" strike="noStrike" kern="120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Hasibul Islam</a:t>
                      </a:r>
                      <a:r>
                        <a:rPr lang="de-DE" sz="2000" b="1" i="0" u="none" strike="noStrike" kern="120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n>
                            <a:noFill/>
                          </a:ln>
                          <a:solidFill>
                            <a:srgbClr val="C9C9C0"/>
                          </a:solidFill>
                          <a:latin typeface="Tomorrow Semi Bold" panose="020B0604020202020204" charset="0"/>
                          <a:ea typeface="Tomorrow" pitchFamily="34" charset="-122"/>
                          <a:cs typeface="Tomorrow" pitchFamily="34" charset="-120"/>
                        </a:rPr>
                        <a:t>ID : 12409031</a:t>
                      </a:r>
                      <a:endParaRPr lang="en-US" sz="1800" dirty="0">
                        <a:ln>
                          <a:noFill/>
                        </a:ln>
                        <a:latin typeface="Tomorrow Semi Bold" panose="020B06040202020202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904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i="0" u="none" strike="noStrike" kern="120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Tonmoy Chowdhury</a:t>
                      </a:r>
                      <a:r>
                        <a:rPr lang="de-DE" sz="2000" b="1" i="0" u="none" strike="noStrike" kern="120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n>
                            <a:noFill/>
                          </a:ln>
                          <a:solidFill>
                            <a:srgbClr val="C9C9C0"/>
                          </a:solidFill>
                          <a:latin typeface="Tomorrow Semi Bold" panose="020B0604020202020204" charset="0"/>
                          <a:ea typeface="Tomorrow" pitchFamily="34" charset="-122"/>
                          <a:cs typeface="Tomorrow" pitchFamily="34" charset="-120"/>
                        </a:rPr>
                        <a:t>ID : 12409032</a:t>
                      </a:r>
                      <a:endParaRPr lang="en-US" sz="1800" dirty="0">
                        <a:ln>
                          <a:noFill/>
                        </a:ln>
                        <a:latin typeface="Tomorrow Semi Bold" panose="020B06040202020202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b="1" i="0" u="none" strike="noStrike" kern="120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MD. Razinur Rahman Razin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n>
                            <a:noFill/>
                          </a:ln>
                          <a:solidFill>
                            <a:srgbClr val="C9C9C0"/>
                          </a:solidFill>
                          <a:latin typeface="Tomorrow Semi Bold" panose="020B0604020202020204" charset="0"/>
                          <a:ea typeface="Tomorrow" pitchFamily="34" charset="-122"/>
                          <a:cs typeface="Tomorrow" pitchFamily="34" charset="-120"/>
                        </a:rPr>
                        <a:t>ID : 12409033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ln>
                          <a:noFill/>
                        </a:ln>
                        <a:solidFill>
                          <a:srgbClr val="C9C9C0"/>
                        </a:solidFill>
                        <a:latin typeface="Tomorrow Semi Bold" panose="020B060402020202020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ln>
                          <a:noFill/>
                        </a:ln>
                        <a:latin typeface="Tomorrow Semi Bold" panose="020B06040202020202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b="1" i="0" u="none" strike="noStrike" kern="120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Mahadi Hasan Fardin </a:t>
                      </a:r>
                      <a:r>
                        <a:rPr lang="en-US" sz="1800" dirty="0">
                          <a:ln>
                            <a:noFill/>
                          </a:ln>
                          <a:solidFill>
                            <a:srgbClr val="C9C9C0"/>
                          </a:solidFill>
                          <a:latin typeface="Tomorrow Semi Bold" panose="020B0604020202020204" charset="0"/>
                          <a:ea typeface="Tomorrow" pitchFamily="34" charset="-122"/>
                          <a:cs typeface="Tomorrow" pitchFamily="34" charset="-120"/>
                        </a:rPr>
                        <a:t>ID : 12409034</a:t>
                      </a:r>
                      <a:endParaRPr lang="en-US" sz="1800" dirty="0">
                        <a:ln>
                          <a:noFill/>
                        </a:ln>
                        <a:latin typeface="Tomorrow Semi Bold" panose="020B06040202020202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Humaira Mahbuba Khan Prova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n>
                            <a:noFill/>
                          </a:ln>
                          <a:solidFill>
                            <a:srgbClr val="C9C9C0"/>
                          </a:solidFill>
                          <a:latin typeface="Tomorrow Semi Bold" panose="020B0604020202020204" charset="0"/>
                          <a:ea typeface="Tomorrow" pitchFamily="34" charset="-122"/>
                          <a:cs typeface="Tomorrow" pitchFamily="34" charset="-120"/>
                        </a:rPr>
                        <a:t>ID : 12409036</a:t>
                      </a:r>
                      <a:endParaRPr lang="en-US" sz="1800" dirty="0">
                        <a:ln>
                          <a:noFill/>
                        </a:ln>
                        <a:latin typeface="Tomorrow Semi Bold" panose="020B06040202020202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053927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2881"/>
            <a:ext cx="76417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DEDE8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Core Components of a LAN</a:t>
            </a:r>
            <a:endParaRPr lang="en-US" sz="4450" b="1" dirty="0">
              <a:latin typeface="Tomorrow" panose="020B060402020202020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051822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845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9C9C0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NICs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93790" y="6336030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Network Interface Cards: Connects devices to the network.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4704" y="5051822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4704" y="5845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9C9C0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Switches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5254704" y="6336030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Forwards data and segments the network.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738" y="5051822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845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9C9C0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Routers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715738" y="6336030"/>
            <a:ext cx="41207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Connects LANs to external networks.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57672F-F00A-DF15-2A54-3F8309BD5BAC}"/>
              </a:ext>
            </a:extLst>
          </p:cNvPr>
          <p:cNvSpPr/>
          <p:nvPr/>
        </p:nvSpPr>
        <p:spPr>
          <a:xfrm>
            <a:off x="12537195" y="7623672"/>
            <a:ext cx="2093205" cy="605928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884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2713" y="3615214"/>
            <a:ext cx="12944713" cy="67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EDEDE8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LAN Topologies: Visualizing Network Structures</a:t>
            </a:r>
            <a:endParaRPr lang="en-US" sz="4200" b="1" dirty="0">
              <a:latin typeface="Tomorrow" panose="020B06040202020202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52713" y="4609862"/>
            <a:ext cx="6454973" cy="1238964"/>
          </a:xfrm>
          <a:prstGeom prst="roundRect">
            <a:avLst>
              <a:gd name="adj" fmla="val 2604"/>
            </a:avLst>
          </a:prstGeom>
          <a:solidFill>
            <a:srgbClr val="3C3C3A"/>
          </a:solidFill>
          <a:ln/>
        </p:spPr>
      </p:sp>
      <p:sp>
        <p:nvSpPr>
          <p:cNvPr id="5" name="Text 2"/>
          <p:cNvSpPr/>
          <p:nvPr/>
        </p:nvSpPr>
        <p:spPr>
          <a:xfrm>
            <a:off x="967740" y="4824889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9C9C0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Bus</a:t>
            </a:r>
            <a:endParaRPr lang="en-US" sz="2100" b="1" dirty="0">
              <a:latin typeface="Tomorrow" panose="020B060402020202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7740" y="5289828"/>
            <a:ext cx="6024920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Linear, single cable, easy setup.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422713" y="4609862"/>
            <a:ext cx="6454973" cy="1238964"/>
          </a:xfrm>
          <a:prstGeom prst="roundRect">
            <a:avLst>
              <a:gd name="adj" fmla="val 2604"/>
            </a:avLst>
          </a:prstGeom>
          <a:solidFill>
            <a:srgbClr val="3C3C3A"/>
          </a:solidFill>
          <a:ln/>
        </p:spPr>
      </p:sp>
      <p:sp>
        <p:nvSpPr>
          <p:cNvPr id="8" name="Text 5"/>
          <p:cNvSpPr/>
          <p:nvPr/>
        </p:nvSpPr>
        <p:spPr>
          <a:xfrm>
            <a:off x="7637740" y="4824889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9C9C0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Star</a:t>
            </a:r>
            <a:endParaRPr lang="en-US" sz="2100" b="1" dirty="0">
              <a:latin typeface="Tomorrow" panose="020B0604020202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37740" y="5289828"/>
            <a:ext cx="6024920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Central hub, easy management.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52713" y="6063853"/>
            <a:ext cx="6454973" cy="1238964"/>
          </a:xfrm>
          <a:prstGeom prst="roundRect">
            <a:avLst>
              <a:gd name="adj" fmla="val 2604"/>
            </a:avLst>
          </a:prstGeom>
          <a:solidFill>
            <a:srgbClr val="3C3C3A"/>
          </a:solidFill>
          <a:ln/>
        </p:spPr>
      </p:sp>
      <p:sp>
        <p:nvSpPr>
          <p:cNvPr id="11" name="Text 8"/>
          <p:cNvSpPr/>
          <p:nvPr/>
        </p:nvSpPr>
        <p:spPr>
          <a:xfrm>
            <a:off x="967740" y="6278880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9C9C0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Ring</a:t>
            </a:r>
            <a:endParaRPr lang="en-US" sz="2100" b="1" dirty="0">
              <a:latin typeface="Tomorrow" panose="020B06040202020202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67740" y="6743819"/>
            <a:ext cx="6024920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Data in a loop, high performance.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422713" y="6063853"/>
            <a:ext cx="6454973" cy="1238964"/>
          </a:xfrm>
          <a:prstGeom prst="roundRect">
            <a:avLst>
              <a:gd name="adj" fmla="val 2604"/>
            </a:avLst>
          </a:prstGeom>
          <a:solidFill>
            <a:srgbClr val="3C3C3A"/>
          </a:solidFill>
          <a:ln/>
        </p:spPr>
      </p:sp>
      <p:sp>
        <p:nvSpPr>
          <p:cNvPr id="14" name="Text 11"/>
          <p:cNvSpPr/>
          <p:nvPr/>
        </p:nvSpPr>
        <p:spPr>
          <a:xfrm>
            <a:off x="7637740" y="6278880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9C9C0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Mesh</a:t>
            </a:r>
            <a:endParaRPr lang="en-US" sz="2100" b="1" dirty="0">
              <a:latin typeface="Tomorrow" panose="020B06040202020202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637740" y="6743819"/>
            <a:ext cx="6024920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Redundant, high reliability.</a:t>
            </a:r>
            <a:endParaRPr lang="en-US" sz="16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40C6F3-8B11-F41C-7BF6-131F830D2FAC}"/>
              </a:ext>
            </a:extLst>
          </p:cNvPr>
          <p:cNvSpPr/>
          <p:nvPr/>
        </p:nvSpPr>
        <p:spPr>
          <a:xfrm>
            <a:off x="12537195" y="7623672"/>
            <a:ext cx="2093205" cy="605928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429" y="599837"/>
            <a:ext cx="5453539" cy="681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EDEDE8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LAN </a:t>
            </a:r>
            <a:r>
              <a:rPr lang="en-GB" sz="4400" b="1" i="0" dirty="0">
                <a:solidFill>
                  <a:srgbClr val="E2E5E9"/>
                </a:solidFill>
                <a:effectLst/>
                <a:latin typeface="Tomorrow" panose="020B0604020202020204" charset="0"/>
              </a:rPr>
              <a:t>Topology</a:t>
            </a:r>
            <a:r>
              <a:rPr lang="en-GB" sz="4400" b="0" i="0" dirty="0">
                <a:solidFill>
                  <a:srgbClr val="E2E5E9"/>
                </a:solidFill>
                <a:effectLst/>
                <a:latin typeface="Segoe UI Historic" panose="020B0502040204020203" pitchFamily="34" charset="0"/>
              </a:rPr>
              <a:t> </a:t>
            </a:r>
            <a:endParaRPr lang="en-US" sz="4250" b="1" dirty="0">
              <a:latin typeface="Tomorrow" panose="020B060402020202020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29" y="1717715"/>
            <a:ext cx="6143506" cy="37969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3429" y="5787271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C9C9C0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Bus</a:t>
            </a:r>
            <a:endParaRPr lang="en-US" sz="2100" b="1" dirty="0">
              <a:latin typeface="Tomorrow" panose="020B0604020202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3429" y="6258878"/>
            <a:ext cx="6388179" cy="139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bus topology is a way of connecting computers and devices in a network using a single main cable, called a bus. All devices are linked to this cable, and data travels in both directions along it.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792" y="1717715"/>
            <a:ext cx="6143506" cy="37969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78792" y="5787271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C9C9C0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Star</a:t>
            </a:r>
            <a:endParaRPr lang="en-US" sz="2100" b="1" dirty="0">
              <a:latin typeface="Tomorrow" panose="020B060402020202020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478792" y="6258878"/>
            <a:ext cx="6388179" cy="139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star topology is a type of network setup where all computers and devices are connected to a central device, usually a switch or hub. This central device manages communication between the connected devices.</a:t>
            </a:r>
            <a:endParaRPr lang="en-US" sz="17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5F459D-86CD-61FC-3AD0-4F17AFD7493F}"/>
              </a:ext>
            </a:extLst>
          </p:cNvPr>
          <p:cNvSpPr/>
          <p:nvPr/>
        </p:nvSpPr>
        <p:spPr>
          <a:xfrm>
            <a:off x="12537195" y="7623672"/>
            <a:ext cx="2093205" cy="605928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429" y="599837"/>
            <a:ext cx="5453539" cy="681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000" b="1" dirty="0">
                <a:solidFill>
                  <a:srgbClr val="EDEDE8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LAN </a:t>
            </a:r>
            <a:r>
              <a:rPr lang="en-GB" sz="4000" b="1" i="0" dirty="0">
                <a:solidFill>
                  <a:srgbClr val="E2E5E9"/>
                </a:solidFill>
                <a:effectLst/>
                <a:latin typeface="Tomorrow" panose="020B0604020202020204" charset="0"/>
              </a:rPr>
              <a:t>Topology</a:t>
            </a:r>
            <a:r>
              <a:rPr lang="en-GB" sz="4000" b="0" i="0" dirty="0">
                <a:solidFill>
                  <a:srgbClr val="E2E5E9"/>
                </a:solidFill>
                <a:effectLst/>
                <a:latin typeface="Segoe UI Historic" panose="020B0502040204020203" pitchFamily="34" charset="0"/>
              </a:rPr>
              <a:t> </a:t>
            </a:r>
            <a:endParaRPr lang="en-US" sz="4000" b="1" dirty="0">
              <a:latin typeface="Tomorrow" panose="020B060402020202020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29" y="1717715"/>
            <a:ext cx="6143506" cy="37969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3429" y="5787271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C9C9C0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Ring</a:t>
            </a:r>
            <a:endParaRPr lang="en-US" sz="2100" b="1" dirty="0">
              <a:latin typeface="Tomorrow" panose="020B0604020202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3429" y="6258878"/>
            <a:ext cx="6388179" cy="139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ring topology is a network setup where each device is connected to exactly two other devices, forming a circular path. Data travels in one direction (or sometimes both in a dual-ring setup) until it reaches its destination.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792" y="1717715"/>
            <a:ext cx="6143506" cy="37969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78792" y="5787271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C9C9C0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Mesh</a:t>
            </a:r>
            <a:endParaRPr lang="en-US" sz="2100" b="1" dirty="0">
              <a:latin typeface="Tomorrow" panose="020B060402020202020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478792" y="6258878"/>
            <a:ext cx="6388179" cy="104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mesh topology is a network setup where every device is directly connected to every other device, creating multiple paths for data to travel.</a:t>
            </a:r>
            <a:endParaRPr lang="en-US" sz="17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F1FC3F-15ED-0076-9D90-0D26872CB849}"/>
              </a:ext>
            </a:extLst>
          </p:cNvPr>
          <p:cNvSpPr/>
          <p:nvPr/>
        </p:nvSpPr>
        <p:spPr>
          <a:xfrm>
            <a:off x="12537195" y="7623672"/>
            <a:ext cx="2093205" cy="605928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646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8066" y="3128724"/>
            <a:ext cx="10823258" cy="64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000"/>
              </a:lnSpc>
            </a:pPr>
            <a:r>
              <a:rPr lang="en-US" sz="4000" b="1" dirty="0">
                <a:solidFill>
                  <a:srgbClr val="EDEDE8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LAN </a:t>
            </a:r>
            <a:r>
              <a:rPr lang="en-GB" sz="4000" b="1" i="0" dirty="0">
                <a:solidFill>
                  <a:srgbClr val="E2E5E9"/>
                </a:solidFill>
                <a:effectLst/>
                <a:latin typeface="Tomorrow" panose="020B0604020202020204" charset="0"/>
              </a:rPr>
              <a:t>Topology</a:t>
            </a:r>
            <a:r>
              <a:rPr lang="en-US" sz="4000" b="1" dirty="0">
                <a:solidFill>
                  <a:srgbClr val="EDEDE8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: The Language of Networks</a:t>
            </a:r>
            <a:endParaRPr lang="en-US" sz="4000" b="1" dirty="0">
              <a:latin typeface="Tomorrow" panose="020B06040202020202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303770" y="4077533"/>
            <a:ext cx="22860" cy="3590211"/>
          </a:xfrm>
          <a:prstGeom prst="roundRect">
            <a:avLst>
              <a:gd name="adj" fmla="val 134627"/>
            </a:avLst>
          </a:prstGeom>
          <a:solidFill>
            <a:srgbClr val="555553"/>
          </a:solidFill>
          <a:ln/>
        </p:spPr>
      </p:sp>
      <p:sp>
        <p:nvSpPr>
          <p:cNvPr id="5" name="Shape 2"/>
          <p:cNvSpPr/>
          <p:nvPr/>
        </p:nvSpPr>
        <p:spPr>
          <a:xfrm>
            <a:off x="6491823" y="4527590"/>
            <a:ext cx="615434" cy="22860"/>
          </a:xfrm>
          <a:prstGeom prst="roundRect">
            <a:avLst>
              <a:gd name="adj" fmla="val 134627"/>
            </a:avLst>
          </a:prstGeom>
          <a:solidFill>
            <a:srgbClr val="555553"/>
          </a:solidFill>
          <a:ln/>
        </p:spPr>
      </p:sp>
      <p:sp>
        <p:nvSpPr>
          <p:cNvPr id="6" name="Shape 3"/>
          <p:cNvSpPr/>
          <p:nvPr/>
        </p:nvSpPr>
        <p:spPr>
          <a:xfrm>
            <a:off x="7084397" y="4308277"/>
            <a:ext cx="461605" cy="461605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sp>
        <p:nvSpPr>
          <p:cNvPr id="7" name="Text 4"/>
          <p:cNvSpPr/>
          <p:nvPr/>
        </p:nvSpPr>
        <p:spPr>
          <a:xfrm>
            <a:off x="7161312" y="4346674"/>
            <a:ext cx="307658" cy="384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724751" y="4282678"/>
            <a:ext cx="25646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C9C9C0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Ethernet</a:t>
            </a:r>
            <a:endParaRPr lang="en-US" sz="2000" b="1" dirty="0">
              <a:latin typeface="Tomorrow" panose="020B0604020202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18066" y="4726186"/>
            <a:ext cx="5571292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Dominant protocol for wired LANs.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523143" y="5553313"/>
            <a:ext cx="615434" cy="22860"/>
          </a:xfrm>
          <a:prstGeom prst="roundRect">
            <a:avLst>
              <a:gd name="adj" fmla="val 134627"/>
            </a:avLst>
          </a:prstGeom>
          <a:solidFill>
            <a:srgbClr val="555553"/>
          </a:solidFill>
          <a:ln/>
        </p:spPr>
      </p:sp>
      <p:sp>
        <p:nvSpPr>
          <p:cNvPr id="11" name="Shape 8"/>
          <p:cNvSpPr/>
          <p:nvPr/>
        </p:nvSpPr>
        <p:spPr>
          <a:xfrm>
            <a:off x="7084397" y="5334000"/>
            <a:ext cx="461605" cy="461605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sp>
        <p:nvSpPr>
          <p:cNvPr id="12" name="Text 9"/>
          <p:cNvSpPr/>
          <p:nvPr/>
        </p:nvSpPr>
        <p:spPr>
          <a:xfrm>
            <a:off x="7161312" y="5372398"/>
            <a:ext cx="307658" cy="384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341042" y="5308402"/>
            <a:ext cx="25646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C9C9C0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Wi-Fi</a:t>
            </a:r>
            <a:endParaRPr lang="en-US" sz="2000" b="1" dirty="0">
              <a:latin typeface="Tomorrow" panose="020B06040202020202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341042" y="5751909"/>
            <a:ext cx="5571292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Standard for wireless LANs.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91823" y="6476524"/>
            <a:ext cx="615434" cy="22860"/>
          </a:xfrm>
          <a:prstGeom prst="roundRect">
            <a:avLst>
              <a:gd name="adj" fmla="val 134627"/>
            </a:avLst>
          </a:prstGeom>
          <a:solidFill>
            <a:srgbClr val="555553"/>
          </a:solidFill>
          <a:ln/>
        </p:spPr>
      </p:sp>
      <p:sp>
        <p:nvSpPr>
          <p:cNvPr id="16" name="Shape 13"/>
          <p:cNvSpPr/>
          <p:nvPr/>
        </p:nvSpPr>
        <p:spPr>
          <a:xfrm>
            <a:off x="7084397" y="6257211"/>
            <a:ext cx="461605" cy="461605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sp>
        <p:nvSpPr>
          <p:cNvPr id="17" name="Text 14"/>
          <p:cNvSpPr/>
          <p:nvPr/>
        </p:nvSpPr>
        <p:spPr>
          <a:xfrm>
            <a:off x="7161312" y="6295608"/>
            <a:ext cx="307658" cy="384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724751" y="6231612"/>
            <a:ext cx="25646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C9C9C0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TCP/IP</a:t>
            </a:r>
            <a:endParaRPr lang="en-US" sz="2000" b="1" dirty="0">
              <a:latin typeface="Tomorrow" panose="020B06040202020202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18066" y="6675120"/>
            <a:ext cx="5571292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Communication over networks.</a:t>
            </a:r>
            <a:endParaRPr lang="en-US" sz="1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ED048C-376C-90DA-DEDC-88C99B74799F}"/>
              </a:ext>
            </a:extLst>
          </p:cNvPr>
          <p:cNvSpPr/>
          <p:nvPr/>
        </p:nvSpPr>
        <p:spPr>
          <a:xfrm>
            <a:off x="12537195" y="7623672"/>
            <a:ext cx="2093205" cy="605928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114388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DEDE8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Advantages and Disadvantages of LANs</a:t>
            </a:r>
            <a:endParaRPr lang="en-US" sz="4450" b="1" dirty="0">
              <a:latin typeface="Tomorrow" panose="020B06040202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DEDE8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Advantages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Resource sharing.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Centralized admin.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Enhanced communication.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DEDE8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Disadvantages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Limited area.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Security risks.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Maintenance.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1B05E-0FD2-EB60-2FD3-107955E81A25}"/>
              </a:ext>
            </a:extLst>
          </p:cNvPr>
          <p:cNvSpPr/>
          <p:nvPr/>
        </p:nvSpPr>
        <p:spPr>
          <a:xfrm>
            <a:off x="12537195" y="7623672"/>
            <a:ext cx="2093205" cy="605928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DEDE8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Conclusion: The Enduring Importance of LANs</a:t>
            </a:r>
            <a:endParaRPr lang="en-US" sz="4450" b="1" dirty="0">
              <a:latin typeface="Tomorrow" panose="020B0604020202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LANs play a critical role in modern computing. Key aspects include components, topologies, and protocols. Future trends include cloud-managed networks. Contact us for further consultation and Q&amp;A.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445</Words>
  <Application>Microsoft Office PowerPoint</Application>
  <PresentationFormat>Custom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Tomorrow</vt:lpstr>
      <vt:lpstr>Segoe UI Historic</vt:lpstr>
      <vt:lpstr>Arial</vt:lpstr>
      <vt:lpstr>Tomorrow Semi Bold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Mahadi Hasan Fardin</cp:lastModifiedBy>
  <cp:revision>7</cp:revision>
  <dcterms:created xsi:type="dcterms:W3CDTF">2025-03-17T05:41:25Z</dcterms:created>
  <dcterms:modified xsi:type="dcterms:W3CDTF">2025-03-17T23:33:46Z</dcterms:modified>
</cp:coreProperties>
</file>